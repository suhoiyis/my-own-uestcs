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257" r:id="rId3"/>
    <p:sldId id="258" r:id="rId4"/>
    <p:sldId id="259" r:id="rId5"/>
    <p:sldId id="260" r:id="rId6"/>
    <p:sldId id="261" r:id="rId7"/>
    <p:sldId id="262" r:id="rId8"/>
    <p:sldId id="263" r:id="rId9"/>
    <p:sldId id="264" r:id="rId10"/>
    <p:sldId id="265" r:id="rId11"/>
    <p:sldId id="266" r:id="rId12"/>
    <p:sldId id="267" r:id="rId13"/>
    <p:sldId id="365"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66"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67"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463" r:id="rId75"/>
    <p:sldId id="464" r:id="rId77"/>
    <p:sldId id="465" r:id="rId78"/>
    <p:sldId id="466" r:id="rId79"/>
    <p:sldId id="467" r:id="rId80"/>
    <p:sldId id="468"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Lst>
  <p:sldSz cx="9144000" cy="6858000" type="screen4x3"/>
  <p:notesSz cx="6858000" cy="9144000"/>
  <p:custDataLst>
    <p:tags r:id="rId122"/>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6" userDrawn="1">
          <p15:clr>
            <a:srgbClr val="A4A3A4"/>
          </p15:clr>
        </p15:guide>
        <p15:guide id="2" pos="2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F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1464" y="-78"/>
      </p:cViewPr>
      <p:guideLst>
        <p:guide orient="horz" pos="2176"/>
        <p:guide pos="2876"/>
      </p:guideLst>
    </p:cSldViewPr>
  </p:slideViewPr>
  <p:notesTextViewPr>
    <p:cViewPr>
      <p:scale>
        <a:sx n="100" d="100"/>
        <a:sy n="100" d="100"/>
      </p:scale>
      <p:origin x="0" y="0"/>
    </p:cViewPr>
  </p:notesTextViewPr>
  <p:sorterViewPr>
    <p:cViewPr>
      <p:scale>
        <a:sx n="66" d="100"/>
        <a:sy n="66" d="100"/>
      </p:scale>
      <p:origin x="0" y="548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notesMaster" Target="notesMasters/notesMaster1.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2" Type="http://schemas.openxmlformats.org/officeDocument/2006/relationships/tags" Target="tags/tag1.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 Target="slides/slide10.xml"/><Relationship Id="rId119" Type="http://schemas.openxmlformats.org/officeDocument/2006/relationships/presProps" Target="presProps.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例题可根据课时决定是否要讲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8482"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endParaRPr lang="zh-CN" altLang="en-US"/>
          </a:p>
        </p:txBody>
      </p:sp>
      <p:sp>
        <p:nvSpPr>
          <p:cNvPr id="148483" name="Rectangle 3"/>
          <p:cNvSpPr>
            <a:spLocks noGrp="1" noRot="1" noChangeArrowheads="1"/>
          </p:cNvSpPr>
          <p:nvPr>
            <p:ph type="subTitle" idx="1"/>
          </p:nvPr>
        </p:nvSpPr>
        <p:spPr>
          <a:xfrm>
            <a:off x="1371600" y="3886200"/>
            <a:ext cx="6400800" cy="1752600"/>
          </a:xfrm>
        </p:spPr>
        <p:txBody>
          <a:bodyPr/>
          <a:lstStyle>
            <a:lvl1pPr marL="0" indent="0" algn="ctr">
              <a:buFont typeface="Wingdings 2" panose="05020102010507070707" pitchFamily="18" charset="2"/>
              <a:buNone/>
              <a:defRPr/>
            </a:lvl1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8292E0C-66A0-41D1-9FB2-86AA16201CD2}"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D0ECFEA-2176-46CF-8006-3BC2F42894AD}" type="slidenum">
              <a:rPr lang="zh-CN" altLang="en-US"/>
            </a:fld>
            <a:endParaRPr lang="en-US" altLang="zh-CN"/>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ED9D673-546A-4D55-B79D-F25D974A3E91}"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8718128-4E26-4181-A15E-3DE654CA86BC}" type="slidenum">
              <a:rPr lang="zh-CN" altLang="en-US"/>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fld id="{B2077AE2-7386-4FE4-9A16-FC1D3BD40DA4}"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D1F63CC-56DA-4161-AC1F-39F8D1B2EB80}" type="slidenum">
              <a:rPr lang="zh-CN" altLang="en-US"/>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34F71801-3FAB-42A8-8111-68ED55998EDC}" type="datetimeFigureOut">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B91B80F-7758-4D51-BBBE-E2A81901B12A}" type="slidenum">
              <a:rPr lang="zh-CN" altLang="en-US"/>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EB081B04-8CE7-4390-8985-E9970E21AD00}" type="datetimeFigureOut">
              <a:rPr lang="zh-CN" altLang="en-US"/>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3B5BECA6-CA9D-48B5-BEE0-B7884CB723BC}" type="slidenum">
              <a:rPr lang="zh-CN" altLang="en-US"/>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fld id="{21E8B526-F641-482E-A128-5E32CCF4C386}" type="datetimeFigureOut">
              <a:rPr lang="zh-CN" altLang="en-US"/>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5D6006F8-738B-47CB-83AB-291042123155}" type="slidenum">
              <a:rPr lang="zh-CN" altLang="en-US"/>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42ED586A-E140-4CEB-81B1-E8A99159B2D3}" type="datetimeFigureOut">
              <a:rPr lang="zh-CN" altLang="en-US"/>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716D3B32-FFCE-4D12-8C25-C38B2B8EB2D1}" type="slidenum">
              <a:rPr lang="zh-CN" altLang="en-US"/>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32623D45-8379-4D93-862B-75CC2010F847}" type="datetimeFigureOut">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6637127-46DB-4EB5-BEEB-ACADB869FEB1}" type="slidenum">
              <a:rPr lang="zh-CN" altLang="en-US"/>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E2D0CB46-0374-47C4-9398-15544AFBC418}" type="datetimeFigureOut">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4A69A60-F9EA-46FC-8074-C1BEA1D4A837}" type="slidenum">
              <a:rPr lang="zh-CN" altLang="en-US"/>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9AB21433-6A2A-4BEA-9706-03B894011779}"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ED9B363-EF2D-4FF3-BC40-8329290E66EA}" type="slidenum">
              <a:rPr lang="zh-CN" altLang="en-US"/>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D929B580-730D-4F17-ACA0-D9AA8EC818FB}"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931634-AD49-471C-A3ED-179C1E05F35B}" type="slidenum">
              <a:rPr lang="zh-CN" altLang="en-US"/>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533400" y="457200"/>
            <a:ext cx="8077200" cy="1066800"/>
          </a:xfr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533400" y="1673225"/>
            <a:ext cx="8077200" cy="4498975"/>
          </a:xfrm>
        </p:spPr>
        <p:txBody>
          <a:bodyPr/>
          <a:lstStyle/>
          <a:p>
            <a:pPr lvl="0"/>
            <a:endParaRPr lang="zh-CN" altLang="en-US" noProof="0" smtClean="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33400" y="457200"/>
            <a:ext cx="8077200" cy="5715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33400" y="457200"/>
            <a:ext cx="8077200" cy="10668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3400" y="1673225"/>
            <a:ext cx="8077200" cy="2173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33400" y="3998913"/>
            <a:ext cx="8077200" cy="21732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stretch>
            <a:fillRect/>
          </a:stretch>
        </a:blipFill>
        <a:effectLst/>
      </p:bgPr>
    </p:bg>
    <p:spTree>
      <p:nvGrpSpPr>
        <p:cNvPr id="1" name=""/>
        <p:cNvGrpSpPr/>
        <p:nvPr/>
      </p:nvGrpSpPr>
      <p:grpSpPr>
        <a:xfrm>
          <a:off x="0" y="0"/>
          <a:ext cx="0" cy="0"/>
          <a:chOff x="0" y="0"/>
          <a:chExt cx="0" cy="0"/>
        </a:xfrm>
      </p:grpSpPr>
      <p:sp>
        <p:nvSpPr>
          <p:cNvPr id="147458" name="Rectangle 2"/>
          <p:cNvSpPr>
            <a:spLocks noGrp="1" noRot="1" noChangeArrowheads="1"/>
          </p:cNvSpPr>
          <p:nvPr>
            <p:ph type="title"/>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47459" name="Rectangle 3"/>
          <p:cNvSpPr>
            <a:spLocks noGrp="1" noRot="1" noChangeArrowheads="1"/>
          </p:cNvSpPr>
          <p:nvPr>
            <p:ph type="body" idx="1"/>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47460"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pPr>
              <a:defRPr/>
            </a:pPr>
            <a:fld id="{5660FDD4-EF19-4021-A87B-1523E5C7112C}" type="datetimeFigureOut">
              <a:rPr lang="zh-CN" altLang="en-US"/>
            </a:fld>
            <a:endParaRPr lang="en-US" altLang="zh-CN"/>
          </a:p>
        </p:txBody>
      </p:sp>
      <p:sp>
        <p:nvSpPr>
          <p:cNvPr id="14746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defRPr/>
            </a:pPr>
            <a:endParaRPr lang="en-US" altLang="zh-CN"/>
          </a:p>
        </p:txBody>
      </p:sp>
      <p:sp>
        <p:nvSpPr>
          <p:cNvPr id="147462"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pPr>
              <a:defRPr/>
            </a:pPr>
            <a:fld id="{02B48B50-6DBA-4CCE-88E4-8F12C7947E52}"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7458"/>
                                        </p:tgtEl>
                                        <p:attrNameLst>
                                          <p:attrName>style.visibility</p:attrName>
                                        </p:attrNameLst>
                                      </p:cBhvr>
                                      <p:to>
                                        <p:strVal val="visible"/>
                                      </p:to>
                                    </p:set>
                                    <p:animEffect transition="in" filter="fade">
                                      <p:cBhvr>
                                        <p:cTn id="7" dur="2000"/>
                                        <p:tgtEl>
                                          <p:spTgt spid="147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7459">
                                            <p:txEl>
                                              <p:pRg st="0" end="0"/>
                                            </p:txEl>
                                          </p:spTgt>
                                        </p:tgtEl>
                                        <p:attrNameLst>
                                          <p:attrName>style.visibility</p:attrName>
                                        </p:attrNameLst>
                                      </p:cBhvr>
                                      <p:to>
                                        <p:strVal val="visible"/>
                                      </p:to>
                                    </p:set>
                                    <p:animEffect transition="in" filter="fade">
                                      <p:cBhvr>
                                        <p:cTn id="12" dur="2000"/>
                                        <p:tgtEl>
                                          <p:spTgt spid="14745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7459">
                                            <p:txEl>
                                              <p:pRg st="1" end="1"/>
                                            </p:txEl>
                                          </p:spTgt>
                                        </p:tgtEl>
                                        <p:attrNameLst>
                                          <p:attrName>style.visibility</p:attrName>
                                        </p:attrNameLst>
                                      </p:cBhvr>
                                      <p:to>
                                        <p:strVal val="visible"/>
                                      </p:to>
                                    </p:set>
                                    <p:animEffect transition="in" filter="fade">
                                      <p:cBhvr>
                                        <p:cTn id="15" dur="2000"/>
                                        <p:tgtEl>
                                          <p:spTgt spid="14745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7459">
                                            <p:txEl>
                                              <p:pRg st="2" end="2"/>
                                            </p:txEl>
                                          </p:spTgt>
                                        </p:tgtEl>
                                        <p:attrNameLst>
                                          <p:attrName>style.visibility</p:attrName>
                                        </p:attrNameLst>
                                      </p:cBhvr>
                                      <p:to>
                                        <p:strVal val="visible"/>
                                      </p:to>
                                    </p:set>
                                    <p:animEffect transition="in" filter="fade">
                                      <p:cBhvr>
                                        <p:cTn id="18" dur="2000"/>
                                        <p:tgtEl>
                                          <p:spTgt spid="14745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7459">
                                            <p:txEl>
                                              <p:pRg st="3" end="3"/>
                                            </p:txEl>
                                          </p:spTgt>
                                        </p:tgtEl>
                                        <p:attrNameLst>
                                          <p:attrName>style.visibility</p:attrName>
                                        </p:attrNameLst>
                                      </p:cBhvr>
                                      <p:to>
                                        <p:strVal val="visible"/>
                                      </p:to>
                                    </p:set>
                                    <p:animEffect transition="in" filter="fade">
                                      <p:cBhvr>
                                        <p:cTn id="21" dur="2000"/>
                                        <p:tgtEl>
                                          <p:spTgt spid="147459">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7459">
                                            <p:txEl>
                                              <p:pRg st="4" end="4"/>
                                            </p:txEl>
                                          </p:spTgt>
                                        </p:tgtEl>
                                        <p:attrNameLst>
                                          <p:attrName>style.visibility</p:attrName>
                                        </p:attrNameLst>
                                      </p:cBhvr>
                                      <p:to>
                                        <p:strVal val="visible"/>
                                      </p:to>
                                    </p:set>
                                    <p:animEffect transition="in" filter="fade">
                                      <p:cBhvr>
                                        <p:cTn id="24" dur="2000"/>
                                        <p:tgtEl>
                                          <p:spTgt spid="147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59" grpId="0" build="p">
        <p:tmplLst>
          <p:tmpl lvl="1">
            <p:tnLst>
              <p:par>
                <p:cTn presetID="10" presetClass="entr" presetSubtype="0" fill="hold" nodeType="click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Lst>
      </p:bldP>
    </p:bld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GIF"/><Relationship Id="rId5" Type="http://schemas.openxmlformats.org/officeDocument/2006/relationships/hyperlink" Target="file:///G:\&#25945;&#23398;&#30456;&#20851;\&#22791;&#35838;\&#25805;&#20316;&#31995;&#32479;&#35838;&#20214;\&#35745;&#31639;&#26426;&#32771;&#30740;&#32479;&#32771;&#19987;&#19994;&#35838;&#8212;&#25805;&#20316;&#31995;&#32479;&#65288;&#27748;&#23376;&#36194;)\&#25805;&#20316;&#31995;&#32479;\&#23553;&#38754;&#21450;&#30446;&#24405;.ppt" TargetMode="External"/><Relationship Id="rId4" Type="http://schemas.openxmlformats.org/officeDocument/2006/relationships/slide" Target="slide37.xml"/><Relationship Id="rId3" Type="http://schemas.openxmlformats.org/officeDocument/2006/relationships/slide" Target="slide23.xml"/><Relationship Id="rId2" Type="http://schemas.openxmlformats.org/officeDocument/2006/relationships/slide" Target="slide10.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5.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6.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7.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oleObject" Target="../embeddings/oleObject8.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3.xml"/><Relationship Id="rId2" Type="http://schemas.openxmlformats.org/officeDocument/2006/relationships/image" Target="../media/image26.wmf"/><Relationship Id="rId1" Type="http://schemas.openxmlformats.org/officeDocument/2006/relationships/oleObject" Target="../embeddings/oleObject9.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Rot="1" noChangeArrowheads="1"/>
          </p:cNvSpPr>
          <p:nvPr>
            <p:ph type="subTitle" idx="1"/>
          </p:nvPr>
        </p:nvSpPr>
        <p:spPr/>
        <p:txBody>
          <a:bodyPr/>
          <a:lstStyle/>
          <a:p>
            <a:pPr eaLnBrk="1" hangingPunct="1"/>
            <a:endParaRPr lang="en-US" altLang="zh-CN" b="1" smtClean="0"/>
          </a:p>
          <a:p>
            <a:pPr eaLnBrk="1" hangingPunct="1"/>
            <a:r>
              <a:rPr lang="zh-CN" altLang="en-US" b="1" smtClean="0"/>
              <a:t>信软学院 杨霞</a:t>
            </a:r>
            <a:endParaRPr lang="zh-CN" altLang="en-US" b="1" smtClean="0"/>
          </a:p>
        </p:txBody>
      </p:sp>
      <p:sp>
        <p:nvSpPr>
          <p:cNvPr id="15363" name="Rectangle 5"/>
          <p:cNvSpPr>
            <a:spLocks noGrp="1" noRot="1" noChangeArrowheads="1"/>
          </p:cNvSpPr>
          <p:nvPr>
            <p:ph type="ctrTitle"/>
          </p:nvPr>
        </p:nvSpPr>
        <p:spPr>
          <a:xfrm>
            <a:off x="1981200" y="1828800"/>
            <a:ext cx="6629400" cy="2209800"/>
          </a:xfrm>
        </p:spPr>
        <p:txBody>
          <a:bodyPr/>
          <a:lstStyle/>
          <a:p>
            <a:pPr eaLnBrk="1" hangingPunct="1"/>
            <a:r>
              <a:rPr lang="zh-CN" altLang="en-US" b="1" smtClean="0">
                <a:solidFill>
                  <a:schemeClr val="folHlink"/>
                </a:solidFill>
              </a:rPr>
              <a:t>第四章  存储器管理</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5"/>
          <p:cNvSpPr txBox="1">
            <a:spLocks noChangeArrowheads="1"/>
          </p:cNvSpPr>
          <p:nvPr/>
        </p:nvSpPr>
        <p:spPr bwMode="auto">
          <a:xfrm>
            <a:off x="3589338" y="914400"/>
            <a:ext cx="21256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600" b="1">
                <a:solidFill>
                  <a:schemeClr val="folHlink"/>
                </a:solidFill>
                <a:latin typeface="华文新魏" panose="02010800040101010101" pitchFamily="2" charset="-122"/>
                <a:ea typeface="华文新魏" panose="02010800040101010101" pitchFamily="2" charset="-122"/>
              </a:rPr>
              <a:t>主要内容 </a:t>
            </a:r>
            <a:endParaRPr kumimoji="1" lang="zh-CN" altLang="en-US" sz="3600" b="1">
              <a:solidFill>
                <a:schemeClr val="folHlink"/>
              </a:solidFill>
              <a:latin typeface="华文新魏" panose="02010800040101010101" pitchFamily="2" charset="-122"/>
              <a:ea typeface="华文新魏" panose="02010800040101010101" pitchFamily="2" charset="-122"/>
            </a:endParaRPr>
          </a:p>
        </p:txBody>
      </p:sp>
      <p:sp>
        <p:nvSpPr>
          <p:cNvPr id="16387" name="Text Box 6"/>
          <p:cNvSpPr txBox="1">
            <a:spLocks noChangeArrowheads="1"/>
          </p:cNvSpPr>
          <p:nvPr/>
        </p:nvSpPr>
        <p:spPr bwMode="auto">
          <a:xfrm>
            <a:off x="2514600" y="1447800"/>
            <a:ext cx="455295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800" b="1">
                <a:latin typeface="华文新魏" panose="02010800040101010101" pitchFamily="2" charset="-122"/>
                <a:ea typeface="华文新魏" panose="02010800040101010101" pitchFamily="2" charset="-122"/>
                <a:hlinkClick r:id="rId1" action="ppaction://hlinksldjump"/>
              </a:rPr>
              <a:t>4.1   </a:t>
            </a:r>
            <a:r>
              <a:rPr kumimoji="1" lang="zh-CN" altLang="en-US" sz="2800" b="1">
                <a:latin typeface="华文新魏" panose="02010800040101010101" pitchFamily="2" charset="-122"/>
                <a:ea typeface="华文新魏" panose="02010800040101010101" pitchFamily="2" charset="-122"/>
                <a:hlinkClick r:id="rId1" action="ppaction://hlinksldjump"/>
              </a:rPr>
              <a:t>存储器的层次结构</a:t>
            </a:r>
            <a:endParaRPr kumimoji="1" lang="zh-CN" altLang="en-US" sz="2800" b="1">
              <a:latin typeface="华文新魏" panose="02010800040101010101" pitchFamily="2" charset="-122"/>
              <a:ea typeface="华文新魏" panose="02010800040101010101" pitchFamily="2" charset="-122"/>
            </a:endParaRPr>
          </a:p>
          <a:p>
            <a:pPr eaLnBrk="1" hangingPunct="1">
              <a:lnSpc>
                <a:spcPct val="130000"/>
              </a:lnSpc>
            </a:pPr>
            <a:r>
              <a:rPr kumimoji="1" lang="en-US" altLang="zh-CN" sz="2800" b="1">
                <a:latin typeface="华文新魏" panose="02010800040101010101" pitchFamily="2" charset="-122"/>
                <a:ea typeface="华文新魏" panose="02010800040101010101" pitchFamily="2" charset="-122"/>
                <a:hlinkClick r:id="rId1" action="ppaction://hlinksldjump"/>
              </a:rPr>
              <a:t>4.2 </a:t>
            </a:r>
            <a:r>
              <a:rPr kumimoji="1" lang="zh-CN" altLang="en-US" sz="2800" b="1">
                <a:latin typeface="华文新魏" panose="02010800040101010101" pitchFamily="2" charset="-122"/>
                <a:ea typeface="华文新魏" panose="02010800040101010101" pitchFamily="2" charset="-122"/>
                <a:hlinkClick r:id="rId1" action="ppaction://hlinksldjump"/>
              </a:rPr>
              <a:t>程序的装入和链接 </a:t>
            </a:r>
            <a:endParaRPr kumimoji="1" lang="zh-CN" altLang="en-US" sz="2800" b="1">
              <a:latin typeface="华文新魏" panose="02010800040101010101" pitchFamily="2" charset="-122"/>
              <a:ea typeface="华文新魏" panose="02010800040101010101" pitchFamily="2" charset="-122"/>
            </a:endParaRPr>
          </a:p>
          <a:p>
            <a:pPr eaLnBrk="1" hangingPunct="1">
              <a:lnSpc>
                <a:spcPct val="130000"/>
              </a:lnSpc>
            </a:pPr>
            <a:r>
              <a:rPr kumimoji="1" lang="en-US" altLang="zh-CN" sz="2800" b="1">
                <a:latin typeface="华文新魏" panose="02010800040101010101" pitchFamily="2" charset="-122"/>
                <a:ea typeface="华文新魏" panose="02010800040101010101" pitchFamily="2" charset="-122"/>
                <a:hlinkClick r:id="rId2" action="ppaction://hlinksldjump"/>
              </a:rPr>
              <a:t>4.3  </a:t>
            </a:r>
            <a:r>
              <a:rPr kumimoji="1" lang="zh-CN" altLang="en-US" sz="2800" b="1">
                <a:latin typeface="华文新魏" panose="02010800040101010101" pitchFamily="2" charset="-122"/>
                <a:ea typeface="华文新魏" panose="02010800040101010101" pitchFamily="2" charset="-122"/>
                <a:hlinkClick r:id="rId2" action="ppaction://hlinksldjump"/>
              </a:rPr>
              <a:t>连续分配存储管理方式 </a:t>
            </a:r>
            <a:endParaRPr kumimoji="1" lang="en-US" altLang="zh-CN" sz="2800" b="1">
              <a:latin typeface="华文新魏" panose="02010800040101010101" pitchFamily="2" charset="-122"/>
              <a:ea typeface="华文新魏" panose="02010800040101010101" pitchFamily="2" charset="-122"/>
            </a:endParaRPr>
          </a:p>
          <a:p>
            <a:pPr eaLnBrk="1" hangingPunct="1">
              <a:lnSpc>
                <a:spcPct val="130000"/>
              </a:lnSpc>
            </a:pPr>
            <a:r>
              <a:rPr kumimoji="1" lang="en-US" altLang="zh-CN" sz="2800" b="1">
                <a:latin typeface="华文新魏" panose="02010800040101010101" pitchFamily="2" charset="-122"/>
                <a:ea typeface="华文新魏" panose="02010800040101010101" pitchFamily="2" charset="-122"/>
                <a:hlinkClick r:id="rId2" action="ppaction://hlinksldjump"/>
              </a:rPr>
              <a:t>4.4  </a:t>
            </a:r>
            <a:r>
              <a:rPr kumimoji="1" lang="zh-CN" altLang="en-US" sz="2800" b="1">
                <a:latin typeface="华文新魏" panose="02010800040101010101" pitchFamily="2" charset="-122"/>
                <a:ea typeface="华文新魏" panose="02010800040101010101" pitchFamily="2" charset="-122"/>
                <a:hlinkClick r:id="rId2" action="ppaction://hlinksldjump"/>
              </a:rPr>
              <a:t>对换</a:t>
            </a:r>
            <a:endParaRPr kumimoji="1" lang="zh-CN" altLang="en-US" sz="2800" b="1">
              <a:latin typeface="华文新魏" panose="02010800040101010101" pitchFamily="2" charset="-122"/>
              <a:ea typeface="华文新魏" panose="02010800040101010101" pitchFamily="2" charset="-122"/>
            </a:endParaRPr>
          </a:p>
          <a:p>
            <a:pPr eaLnBrk="1" hangingPunct="1">
              <a:lnSpc>
                <a:spcPct val="130000"/>
              </a:lnSpc>
            </a:pPr>
            <a:r>
              <a:rPr kumimoji="1" lang="en-US" altLang="zh-CN" sz="2800" b="1">
                <a:latin typeface="华文新魏" panose="02010800040101010101" pitchFamily="2" charset="-122"/>
                <a:ea typeface="华文新魏" panose="02010800040101010101" pitchFamily="2" charset="-122"/>
                <a:hlinkClick r:id="rId3" action="ppaction://hlinksldjump"/>
              </a:rPr>
              <a:t>4.4  </a:t>
            </a:r>
            <a:r>
              <a:rPr kumimoji="1" lang="zh-CN" altLang="en-US" sz="2800" b="1">
                <a:latin typeface="华文新魏" panose="02010800040101010101" pitchFamily="2" charset="-122"/>
                <a:ea typeface="华文新魏" panose="02010800040101010101" pitchFamily="2" charset="-122"/>
                <a:hlinkClick r:id="rId3" action="ppaction://hlinksldjump"/>
              </a:rPr>
              <a:t>分页存储管理方式 </a:t>
            </a:r>
            <a:endParaRPr kumimoji="1" lang="zh-CN" altLang="en-US" sz="2800" b="1">
              <a:latin typeface="华文新魏" panose="02010800040101010101" pitchFamily="2" charset="-122"/>
              <a:ea typeface="华文新魏" panose="02010800040101010101" pitchFamily="2" charset="-122"/>
            </a:endParaRPr>
          </a:p>
          <a:p>
            <a:pPr eaLnBrk="1" hangingPunct="1">
              <a:lnSpc>
                <a:spcPct val="130000"/>
              </a:lnSpc>
            </a:pPr>
            <a:r>
              <a:rPr kumimoji="1" lang="en-US" altLang="zh-CN" sz="2800" b="1">
                <a:latin typeface="华文新魏" panose="02010800040101010101" pitchFamily="2" charset="-122"/>
                <a:ea typeface="华文新魏" panose="02010800040101010101" pitchFamily="2" charset="-122"/>
                <a:hlinkClick r:id="rId4" action="ppaction://hlinksldjump"/>
              </a:rPr>
              <a:t>4.5  </a:t>
            </a:r>
            <a:r>
              <a:rPr kumimoji="1" lang="zh-CN" altLang="en-US" sz="2800" b="1">
                <a:latin typeface="华文新魏" panose="02010800040101010101" pitchFamily="2" charset="-122"/>
                <a:ea typeface="华文新魏" panose="02010800040101010101" pitchFamily="2" charset="-122"/>
                <a:hlinkClick r:id="rId4" action="ppaction://hlinksldjump"/>
              </a:rPr>
              <a:t>分段存储管理方式 </a:t>
            </a:r>
            <a:endParaRPr kumimoji="1" lang="zh-CN" altLang="en-US" sz="2800" b="1">
              <a:latin typeface="华文新魏" panose="02010800040101010101" pitchFamily="2" charset="-122"/>
              <a:ea typeface="华文新魏" panose="02010800040101010101" pitchFamily="2" charset="-122"/>
            </a:endParaRPr>
          </a:p>
        </p:txBody>
      </p:sp>
      <p:pic>
        <p:nvPicPr>
          <p:cNvPr id="16388" name="Picture 7" descr="GIF014">
            <a:hlinkClick r:id="rId5" action="ppaction://hlinkpres?slideindex=1&amp;slidetitle="/>
          </p:cNvPr>
          <p:cNvPicPr>
            <a:picLocks noChangeAspect="1" noChangeArrowheads="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58150" y="6286500"/>
            <a:ext cx="10858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414338" y="285750"/>
            <a:ext cx="8229600" cy="990600"/>
          </a:xfrm>
        </p:spPr>
        <p:txBody>
          <a:bodyPr/>
          <a:lstStyle/>
          <a:p>
            <a:pPr eaLnBrk="1" hangingPunct="1"/>
            <a:r>
              <a:rPr lang="en-US" altLang="en-US" sz="4000" b="1" smtClean="0"/>
              <a:t>4.1.1 多级存储器结构</a:t>
            </a:r>
            <a:endParaRPr lang="zh-CN" altLang="en-US" sz="4000" b="1" smtClean="0"/>
          </a:p>
        </p:txBody>
      </p:sp>
      <p:sp>
        <p:nvSpPr>
          <p:cNvPr id="20483" name="Text Box 18"/>
          <p:cNvSpPr txBox="1">
            <a:spLocks noChangeArrowheads="1"/>
          </p:cNvSpPr>
          <p:nvPr/>
        </p:nvSpPr>
        <p:spPr bwMode="auto">
          <a:xfrm>
            <a:off x="142875" y="4857750"/>
            <a:ext cx="8915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folHlink"/>
                </a:solidFill>
              </a:rPr>
              <a:t>寄存器、高速缓存、主存储器和磁盘缓存均属于操作系统存储管理的管辖范畴，掉电后它们存储的信息不再存在。</a:t>
            </a:r>
            <a:endParaRPr lang="en-US" altLang="zh-CN" sz="2400" b="1">
              <a:solidFill>
                <a:schemeClr val="folHlink"/>
              </a:solidFill>
            </a:endParaRPr>
          </a:p>
          <a:p>
            <a:pPr eaLnBrk="1" hangingPunct="1"/>
            <a:endParaRPr lang="zh-CN" altLang="en-US" sz="2400" b="1">
              <a:solidFill>
                <a:schemeClr val="folHlink"/>
              </a:solidFill>
            </a:endParaRPr>
          </a:p>
          <a:p>
            <a:pPr eaLnBrk="1" hangingPunct="1"/>
            <a:r>
              <a:rPr lang="zh-CN" altLang="en-US" sz="2400" b="1">
                <a:solidFill>
                  <a:schemeClr val="folHlink"/>
                </a:solidFill>
              </a:rPr>
              <a:t>固定磁盘和可移动存储介质属于设备管理的管辖范畴，它们存储的信息将被长期保存。</a:t>
            </a:r>
            <a:endParaRPr lang="zh-CN" altLang="en-US" sz="2400" b="1">
              <a:solidFill>
                <a:schemeClr val="folHlink"/>
              </a:solidFill>
            </a:endParaRPr>
          </a:p>
        </p:txBody>
      </p:sp>
      <p:pic>
        <p:nvPicPr>
          <p:cNvPr id="20484" name="Picture 1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71600" y="1447800"/>
            <a:ext cx="5986463"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box(in)">
                                      <p:cBhvr>
                                        <p:cTn id="7" dur="500"/>
                                        <p:tgtEl>
                                          <p:spTgt spid="2048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483">
                                            <p:txEl>
                                              <p:pRg st="0" end="0"/>
                                            </p:txEl>
                                          </p:spTgt>
                                        </p:tgtEl>
                                        <p:attrNameLst>
                                          <p:attrName>style.visibility</p:attrName>
                                        </p:attrNameLst>
                                      </p:cBhvr>
                                      <p:to>
                                        <p:strVal val="visible"/>
                                      </p:to>
                                    </p:set>
                                    <p:animEffect transition="in" filter="box(in)">
                                      <p:cBhvr>
                                        <p:cTn id="12" dur="500"/>
                                        <p:tgtEl>
                                          <p:spTgt spid="204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Effect transition="in" filter="box(in)">
                                      <p:cBhvr>
                                        <p:cTn id="17" dur="500"/>
                                        <p:tgtEl>
                                          <p:spTgt spid="20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3" name="Rectangle 3"/>
          <p:cNvSpPr>
            <a:spLocks noGrp="1" noRot="1" noChangeArrowheads="1"/>
          </p:cNvSpPr>
          <p:nvPr>
            <p:ph type="body" idx="1"/>
          </p:nvPr>
        </p:nvSpPr>
        <p:spPr>
          <a:xfrm>
            <a:off x="533400" y="1676400"/>
            <a:ext cx="8001000" cy="4800600"/>
          </a:xfrm>
        </p:spPr>
        <p:txBody>
          <a:bodyPr/>
          <a:lstStyle/>
          <a:p>
            <a:pPr marL="533400" indent="-533400" eaLnBrk="1" hangingPunct="1">
              <a:lnSpc>
                <a:spcPct val="110000"/>
              </a:lnSpc>
              <a:defRPr/>
            </a:pPr>
            <a:r>
              <a:rPr lang="zh-CN" altLang="en-US" sz="2800" b="1" dirty="0" smtClean="0"/>
              <a:t>如何将一个用户源程序变成一个可在内存中执行的程序，通常要经过</a:t>
            </a:r>
            <a:r>
              <a:rPr lang="en-US" altLang="zh-CN" sz="2800" b="1" dirty="0" smtClean="0"/>
              <a:t>3</a:t>
            </a:r>
            <a:r>
              <a:rPr lang="zh-CN" altLang="en-US" sz="2800" b="1" dirty="0" smtClean="0"/>
              <a:t>步骤： </a:t>
            </a:r>
            <a:endParaRPr lang="zh-CN" altLang="en-US" sz="2800" b="1" dirty="0" smtClean="0"/>
          </a:p>
          <a:p>
            <a:pPr marL="533400" indent="-533400" eaLnBrk="1" hangingPunct="1">
              <a:lnSpc>
                <a:spcPct val="110000"/>
              </a:lnSpc>
              <a:buFontTx/>
              <a:buAutoNum type="arabicPeriod"/>
              <a:defRPr/>
            </a:pPr>
            <a:r>
              <a:rPr lang="zh-CN" altLang="en-US" sz="2800" b="1" dirty="0" smtClean="0">
                <a:solidFill>
                  <a:schemeClr val="folHlink"/>
                </a:solidFill>
                <a:effectLst>
                  <a:outerShdw blurRad="38100" dist="38100" dir="2700000" algn="tl">
                    <a:srgbClr val="000000"/>
                  </a:outerShdw>
                </a:effectLst>
              </a:rPr>
              <a:t>编译</a:t>
            </a:r>
            <a:r>
              <a:rPr lang="en-US" altLang="zh-CN" sz="2800" b="1" dirty="0" smtClean="0">
                <a:solidFill>
                  <a:schemeClr val="folHlink"/>
                </a:solidFill>
              </a:rPr>
              <a:t>:</a:t>
            </a:r>
            <a:r>
              <a:rPr lang="zh-CN" altLang="en-US" sz="2800" b="1" dirty="0" smtClean="0"/>
              <a:t>由编译程序（</a:t>
            </a:r>
            <a:r>
              <a:rPr lang="en-US" altLang="zh-CN" sz="2800" b="1" dirty="0" smtClean="0"/>
              <a:t>Compiler</a:t>
            </a:r>
            <a:r>
              <a:rPr lang="zh-CN" altLang="en-US" sz="2800" b="1" dirty="0" smtClean="0"/>
              <a:t>）将用户源代码编译成若个</a:t>
            </a:r>
            <a:r>
              <a:rPr lang="zh-CN" altLang="en-US" sz="2800" b="1" i="1" u="sng" dirty="0" smtClean="0">
                <a:solidFill>
                  <a:schemeClr val="folHlink"/>
                </a:solidFill>
              </a:rPr>
              <a:t>目标模块 </a:t>
            </a:r>
            <a:r>
              <a:rPr lang="zh-CN" altLang="en-US" sz="2800" b="1" dirty="0" smtClean="0"/>
              <a:t>。</a:t>
            </a:r>
            <a:endParaRPr lang="zh-CN" altLang="en-US" sz="2800" b="1" dirty="0" smtClean="0"/>
          </a:p>
          <a:p>
            <a:pPr marL="533400" indent="-533400" eaLnBrk="1" hangingPunct="1">
              <a:lnSpc>
                <a:spcPct val="110000"/>
              </a:lnSpc>
              <a:buFontTx/>
              <a:buAutoNum type="arabicPeriod"/>
              <a:defRPr/>
            </a:pPr>
            <a:r>
              <a:rPr lang="zh-CN" altLang="en-US" sz="2800" b="1" dirty="0" smtClean="0">
                <a:solidFill>
                  <a:schemeClr val="folHlink"/>
                </a:solidFill>
                <a:effectLst>
                  <a:outerShdw blurRad="38100" dist="38100" dir="2700000" algn="tl">
                    <a:srgbClr val="000000"/>
                  </a:outerShdw>
                </a:effectLst>
              </a:rPr>
              <a:t>链接</a:t>
            </a:r>
            <a:r>
              <a:rPr lang="en-US" altLang="zh-CN" sz="2800" b="1" dirty="0" smtClean="0">
                <a:solidFill>
                  <a:schemeClr val="folHlink"/>
                </a:solidFill>
              </a:rPr>
              <a:t>:</a:t>
            </a:r>
            <a:r>
              <a:rPr lang="zh-CN" altLang="en-US" sz="2800" b="1" dirty="0" smtClean="0"/>
              <a:t>由链接程序（</a:t>
            </a:r>
            <a:r>
              <a:rPr lang="en-US" altLang="zh-CN" sz="2800" b="1" dirty="0" smtClean="0"/>
              <a:t>Linker</a:t>
            </a:r>
            <a:r>
              <a:rPr lang="zh-CN" altLang="en-US" sz="2800" b="1" dirty="0" smtClean="0"/>
              <a:t>）将编译后形成的一组目标模块，以及它们所需要的库函数链接在一起，形成一个完整的</a:t>
            </a:r>
            <a:r>
              <a:rPr lang="zh-CN" altLang="en-US" sz="2800" b="1" i="1" u="sng" dirty="0" smtClean="0">
                <a:solidFill>
                  <a:schemeClr val="folHlink"/>
                </a:solidFill>
              </a:rPr>
              <a:t>装入模块</a:t>
            </a:r>
            <a:r>
              <a:rPr lang="zh-CN" altLang="en-US" sz="2800" b="1" dirty="0" smtClean="0"/>
              <a:t> 。</a:t>
            </a:r>
            <a:endParaRPr lang="zh-CN" altLang="en-US" sz="2800" b="1" dirty="0" smtClean="0"/>
          </a:p>
          <a:p>
            <a:pPr marL="533400" indent="-533400" eaLnBrk="1" hangingPunct="1">
              <a:lnSpc>
                <a:spcPct val="110000"/>
              </a:lnSpc>
              <a:buFontTx/>
              <a:buAutoNum type="arabicPeriod"/>
              <a:defRPr/>
            </a:pPr>
            <a:r>
              <a:rPr lang="zh-CN" altLang="en-US" sz="2800" b="1" dirty="0" smtClean="0">
                <a:solidFill>
                  <a:schemeClr val="folHlink"/>
                </a:solidFill>
                <a:effectLst>
                  <a:outerShdw blurRad="38100" dist="38100" dir="2700000" algn="tl">
                    <a:srgbClr val="000000"/>
                  </a:outerShdw>
                </a:effectLst>
              </a:rPr>
              <a:t>装入</a:t>
            </a:r>
            <a:r>
              <a:rPr lang="en-US" altLang="zh-CN" sz="2800" b="1" dirty="0" smtClean="0">
                <a:solidFill>
                  <a:schemeClr val="folHlink"/>
                </a:solidFill>
              </a:rPr>
              <a:t>:</a:t>
            </a:r>
            <a:r>
              <a:rPr lang="zh-CN" altLang="en-US" sz="2800" b="1" dirty="0" smtClean="0"/>
              <a:t>由装入程序（</a:t>
            </a:r>
            <a:r>
              <a:rPr lang="en-US" altLang="zh-CN" sz="2800" b="1" dirty="0" smtClean="0"/>
              <a:t>Loader</a:t>
            </a:r>
            <a:r>
              <a:rPr lang="zh-CN" altLang="en-US" sz="2800" b="1" dirty="0" smtClean="0"/>
              <a:t>）将装入模块装入内存。 </a:t>
            </a:r>
            <a:endParaRPr lang="zh-CN" altLang="en-US" sz="2800" b="1" dirty="0" smtClean="0"/>
          </a:p>
        </p:txBody>
      </p:sp>
      <p:sp>
        <p:nvSpPr>
          <p:cNvPr id="18435" name="Rectangle 4"/>
          <p:cNvSpPr>
            <a:spLocks noGrp="1" noRot="1" noChangeArrowheads="1"/>
          </p:cNvSpPr>
          <p:nvPr>
            <p:ph type="title"/>
          </p:nvPr>
        </p:nvSpPr>
        <p:spPr>
          <a:xfrm>
            <a:off x="381000" y="533400"/>
            <a:ext cx="8077200" cy="1066800"/>
          </a:xfrm>
        </p:spPr>
        <p:txBody>
          <a:bodyPr/>
          <a:lstStyle/>
          <a:p>
            <a:pPr eaLnBrk="1" hangingPunct="1"/>
            <a:r>
              <a:rPr lang="en-US" altLang="zh-CN" b="1" smtClean="0">
                <a:solidFill>
                  <a:schemeClr val="folHlink"/>
                </a:solidFill>
              </a:rPr>
              <a:t>4.2  </a:t>
            </a:r>
            <a:r>
              <a:rPr lang="zh-CN" altLang="en-US" b="1" smtClean="0">
                <a:solidFill>
                  <a:schemeClr val="folHlink"/>
                </a:solidFill>
              </a:rPr>
              <a:t>程序的装入和链接</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1876425" y="2019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26" name="Object 3"/>
          <p:cNvGraphicFramePr>
            <a:graphicFrameLocks noChangeAspect="1"/>
          </p:cNvGraphicFramePr>
          <p:nvPr/>
        </p:nvGraphicFramePr>
        <p:xfrm>
          <a:off x="762000" y="914400"/>
          <a:ext cx="7848600" cy="5029200"/>
        </p:xfrm>
        <a:graphic>
          <a:graphicData uri="http://schemas.openxmlformats.org/presentationml/2006/ole">
            <mc:AlternateContent xmlns:mc="http://schemas.openxmlformats.org/markup-compatibility/2006">
              <mc:Choice xmlns:v="urn:schemas-microsoft-com:vml" Requires="v">
                <p:oleObj spid="_x0000_s1025" name="" r:id="rId1" imgW="7515225" imgH="4581525" progId="">
                  <p:embed/>
                </p:oleObj>
              </mc:Choice>
              <mc:Fallback>
                <p:oleObj name="" r:id="rId1" imgW="7515225" imgH="4581525" progId="">
                  <p:embed/>
                  <p:pic>
                    <p:nvPicPr>
                      <p:cNvPr id="0" name="图片 1024"/>
                      <p:cNvPicPr>
                        <a:picLocks noChangeAspect="1"/>
                      </p:cNvPicPr>
                      <p:nvPr/>
                    </p:nvPicPr>
                    <p:blipFill>
                      <a:blip r:embed="rId2"/>
                      <a:stretch>
                        <a:fillRect/>
                      </a:stretch>
                    </p:blipFill>
                    <p:spPr>
                      <a:xfrm>
                        <a:off x="762000" y="914400"/>
                        <a:ext cx="7848600" cy="50292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1" name="Rectangle 3"/>
          <p:cNvSpPr>
            <a:spLocks noGrp="1" noRot="1" noChangeArrowheads="1"/>
          </p:cNvSpPr>
          <p:nvPr>
            <p:ph type="body" idx="1"/>
          </p:nvPr>
        </p:nvSpPr>
        <p:spPr>
          <a:xfrm>
            <a:off x="381000" y="1676400"/>
            <a:ext cx="8305800" cy="4651375"/>
          </a:xfrm>
        </p:spPr>
        <p:txBody>
          <a:bodyPr/>
          <a:lstStyle/>
          <a:p>
            <a:pPr eaLnBrk="1" hangingPunct="1">
              <a:lnSpc>
                <a:spcPct val="110000"/>
              </a:lnSpc>
              <a:defRPr/>
            </a:pPr>
            <a:r>
              <a:rPr lang="en-US" altLang="zh-CN" sz="3600" b="1" dirty="0" smtClean="0">
                <a:solidFill>
                  <a:schemeClr val="hlink"/>
                </a:solidFill>
              </a:rPr>
              <a:t>(1)</a:t>
            </a:r>
            <a:r>
              <a:rPr lang="zh-CN" altLang="en-US" sz="3600" b="1" dirty="0" smtClean="0">
                <a:solidFill>
                  <a:schemeClr val="hlink"/>
                </a:solidFill>
              </a:rPr>
              <a:t>．绝对装入方式</a:t>
            </a:r>
            <a:r>
              <a:rPr lang="zh-CN" altLang="en-US" sz="3600" b="1" dirty="0" smtClean="0"/>
              <a:t> </a:t>
            </a:r>
            <a:endParaRPr lang="zh-CN" altLang="en-US" sz="3600" b="1" dirty="0" smtClean="0"/>
          </a:p>
          <a:p>
            <a:pPr eaLnBrk="1" hangingPunct="1">
              <a:lnSpc>
                <a:spcPct val="110000"/>
              </a:lnSpc>
              <a:buFont typeface="Wingdings" panose="05000000000000000000" pitchFamily="2" charset="2"/>
              <a:buNone/>
              <a:defRPr/>
            </a:pPr>
            <a:r>
              <a:rPr lang="zh-CN" altLang="en-US" sz="2800" b="1" dirty="0" smtClean="0"/>
              <a:t>    如果知道程序将驻留在内存的什么位置，那么，</a:t>
            </a:r>
            <a:r>
              <a:rPr lang="zh-CN" altLang="en-US" sz="2800" b="1" dirty="0" smtClean="0">
                <a:solidFill>
                  <a:schemeClr val="folHlink"/>
                </a:solidFill>
                <a:effectLst>
                  <a:outerShdw blurRad="38100" dist="38100" dir="2700000" algn="tl">
                    <a:srgbClr val="000000"/>
                  </a:outerShdw>
                </a:effectLst>
              </a:rPr>
              <a:t>编译程序</a:t>
            </a:r>
            <a:r>
              <a:rPr lang="zh-CN" altLang="en-US" sz="2800" b="1" dirty="0" smtClean="0"/>
              <a:t>将产生绝对地址的目标代码。</a:t>
            </a:r>
            <a:endParaRPr lang="zh-CN" altLang="en-US" sz="2800" b="1" dirty="0" smtClean="0"/>
          </a:p>
          <a:p>
            <a:pPr eaLnBrk="1" hangingPunct="1">
              <a:lnSpc>
                <a:spcPct val="110000"/>
              </a:lnSpc>
              <a:buFont typeface="Wingdings" panose="05000000000000000000" pitchFamily="2" charset="2"/>
              <a:buNone/>
              <a:defRPr/>
            </a:pPr>
            <a:r>
              <a:rPr lang="zh-CN" altLang="en-US" sz="2800" b="1" dirty="0" smtClean="0"/>
              <a:t>    </a:t>
            </a:r>
            <a:r>
              <a:rPr lang="zh-CN" altLang="en-US" sz="2800" b="1" dirty="0" smtClean="0">
                <a:solidFill>
                  <a:schemeClr val="folHlink"/>
                </a:solidFill>
                <a:effectLst>
                  <a:outerShdw blurRad="38100" dist="38100" dir="2700000" algn="tl">
                    <a:srgbClr val="000000"/>
                  </a:outerShdw>
                </a:effectLst>
              </a:rPr>
              <a:t>绝对装入程序</a:t>
            </a:r>
            <a:r>
              <a:rPr lang="zh-CN" altLang="en-US" sz="2800" b="1" dirty="0" smtClean="0"/>
              <a:t>按照装入模块中的地址，将程序和数据装入内存。装入模块被装入内存后，由于程序中的</a:t>
            </a:r>
            <a:r>
              <a:rPr lang="zh-CN" altLang="en-US" sz="2800" b="1" i="1" u="sng" dirty="0" smtClean="0">
                <a:solidFill>
                  <a:schemeClr val="folHlink"/>
                </a:solidFill>
                <a:effectLst>
                  <a:outerShdw blurRad="38100" dist="38100" dir="2700000" algn="tl">
                    <a:srgbClr val="000000"/>
                  </a:outerShdw>
                </a:effectLst>
              </a:rPr>
              <a:t>逻辑地址与实际内存地址完全相同，</a:t>
            </a:r>
            <a:r>
              <a:rPr lang="zh-CN" altLang="en-US" sz="2800" b="1" dirty="0" smtClean="0">
                <a:effectLst>
                  <a:outerShdw blurRad="38100" dist="38100" dir="2700000" algn="tl">
                    <a:srgbClr val="000000"/>
                  </a:outerShdw>
                </a:effectLst>
              </a:rPr>
              <a:t>故不需对程序和数据的地址进行修改。  </a:t>
            </a:r>
            <a:endParaRPr lang="zh-CN" altLang="en-US" sz="2800" b="1" dirty="0" smtClean="0">
              <a:effectLst>
                <a:outerShdw blurRad="38100" dist="38100" dir="2700000" algn="tl">
                  <a:srgbClr val="000000"/>
                </a:outerShdw>
              </a:effectLst>
            </a:endParaRPr>
          </a:p>
        </p:txBody>
      </p:sp>
      <p:sp>
        <p:nvSpPr>
          <p:cNvPr id="19459" name="Rectangle 4"/>
          <p:cNvSpPr>
            <a:spLocks noGrp="1" noRot="1" noChangeArrowheads="1"/>
          </p:cNvSpPr>
          <p:nvPr>
            <p:ph type="title"/>
          </p:nvPr>
        </p:nvSpPr>
        <p:spPr/>
        <p:txBody>
          <a:bodyPr/>
          <a:lstStyle/>
          <a:p>
            <a:pPr eaLnBrk="1" hangingPunct="1"/>
            <a:r>
              <a:rPr lang="en-US" altLang="zh-CN" b="1" smtClean="0">
                <a:solidFill>
                  <a:schemeClr val="folHlink"/>
                </a:solidFill>
              </a:rPr>
              <a:t>1.  </a:t>
            </a:r>
            <a:r>
              <a:rPr lang="zh-CN" altLang="en-US" b="1" smtClean="0">
                <a:solidFill>
                  <a:schemeClr val="folHlink"/>
                </a:solidFill>
              </a:rPr>
              <a:t>程序的装入 </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Rot="1" noChangeArrowheads="1"/>
          </p:cNvSpPr>
          <p:nvPr>
            <p:ph/>
          </p:nvPr>
        </p:nvSpPr>
        <p:spPr>
          <a:xfrm>
            <a:off x="323528" y="548680"/>
            <a:ext cx="8568952" cy="5943600"/>
          </a:xfrm>
        </p:spPr>
        <p:txBody>
          <a:bodyPr/>
          <a:lstStyle/>
          <a:p>
            <a:pPr eaLnBrk="1" hangingPunct="1">
              <a:lnSpc>
                <a:spcPct val="110000"/>
              </a:lnSpc>
              <a:defRPr/>
            </a:pPr>
            <a:r>
              <a:rPr lang="en-US" altLang="zh-CN" sz="3600" b="1" dirty="0" smtClean="0">
                <a:solidFill>
                  <a:schemeClr val="hlink"/>
                </a:solidFill>
              </a:rPr>
              <a:t> (2)</a:t>
            </a:r>
            <a:r>
              <a:rPr lang="zh-CN" altLang="en-US" sz="3600" b="1" dirty="0" smtClean="0">
                <a:solidFill>
                  <a:schemeClr val="hlink"/>
                </a:solidFill>
              </a:rPr>
              <a:t>．可重定位装入方式</a:t>
            </a:r>
            <a:r>
              <a:rPr lang="zh-CN" altLang="en-US" sz="3600" b="1" dirty="0" smtClean="0"/>
              <a:t>  </a:t>
            </a:r>
            <a:endParaRPr lang="zh-CN" altLang="en-US" sz="3600" b="1" dirty="0" smtClean="0"/>
          </a:p>
          <a:p>
            <a:pPr eaLnBrk="1" hangingPunct="1">
              <a:lnSpc>
                <a:spcPct val="110000"/>
              </a:lnSpc>
              <a:defRPr/>
            </a:pPr>
            <a:r>
              <a:rPr lang="zh-CN" altLang="en-US" sz="2800" b="1" dirty="0" smtClean="0"/>
              <a:t>由装入程序将装入模块装入内存后，装入模块中</a:t>
            </a:r>
            <a:r>
              <a:rPr lang="zh-CN" altLang="en-US" sz="2800" b="1" dirty="0" smtClean="0">
                <a:solidFill>
                  <a:srgbClr val="FF0000"/>
                </a:solidFill>
              </a:rPr>
              <a:t>程序所访问的所有逻辑地址与实际装入内存的物理地址不同 </a:t>
            </a:r>
            <a:r>
              <a:rPr lang="zh-CN" altLang="en-US" sz="2800" b="1" dirty="0" smtClean="0"/>
              <a:t>，必须进行变换。</a:t>
            </a:r>
            <a:endParaRPr lang="zh-CN" altLang="en-US" sz="2800" b="1" dirty="0" smtClean="0"/>
          </a:p>
          <a:p>
            <a:pPr algn="just" eaLnBrk="1" hangingPunct="1">
              <a:lnSpc>
                <a:spcPct val="110000"/>
              </a:lnSpc>
              <a:defRPr/>
            </a:pPr>
            <a:r>
              <a:rPr lang="zh-CN" altLang="en-US" sz="2800" b="1" i="1" u="sng" dirty="0" smtClean="0">
                <a:solidFill>
                  <a:schemeClr val="folHlink"/>
                </a:solidFill>
              </a:rPr>
              <a:t>把在装入时对目标程序中指令和数据的变换过程称为</a:t>
            </a:r>
            <a:r>
              <a:rPr lang="zh-CN" altLang="en-US" sz="2800" b="1" i="1" u="sng" dirty="0" smtClean="0">
                <a:solidFill>
                  <a:srgbClr val="FF0000"/>
                </a:solidFill>
              </a:rPr>
              <a:t>重定位</a:t>
            </a:r>
            <a:r>
              <a:rPr lang="zh-CN" altLang="en-US" sz="2800" b="1" i="1" u="sng" dirty="0" smtClean="0">
                <a:solidFill>
                  <a:schemeClr val="folHlink"/>
                </a:solidFill>
              </a:rPr>
              <a:t>。</a:t>
            </a:r>
            <a:endParaRPr lang="zh-CN" altLang="en-US" sz="2800" b="1" i="1" u="sng" dirty="0" smtClean="0">
              <a:solidFill>
                <a:schemeClr val="folHlink"/>
              </a:solidFill>
            </a:endParaRPr>
          </a:p>
          <a:p>
            <a:pPr algn="just" eaLnBrk="1" hangingPunct="1">
              <a:lnSpc>
                <a:spcPct val="110000"/>
              </a:lnSpc>
              <a:defRPr/>
            </a:pPr>
            <a:r>
              <a:rPr lang="zh-CN" altLang="en-US" sz="2800" b="1" dirty="0" smtClean="0"/>
              <a:t>因为地址变换是在装入时一次完成的，以后不再改变，故称为</a:t>
            </a:r>
            <a:r>
              <a:rPr lang="zh-CN" altLang="en-US" sz="2800" b="1" dirty="0" smtClean="0">
                <a:solidFill>
                  <a:srgbClr val="FF0000"/>
                </a:solidFill>
                <a:effectLst>
                  <a:outerShdw blurRad="38100" dist="38100" dir="2700000" algn="tl">
                    <a:srgbClr val="000000"/>
                  </a:outerShdw>
                </a:effectLst>
              </a:rPr>
              <a:t>静态重定位</a:t>
            </a:r>
            <a:r>
              <a:rPr lang="zh-CN" altLang="en-US" sz="2800" b="1" dirty="0" smtClean="0"/>
              <a:t>。采用静态重定位方法将程序装入内存</a:t>
            </a:r>
            <a:r>
              <a:rPr lang="en-US" altLang="zh-CN" sz="2800" b="1" dirty="0" smtClean="0"/>
              <a:t>,</a:t>
            </a:r>
            <a:r>
              <a:rPr lang="zh-CN" altLang="en-US" sz="2800" b="1" dirty="0" smtClean="0"/>
              <a:t>称为</a:t>
            </a:r>
            <a:r>
              <a:rPr lang="zh-CN" altLang="en-US" sz="2800" b="1" dirty="0" smtClean="0">
                <a:solidFill>
                  <a:srgbClr val="FF0000"/>
                </a:solidFill>
                <a:effectLst>
                  <a:outerShdw blurRad="38100" dist="38100" dir="2700000" algn="tl">
                    <a:srgbClr val="000000"/>
                  </a:outerShdw>
                </a:effectLst>
              </a:rPr>
              <a:t>可重定位装入方式</a:t>
            </a:r>
            <a:r>
              <a:rPr lang="zh-CN" altLang="en-US" sz="2800" b="1" dirty="0" smtClean="0">
                <a:solidFill>
                  <a:schemeClr val="folHlink"/>
                </a:solidFill>
                <a:effectLst>
                  <a:outerShdw blurRad="38100" dist="38100" dir="2700000" algn="tl">
                    <a:srgbClr val="000000"/>
                  </a:outerShdw>
                </a:effectLst>
              </a:rPr>
              <a:t>。</a:t>
            </a:r>
            <a:endParaRPr lang="zh-CN" altLang="en-US" sz="2800" b="1" dirty="0" smtClean="0">
              <a:solidFill>
                <a:schemeClr val="folHlink"/>
              </a:solidFill>
              <a:effectLst>
                <a:outerShdw blurRad="38100" dist="38100" dir="2700000" algn="tl">
                  <a:srgbClr val="000000"/>
                </a:outerShdw>
              </a:effectLst>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2619375" y="1309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21507"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00200" y="609600"/>
            <a:ext cx="5461000" cy="55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Rot="1" noChangeArrowheads="1"/>
          </p:cNvSpPr>
          <p:nvPr>
            <p:ph/>
          </p:nvPr>
        </p:nvSpPr>
        <p:spPr>
          <a:xfrm>
            <a:off x="533400" y="76200"/>
            <a:ext cx="7924800" cy="5283200"/>
          </a:xfrm>
        </p:spPr>
        <p:txBody>
          <a:bodyPr/>
          <a:lstStyle/>
          <a:p>
            <a:pPr marL="290830" indent="-290830" algn="just" eaLnBrk="1" hangingPunct="1">
              <a:defRPr/>
            </a:pPr>
            <a:endParaRPr lang="en-US" altLang="zh-CN" sz="2800" b="1" dirty="0" smtClean="0">
              <a:solidFill>
                <a:schemeClr val="accent2"/>
              </a:solidFill>
              <a:effectLst>
                <a:outerShdw blurRad="38100" dist="38100" dir="2700000" algn="tl">
                  <a:srgbClr val="000000"/>
                </a:outerShdw>
              </a:effectLst>
            </a:endParaRPr>
          </a:p>
          <a:p>
            <a:pPr marL="290830" indent="-290830" algn="just" eaLnBrk="1" hangingPunct="1">
              <a:buFont typeface="Wingdings" panose="05000000000000000000" pitchFamily="2" charset="2"/>
              <a:buNone/>
              <a:defRPr/>
            </a:pPr>
            <a:r>
              <a:rPr lang="en-US" altLang="zh-CN" sz="3600" b="1" dirty="0" smtClean="0">
                <a:solidFill>
                  <a:schemeClr val="hlink"/>
                </a:solidFill>
                <a:effectLst>
                  <a:outerShdw blurRad="38100" dist="38100" dir="2700000" algn="tl">
                    <a:srgbClr val="000000"/>
                  </a:outerShdw>
                </a:effectLst>
              </a:rPr>
              <a:t>(3)</a:t>
            </a:r>
            <a:r>
              <a:rPr lang="zh-CN" altLang="en-US" sz="3600" b="1" dirty="0" smtClean="0">
                <a:solidFill>
                  <a:schemeClr val="hlink"/>
                </a:solidFill>
                <a:effectLst>
                  <a:outerShdw blurRad="38100" dist="38100" dir="2700000" algn="tl">
                    <a:srgbClr val="000000"/>
                  </a:outerShdw>
                </a:effectLst>
              </a:rPr>
              <a:t>．动态运行时装入方式</a:t>
            </a:r>
            <a:r>
              <a:rPr lang="zh-CN" altLang="en-US" sz="3600" b="1" dirty="0" smtClean="0">
                <a:solidFill>
                  <a:schemeClr val="hlink"/>
                </a:solidFill>
              </a:rPr>
              <a:t> </a:t>
            </a:r>
            <a:endParaRPr lang="en-US" altLang="zh-CN" sz="3600" b="1" dirty="0" smtClean="0">
              <a:solidFill>
                <a:schemeClr val="hlink"/>
              </a:solidFill>
            </a:endParaRPr>
          </a:p>
          <a:p>
            <a:pPr marL="290830" indent="-290830" algn="just" eaLnBrk="1" hangingPunct="1">
              <a:buFont typeface="Wingdings" panose="05000000000000000000" pitchFamily="2" charset="2"/>
              <a:buNone/>
              <a:defRPr/>
            </a:pPr>
            <a:endParaRPr lang="zh-CN" altLang="en-US" sz="3600" b="1" dirty="0" smtClean="0">
              <a:solidFill>
                <a:schemeClr val="hlink"/>
              </a:solidFill>
            </a:endParaRPr>
          </a:p>
          <a:p>
            <a:pPr marL="290830" indent="-290830" algn="just" eaLnBrk="1" hangingPunct="1">
              <a:lnSpc>
                <a:spcPct val="120000"/>
              </a:lnSpc>
              <a:defRPr/>
            </a:pPr>
            <a:r>
              <a:rPr lang="zh-CN" altLang="en-US" sz="2800" b="1" dirty="0" smtClean="0"/>
              <a:t>  </a:t>
            </a:r>
            <a:r>
              <a:rPr lang="zh-CN" altLang="en-US" b="1" dirty="0" smtClean="0"/>
              <a:t>装入程序将目标模块装入内存后，并不立即把装入模块中的相对地址转换为绝对地址，而是</a:t>
            </a:r>
            <a:r>
              <a:rPr lang="zh-CN" altLang="en-US" b="1" i="1" u="sng" dirty="0" smtClean="0">
                <a:solidFill>
                  <a:schemeClr val="folHlink"/>
                </a:solidFill>
              </a:rPr>
              <a:t>把这种地址转换推迟到程序执行时进行</a:t>
            </a:r>
            <a:r>
              <a:rPr lang="zh-CN" altLang="en-US" b="1" dirty="0" smtClean="0"/>
              <a:t>，在硬件地址变换机构的支持下，随着对每条指令或数据的访问自动进行地址变换，故称为</a:t>
            </a:r>
            <a:r>
              <a:rPr lang="zh-CN" altLang="en-US" b="1" i="1" u="sng" dirty="0" smtClean="0">
                <a:solidFill>
                  <a:srgbClr val="FF0000"/>
                </a:solidFill>
                <a:effectLst>
                  <a:outerShdw blurRad="38100" dist="38100" dir="2700000" algn="tl">
                    <a:srgbClr val="000000"/>
                  </a:outerShdw>
                </a:effectLst>
              </a:rPr>
              <a:t>动态重定位。</a:t>
            </a:r>
            <a:endParaRPr lang="zh-CN" altLang="en-US" b="1" i="1" u="sng" dirty="0" smtClean="0">
              <a:solidFill>
                <a:srgbClr val="FF0000"/>
              </a:solidFill>
              <a:effectLst>
                <a:outerShdw blurRad="38100" dist="38100" dir="2700000" algn="tl">
                  <a:srgbClr val="000000"/>
                </a:outerShdw>
              </a:effectLst>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ChangeArrowheads="1"/>
          </p:cNvSpPr>
          <p:nvPr/>
        </p:nvSpPr>
        <p:spPr bwMode="auto">
          <a:xfrm>
            <a:off x="609600" y="5334000"/>
            <a:ext cx="7772400" cy="1066800"/>
          </a:xfrm>
          <a:prstGeom prst="rect">
            <a:avLst/>
          </a:prstGeom>
          <a:noFill/>
          <a:ln w="9525">
            <a:noFill/>
            <a:miter lim="800000"/>
          </a:ln>
          <a:effectLst/>
        </p:spPr>
        <p:txBody>
          <a:bodyPr>
            <a:spAutoFit/>
          </a:bodyPr>
          <a:lstStyle/>
          <a:p>
            <a:pPr>
              <a:spcBef>
                <a:spcPct val="20000"/>
              </a:spcBef>
              <a:buFontTx/>
              <a:buChar char="•"/>
              <a:defRPr/>
            </a:pPr>
            <a:r>
              <a:rPr kumimoji="1" lang="zh-CN" altLang="en-US" sz="3200" b="1" dirty="0">
                <a:effectLst>
                  <a:outerShdw blurRad="38100" dist="38100" dir="2700000" algn="tl">
                    <a:srgbClr val="000000"/>
                  </a:outerShdw>
                </a:effectLst>
                <a:latin typeface="Times New Roman" panose="02020603050405020304" pitchFamily="18" charset="0"/>
              </a:rPr>
              <a:t>采用动态重定位方法将程序装入内存，称为</a:t>
            </a:r>
            <a:r>
              <a:rPr kumimoji="1" lang="zh-CN" altLang="en-US" sz="3200" b="1" dirty="0">
                <a:solidFill>
                  <a:srgbClr val="FF0000"/>
                </a:solidFill>
                <a:effectLst>
                  <a:outerShdw blurRad="38100" dist="38100" dir="2700000" algn="tl">
                    <a:srgbClr val="000000"/>
                  </a:outerShdw>
                </a:effectLst>
                <a:latin typeface="Times New Roman" panose="02020603050405020304" pitchFamily="18" charset="0"/>
              </a:rPr>
              <a:t>动态运行时装入方式 </a:t>
            </a:r>
            <a:r>
              <a:rPr kumimoji="1" lang="zh-CN" altLang="en-US" sz="3200" b="1" dirty="0">
                <a:solidFill>
                  <a:schemeClr val="folHlink"/>
                </a:solidFill>
                <a:effectLst>
                  <a:outerShdw blurRad="38100" dist="38100" dir="2700000" algn="tl">
                    <a:srgbClr val="000000"/>
                  </a:outerShdw>
                </a:effectLst>
                <a:latin typeface="Times New Roman" panose="02020603050405020304" pitchFamily="18" charset="0"/>
              </a:rPr>
              <a:t>。</a:t>
            </a:r>
            <a:endParaRPr kumimoji="1" lang="zh-CN" altLang="en-US" sz="3200" b="1" dirty="0">
              <a:solidFill>
                <a:schemeClr val="folHlink"/>
              </a:solidFill>
              <a:effectLst>
                <a:outerShdw blurRad="38100" dist="38100" dir="2700000" algn="tl">
                  <a:srgbClr val="000000"/>
                </a:outerShdw>
              </a:effectLst>
              <a:latin typeface="Times New Roman" panose="02020603050405020304" pitchFamily="18" charset="0"/>
            </a:endParaRPr>
          </a:p>
        </p:txBody>
      </p:sp>
      <p:sp>
        <p:nvSpPr>
          <p:cNvPr id="2052" name="Rectangle 3"/>
          <p:cNvSpPr>
            <a:spLocks noChangeArrowheads="1"/>
          </p:cNvSpPr>
          <p:nvPr/>
        </p:nvSpPr>
        <p:spPr bwMode="auto">
          <a:xfrm>
            <a:off x="1871663" y="1781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50" name="Object 4"/>
          <p:cNvGraphicFramePr>
            <a:graphicFrameLocks noChangeAspect="1"/>
          </p:cNvGraphicFramePr>
          <p:nvPr/>
        </p:nvGraphicFramePr>
        <p:xfrm>
          <a:off x="762000" y="533400"/>
          <a:ext cx="7543800" cy="4572000"/>
        </p:xfrm>
        <a:graphic>
          <a:graphicData uri="http://schemas.openxmlformats.org/presentationml/2006/ole">
            <mc:AlternateContent xmlns:mc="http://schemas.openxmlformats.org/markup-compatibility/2006">
              <mc:Choice xmlns:v="urn:schemas-microsoft-com:vml" Requires="v">
                <p:oleObj spid="_x0000_s2049" name="" r:id="rId1" imgW="7515225" imgH="4581525" progId="">
                  <p:embed/>
                </p:oleObj>
              </mc:Choice>
              <mc:Fallback>
                <p:oleObj name="" r:id="rId1" imgW="7515225" imgH="4581525" progId="">
                  <p:embed/>
                  <p:pic>
                    <p:nvPicPr>
                      <p:cNvPr id="0" name="图片 2048"/>
                      <p:cNvPicPr>
                        <a:picLocks noChangeAspect="1"/>
                      </p:cNvPicPr>
                      <p:nvPr/>
                    </p:nvPicPr>
                    <p:blipFill>
                      <a:blip r:embed="rId2"/>
                      <a:stretch>
                        <a:fillRect/>
                      </a:stretch>
                    </p:blipFill>
                    <p:spPr>
                      <a:xfrm>
                        <a:off x="762000" y="533400"/>
                        <a:ext cx="7543800" cy="45720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1" name="Rectangle 3"/>
          <p:cNvSpPr>
            <a:spLocks noGrp="1" noRot="1" noChangeArrowheads="1"/>
          </p:cNvSpPr>
          <p:nvPr>
            <p:ph type="body" idx="1"/>
          </p:nvPr>
        </p:nvSpPr>
        <p:spPr>
          <a:xfrm>
            <a:off x="533400" y="1600200"/>
            <a:ext cx="8001000" cy="4800600"/>
          </a:xfrm>
        </p:spPr>
        <p:txBody>
          <a:bodyPr/>
          <a:lstStyle/>
          <a:p>
            <a:pPr eaLnBrk="1" hangingPunct="1">
              <a:lnSpc>
                <a:spcPct val="120000"/>
              </a:lnSpc>
              <a:buFont typeface="Wingdings" panose="05000000000000000000" pitchFamily="2" charset="2"/>
              <a:buNone/>
              <a:defRPr/>
            </a:pPr>
            <a:r>
              <a:rPr lang="en-US" altLang="zh-CN" sz="2800" b="1" smtClean="0"/>
              <a:t>★</a:t>
            </a:r>
            <a:r>
              <a:rPr lang="zh-CN" altLang="en-US" sz="2800" b="1" smtClean="0"/>
              <a:t>源程序经过编译后，可得到一组目标模块，再利用链接程序将这组目标模块链接形成装入模块。</a:t>
            </a:r>
            <a:r>
              <a:rPr lang="zh-CN" altLang="en-US" sz="2800" b="1" i="1" u="sng" smtClean="0">
                <a:solidFill>
                  <a:schemeClr val="folHlink"/>
                </a:solidFill>
                <a:effectLst>
                  <a:outerShdw blurRad="38100" dist="38100" dir="2700000" algn="tl">
                    <a:srgbClr val="000000"/>
                  </a:outerShdw>
                </a:effectLst>
              </a:rPr>
              <a:t>根据链接时间的不同</a:t>
            </a:r>
            <a:r>
              <a:rPr lang="zh-CN" altLang="en-US" sz="2800" b="1" smtClean="0"/>
              <a:t>，可把链接分成如下三种：</a:t>
            </a:r>
            <a:endParaRPr lang="zh-CN" altLang="en-US" sz="2800" b="1" smtClean="0"/>
          </a:p>
          <a:p>
            <a:pPr algn="just" eaLnBrk="1" hangingPunct="1">
              <a:lnSpc>
                <a:spcPct val="120000"/>
              </a:lnSpc>
              <a:buFont typeface="Wingdings" panose="05000000000000000000" pitchFamily="2" charset="2"/>
              <a:buNone/>
              <a:defRPr/>
            </a:pPr>
            <a:r>
              <a:rPr lang="en-US" altLang="zh-CN" sz="2800" b="1" smtClean="0">
                <a:solidFill>
                  <a:schemeClr val="folHlink"/>
                </a:solidFill>
                <a:effectLst>
                  <a:outerShdw blurRad="38100" dist="38100" dir="2700000" algn="tl">
                    <a:srgbClr val="000000"/>
                  </a:outerShdw>
                </a:effectLst>
              </a:rPr>
              <a:t>(1)</a:t>
            </a:r>
            <a:r>
              <a:rPr lang="zh-CN" altLang="en-US" sz="2800" b="1" smtClean="0">
                <a:solidFill>
                  <a:schemeClr val="folHlink"/>
                </a:solidFill>
                <a:effectLst>
                  <a:outerShdw blurRad="38100" dist="38100" dir="2700000" algn="tl">
                    <a:srgbClr val="000000"/>
                  </a:outerShdw>
                </a:effectLst>
              </a:rPr>
              <a:t>、静态链接方式</a:t>
            </a:r>
            <a:r>
              <a:rPr lang="zh-CN" altLang="en-US" sz="2800" b="1" smtClean="0"/>
              <a:t>。在程序运行之前，先将各目标模块及它们所需的库函数，链接成一个完整的装配模块（又称执行模块），以后不再拆开。我们把这种事先进行链接的方式称为静态链接方式。</a:t>
            </a:r>
            <a:endParaRPr lang="zh-CN" altLang="en-US" sz="2800" b="1" smtClean="0"/>
          </a:p>
        </p:txBody>
      </p:sp>
      <p:sp>
        <p:nvSpPr>
          <p:cNvPr id="23555" name="Rectangle 4"/>
          <p:cNvSpPr>
            <a:spLocks noGrp="1" noRot="1" noChangeArrowheads="1"/>
          </p:cNvSpPr>
          <p:nvPr>
            <p:ph type="title"/>
          </p:nvPr>
        </p:nvSpPr>
        <p:spPr/>
        <p:txBody>
          <a:bodyPr/>
          <a:lstStyle/>
          <a:p>
            <a:pPr eaLnBrk="1" hangingPunct="1"/>
            <a:r>
              <a:rPr lang="en-US" altLang="zh-CN" b="1" smtClean="0">
                <a:solidFill>
                  <a:schemeClr val="folHlink"/>
                </a:solidFill>
              </a:rPr>
              <a:t>2.   </a:t>
            </a:r>
            <a:r>
              <a:rPr lang="zh-CN" altLang="en-US" b="1" smtClean="0">
                <a:solidFill>
                  <a:schemeClr val="folHlink"/>
                </a:solidFill>
              </a:rPr>
              <a:t>程序的链接 </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矩形 4"/>
          <p:cNvSpPr>
            <a:spLocks noChangeArrowheads="1"/>
          </p:cNvSpPr>
          <p:nvPr/>
        </p:nvSpPr>
        <p:spPr bwMode="auto">
          <a:xfrm>
            <a:off x="428625" y="428625"/>
            <a:ext cx="8429625" cy="6143625"/>
          </a:xfrm>
          <a:prstGeom prst="rect">
            <a:avLst/>
          </a:prstGeom>
          <a:solidFill>
            <a:schemeClr val="accent1"/>
          </a:solidFill>
          <a:ln w="9525" algn="ctr">
            <a:solidFill>
              <a:schemeClr val="tx1"/>
            </a:solidFill>
            <a:round/>
          </a:ln>
          <a:effectLst>
            <a:prstShdw prst="shdw17" dist="17961" dir="13500000">
              <a:schemeClr val="bg2"/>
            </a:prstShdw>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074" name="Object 6"/>
          <p:cNvGraphicFramePr>
            <a:graphicFrameLocks noChangeAspect="1"/>
          </p:cNvGraphicFramePr>
          <p:nvPr/>
        </p:nvGraphicFramePr>
        <p:xfrm>
          <a:off x="228600" y="609600"/>
          <a:ext cx="8610600" cy="5254625"/>
        </p:xfrm>
        <a:graphic>
          <a:graphicData uri="http://schemas.openxmlformats.org/presentationml/2006/ole">
            <mc:AlternateContent xmlns:mc="http://schemas.openxmlformats.org/markup-compatibility/2006">
              <mc:Choice xmlns:v="urn:schemas-microsoft-com:vml" Requires="v">
                <p:oleObj spid="_x0000_s3073" name="Visio" r:id="rId1" imgW="3962400" imgH="2419350" progId="">
                  <p:embed/>
                </p:oleObj>
              </mc:Choice>
              <mc:Fallback>
                <p:oleObj name="Visio" r:id="rId1" imgW="3962400" imgH="2419350" progId="">
                  <p:embed/>
                  <p:pic>
                    <p:nvPicPr>
                      <p:cNvPr id="0" name="图片 3072"/>
                      <p:cNvPicPr>
                        <a:picLocks noChangeAspect="1"/>
                      </p:cNvPicPr>
                      <p:nvPr/>
                    </p:nvPicPr>
                    <p:blipFill>
                      <a:blip r:embed="rId2"/>
                      <a:stretch>
                        <a:fillRect/>
                      </a:stretch>
                    </p:blipFill>
                    <p:spPr>
                      <a:xfrm>
                        <a:off x="228600" y="609600"/>
                        <a:ext cx="8610600" cy="525462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rrowheads="1"/>
          </p:cNvSpPr>
          <p:nvPr>
            <p:ph/>
          </p:nvPr>
        </p:nvSpPr>
        <p:spPr>
          <a:xfrm>
            <a:off x="381000" y="990600"/>
            <a:ext cx="8229600" cy="5410200"/>
          </a:xfrm>
        </p:spPr>
        <p:txBody>
          <a:bodyPr/>
          <a:lstStyle/>
          <a:p>
            <a:pPr eaLnBrk="1" hangingPunct="1">
              <a:lnSpc>
                <a:spcPct val="110000"/>
              </a:lnSpc>
              <a:buFont typeface="Wingdings" panose="05000000000000000000" pitchFamily="2" charset="2"/>
              <a:buNone/>
            </a:pPr>
            <a:r>
              <a:rPr lang="en-US" altLang="zh-CN" sz="2800" b="1" smtClean="0">
                <a:solidFill>
                  <a:schemeClr val="folHlink"/>
                </a:solidFill>
                <a:latin typeface="宋体" panose="02010600030101010101" pitchFamily="2" charset="-122"/>
              </a:rPr>
              <a:t>①</a:t>
            </a:r>
            <a:r>
              <a:rPr lang="zh-CN" altLang="en-US" sz="2800" b="1" smtClean="0">
                <a:solidFill>
                  <a:schemeClr val="folHlink"/>
                </a:solidFill>
              </a:rPr>
              <a:t>对相对地址进行修改</a:t>
            </a:r>
            <a:endParaRPr lang="zh-CN" altLang="en-US" sz="2800" b="1" smtClean="0">
              <a:solidFill>
                <a:schemeClr val="folHlink"/>
              </a:solidFill>
            </a:endParaRPr>
          </a:p>
          <a:p>
            <a:pPr eaLnBrk="1" hangingPunct="1">
              <a:lnSpc>
                <a:spcPct val="110000"/>
              </a:lnSpc>
              <a:buFont typeface="Wingdings" panose="05000000000000000000" pitchFamily="2" charset="2"/>
              <a:buNone/>
            </a:pPr>
            <a:r>
              <a:rPr lang="zh-CN" altLang="en-US" sz="2800" b="1" smtClean="0"/>
              <a:t>    由编译程序产生的所有目标模块中，使用的都是相对地址，其起始地址都为</a:t>
            </a:r>
            <a:r>
              <a:rPr lang="en-US" altLang="zh-CN" sz="2800" b="1" smtClean="0"/>
              <a:t>0</a:t>
            </a:r>
            <a:r>
              <a:rPr lang="zh-CN" altLang="en-US" sz="2800" b="1" smtClean="0"/>
              <a:t>，</a:t>
            </a:r>
            <a:r>
              <a:rPr lang="zh-CN" altLang="en-US" sz="2800" b="1" i="1" u="sng" smtClean="0">
                <a:solidFill>
                  <a:srgbClr val="FF0000"/>
                </a:solidFill>
              </a:rPr>
              <a:t>在链接成一个装入模块时修改模块的相对地址。</a:t>
            </a:r>
            <a:r>
              <a:rPr lang="zh-CN" altLang="en-US" sz="2800" b="1" smtClean="0"/>
              <a:t>如把原</a:t>
            </a:r>
            <a:r>
              <a:rPr lang="en-US" altLang="zh-CN" sz="2800" b="1" smtClean="0"/>
              <a:t>B</a:t>
            </a:r>
            <a:r>
              <a:rPr lang="zh-CN" altLang="en-US" sz="2800" b="1" smtClean="0"/>
              <a:t>中的所有相对地址都加上</a:t>
            </a:r>
            <a:r>
              <a:rPr lang="en-US" altLang="zh-CN" sz="2800" b="1" smtClean="0"/>
              <a:t>L</a:t>
            </a:r>
            <a:r>
              <a:rPr lang="zh-CN" altLang="en-US" sz="2800" b="1" smtClean="0"/>
              <a:t>，把原</a:t>
            </a:r>
            <a:r>
              <a:rPr lang="en-US" altLang="zh-CN" sz="2800" b="1" smtClean="0"/>
              <a:t>C</a:t>
            </a:r>
            <a:r>
              <a:rPr lang="zh-CN" altLang="en-US" sz="2800" b="1" smtClean="0"/>
              <a:t>中所有相对地址都加上</a:t>
            </a:r>
            <a:r>
              <a:rPr lang="en-US" altLang="zh-CN" sz="2800" b="1" smtClean="0"/>
              <a:t>L</a:t>
            </a:r>
            <a:r>
              <a:rPr lang="zh-CN" altLang="en-US" sz="2800" b="1" smtClean="0"/>
              <a:t>＋</a:t>
            </a:r>
            <a:r>
              <a:rPr lang="en-US" altLang="zh-CN" sz="2800" b="1" smtClean="0"/>
              <a:t>M</a:t>
            </a:r>
            <a:r>
              <a:rPr lang="zh-CN" altLang="en-US" sz="2800" b="1" smtClean="0"/>
              <a:t>。</a:t>
            </a:r>
            <a:endParaRPr lang="zh-CN" altLang="en-US" sz="2800" b="1" smtClean="0"/>
          </a:p>
          <a:p>
            <a:pPr eaLnBrk="1" hangingPunct="1">
              <a:lnSpc>
                <a:spcPct val="110000"/>
              </a:lnSpc>
              <a:buFont typeface="Wingdings" panose="05000000000000000000" pitchFamily="2" charset="2"/>
              <a:buNone/>
            </a:pPr>
            <a:r>
              <a:rPr lang="zh-CN" altLang="en-US" sz="2800" b="1" smtClean="0">
                <a:solidFill>
                  <a:schemeClr val="folHlink"/>
                </a:solidFill>
                <a:latin typeface="宋体" panose="02010600030101010101" pitchFamily="2" charset="-122"/>
              </a:rPr>
              <a:t>②</a:t>
            </a:r>
            <a:r>
              <a:rPr lang="zh-CN" altLang="en-US" sz="2800" b="1" smtClean="0">
                <a:solidFill>
                  <a:schemeClr val="folHlink"/>
                </a:solidFill>
              </a:rPr>
              <a:t>变换外部引用地址</a:t>
            </a:r>
            <a:endParaRPr lang="zh-CN" altLang="en-US" sz="2800" b="1" smtClean="0">
              <a:solidFill>
                <a:schemeClr val="folHlink"/>
              </a:solidFill>
            </a:endParaRPr>
          </a:p>
          <a:p>
            <a:pPr eaLnBrk="1" hangingPunct="1">
              <a:lnSpc>
                <a:spcPct val="110000"/>
              </a:lnSpc>
              <a:buFont typeface="Wingdings" panose="05000000000000000000" pitchFamily="2" charset="2"/>
              <a:buNone/>
            </a:pPr>
            <a:r>
              <a:rPr lang="zh-CN" altLang="en-US" sz="2800" b="1" smtClean="0"/>
              <a:t>    将每个模块中所用的外部调用符号也都变换为相对地址。例如将</a:t>
            </a:r>
            <a:r>
              <a:rPr lang="en-US" altLang="zh-CN" sz="2800" b="1" smtClean="0"/>
              <a:t>call B </a:t>
            </a:r>
            <a:r>
              <a:rPr lang="zh-CN" altLang="en-US" sz="2800" b="1" smtClean="0"/>
              <a:t>变换为</a:t>
            </a:r>
            <a:r>
              <a:rPr lang="en-US" altLang="zh-CN" sz="2800" b="1" smtClean="0"/>
              <a:t>JSR </a:t>
            </a:r>
            <a:r>
              <a:rPr lang="en-US" altLang="zh-CN" sz="2800" b="1" smtClean="0">
                <a:latin typeface="Courier New" panose="02070309020205020404" pitchFamily="49" charset="0"/>
              </a:rPr>
              <a:t>“</a:t>
            </a:r>
            <a:r>
              <a:rPr lang="en-US" altLang="zh-CN" sz="2800" b="1" smtClean="0"/>
              <a:t>L</a:t>
            </a:r>
            <a:r>
              <a:rPr lang="en-US" altLang="zh-CN" sz="2800" b="1" smtClean="0">
                <a:latin typeface="Courier New" panose="02070309020205020404" pitchFamily="49" charset="0"/>
              </a:rPr>
              <a:t>”</a:t>
            </a:r>
            <a:endParaRPr lang="en-US" altLang="zh-CN" sz="2800" b="1" smtClean="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Rot="1" noChangeArrowheads="1"/>
          </p:cNvSpPr>
          <p:nvPr>
            <p:ph/>
          </p:nvPr>
        </p:nvSpPr>
        <p:spPr>
          <a:xfrm>
            <a:off x="533400" y="1600200"/>
            <a:ext cx="8077200" cy="4038600"/>
          </a:xfrm>
        </p:spPr>
        <p:txBody>
          <a:bodyPr/>
          <a:lstStyle/>
          <a:p>
            <a:pPr algn="just" eaLnBrk="1" hangingPunct="1">
              <a:buFont typeface="Wingdings" panose="05000000000000000000" pitchFamily="2" charset="2"/>
              <a:buNone/>
              <a:defRPr/>
            </a:pPr>
            <a:r>
              <a:rPr lang="en-US" altLang="zh-CN" b="1" dirty="0" smtClean="0">
                <a:solidFill>
                  <a:schemeClr val="folHlink"/>
                </a:solidFill>
                <a:effectLst>
                  <a:outerShdw blurRad="38100" dist="38100" dir="2700000" algn="tl">
                    <a:srgbClr val="000000"/>
                  </a:outerShdw>
                </a:effectLst>
              </a:rPr>
              <a:t>  (2)</a:t>
            </a:r>
            <a:r>
              <a:rPr lang="zh-CN" altLang="en-US" b="1" dirty="0" smtClean="0">
                <a:solidFill>
                  <a:schemeClr val="folHlink"/>
                </a:solidFill>
                <a:effectLst>
                  <a:outerShdw blurRad="38100" dist="38100" dir="2700000" algn="tl">
                    <a:srgbClr val="000000"/>
                  </a:outerShdw>
                </a:effectLst>
              </a:rPr>
              <a:t>、装入时动态链接</a:t>
            </a:r>
            <a:endParaRPr lang="zh-CN" altLang="en-US" b="1" dirty="0" smtClean="0"/>
          </a:p>
          <a:p>
            <a:pPr algn="just" eaLnBrk="1" hangingPunct="1">
              <a:lnSpc>
                <a:spcPct val="120000"/>
              </a:lnSpc>
              <a:buFont typeface="Wingdings" panose="05000000000000000000" pitchFamily="2" charset="2"/>
              <a:buNone/>
              <a:defRPr/>
            </a:pPr>
            <a:r>
              <a:rPr lang="zh-CN" altLang="en-US" b="1" dirty="0" smtClean="0"/>
              <a:t>		</a:t>
            </a:r>
            <a:r>
              <a:rPr lang="zh-CN" altLang="en-US" sz="2800" b="1" dirty="0" smtClean="0"/>
              <a:t>是指将用户源程序编译后所得到的一组目标模块，在装入内存时，采用</a:t>
            </a:r>
            <a:r>
              <a:rPr lang="zh-CN" altLang="en-US" sz="2800" b="1" i="1" u="sng" dirty="0" smtClean="0">
                <a:solidFill>
                  <a:schemeClr val="folHlink"/>
                </a:solidFill>
              </a:rPr>
              <a:t>边装入边链接</a:t>
            </a:r>
            <a:r>
              <a:rPr lang="zh-CN" altLang="en-US" sz="2800" b="1" dirty="0" smtClean="0"/>
              <a:t>的链接方式。即</a:t>
            </a:r>
            <a:r>
              <a:rPr lang="zh-CN" altLang="en-US" sz="2800" b="1" i="1" u="sng" dirty="0" smtClean="0">
                <a:solidFill>
                  <a:srgbClr val="FF0000"/>
                </a:solidFill>
              </a:rPr>
              <a:t>分别装入各模块</a:t>
            </a:r>
            <a:r>
              <a:rPr lang="zh-CN" altLang="en-US" sz="2800" b="1" i="1" u="sng" dirty="0" smtClean="0">
                <a:solidFill>
                  <a:schemeClr val="folHlink"/>
                </a:solidFill>
              </a:rPr>
              <a:t>，并且在装入的过程中修改相对地址和外部引用地址。</a:t>
            </a:r>
            <a:endParaRPr lang="zh-CN" altLang="en-US" sz="2800" b="1" i="1" u="sng" dirty="0" smtClean="0">
              <a:solidFill>
                <a:schemeClr val="folHlink"/>
              </a:solidFill>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Rot="1" noChangeArrowheads="1"/>
          </p:cNvSpPr>
          <p:nvPr>
            <p:ph/>
          </p:nvPr>
        </p:nvSpPr>
        <p:spPr>
          <a:xfrm>
            <a:off x="457200" y="533400"/>
            <a:ext cx="8077200" cy="5562600"/>
          </a:xfrm>
        </p:spPr>
        <p:txBody>
          <a:bodyPr/>
          <a:lstStyle/>
          <a:p>
            <a:pPr algn="just" eaLnBrk="1" hangingPunct="1">
              <a:defRPr/>
            </a:pPr>
            <a:r>
              <a:rPr lang="zh-CN" altLang="en-US" sz="3600" b="1" dirty="0" smtClean="0">
                <a:solidFill>
                  <a:schemeClr val="folHlink"/>
                </a:solidFill>
                <a:effectLst>
                  <a:outerShdw blurRad="38100" dist="38100" dir="2700000" algn="tl">
                    <a:srgbClr val="000000"/>
                  </a:outerShdw>
                </a:effectLst>
              </a:rPr>
              <a:t>装入时动态链接方式有以下优点：</a:t>
            </a:r>
            <a:endParaRPr lang="en-US" altLang="zh-CN" sz="3600" b="1" dirty="0" smtClean="0">
              <a:solidFill>
                <a:schemeClr val="folHlink"/>
              </a:solidFill>
              <a:effectLst>
                <a:outerShdw blurRad="38100" dist="38100" dir="2700000" algn="tl">
                  <a:srgbClr val="000000"/>
                </a:outerShdw>
              </a:effectLst>
            </a:endParaRPr>
          </a:p>
          <a:p>
            <a:pPr algn="just" eaLnBrk="1" hangingPunct="1">
              <a:defRPr/>
            </a:pPr>
            <a:endParaRPr lang="zh-CN" altLang="en-US" sz="3600" b="1" dirty="0" smtClean="0">
              <a:solidFill>
                <a:schemeClr val="folHlink"/>
              </a:solidFill>
            </a:endParaRPr>
          </a:p>
          <a:p>
            <a:pPr algn="just" eaLnBrk="1" hangingPunct="1">
              <a:lnSpc>
                <a:spcPct val="110000"/>
              </a:lnSpc>
              <a:buFont typeface="Wingdings" panose="05000000000000000000" pitchFamily="2" charset="2"/>
              <a:buNone/>
              <a:defRPr/>
            </a:pPr>
            <a:r>
              <a:rPr lang="zh-CN" altLang="en-US" b="1" dirty="0" smtClean="0">
                <a:solidFill>
                  <a:schemeClr val="hlink"/>
                </a:solidFill>
                <a:latin typeface="宋体" panose="02010600030101010101" pitchFamily="2" charset="-122"/>
              </a:rPr>
              <a:t>①</a:t>
            </a:r>
            <a:r>
              <a:rPr lang="zh-CN" altLang="en-US" b="1" dirty="0" smtClean="0">
                <a:solidFill>
                  <a:schemeClr val="hlink"/>
                </a:solidFill>
              </a:rPr>
              <a:t>便于修改和更新</a:t>
            </a:r>
            <a:r>
              <a:rPr lang="zh-CN" altLang="en-US" sz="2800" b="1" dirty="0" smtClean="0"/>
              <a:t> </a:t>
            </a:r>
            <a:endParaRPr lang="zh-CN" altLang="en-US" sz="2800" b="1" dirty="0" smtClean="0"/>
          </a:p>
          <a:p>
            <a:pPr algn="just" eaLnBrk="1" hangingPunct="1">
              <a:lnSpc>
                <a:spcPct val="110000"/>
              </a:lnSpc>
              <a:buFont typeface="Wingdings" panose="05000000000000000000" pitchFamily="2" charset="2"/>
              <a:buNone/>
              <a:defRPr/>
            </a:pPr>
            <a:r>
              <a:rPr lang="zh-CN" altLang="en-US" sz="2800" b="1" dirty="0" smtClean="0"/>
              <a:t>   若采用动态链接方式，由于各目标模块是分开存放的，所以要修改或更新各目标模块，是件非常容易的事。</a:t>
            </a:r>
            <a:endParaRPr lang="zh-CN" altLang="en-US" sz="2800" b="1" dirty="0" smtClean="0"/>
          </a:p>
          <a:p>
            <a:pPr algn="just" eaLnBrk="1" hangingPunct="1">
              <a:lnSpc>
                <a:spcPct val="110000"/>
              </a:lnSpc>
              <a:buFont typeface="Wingdings" panose="05000000000000000000" pitchFamily="2" charset="2"/>
              <a:buNone/>
              <a:defRPr/>
            </a:pPr>
            <a:r>
              <a:rPr lang="zh-CN" altLang="en-US" b="1" dirty="0" smtClean="0">
                <a:solidFill>
                  <a:schemeClr val="hlink"/>
                </a:solidFill>
                <a:latin typeface="宋体" panose="02010600030101010101" pitchFamily="2" charset="-122"/>
              </a:rPr>
              <a:t>②</a:t>
            </a:r>
            <a:r>
              <a:rPr lang="zh-CN" altLang="en-US" b="1" dirty="0" smtClean="0">
                <a:solidFill>
                  <a:schemeClr val="hlink"/>
                </a:solidFill>
              </a:rPr>
              <a:t>便于实现对目标模块的共享</a:t>
            </a:r>
            <a:r>
              <a:rPr lang="zh-CN" altLang="en-US" sz="2800" b="1" dirty="0" smtClean="0"/>
              <a:t> </a:t>
            </a:r>
            <a:endParaRPr lang="zh-CN" altLang="en-US" sz="2800" b="1" dirty="0" smtClean="0"/>
          </a:p>
          <a:p>
            <a:pPr algn="just" eaLnBrk="1" hangingPunct="1">
              <a:lnSpc>
                <a:spcPct val="110000"/>
              </a:lnSpc>
              <a:buFont typeface="Wingdings" panose="05000000000000000000" pitchFamily="2" charset="2"/>
              <a:buNone/>
              <a:defRPr/>
            </a:pPr>
            <a:r>
              <a:rPr lang="zh-CN" altLang="en-US" sz="2800" b="1" dirty="0" smtClean="0"/>
              <a:t>   但采用装入时动态链接方式时，</a:t>
            </a:r>
            <a:r>
              <a:rPr lang="en-US" altLang="zh-CN" sz="2800" b="1" dirty="0" smtClean="0"/>
              <a:t>OS</a:t>
            </a:r>
            <a:r>
              <a:rPr lang="zh-CN" altLang="en-US" sz="2800" b="1" dirty="0" smtClean="0"/>
              <a:t>则很容易将一个目标模块链接到几个应用模块上，</a:t>
            </a:r>
            <a:r>
              <a:rPr lang="zh-CN" altLang="en-US" sz="2800" b="1" dirty="0" smtClean="0">
                <a:solidFill>
                  <a:srgbClr val="FF0000"/>
                </a:solidFill>
              </a:rPr>
              <a:t>实现多个应用程序对该模块的共享</a:t>
            </a:r>
            <a:r>
              <a:rPr lang="zh-CN" altLang="en-US" sz="2800" b="1" dirty="0" smtClean="0"/>
              <a:t>。 </a:t>
            </a:r>
            <a:endParaRPr lang="zh-CN" altLang="en-US" sz="2800" b="1" dirty="0" smtClean="0"/>
          </a:p>
          <a:p>
            <a:pPr eaLnBrk="1" hangingPunct="1">
              <a:defRPr/>
            </a:pPr>
            <a:endParaRPr lang="en-US" altLang="zh-CN" sz="2800" b="1" dirty="0" smtClean="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Rot="1" noChangeArrowheads="1"/>
          </p:cNvSpPr>
          <p:nvPr>
            <p:ph/>
          </p:nvPr>
        </p:nvSpPr>
        <p:spPr>
          <a:xfrm>
            <a:off x="533400" y="685800"/>
            <a:ext cx="8077200" cy="5715000"/>
          </a:xfrm>
        </p:spPr>
        <p:txBody>
          <a:bodyPr/>
          <a:lstStyle/>
          <a:p>
            <a:pPr algn="just" eaLnBrk="1" hangingPunct="1">
              <a:buFont typeface="Wingdings" panose="05000000000000000000" pitchFamily="2" charset="2"/>
              <a:buNone/>
              <a:defRPr/>
            </a:pPr>
            <a:r>
              <a:rPr lang="en-US" altLang="zh-CN" sz="3600" b="1" dirty="0" smtClean="0">
                <a:solidFill>
                  <a:schemeClr val="folHlink"/>
                </a:solidFill>
                <a:effectLst>
                  <a:outerShdw blurRad="38100" dist="38100" dir="2700000" algn="tl">
                    <a:srgbClr val="000000"/>
                  </a:outerShdw>
                </a:effectLst>
              </a:rPr>
              <a:t>(3)</a:t>
            </a:r>
            <a:r>
              <a:rPr lang="zh-CN" altLang="en-US" sz="3600" b="1" dirty="0" smtClean="0">
                <a:solidFill>
                  <a:schemeClr val="folHlink"/>
                </a:solidFill>
                <a:effectLst>
                  <a:outerShdw blurRad="38100" dist="38100" dir="2700000" algn="tl">
                    <a:srgbClr val="000000"/>
                  </a:outerShdw>
                </a:effectLst>
              </a:rPr>
              <a:t>、运行时动态链接</a:t>
            </a:r>
            <a:endParaRPr lang="en-US" altLang="zh-CN" sz="3600" b="1" dirty="0" smtClean="0">
              <a:solidFill>
                <a:schemeClr val="folHlink"/>
              </a:solidFill>
              <a:effectLst>
                <a:outerShdw blurRad="38100" dist="38100" dir="2700000" algn="tl">
                  <a:srgbClr val="000000"/>
                </a:outerShdw>
              </a:effectLst>
            </a:endParaRPr>
          </a:p>
          <a:p>
            <a:pPr algn="just" eaLnBrk="1" hangingPunct="1">
              <a:buFont typeface="Wingdings" panose="05000000000000000000" pitchFamily="2" charset="2"/>
              <a:buNone/>
              <a:defRPr/>
            </a:pPr>
            <a:endParaRPr lang="zh-CN" altLang="en-US" b="1" dirty="0" smtClean="0">
              <a:solidFill>
                <a:schemeClr val="folHlink"/>
              </a:solidFill>
            </a:endParaRPr>
          </a:p>
          <a:p>
            <a:pPr algn="just" eaLnBrk="1" hangingPunct="1">
              <a:lnSpc>
                <a:spcPct val="110000"/>
              </a:lnSpc>
              <a:buFont typeface="Wingdings" panose="05000000000000000000" pitchFamily="2" charset="2"/>
              <a:buNone/>
              <a:defRPr/>
            </a:pPr>
            <a:r>
              <a:rPr lang="zh-CN" altLang="en-US" sz="2800" b="1" dirty="0" smtClean="0"/>
              <a:t>	各模块被独立装入系统，而且也不进行链接，</a:t>
            </a:r>
            <a:r>
              <a:rPr lang="zh-CN" altLang="en-US" sz="2800" b="1" dirty="0" smtClean="0">
                <a:solidFill>
                  <a:schemeClr val="folHlink"/>
                </a:solidFill>
              </a:rPr>
              <a:t>运行时</a:t>
            </a:r>
            <a:r>
              <a:rPr lang="zh-CN" altLang="en-US" sz="2800" b="1" dirty="0" smtClean="0"/>
              <a:t>发现引用的地址是相对地址或者外部地址时，才发起链接，寻找正确的引用地址。</a:t>
            </a:r>
            <a:endParaRPr lang="zh-CN" altLang="en-US" sz="2800" b="1" dirty="0" smtClean="0"/>
          </a:p>
          <a:p>
            <a:pPr algn="just" eaLnBrk="1" hangingPunct="1">
              <a:lnSpc>
                <a:spcPct val="110000"/>
              </a:lnSpc>
              <a:buFont typeface="Wingdings" panose="05000000000000000000" pitchFamily="2" charset="2"/>
              <a:buNone/>
              <a:defRPr/>
            </a:pPr>
            <a:r>
              <a:rPr lang="zh-CN" altLang="en-US" sz="2800" b="1" dirty="0" smtClean="0">
                <a:solidFill>
                  <a:schemeClr val="accent2"/>
                </a:solidFill>
                <a:effectLst>
                  <a:outerShdw blurRad="38100" dist="38100" dir="2700000" algn="tl">
                    <a:srgbClr val="000000"/>
                  </a:outerShdw>
                </a:effectLst>
              </a:rPr>
              <a:t>   </a:t>
            </a:r>
            <a:r>
              <a:rPr lang="zh-CN" altLang="en-US" sz="2800" b="1" dirty="0" smtClean="0">
                <a:solidFill>
                  <a:schemeClr val="folHlink"/>
                </a:solidFill>
                <a:effectLst>
                  <a:outerShdw blurRad="38100" dist="38100" dir="2700000" algn="tl">
                    <a:srgbClr val="000000"/>
                  </a:outerShdw>
                </a:effectLst>
              </a:rPr>
              <a:t>优点</a:t>
            </a:r>
            <a:r>
              <a:rPr lang="zh-CN" altLang="en-US" sz="2800" b="1" dirty="0" smtClean="0"/>
              <a:t>：凡在执行过程中未被用到的目标模块，都</a:t>
            </a:r>
            <a:endParaRPr lang="zh-CN" altLang="en-US" sz="2800" b="1" dirty="0" smtClean="0"/>
          </a:p>
          <a:p>
            <a:pPr algn="just" eaLnBrk="1" hangingPunct="1">
              <a:lnSpc>
                <a:spcPct val="110000"/>
              </a:lnSpc>
              <a:buFont typeface="Wingdings" panose="05000000000000000000" pitchFamily="2" charset="2"/>
              <a:buNone/>
              <a:defRPr/>
            </a:pPr>
            <a:r>
              <a:rPr lang="zh-CN" altLang="en-US" sz="2800" b="1" dirty="0" smtClean="0"/>
              <a:t>不会被调入内存和被链接到装入模块上，这样不仅</a:t>
            </a:r>
            <a:endParaRPr lang="zh-CN" altLang="en-US" sz="2800" b="1" dirty="0" smtClean="0"/>
          </a:p>
          <a:p>
            <a:pPr algn="just" eaLnBrk="1" hangingPunct="1">
              <a:lnSpc>
                <a:spcPct val="110000"/>
              </a:lnSpc>
              <a:buFont typeface="Wingdings" panose="05000000000000000000" pitchFamily="2" charset="2"/>
              <a:buNone/>
              <a:defRPr/>
            </a:pPr>
            <a:r>
              <a:rPr lang="zh-CN" altLang="en-US" sz="2800" b="1" dirty="0" smtClean="0"/>
              <a:t>可加快程序的装入过程，而且可节省大量的内存空</a:t>
            </a:r>
            <a:endParaRPr lang="zh-CN" altLang="en-US" sz="2800" b="1" dirty="0" smtClean="0"/>
          </a:p>
          <a:p>
            <a:pPr algn="just" eaLnBrk="1" hangingPunct="1">
              <a:lnSpc>
                <a:spcPct val="110000"/>
              </a:lnSpc>
              <a:buFont typeface="Wingdings" panose="05000000000000000000" pitchFamily="2" charset="2"/>
              <a:buNone/>
              <a:defRPr/>
            </a:pPr>
            <a:r>
              <a:rPr lang="zh-CN" altLang="en-US" sz="2800" b="1" dirty="0" smtClean="0"/>
              <a:t>间。</a:t>
            </a:r>
            <a:endParaRPr lang="zh-CN" altLang="en-US" sz="2800" b="1" dirty="0" smtClean="0"/>
          </a:p>
          <a:p>
            <a:pPr algn="ctr" eaLnBrk="1" hangingPunct="1">
              <a:lnSpc>
                <a:spcPct val="110000"/>
              </a:lnSpc>
              <a:buFont typeface="Wingdings" panose="05000000000000000000" pitchFamily="2" charset="2"/>
              <a:buNone/>
              <a:defRPr/>
            </a:pPr>
            <a:r>
              <a:rPr lang="zh-CN" altLang="en-US" sz="2800" b="1" i="1" u="sng" dirty="0" smtClean="0">
                <a:solidFill>
                  <a:schemeClr val="hlink"/>
                </a:solidFill>
              </a:rPr>
              <a:t>该方法是目前最常使用的链接方式。</a:t>
            </a:r>
            <a:endParaRPr lang="zh-CN" altLang="en-US" sz="2800" b="1" i="1" u="sng" dirty="0" smtClean="0">
              <a:solidFill>
                <a:schemeClr val="hlink"/>
              </a:solidFill>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rrowheads="1"/>
          </p:cNvSpPr>
          <p:nvPr>
            <p:ph type="body" idx="1"/>
          </p:nvPr>
        </p:nvSpPr>
        <p:spPr>
          <a:xfrm>
            <a:off x="533400" y="1676400"/>
            <a:ext cx="8077200" cy="4498975"/>
          </a:xfrm>
        </p:spPr>
        <p:txBody>
          <a:bodyPr/>
          <a:lstStyle/>
          <a:p>
            <a:pPr marL="579755" indent="-579755" eaLnBrk="1" hangingPunct="1"/>
            <a:r>
              <a:rPr lang="zh-CN" altLang="en-US" b="1" smtClean="0"/>
              <a:t>连续分配方式，是指</a:t>
            </a:r>
            <a:r>
              <a:rPr lang="zh-CN" altLang="en-US" b="1" smtClean="0">
                <a:solidFill>
                  <a:schemeClr val="folHlink"/>
                </a:solidFill>
              </a:rPr>
              <a:t>为一个用户程序分配一个连续的内存空间</a:t>
            </a:r>
            <a:r>
              <a:rPr lang="zh-CN" altLang="en-US" b="1" smtClean="0"/>
              <a:t>。 </a:t>
            </a:r>
            <a:endParaRPr lang="zh-CN" altLang="en-US" b="1" smtClean="0"/>
          </a:p>
          <a:p>
            <a:pPr marL="579755" indent="-579755" algn="just" eaLnBrk="1" hangingPunct="1"/>
            <a:r>
              <a:rPr lang="zh-CN" altLang="en-US" b="1" smtClean="0"/>
              <a:t>连续分配方式有四种：</a:t>
            </a:r>
            <a:endParaRPr lang="zh-CN" altLang="en-US" b="1" smtClean="0"/>
          </a:p>
          <a:p>
            <a:pPr marL="1386205" lvl="1" indent="-533400" algn="just" eaLnBrk="1" hangingPunct="1">
              <a:buFontTx/>
              <a:buAutoNum type="arabicPeriod"/>
            </a:pPr>
            <a:r>
              <a:rPr lang="zh-CN" altLang="en-US" b="1" smtClean="0"/>
              <a:t>单一连续分配</a:t>
            </a:r>
            <a:endParaRPr lang="zh-CN" altLang="en-US" b="1" smtClean="0"/>
          </a:p>
          <a:p>
            <a:pPr marL="1386205" lvl="1" indent="-533400" algn="just" eaLnBrk="1" hangingPunct="1">
              <a:buFontTx/>
              <a:buAutoNum type="arabicPeriod"/>
            </a:pPr>
            <a:r>
              <a:rPr lang="zh-CN" altLang="en-US" b="1" smtClean="0"/>
              <a:t>固定分区分配</a:t>
            </a:r>
            <a:endParaRPr lang="zh-CN" altLang="en-US" b="1" smtClean="0"/>
          </a:p>
          <a:p>
            <a:pPr marL="1386205" lvl="1" indent="-533400" algn="just" eaLnBrk="1" hangingPunct="1">
              <a:buFontTx/>
              <a:buAutoNum type="arabicPeriod"/>
            </a:pPr>
            <a:r>
              <a:rPr lang="zh-CN" altLang="en-US" b="1" smtClean="0"/>
              <a:t>动态分区分配</a:t>
            </a:r>
            <a:endParaRPr lang="zh-CN" altLang="en-US" b="1" smtClean="0"/>
          </a:p>
          <a:p>
            <a:pPr marL="1386205" lvl="1" indent="-533400" algn="just" eaLnBrk="1" hangingPunct="1">
              <a:buFont typeface="Wingdings" panose="05000000000000000000" pitchFamily="2" charset="2"/>
              <a:buNone/>
            </a:pPr>
            <a:endParaRPr lang="en-US" altLang="zh-CN" b="1" smtClean="0"/>
          </a:p>
        </p:txBody>
      </p:sp>
      <p:sp>
        <p:nvSpPr>
          <p:cNvPr id="28675" name="Rectangle 3"/>
          <p:cNvSpPr>
            <a:spLocks noGrp="1" noRot="1" noChangeArrowheads="1"/>
          </p:cNvSpPr>
          <p:nvPr>
            <p:ph type="title"/>
          </p:nvPr>
        </p:nvSpPr>
        <p:spPr/>
        <p:txBody>
          <a:bodyPr/>
          <a:lstStyle/>
          <a:p>
            <a:pPr eaLnBrk="1" hangingPunct="1"/>
            <a:r>
              <a:rPr lang="en-US" altLang="zh-CN" smtClean="0">
                <a:solidFill>
                  <a:schemeClr val="folHlink"/>
                </a:solidFill>
              </a:rPr>
              <a:t>4.3 </a:t>
            </a:r>
            <a:r>
              <a:rPr lang="zh-CN" altLang="en-US" b="1" smtClean="0">
                <a:solidFill>
                  <a:schemeClr val="folHlink"/>
                </a:solidFill>
              </a:rPr>
              <a:t>连续分配方式</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p:txBody>
          <a:bodyPr/>
          <a:lstStyle/>
          <a:p>
            <a:pPr eaLnBrk="1" hangingPunct="1"/>
            <a:r>
              <a:rPr lang="en-US" altLang="zh-CN" smtClean="0">
                <a:solidFill>
                  <a:schemeClr val="folHlink"/>
                </a:solidFill>
              </a:rPr>
              <a:t>4.3.1 </a:t>
            </a:r>
            <a:r>
              <a:rPr lang="zh-CN" altLang="en-US" b="1" smtClean="0">
                <a:solidFill>
                  <a:schemeClr val="folHlink"/>
                </a:solidFill>
              </a:rPr>
              <a:t>单一连续分配</a:t>
            </a:r>
            <a:endParaRPr lang="zh-CN" altLang="en-US" b="1" smtClean="0">
              <a:solidFill>
                <a:schemeClr val="folHlink"/>
              </a:solidFill>
            </a:endParaRPr>
          </a:p>
        </p:txBody>
      </p:sp>
      <p:sp>
        <p:nvSpPr>
          <p:cNvPr id="29699" name="Rectangle 3"/>
          <p:cNvSpPr>
            <a:spLocks noGrp="1" noRot="1" noChangeArrowheads="1"/>
          </p:cNvSpPr>
          <p:nvPr>
            <p:ph type="body" idx="1"/>
          </p:nvPr>
        </p:nvSpPr>
        <p:spPr>
          <a:xfrm>
            <a:off x="533400" y="1676400"/>
            <a:ext cx="8077200" cy="4498975"/>
          </a:xfrm>
        </p:spPr>
        <p:txBody>
          <a:bodyPr/>
          <a:lstStyle/>
          <a:p>
            <a:pPr eaLnBrk="1" hangingPunct="1">
              <a:lnSpc>
                <a:spcPct val="130000"/>
              </a:lnSpc>
            </a:pPr>
            <a:r>
              <a:rPr lang="zh-CN" altLang="en-US" b="1" dirty="0" smtClean="0"/>
              <a:t>这是最早、最简单的一种存储分配方式。它规定</a:t>
            </a:r>
            <a:r>
              <a:rPr lang="zh-CN" altLang="en-US" b="1" i="1" u="sng" dirty="0" smtClean="0">
                <a:solidFill>
                  <a:srgbClr val="FF0000"/>
                </a:solidFill>
              </a:rPr>
              <a:t>整个内存的用户区中只驻留一个用户的一个程序</a:t>
            </a:r>
            <a:r>
              <a:rPr lang="zh-CN" altLang="en-US" b="1" dirty="0" smtClean="0"/>
              <a:t>，因此该方式</a:t>
            </a:r>
            <a:r>
              <a:rPr lang="zh-CN" altLang="en-US" b="1" dirty="0" smtClean="0">
                <a:solidFill>
                  <a:schemeClr val="folHlink"/>
                </a:solidFill>
              </a:rPr>
              <a:t>只适用于单用户、单任务的操作系统</a:t>
            </a:r>
            <a:r>
              <a:rPr lang="zh-CN" altLang="en-US" b="1" dirty="0" smtClean="0"/>
              <a:t>。</a:t>
            </a:r>
            <a:endParaRPr lang="zh-CN" altLang="en-US" b="1" dirty="0"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body" idx="1"/>
          </p:nvPr>
        </p:nvSpPr>
        <p:spPr>
          <a:xfrm>
            <a:off x="125413" y="1676400"/>
            <a:ext cx="8332787" cy="4648200"/>
          </a:xfrm>
        </p:spPr>
        <p:txBody>
          <a:bodyPr/>
          <a:lstStyle/>
          <a:p>
            <a:pPr marL="609600" indent="-609600" eaLnBrk="1" hangingPunct="1"/>
            <a:r>
              <a:rPr lang="zh-CN" altLang="en-US" b="1" smtClean="0"/>
              <a:t>为了防止</a:t>
            </a:r>
            <a:r>
              <a:rPr lang="en-US" altLang="zh-CN" b="1" smtClean="0"/>
              <a:t>OS</a:t>
            </a:r>
            <a:r>
              <a:rPr lang="zh-CN" altLang="en-US" b="1" smtClean="0"/>
              <a:t>的代码和数据被用户进程所破坏，把内存分为系统区和用户区两部分：</a:t>
            </a:r>
            <a:endParaRPr lang="zh-CN" altLang="en-US" b="1" smtClean="0"/>
          </a:p>
          <a:p>
            <a:pPr marL="609600" indent="-609600" eaLnBrk="1" hangingPunct="1">
              <a:lnSpc>
                <a:spcPct val="50000"/>
              </a:lnSpc>
            </a:pPr>
            <a:endParaRPr lang="zh-CN" altLang="en-US" b="1" smtClean="0"/>
          </a:p>
          <a:p>
            <a:pPr marL="990600" lvl="1" indent="-533400" eaLnBrk="1" hangingPunct="1">
              <a:buFontTx/>
              <a:buAutoNum type="arabicPeriod"/>
            </a:pPr>
            <a:r>
              <a:rPr lang="zh-CN" altLang="en-US" b="1" smtClean="0">
                <a:solidFill>
                  <a:schemeClr val="folHlink"/>
                </a:solidFill>
              </a:rPr>
              <a:t>系统区：</a:t>
            </a:r>
            <a:r>
              <a:rPr lang="zh-CN" altLang="en-US" b="1" smtClean="0"/>
              <a:t>仅提供给</a:t>
            </a:r>
            <a:r>
              <a:rPr lang="en-US" altLang="zh-CN" b="1" smtClean="0"/>
              <a:t>0S</a:t>
            </a:r>
            <a:r>
              <a:rPr lang="zh-CN" altLang="en-US" b="1" smtClean="0"/>
              <a:t>使用，通常是放在内存的低址部分；</a:t>
            </a:r>
            <a:endParaRPr lang="zh-CN" altLang="en-US" b="1" smtClean="0"/>
          </a:p>
          <a:p>
            <a:pPr marL="990600" lvl="1" indent="-533400" eaLnBrk="1" hangingPunct="1">
              <a:buFontTx/>
              <a:buAutoNum type="arabicPeriod"/>
            </a:pPr>
            <a:r>
              <a:rPr lang="zh-CN" altLang="en-US" b="1" smtClean="0">
                <a:solidFill>
                  <a:schemeClr val="folHlink"/>
                </a:solidFill>
              </a:rPr>
              <a:t>用户区：</a:t>
            </a:r>
            <a:r>
              <a:rPr lang="zh-CN" altLang="en-US" b="1" smtClean="0"/>
              <a:t>是指除系统区以外的全部内存空间，提供给唯一的用户使用，存放用户程序和数据。 </a:t>
            </a:r>
            <a:endParaRPr lang="zh-CN" altLang="en-US" b="1" smtClean="0"/>
          </a:p>
          <a:p>
            <a:pPr marL="609600" indent="-609600" eaLnBrk="1" hangingPunct="1"/>
            <a:r>
              <a:rPr lang="zh-CN" altLang="en-US" b="1" smtClean="0">
                <a:solidFill>
                  <a:schemeClr val="folHlink"/>
                </a:solidFill>
              </a:rPr>
              <a:t>优缺点：</a:t>
            </a:r>
            <a:r>
              <a:rPr lang="zh-CN" altLang="en-US" b="1" smtClean="0"/>
              <a:t>简单、内存利用率低。</a:t>
            </a:r>
            <a:endParaRPr lang="zh-CN" altLang="en-US" b="1" smtClean="0"/>
          </a:p>
        </p:txBody>
      </p:sp>
      <p:sp>
        <p:nvSpPr>
          <p:cNvPr id="30723" name="Rectangle 3"/>
          <p:cNvSpPr>
            <a:spLocks noGrp="1" noRot="1" noChangeArrowheads="1"/>
          </p:cNvSpPr>
          <p:nvPr>
            <p:ph type="title"/>
          </p:nvPr>
        </p:nvSpPr>
        <p:spPr/>
        <p:txBody>
          <a:bodyPr/>
          <a:lstStyle/>
          <a:p>
            <a:pPr eaLnBrk="1" hangingPunct="1"/>
            <a:r>
              <a:rPr lang="en-US" altLang="zh-CN" smtClean="0">
                <a:solidFill>
                  <a:schemeClr val="folHlink"/>
                </a:solidFill>
              </a:rPr>
              <a:t>4.3.1 </a:t>
            </a:r>
            <a:r>
              <a:rPr lang="zh-CN" altLang="en-US" b="1" smtClean="0">
                <a:solidFill>
                  <a:schemeClr val="folHlink"/>
                </a:solidFill>
              </a:rPr>
              <a:t>单一连续分配</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Rot="1" noChangeArrowheads="1"/>
          </p:cNvSpPr>
          <p:nvPr>
            <p:ph type="body" idx="1"/>
          </p:nvPr>
        </p:nvSpPr>
        <p:spPr>
          <a:xfrm>
            <a:off x="251520" y="1432520"/>
            <a:ext cx="8583488" cy="4876800"/>
          </a:xfrm>
        </p:spPr>
        <p:txBody>
          <a:bodyPr/>
          <a:lstStyle/>
          <a:p>
            <a:pPr eaLnBrk="1" hangingPunct="1">
              <a:lnSpc>
                <a:spcPct val="110000"/>
              </a:lnSpc>
              <a:buFont typeface="Wingdings" panose="05000000000000000000" pitchFamily="2" charset="2"/>
              <a:buNone/>
              <a:defRPr/>
            </a:pPr>
            <a:r>
              <a:rPr lang="en-US" altLang="zh-CN" sz="2800" b="1" dirty="0" smtClean="0">
                <a:solidFill>
                  <a:schemeClr val="folHlink"/>
                </a:solidFill>
              </a:rPr>
              <a:t>	</a:t>
            </a:r>
            <a:r>
              <a:rPr lang="zh-CN" altLang="en-US" sz="2800" b="1" dirty="0" smtClean="0">
                <a:solidFill>
                  <a:schemeClr val="folHlink"/>
                </a:solidFill>
              </a:rPr>
              <a:t>固定分区分配思想：</a:t>
            </a:r>
            <a:r>
              <a:rPr lang="zh-CN" altLang="en-US" sz="2800" b="1" dirty="0" smtClean="0"/>
              <a:t>将内存用户空间划分为若干个固定大小的区域，每个区域称为一个分区（</a:t>
            </a:r>
            <a:r>
              <a:rPr lang="en-US" altLang="zh-CN" sz="2800" b="1" dirty="0" smtClean="0"/>
              <a:t>region</a:t>
            </a:r>
            <a:r>
              <a:rPr lang="zh-CN" altLang="en-US" sz="2800" b="1" dirty="0" smtClean="0"/>
              <a:t>），在每个分区中只装入一道作业 ，从而支持多道程序并发设计。</a:t>
            </a:r>
            <a:endParaRPr lang="zh-CN" altLang="en-US" sz="2800" b="1" dirty="0" smtClean="0"/>
          </a:p>
          <a:p>
            <a:pPr eaLnBrk="1" hangingPunct="1">
              <a:lnSpc>
                <a:spcPct val="110000"/>
              </a:lnSpc>
              <a:buFont typeface="Wingdings" panose="05000000000000000000" pitchFamily="2" charset="2"/>
              <a:buNone/>
              <a:defRPr/>
            </a:pPr>
            <a:r>
              <a:rPr lang="en-US" altLang="zh-CN" sz="2800" b="1" dirty="0" smtClean="0">
                <a:solidFill>
                  <a:schemeClr val="folHlink"/>
                </a:solidFill>
                <a:effectLst>
                  <a:outerShdw blurRad="38100" dist="38100" dir="2700000" algn="tl">
                    <a:srgbClr val="000000"/>
                  </a:outerShdw>
                </a:effectLst>
              </a:rPr>
              <a:t>(1)</a:t>
            </a:r>
            <a:r>
              <a:rPr lang="zh-CN" altLang="en-US" sz="2800" b="1" dirty="0" smtClean="0">
                <a:solidFill>
                  <a:schemeClr val="folHlink"/>
                </a:solidFill>
                <a:effectLst>
                  <a:outerShdw blurRad="38100" dist="38100" dir="2700000" algn="tl">
                    <a:srgbClr val="000000"/>
                  </a:outerShdw>
                </a:effectLst>
              </a:rPr>
              <a:t>．分区划分方法</a:t>
            </a:r>
            <a:endParaRPr lang="zh-CN" altLang="en-US" sz="2800" b="1" dirty="0" smtClean="0"/>
          </a:p>
          <a:p>
            <a:pPr lvl="1" eaLnBrk="1" hangingPunct="1">
              <a:lnSpc>
                <a:spcPct val="110000"/>
              </a:lnSpc>
              <a:buFont typeface="Wingdings" panose="05000000000000000000" pitchFamily="2" charset="2"/>
              <a:buNone/>
              <a:defRPr/>
            </a:pPr>
            <a:r>
              <a:rPr lang="zh-CN" altLang="en-US" b="1" dirty="0" smtClean="0">
                <a:solidFill>
                  <a:schemeClr val="folHlink"/>
                </a:solidFill>
                <a:latin typeface="宋体" panose="02010600030101010101" pitchFamily="2" charset="-122"/>
              </a:rPr>
              <a:t>①</a:t>
            </a:r>
            <a:r>
              <a:rPr lang="zh-CN" altLang="en-US" b="1" dirty="0" smtClean="0">
                <a:solidFill>
                  <a:schemeClr val="folHlink"/>
                </a:solidFill>
                <a:effectLst>
                  <a:outerShdw blurRad="38100" dist="38100" dir="2700000" algn="tl">
                    <a:srgbClr val="000000"/>
                  </a:outerShdw>
                </a:effectLst>
              </a:rPr>
              <a:t>分区大小相等</a:t>
            </a:r>
            <a:r>
              <a:rPr lang="zh-CN" altLang="en-US" b="1" dirty="0" smtClean="0">
                <a:solidFill>
                  <a:schemeClr val="folHlink"/>
                </a:solidFill>
              </a:rPr>
              <a:t>。</a:t>
            </a:r>
            <a:r>
              <a:rPr lang="zh-CN" altLang="en-US" b="1" dirty="0" smtClean="0"/>
              <a:t>当程序太小时，会造成内存空间的浪费 。当程序太大时，一个分区又不足以装入该程序，致使该程序无法运行。 </a:t>
            </a:r>
            <a:endParaRPr lang="zh-CN" altLang="en-US" b="1" dirty="0" smtClean="0"/>
          </a:p>
          <a:p>
            <a:pPr lvl="1" eaLnBrk="1" hangingPunct="1">
              <a:lnSpc>
                <a:spcPct val="110000"/>
              </a:lnSpc>
              <a:buFont typeface="Wingdings" panose="05000000000000000000" pitchFamily="2" charset="2"/>
              <a:buNone/>
              <a:defRPr/>
            </a:pPr>
            <a:r>
              <a:rPr lang="zh-CN" altLang="en-US" b="1" dirty="0" smtClean="0">
                <a:solidFill>
                  <a:schemeClr val="folHlink"/>
                </a:solidFill>
                <a:latin typeface="宋体" panose="02010600030101010101" pitchFamily="2" charset="-122"/>
              </a:rPr>
              <a:t>②</a:t>
            </a:r>
            <a:r>
              <a:rPr lang="zh-CN" altLang="en-US" b="1" dirty="0" smtClean="0">
                <a:solidFill>
                  <a:schemeClr val="folHlink"/>
                </a:solidFill>
                <a:effectLst>
                  <a:outerShdw blurRad="38100" dist="38100" dir="2700000" algn="tl">
                    <a:srgbClr val="000000"/>
                  </a:outerShdw>
                </a:effectLst>
              </a:rPr>
              <a:t>分区大小不等</a:t>
            </a:r>
            <a:r>
              <a:rPr lang="zh-CN" altLang="en-US" b="1" dirty="0" smtClean="0">
                <a:solidFill>
                  <a:schemeClr val="folHlink"/>
                </a:solidFill>
              </a:rPr>
              <a:t>。</a:t>
            </a:r>
            <a:r>
              <a:rPr lang="zh-CN" altLang="en-US" b="1" dirty="0" smtClean="0"/>
              <a:t>可把内存区划成含有多个较小的分区、适量的中等分区及少量的大分区。 </a:t>
            </a:r>
            <a:endParaRPr lang="zh-CN" altLang="en-US" b="1" dirty="0" smtClean="0"/>
          </a:p>
        </p:txBody>
      </p:sp>
      <p:sp>
        <p:nvSpPr>
          <p:cNvPr id="31747" name="Rectangle 3"/>
          <p:cNvSpPr>
            <a:spLocks noGrp="1" noRot="1" noChangeArrowheads="1"/>
          </p:cNvSpPr>
          <p:nvPr>
            <p:ph type="title"/>
          </p:nvPr>
        </p:nvSpPr>
        <p:spPr/>
        <p:txBody>
          <a:bodyPr/>
          <a:lstStyle/>
          <a:p>
            <a:pPr eaLnBrk="1" hangingPunct="1"/>
            <a:r>
              <a:rPr lang="en-US" altLang="zh-CN" smtClean="0">
                <a:solidFill>
                  <a:schemeClr val="folHlink"/>
                </a:solidFill>
              </a:rPr>
              <a:t>4.3.2 </a:t>
            </a:r>
            <a:r>
              <a:rPr lang="zh-CN" altLang="en-US" b="1" smtClean="0">
                <a:solidFill>
                  <a:schemeClr val="folHlink"/>
                </a:solidFill>
              </a:rPr>
              <a:t>固定分区分配</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Rot="1" noChangeArrowheads="1"/>
          </p:cNvSpPr>
          <p:nvPr>
            <p:ph/>
          </p:nvPr>
        </p:nvSpPr>
        <p:spPr>
          <a:xfrm>
            <a:off x="457200" y="1573213"/>
            <a:ext cx="8229600" cy="4598987"/>
          </a:xfrm>
        </p:spPr>
        <p:txBody>
          <a:bodyPr/>
          <a:lstStyle/>
          <a:p>
            <a:pPr eaLnBrk="1" hangingPunct="1">
              <a:buFont typeface="Wingdings" panose="05000000000000000000" pitchFamily="2" charset="2"/>
              <a:buNone/>
              <a:defRPr/>
            </a:pPr>
            <a:r>
              <a:rPr lang="en-US" altLang="zh-CN" b="1" smtClean="0">
                <a:solidFill>
                  <a:schemeClr val="folHlink"/>
                </a:solidFill>
                <a:effectLst>
                  <a:outerShdw blurRad="38100" dist="38100" dir="2700000" algn="tl">
                    <a:srgbClr val="000000"/>
                  </a:outerShdw>
                </a:effectLst>
              </a:rPr>
              <a:t>(2)</a:t>
            </a:r>
            <a:r>
              <a:rPr lang="zh-CN" altLang="en-US" b="1" smtClean="0">
                <a:solidFill>
                  <a:schemeClr val="folHlink"/>
                </a:solidFill>
                <a:effectLst>
                  <a:outerShdw blurRad="38100" dist="38100" dir="2700000" algn="tl">
                    <a:srgbClr val="000000"/>
                  </a:outerShdw>
                </a:effectLst>
              </a:rPr>
              <a:t>．内存分配</a:t>
            </a:r>
            <a:r>
              <a:rPr lang="en-US" altLang="zh-CN" b="1" smtClean="0">
                <a:solidFill>
                  <a:schemeClr val="folHlink"/>
                </a:solidFill>
                <a:effectLst>
                  <a:outerShdw blurRad="38100" dist="38100" dir="2700000" algn="tl">
                    <a:srgbClr val="000000"/>
                  </a:outerShdw>
                </a:effectLst>
              </a:rPr>
              <a:t> </a:t>
            </a:r>
            <a:endParaRPr lang="en-US" altLang="zh-CN" b="1" smtClean="0">
              <a:solidFill>
                <a:schemeClr val="folHlink"/>
              </a:solidFill>
              <a:effectLst>
                <a:outerShdw blurRad="38100" dist="38100" dir="2700000" algn="tl">
                  <a:srgbClr val="000000"/>
                </a:outerShdw>
              </a:effectLst>
            </a:endParaRPr>
          </a:p>
          <a:p>
            <a:pPr eaLnBrk="1" hangingPunct="1">
              <a:buFont typeface="Wingdings" panose="05000000000000000000" pitchFamily="2" charset="2"/>
              <a:buNone/>
              <a:defRPr/>
            </a:pPr>
            <a:r>
              <a:rPr lang="zh-CN" altLang="en-US" b="1" smtClean="0">
                <a:solidFill>
                  <a:schemeClr val="folHlink"/>
                </a:solidFill>
              </a:rPr>
              <a:t>	</a:t>
            </a:r>
            <a:r>
              <a:rPr lang="zh-CN" altLang="en-US" sz="2800" b="1" smtClean="0"/>
              <a:t>采用分区描述表记录每个分区的状态信息，如下图所示。</a:t>
            </a:r>
            <a:endParaRPr lang="zh-CN" altLang="en-US" b="1" smtClean="0"/>
          </a:p>
        </p:txBody>
      </p:sp>
      <p:sp>
        <p:nvSpPr>
          <p:cNvPr id="32771" name="Text Box 4"/>
          <p:cNvSpPr txBox="1">
            <a:spLocks noChangeArrowheads="1"/>
          </p:cNvSpPr>
          <p:nvPr/>
        </p:nvSpPr>
        <p:spPr bwMode="auto">
          <a:xfrm>
            <a:off x="6781800" y="6491288"/>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内存分配情况</a:t>
            </a:r>
            <a:endParaRPr lang="zh-CN" altLang="en-US" b="1"/>
          </a:p>
        </p:txBody>
      </p:sp>
      <p:graphicFrame>
        <p:nvGraphicFramePr>
          <p:cNvPr id="566344" name="Group 72"/>
          <p:cNvGraphicFramePr>
            <a:graphicFrameLocks noGrp="1"/>
          </p:cNvGraphicFramePr>
          <p:nvPr/>
        </p:nvGraphicFramePr>
        <p:xfrm>
          <a:off x="533400" y="3505200"/>
          <a:ext cx="5638800" cy="2967038"/>
        </p:xfrm>
        <a:graphic>
          <a:graphicData uri="http://schemas.openxmlformats.org/drawingml/2006/table">
            <a:tbl>
              <a:tblPr/>
              <a:tblGrid>
                <a:gridCol w="1006475"/>
                <a:gridCol w="1546225"/>
                <a:gridCol w="1541463"/>
                <a:gridCol w="1544637"/>
              </a:tblGrid>
              <a:tr h="838200">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分区编号</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大小（</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KB</a:t>
                      </a: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起始地址（</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KB</a:t>
                      </a: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状态</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450">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分配</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450">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分配</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450">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分配</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7038">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130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未分配</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450">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170</a:t>
                      </a: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85000"/>
                        <a:buFont typeface="Wingdings 2" panose="05020102010507070707" pitchFamily="18"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hlink"/>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folHlink"/>
                        </a:buClr>
                        <a:buSzPct val="90000"/>
                        <a:buFont typeface="Wingdings 2" panose="05020102010507070707" pitchFamily="18"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hlink"/>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分配</a:t>
                      </a:r>
                      <a:endPar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32809" name="Group 42"/>
          <p:cNvGrpSpPr/>
          <p:nvPr/>
        </p:nvGrpSpPr>
        <p:grpSpPr bwMode="auto">
          <a:xfrm>
            <a:off x="6324600" y="3429000"/>
            <a:ext cx="2057400" cy="3009900"/>
            <a:chOff x="3552" y="1104"/>
            <a:chExt cx="1296" cy="2291"/>
          </a:xfrm>
        </p:grpSpPr>
        <p:sp>
          <p:nvSpPr>
            <p:cNvPr id="32812" name="Rectangle 43"/>
            <p:cNvSpPr>
              <a:spLocks noChangeArrowheads="1"/>
            </p:cNvSpPr>
            <p:nvPr/>
          </p:nvSpPr>
          <p:spPr bwMode="auto">
            <a:xfrm>
              <a:off x="3946" y="2986"/>
              <a:ext cx="90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65000"/>
                <a:buFont typeface="Wingdings" panose="05000000000000000000" pitchFamily="2" charset="2"/>
                <a:buNone/>
              </a:pPr>
              <a:r>
                <a:rPr lang="zh-CN" altLang="en-US" sz="2000" b="1"/>
                <a:t>作业</a:t>
              </a:r>
              <a:r>
                <a:rPr lang="en-US" altLang="zh-CN" sz="2000" b="1"/>
                <a:t>D</a:t>
              </a:r>
              <a:endParaRPr lang="en-US" altLang="zh-CN" sz="2000" b="1"/>
            </a:p>
          </p:txBody>
        </p:sp>
        <p:sp>
          <p:nvSpPr>
            <p:cNvPr id="32813" name="Rectangle 44"/>
            <p:cNvSpPr>
              <a:spLocks noChangeArrowheads="1"/>
            </p:cNvSpPr>
            <p:nvPr/>
          </p:nvSpPr>
          <p:spPr bwMode="auto">
            <a:xfrm>
              <a:off x="3946" y="2611"/>
              <a:ext cx="90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65000"/>
                <a:buFont typeface="Wingdings" panose="05000000000000000000" pitchFamily="2" charset="2"/>
                <a:buNone/>
              </a:pPr>
              <a:r>
                <a:rPr lang="zh-CN" altLang="en-US" sz="2000" b="1"/>
                <a:t>空闲分区</a:t>
              </a:r>
              <a:endParaRPr lang="zh-CN" altLang="en-US" sz="2000" b="1"/>
            </a:p>
          </p:txBody>
        </p:sp>
        <p:sp>
          <p:nvSpPr>
            <p:cNvPr id="32814" name="Rectangle 45"/>
            <p:cNvSpPr>
              <a:spLocks noChangeArrowheads="1"/>
            </p:cNvSpPr>
            <p:nvPr/>
          </p:nvSpPr>
          <p:spPr bwMode="auto">
            <a:xfrm>
              <a:off x="3946" y="2237"/>
              <a:ext cx="90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65000"/>
                <a:buFont typeface="Wingdings" panose="05000000000000000000" pitchFamily="2" charset="2"/>
                <a:buNone/>
              </a:pPr>
              <a:r>
                <a:rPr lang="zh-CN" altLang="en-US" sz="2000" b="1"/>
                <a:t>作业</a:t>
              </a:r>
              <a:r>
                <a:rPr lang="en-US" altLang="zh-CN" sz="2000" b="1"/>
                <a:t>C</a:t>
              </a:r>
              <a:endParaRPr lang="en-US" altLang="zh-CN" sz="2000" b="1"/>
            </a:p>
          </p:txBody>
        </p:sp>
        <p:sp>
          <p:nvSpPr>
            <p:cNvPr id="32815" name="Rectangle 46"/>
            <p:cNvSpPr>
              <a:spLocks noChangeArrowheads="1"/>
            </p:cNvSpPr>
            <p:nvPr/>
          </p:nvSpPr>
          <p:spPr bwMode="auto">
            <a:xfrm>
              <a:off x="3946" y="1863"/>
              <a:ext cx="90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65000"/>
                <a:buFont typeface="Wingdings" panose="05000000000000000000" pitchFamily="2" charset="2"/>
                <a:buNone/>
              </a:pPr>
              <a:r>
                <a:rPr lang="zh-CN" altLang="en-US" sz="2000" b="1"/>
                <a:t>作业</a:t>
              </a:r>
              <a:r>
                <a:rPr lang="en-US" altLang="zh-CN" sz="2000" b="1"/>
                <a:t>B</a:t>
              </a:r>
              <a:endParaRPr lang="en-US" altLang="zh-CN" sz="2000" b="1"/>
            </a:p>
          </p:txBody>
        </p:sp>
        <p:sp>
          <p:nvSpPr>
            <p:cNvPr id="32816" name="Rectangle 47"/>
            <p:cNvSpPr>
              <a:spLocks noChangeArrowheads="1"/>
            </p:cNvSpPr>
            <p:nvPr/>
          </p:nvSpPr>
          <p:spPr bwMode="auto">
            <a:xfrm>
              <a:off x="3946" y="1488"/>
              <a:ext cx="90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65000"/>
                <a:buFont typeface="Wingdings" panose="05000000000000000000" pitchFamily="2" charset="2"/>
                <a:buNone/>
              </a:pPr>
              <a:r>
                <a:rPr lang="zh-CN" altLang="en-US" sz="2000" b="1"/>
                <a:t>作业</a:t>
              </a:r>
              <a:r>
                <a:rPr lang="en-US" altLang="zh-CN" sz="2000" b="1"/>
                <a:t>A</a:t>
              </a:r>
              <a:endParaRPr lang="en-US" altLang="zh-CN" sz="2000" b="1"/>
            </a:p>
          </p:txBody>
        </p:sp>
        <p:sp>
          <p:nvSpPr>
            <p:cNvPr id="32817" name="Rectangle 48"/>
            <p:cNvSpPr>
              <a:spLocks noChangeArrowheads="1"/>
            </p:cNvSpPr>
            <p:nvPr/>
          </p:nvSpPr>
          <p:spPr bwMode="auto">
            <a:xfrm>
              <a:off x="3946" y="1114"/>
              <a:ext cx="90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SzPct val="65000"/>
                <a:buFont typeface="Wingdings" panose="05000000000000000000" pitchFamily="2" charset="2"/>
                <a:buNone/>
              </a:pPr>
              <a:r>
                <a:rPr lang="zh-CN" altLang="en-US" sz="2000" b="1"/>
                <a:t>操作系统</a:t>
              </a:r>
              <a:endParaRPr lang="zh-CN" altLang="en-US" sz="2000" b="1"/>
            </a:p>
          </p:txBody>
        </p:sp>
        <p:sp>
          <p:nvSpPr>
            <p:cNvPr id="32818" name="Line 49"/>
            <p:cNvSpPr>
              <a:spLocks noChangeShapeType="1"/>
            </p:cNvSpPr>
            <p:nvPr/>
          </p:nvSpPr>
          <p:spPr bwMode="auto">
            <a:xfrm>
              <a:off x="3946" y="1114"/>
              <a:ext cx="902" cy="1"/>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19" name="Line 50"/>
            <p:cNvSpPr>
              <a:spLocks noChangeShapeType="1"/>
            </p:cNvSpPr>
            <p:nvPr/>
          </p:nvSpPr>
          <p:spPr bwMode="auto">
            <a:xfrm>
              <a:off x="3946" y="1488"/>
              <a:ext cx="90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0" name="Line 51"/>
            <p:cNvSpPr>
              <a:spLocks noChangeShapeType="1"/>
            </p:cNvSpPr>
            <p:nvPr/>
          </p:nvSpPr>
          <p:spPr bwMode="auto">
            <a:xfrm>
              <a:off x="3946" y="1863"/>
              <a:ext cx="90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1" name="Line 52"/>
            <p:cNvSpPr>
              <a:spLocks noChangeShapeType="1"/>
            </p:cNvSpPr>
            <p:nvPr/>
          </p:nvSpPr>
          <p:spPr bwMode="auto">
            <a:xfrm>
              <a:off x="3946" y="2237"/>
              <a:ext cx="90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2" name="Line 53"/>
            <p:cNvSpPr>
              <a:spLocks noChangeShapeType="1"/>
            </p:cNvSpPr>
            <p:nvPr/>
          </p:nvSpPr>
          <p:spPr bwMode="auto">
            <a:xfrm>
              <a:off x="3946" y="2611"/>
              <a:ext cx="90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3" name="Line 54"/>
            <p:cNvSpPr>
              <a:spLocks noChangeShapeType="1"/>
            </p:cNvSpPr>
            <p:nvPr/>
          </p:nvSpPr>
          <p:spPr bwMode="auto">
            <a:xfrm>
              <a:off x="3946" y="2986"/>
              <a:ext cx="90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4" name="Line 55"/>
            <p:cNvSpPr>
              <a:spLocks noChangeShapeType="1"/>
            </p:cNvSpPr>
            <p:nvPr/>
          </p:nvSpPr>
          <p:spPr bwMode="auto">
            <a:xfrm>
              <a:off x="3946" y="3360"/>
              <a:ext cx="902" cy="1"/>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5" name="Line 56"/>
            <p:cNvSpPr>
              <a:spLocks noChangeShapeType="1"/>
            </p:cNvSpPr>
            <p:nvPr/>
          </p:nvSpPr>
          <p:spPr bwMode="auto">
            <a:xfrm>
              <a:off x="3946" y="1114"/>
              <a:ext cx="0" cy="2246"/>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6" name="Line 57"/>
            <p:cNvSpPr>
              <a:spLocks noChangeShapeType="1"/>
            </p:cNvSpPr>
            <p:nvPr/>
          </p:nvSpPr>
          <p:spPr bwMode="auto">
            <a:xfrm>
              <a:off x="4848" y="1104"/>
              <a:ext cx="0" cy="2246"/>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27" name="Text Box 58"/>
            <p:cNvSpPr txBox="1">
              <a:spLocks noChangeArrowheads="1"/>
            </p:cNvSpPr>
            <p:nvPr/>
          </p:nvSpPr>
          <p:spPr bwMode="auto">
            <a:xfrm>
              <a:off x="3601" y="1104"/>
              <a:ext cx="295" cy="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0</a:t>
              </a:r>
              <a:endParaRPr lang="en-US" altLang="zh-CN" sz="1600" b="1"/>
            </a:p>
            <a:p>
              <a:pPr eaLnBrk="1" hangingPunct="1">
                <a:spcBef>
                  <a:spcPct val="50000"/>
                </a:spcBef>
              </a:pPr>
              <a:r>
                <a:rPr lang="en-US" altLang="zh-CN" sz="1600" b="1"/>
                <a:t>30</a:t>
              </a:r>
              <a:endParaRPr lang="en-US" altLang="zh-CN" sz="1600" b="1"/>
            </a:p>
          </p:txBody>
        </p:sp>
        <p:sp>
          <p:nvSpPr>
            <p:cNvPr id="32828" name="Text Box 59"/>
            <p:cNvSpPr txBox="1">
              <a:spLocks noChangeArrowheads="1"/>
            </p:cNvSpPr>
            <p:nvPr/>
          </p:nvSpPr>
          <p:spPr bwMode="auto">
            <a:xfrm>
              <a:off x="3601" y="1732"/>
              <a:ext cx="34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60</a:t>
              </a:r>
              <a:endParaRPr lang="en-US" altLang="zh-CN" sz="1600" b="1"/>
            </a:p>
          </p:txBody>
        </p:sp>
        <p:sp>
          <p:nvSpPr>
            <p:cNvPr id="32829" name="Text Box 60"/>
            <p:cNvSpPr txBox="1">
              <a:spLocks noChangeArrowheads="1"/>
            </p:cNvSpPr>
            <p:nvPr/>
          </p:nvSpPr>
          <p:spPr bwMode="auto">
            <a:xfrm>
              <a:off x="3552" y="2091"/>
              <a:ext cx="39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100</a:t>
              </a:r>
              <a:endParaRPr lang="en-US" altLang="zh-CN" sz="1600" b="1"/>
            </a:p>
          </p:txBody>
        </p:sp>
        <p:sp>
          <p:nvSpPr>
            <p:cNvPr id="32830" name="Text Box 61"/>
            <p:cNvSpPr txBox="1">
              <a:spLocks noChangeArrowheads="1"/>
            </p:cNvSpPr>
            <p:nvPr/>
          </p:nvSpPr>
          <p:spPr bwMode="auto">
            <a:xfrm>
              <a:off x="3552" y="2477"/>
              <a:ext cx="39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130</a:t>
              </a:r>
              <a:endParaRPr lang="en-US" altLang="zh-CN" sz="1600" b="1"/>
            </a:p>
          </p:txBody>
        </p:sp>
        <p:sp>
          <p:nvSpPr>
            <p:cNvPr id="32831" name="Text Box 62"/>
            <p:cNvSpPr txBox="1">
              <a:spLocks noChangeArrowheads="1"/>
            </p:cNvSpPr>
            <p:nvPr/>
          </p:nvSpPr>
          <p:spPr bwMode="auto">
            <a:xfrm>
              <a:off x="3552" y="2842"/>
              <a:ext cx="39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170</a:t>
              </a:r>
              <a:endParaRPr lang="en-US" altLang="zh-CN" sz="1600" b="1"/>
            </a:p>
          </p:txBody>
        </p:sp>
        <p:sp>
          <p:nvSpPr>
            <p:cNvPr id="32832" name="Text Box 63"/>
            <p:cNvSpPr txBox="1">
              <a:spLocks noChangeArrowheads="1"/>
            </p:cNvSpPr>
            <p:nvPr/>
          </p:nvSpPr>
          <p:spPr bwMode="auto">
            <a:xfrm>
              <a:off x="3552" y="3139"/>
              <a:ext cx="443"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t>210</a:t>
              </a:r>
              <a:endParaRPr lang="en-US" altLang="zh-CN" sz="1600" b="1"/>
            </a:p>
          </p:txBody>
        </p:sp>
      </p:grpSp>
      <p:sp>
        <p:nvSpPr>
          <p:cNvPr id="32810" name="Text Box 70"/>
          <p:cNvSpPr txBox="1">
            <a:spLocks noChangeArrowheads="1"/>
          </p:cNvSpPr>
          <p:nvPr/>
        </p:nvSpPr>
        <p:spPr bwMode="auto">
          <a:xfrm>
            <a:off x="2590800" y="6491288"/>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分区描述表</a:t>
            </a:r>
            <a:endParaRPr lang="zh-CN" altLang="en-US" b="1"/>
          </a:p>
        </p:txBody>
      </p:sp>
      <p:sp>
        <p:nvSpPr>
          <p:cNvPr id="565251" name="Rectangle 3"/>
          <p:cNvSpPr>
            <a:spLocks noRot="1" noChangeArrowheads="1"/>
          </p:cNvSpPr>
          <p:nvPr/>
        </p:nvSpPr>
        <p:spPr bwMode="auto">
          <a:xfrm>
            <a:off x="533400" y="304800"/>
            <a:ext cx="8077200" cy="1066800"/>
          </a:xfrm>
          <a:prstGeom prst="rect">
            <a:avLst/>
          </a:prstGeom>
          <a:noFill/>
          <a:ln w="9525">
            <a:noFill/>
            <a:miter lim="800000"/>
          </a:ln>
        </p:spPr>
        <p:txBody>
          <a:bodyPr anchor="ctr"/>
          <a:lstStyle/>
          <a:p>
            <a:pPr algn="ctr">
              <a:defRPr/>
            </a:pPr>
            <a:r>
              <a:rPr lang="en-US" altLang="zh-CN" sz="4400">
                <a:solidFill>
                  <a:schemeClr val="folHlink"/>
                </a:solidFill>
                <a:effectLst>
                  <a:outerShdw blurRad="38100" dist="38100" dir="2700000" algn="tl">
                    <a:srgbClr val="000000"/>
                  </a:outerShdw>
                </a:effectLst>
                <a:latin typeface="Arial" panose="020B0604020202020204" pitchFamily="34" charset="0"/>
              </a:rPr>
              <a:t>4.3.2 </a:t>
            </a:r>
            <a:r>
              <a:rPr lang="zh-CN" altLang="en-US" sz="4400" b="1">
                <a:solidFill>
                  <a:schemeClr val="folHlink"/>
                </a:solidFill>
                <a:effectLst>
                  <a:outerShdw blurRad="38100" dist="38100" dir="2700000" algn="tl">
                    <a:srgbClr val="000000"/>
                  </a:outerShdw>
                </a:effectLst>
                <a:latin typeface="Arial" panose="020B0604020202020204" pitchFamily="34" charset="0"/>
              </a:rPr>
              <a:t>固定分区分配</a:t>
            </a:r>
            <a:endParaRPr lang="zh-CN" altLang="en-US" sz="4400" b="1">
              <a:solidFill>
                <a:schemeClr val="folHlink"/>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body" idx="1"/>
          </p:nvPr>
        </p:nvSpPr>
        <p:spPr>
          <a:xfrm>
            <a:off x="304800" y="1673225"/>
            <a:ext cx="8305800" cy="4498975"/>
          </a:xfrm>
        </p:spPr>
        <p:txBody>
          <a:bodyPr/>
          <a:lstStyle/>
          <a:p>
            <a:pPr eaLnBrk="1" hangingPunct="1"/>
            <a:r>
              <a:rPr lang="zh-CN" altLang="en-US" b="1" dirty="0" smtClean="0">
                <a:solidFill>
                  <a:schemeClr val="folHlink"/>
                </a:solidFill>
              </a:rPr>
              <a:t>内存分配过程？</a:t>
            </a:r>
            <a:endParaRPr lang="zh-CN" altLang="en-US" b="1" dirty="0" smtClean="0">
              <a:solidFill>
                <a:schemeClr val="folHlink"/>
              </a:solidFill>
            </a:endParaRPr>
          </a:p>
          <a:p>
            <a:pPr eaLnBrk="1" hangingPunct="1">
              <a:buFont typeface="Wingdings" panose="05000000000000000000" pitchFamily="2" charset="2"/>
              <a:buNone/>
            </a:pPr>
            <a:r>
              <a:rPr lang="zh-CN" altLang="en-US" b="1" dirty="0" smtClean="0"/>
              <a:t>		</a:t>
            </a:r>
            <a:r>
              <a:rPr lang="zh-CN" altLang="en-US" sz="2800" b="1" dirty="0" smtClean="0"/>
              <a:t>当有作业要装入内存时，</a:t>
            </a:r>
            <a:r>
              <a:rPr lang="zh-CN" altLang="en-US" sz="2800" b="1" dirty="0" smtClean="0">
                <a:solidFill>
                  <a:schemeClr val="folHlink"/>
                </a:solidFill>
              </a:rPr>
              <a:t>内存分配程序</a:t>
            </a:r>
            <a:r>
              <a:rPr lang="zh-CN" altLang="en-US" sz="2800" b="1" dirty="0" smtClean="0"/>
              <a:t>检索分区描述表，从中找出</a:t>
            </a:r>
            <a:r>
              <a:rPr lang="zh-CN" altLang="en-US" sz="2800" b="1" i="1" u="sng" dirty="0" smtClean="0">
                <a:solidFill>
                  <a:srgbClr val="FF0000"/>
                </a:solidFill>
              </a:rPr>
              <a:t>尚未使用的最接近大小</a:t>
            </a:r>
            <a:r>
              <a:rPr lang="zh-CN" altLang="en-US" sz="2800" b="1" dirty="0" smtClean="0"/>
              <a:t>的分区分配给该作业，然后修改分区的状态；如果找不到合适的分区就拒绝为该作业分配内存。</a:t>
            </a:r>
            <a:endParaRPr lang="zh-CN" altLang="en-US" sz="2800" b="1" dirty="0" smtClean="0"/>
          </a:p>
          <a:p>
            <a:pPr eaLnBrk="1" hangingPunct="1">
              <a:lnSpc>
                <a:spcPct val="50000"/>
              </a:lnSpc>
              <a:buFont typeface="Wingdings" panose="05000000000000000000" pitchFamily="2" charset="2"/>
              <a:buNone/>
            </a:pPr>
            <a:endParaRPr lang="zh-CN" altLang="en-US" sz="2800" b="1" dirty="0" smtClean="0"/>
          </a:p>
          <a:p>
            <a:pPr eaLnBrk="1" hangingPunct="1">
              <a:buFont typeface="Wingdings" panose="05000000000000000000" pitchFamily="2" charset="2"/>
              <a:buNone/>
            </a:pPr>
            <a:r>
              <a:rPr lang="zh-CN" altLang="en-US" sz="2800" b="1" dirty="0" smtClean="0"/>
              <a:t>		当程序运行完成时，系统回收内存资源，并修改分区描述表中分区的状态。</a:t>
            </a:r>
            <a:endParaRPr lang="zh-CN" altLang="en-US" sz="2800" b="1" dirty="0" smtClean="0"/>
          </a:p>
          <a:p>
            <a:pPr eaLnBrk="1" hangingPunct="1"/>
            <a:endParaRPr lang="en-US" altLang="zh-CN" b="1" dirty="0" smtClean="0"/>
          </a:p>
        </p:txBody>
      </p:sp>
      <p:sp>
        <p:nvSpPr>
          <p:cNvPr id="567299" name="Rectangle 3"/>
          <p:cNvSpPr>
            <a:spLocks noChangeArrowheads="1"/>
          </p:cNvSpPr>
          <p:nvPr/>
        </p:nvSpPr>
        <p:spPr bwMode="auto">
          <a:xfrm>
            <a:off x="457200" y="457200"/>
            <a:ext cx="8229600" cy="955675"/>
          </a:xfrm>
          <a:prstGeom prst="rect">
            <a:avLst/>
          </a:prstGeom>
          <a:noFill/>
          <a:ln w="9525">
            <a:noFill/>
            <a:miter lim="800000"/>
          </a:ln>
          <a:effectLst/>
        </p:spPr>
        <p:txBody>
          <a:bodyPr anchor="ctr"/>
          <a:lstStyle/>
          <a:p>
            <a:pPr algn="ctr">
              <a:defRPr/>
            </a:pPr>
            <a:r>
              <a:rPr lang="en-US" altLang="zh-CN" sz="4400">
                <a:solidFill>
                  <a:schemeClr val="folHlink"/>
                </a:solidFill>
                <a:effectLst>
                  <a:outerShdw blurRad="38100" dist="38100" dir="2700000" algn="tl">
                    <a:srgbClr val="000000"/>
                  </a:outerShdw>
                </a:effectLst>
                <a:latin typeface="Arial" panose="020B0604020202020204" pitchFamily="34" charset="0"/>
              </a:rPr>
              <a:t>4.3.2 </a:t>
            </a:r>
            <a:r>
              <a:rPr lang="zh-CN" altLang="en-US" sz="4400" b="1">
                <a:solidFill>
                  <a:schemeClr val="folHlink"/>
                </a:solidFill>
                <a:effectLst>
                  <a:outerShdw blurRad="38100" dist="38100" dir="2700000" algn="tl">
                    <a:srgbClr val="000000"/>
                  </a:outerShdw>
                </a:effectLst>
                <a:latin typeface="Arial" panose="020B0604020202020204" pitchFamily="34" charset="0"/>
              </a:rPr>
              <a:t>固定分区分配</a:t>
            </a:r>
            <a:endParaRPr lang="zh-CN" altLang="en-US" sz="4400" b="1">
              <a:solidFill>
                <a:schemeClr val="folHlink"/>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body" idx="1"/>
          </p:nvPr>
        </p:nvSpPr>
        <p:spPr>
          <a:xfrm>
            <a:off x="533400" y="1901825"/>
            <a:ext cx="8077200" cy="4498975"/>
          </a:xfrm>
        </p:spPr>
        <p:txBody>
          <a:bodyPr/>
          <a:lstStyle/>
          <a:p>
            <a:pPr eaLnBrk="1" hangingPunct="1"/>
            <a:r>
              <a:rPr lang="zh-CN" altLang="en-US" b="1" smtClean="0"/>
              <a:t>固定分区分配 的</a:t>
            </a:r>
            <a:r>
              <a:rPr lang="zh-CN" altLang="en-US" b="1" smtClean="0">
                <a:solidFill>
                  <a:schemeClr val="folHlink"/>
                </a:solidFill>
              </a:rPr>
              <a:t>优缺点</a:t>
            </a:r>
            <a:r>
              <a:rPr lang="zh-CN" altLang="en-US" b="1" smtClean="0"/>
              <a:t>：可运行多道程序的存储管理方式 。存在</a:t>
            </a:r>
            <a:r>
              <a:rPr lang="zh-CN" altLang="en-US" b="1" smtClean="0">
                <a:latin typeface="Courier New" panose="02070309020205020404" pitchFamily="49" charset="0"/>
              </a:rPr>
              <a:t>“</a:t>
            </a:r>
            <a:r>
              <a:rPr lang="zh-CN" altLang="en-US" b="1" smtClean="0"/>
              <a:t>内零头</a:t>
            </a:r>
            <a:r>
              <a:rPr lang="zh-CN" altLang="en-US" b="1" smtClean="0">
                <a:latin typeface="Courier New" panose="02070309020205020404" pitchFamily="49" charset="0"/>
              </a:rPr>
              <a:t>”</a:t>
            </a:r>
            <a:r>
              <a:rPr lang="zh-CN" altLang="en-US" b="1" smtClean="0"/>
              <a:t>会造成存储空间的浪费。</a:t>
            </a:r>
            <a:endParaRPr lang="zh-CN" altLang="en-US" b="1" smtClean="0"/>
          </a:p>
          <a:p>
            <a:pPr eaLnBrk="1" hangingPunct="1"/>
            <a:r>
              <a:rPr lang="zh-CN" altLang="en-US" b="1" u="sng" smtClean="0">
                <a:solidFill>
                  <a:schemeClr val="folHlink"/>
                </a:solidFill>
              </a:rPr>
              <a:t>内零头</a:t>
            </a:r>
            <a:r>
              <a:rPr lang="en-US" altLang="zh-CN" b="1" smtClean="0"/>
              <a:t>——</a:t>
            </a:r>
            <a:r>
              <a:rPr lang="zh-CN" altLang="en-US" b="1" smtClean="0"/>
              <a:t>在分区内没有利用的部分称为内零头。</a:t>
            </a:r>
            <a:endParaRPr lang="zh-CN" altLang="en-US" b="1" smtClean="0"/>
          </a:p>
        </p:txBody>
      </p:sp>
      <p:sp>
        <p:nvSpPr>
          <p:cNvPr id="567299" name="Rectangle 3"/>
          <p:cNvSpPr>
            <a:spLocks noChangeArrowheads="1"/>
          </p:cNvSpPr>
          <p:nvPr/>
        </p:nvSpPr>
        <p:spPr bwMode="auto">
          <a:xfrm>
            <a:off x="457200" y="457200"/>
            <a:ext cx="8229600" cy="955675"/>
          </a:xfrm>
          <a:prstGeom prst="rect">
            <a:avLst/>
          </a:prstGeom>
          <a:noFill/>
          <a:ln w="9525">
            <a:noFill/>
            <a:miter lim="800000"/>
          </a:ln>
          <a:effectLst/>
        </p:spPr>
        <p:txBody>
          <a:bodyPr anchor="ctr"/>
          <a:lstStyle/>
          <a:p>
            <a:pPr algn="ctr">
              <a:defRPr/>
            </a:pPr>
            <a:r>
              <a:rPr lang="en-US" altLang="zh-CN" sz="4400">
                <a:solidFill>
                  <a:schemeClr val="folHlink"/>
                </a:solidFill>
                <a:effectLst>
                  <a:outerShdw blurRad="38100" dist="38100" dir="2700000" algn="tl">
                    <a:srgbClr val="000000"/>
                  </a:outerShdw>
                </a:effectLst>
                <a:latin typeface="Arial" panose="020B0604020202020204" pitchFamily="34" charset="0"/>
              </a:rPr>
              <a:t>4.3.2 </a:t>
            </a:r>
            <a:r>
              <a:rPr lang="zh-CN" altLang="en-US" sz="4400" b="1">
                <a:solidFill>
                  <a:schemeClr val="folHlink"/>
                </a:solidFill>
                <a:effectLst>
                  <a:outerShdw blurRad="38100" dist="38100" dir="2700000" algn="tl">
                    <a:srgbClr val="000000"/>
                  </a:outerShdw>
                </a:effectLst>
                <a:latin typeface="Arial" panose="020B0604020202020204" pitchFamily="34" charset="0"/>
              </a:rPr>
              <a:t>固定分区分配</a:t>
            </a:r>
            <a:endParaRPr lang="zh-CN" altLang="en-US" sz="4400" b="1">
              <a:solidFill>
                <a:schemeClr val="folHlink"/>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rrowheads="1"/>
          </p:cNvSpPr>
          <p:nvPr>
            <p:ph type="body" idx="1"/>
          </p:nvPr>
        </p:nvSpPr>
        <p:spPr>
          <a:xfrm>
            <a:off x="533400" y="1600200"/>
            <a:ext cx="8001000" cy="4876800"/>
          </a:xfrm>
        </p:spPr>
        <p:txBody>
          <a:bodyPr/>
          <a:lstStyle/>
          <a:p>
            <a:pPr eaLnBrk="1" hangingPunct="1">
              <a:lnSpc>
                <a:spcPct val="90000"/>
              </a:lnSpc>
              <a:buFont typeface="Wingdings" panose="05000000000000000000" pitchFamily="2" charset="2"/>
              <a:buNone/>
              <a:defRPr/>
            </a:pPr>
            <a:r>
              <a:rPr lang="en-US" altLang="zh-CN" sz="2800" b="1" dirty="0" smtClean="0">
                <a:solidFill>
                  <a:schemeClr val="folHlink"/>
                </a:solidFill>
              </a:rPr>
              <a:t>   </a:t>
            </a:r>
            <a:r>
              <a:rPr lang="zh-CN" altLang="en-US" sz="2800" b="1" dirty="0" smtClean="0">
                <a:solidFill>
                  <a:schemeClr val="folHlink"/>
                </a:solidFill>
              </a:rPr>
              <a:t>动态分区分配思想：</a:t>
            </a:r>
            <a:r>
              <a:rPr lang="zh-CN" altLang="en-US" sz="2800" b="1" dirty="0" smtClean="0"/>
              <a:t>分区数量和大小都不固定，根据进程的实际需要，动态地为之分配内存空间。 </a:t>
            </a:r>
            <a:endParaRPr lang="zh-CN" altLang="en-US" sz="2800" b="1" dirty="0" smtClean="0"/>
          </a:p>
          <a:p>
            <a:pPr algn="just" eaLnBrk="1" hangingPunct="1">
              <a:lnSpc>
                <a:spcPct val="90000"/>
              </a:lnSpc>
              <a:buClr>
                <a:schemeClr val="accent2"/>
              </a:buClr>
              <a:buSzPct val="145000"/>
              <a:buFont typeface="Wingdings" panose="05000000000000000000" pitchFamily="2" charset="2"/>
              <a:buNone/>
              <a:defRPr/>
            </a:pPr>
            <a:r>
              <a:rPr lang="en-US" altLang="zh-CN" sz="2800" b="1" dirty="0" smtClean="0">
                <a:solidFill>
                  <a:schemeClr val="folHlink"/>
                </a:solidFill>
                <a:effectLst>
                  <a:outerShdw blurRad="38100" dist="38100" dir="2700000" algn="tl">
                    <a:srgbClr val="000000"/>
                  </a:outerShdw>
                </a:effectLst>
              </a:rPr>
              <a:t>1. </a:t>
            </a:r>
            <a:r>
              <a:rPr lang="zh-CN" altLang="en-US" sz="2800" b="1" dirty="0" smtClean="0">
                <a:solidFill>
                  <a:schemeClr val="folHlink"/>
                </a:solidFill>
                <a:effectLst>
                  <a:outerShdw blurRad="38100" dist="38100" dir="2700000" algn="tl">
                    <a:srgbClr val="000000"/>
                  </a:outerShdw>
                </a:effectLst>
              </a:rPr>
              <a:t>分区组织</a:t>
            </a:r>
            <a:endParaRPr lang="zh-CN" altLang="en-US" sz="2800" b="1" dirty="0" smtClean="0">
              <a:solidFill>
                <a:schemeClr val="folHlink"/>
              </a:solidFill>
              <a:effectLst>
                <a:outerShdw blurRad="38100" dist="38100" dir="2700000" algn="tl">
                  <a:srgbClr val="000000"/>
                </a:outerShdw>
              </a:effectLst>
            </a:endParaRPr>
          </a:p>
          <a:p>
            <a:pPr algn="just" eaLnBrk="1" hangingPunct="1">
              <a:lnSpc>
                <a:spcPct val="90000"/>
              </a:lnSpc>
              <a:buFont typeface="Wingdings" panose="05000000000000000000" pitchFamily="2" charset="2"/>
              <a:buNone/>
              <a:defRPr/>
            </a:pPr>
            <a:r>
              <a:rPr lang="zh-CN" altLang="en-US" sz="2800" b="1" dirty="0" smtClean="0"/>
              <a:t>     记录系统中各空闲分区的情况，以便分配时能找到可以分配的空间。</a:t>
            </a:r>
            <a:endParaRPr lang="zh-CN" altLang="en-US" sz="2800" b="1" dirty="0" smtClean="0"/>
          </a:p>
          <a:p>
            <a:pPr lvl="1" algn="just" eaLnBrk="1" hangingPunct="1">
              <a:lnSpc>
                <a:spcPct val="90000"/>
              </a:lnSpc>
              <a:buFont typeface="Wingdings" panose="05000000000000000000" pitchFamily="2" charset="2"/>
              <a:buNone/>
              <a:defRPr/>
            </a:pPr>
            <a:r>
              <a:rPr lang="zh-CN" altLang="en-US" sz="2400" b="1" dirty="0" smtClean="0">
                <a:solidFill>
                  <a:schemeClr val="folHlink"/>
                </a:solidFill>
                <a:latin typeface="宋体" panose="02010600030101010101" pitchFamily="2" charset="-122"/>
              </a:rPr>
              <a:t>①</a:t>
            </a:r>
            <a:r>
              <a:rPr lang="zh-CN" altLang="en-US" sz="2400" b="1" dirty="0" smtClean="0">
                <a:solidFill>
                  <a:schemeClr val="folHlink"/>
                </a:solidFill>
                <a:effectLst>
                  <a:outerShdw blurRad="38100" dist="38100" dir="2700000" algn="tl">
                    <a:srgbClr val="000000"/>
                  </a:outerShdw>
                </a:effectLst>
              </a:rPr>
              <a:t>空闲分区表</a:t>
            </a:r>
            <a:r>
              <a:rPr lang="zh-CN" altLang="en-US" sz="2400" b="1" dirty="0" smtClean="0">
                <a:solidFill>
                  <a:schemeClr val="folHlink"/>
                </a:solidFill>
              </a:rPr>
              <a:t>。</a:t>
            </a:r>
            <a:r>
              <a:rPr lang="zh-CN" altLang="en-US" sz="2400" b="1" dirty="0" smtClean="0"/>
              <a:t>在系统中设置一张空闲分区表，用于记录每个空闲分区的情况（包含空闲分区号、分区大小、起始地址）。  </a:t>
            </a:r>
            <a:endParaRPr lang="zh-CN" altLang="en-US" sz="2400" b="1" dirty="0" smtClean="0"/>
          </a:p>
          <a:p>
            <a:pPr lvl="1" algn="just" eaLnBrk="1" hangingPunct="1">
              <a:lnSpc>
                <a:spcPct val="90000"/>
              </a:lnSpc>
              <a:buFont typeface="Wingdings" panose="05000000000000000000" pitchFamily="2" charset="2"/>
              <a:buNone/>
              <a:defRPr/>
            </a:pPr>
            <a:r>
              <a:rPr lang="zh-CN" altLang="en-US" sz="2400" b="1" dirty="0" smtClean="0">
                <a:solidFill>
                  <a:schemeClr val="folHlink"/>
                </a:solidFill>
                <a:latin typeface="宋体" panose="02010600030101010101" pitchFamily="2" charset="-122"/>
              </a:rPr>
              <a:t>②</a:t>
            </a:r>
            <a:r>
              <a:rPr lang="zh-CN" altLang="en-US" sz="2400" b="1" dirty="0" smtClean="0">
                <a:solidFill>
                  <a:schemeClr val="folHlink"/>
                </a:solidFill>
                <a:effectLst>
                  <a:outerShdw blurRad="38100" dist="38100" dir="2700000" algn="tl">
                    <a:srgbClr val="000000"/>
                  </a:outerShdw>
                </a:effectLst>
              </a:rPr>
              <a:t>空闲分区链表</a:t>
            </a:r>
            <a:r>
              <a:rPr lang="zh-CN" altLang="en-US" sz="2400" b="1" dirty="0" smtClean="0">
                <a:solidFill>
                  <a:schemeClr val="folHlink"/>
                </a:solidFill>
              </a:rPr>
              <a:t>。</a:t>
            </a:r>
            <a:r>
              <a:rPr lang="zh-CN" altLang="en-US" sz="2400" b="1" dirty="0" smtClean="0"/>
              <a:t>为了实现对空闲分区的分配和链接，设置前向指针和后向指针，通过前、后向链接指针将所有的空闲分区链接成一个双向链。</a:t>
            </a:r>
            <a:endParaRPr lang="zh-CN" altLang="en-US" sz="2400" b="1" dirty="0" smtClean="0"/>
          </a:p>
        </p:txBody>
      </p:sp>
      <p:sp>
        <p:nvSpPr>
          <p:cNvPr id="35843" name="Rectangle 3"/>
          <p:cNvSpPr>
            <a:spLocks noGrp="1" noRot="1" noChangeArrowheads="1"/>
          </p:cNvSpPr>
          <p:nvPr>
            <p:ph type="title"/>
          </p:nvPr>
        </p:nvSpPr>
        <p:spPr>
          <a:xfrm>
            <a:off x="533400" y="523875"/>
            <a:ext cx="8077200" cy="771525"/>
          </a:xfrm>
        </p:spPr>
        <p:txBody>
          <a:bodyPr/>
          <a:lstStyle/>
          <a:p>
            <a:pPr eaLnBrk="1" hangingPunct="1"/>
            <a:r>
              <a:rPr lang="en-US" altLang="zh-CN" smtClean="0">
                <a:solidFill>
                  <a:schemeClr val="folHlink"/>
                </a:solidFill>
              </a:rPr>
              <a:t>4.3.3 </a:t>
            </a:r>
            <a:r>
              <a:rPr lang="zh-CN" altLang="en-US" b="1" smtClean="0">
                <a:solidFill>
                  <a:schemeClr val="folHlink"/>
                </a:solidFill>
              </a:rPr>
              <a:t>动态分区分配</a:t>
            </a:r>
            <a:endParaRPr lang="zh-CN" altLang="en-US" b="1" smtClean="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69346">
                                            <p:txEl>
                                              <p:pRg st="0" end="0"/>
                                            </p:txEl>
                                          </p:spTgt>
                                        </p:tgtEl>
                                        <p:attrNameLst>
                                          <p:attrName>style.visibility</p:attrName>
                                        </p:attrNameLst>
                                      </p:cBhvr>
                                      <p:to>
                                        <p:strVal val="visible"/>
                                      </p:to>
                                    </p:set>
                                    <p:animEffect transition="in" filter="wipe(down)">
                                      <p:cBhvr>
                                        <p:cTn id="7" dur="500"/>
                                        <p:tgtEl>
                                          <p:spTgt spid="5693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69346">
                                            <p:txEl>
                                              <p:pRg st="1" end="1"/>
                                            </p:txEl>
                                          </p:spTgt>
                                        </p:tgtEl>
                                        <p:attrNameLst>
                                          <p:attrName>style.visibility</p:attrName>
                                        </p:attrNameLst>
                                      </p:cBhvr>
                                      <p:to>
                                        <p:strVal val="visible"/>
                                      </p:to>
                                    </p:set>
                                    <p:animEffect transition="in" filter="wipe(down)">
                                      <p:cBhvr>
                                        <p:cTn id="12" dur="500"/>
                                        <p:tgtEl>
                                          <p:spTgt spid="569346">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69346">
                                            <p:txEl>
                                              <p:pRg st="2" end="2"/>
                                            </p:txEl>
                                          </p:spTgt>
                                        </p:tgtEl>
                                        <p:attrNameLst>
                                          <p:attrName>style.visibility</p:attrName>
                                        </p:attrNameLst>
                                      </p:cBhvr>
                                      <p:to>
                                        <p:strVal val="visible"/>
                                      </p:to>
                                    </p:set>
                                    <p:animEffect transition="in" filter="wipe(down)">
                                      <p:cBhvr>
                                        <p:cTn id="15" dur="500"/>
                                        <p:tgtEl>
                                          <p:spTgt spid="569346">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569346">
                                            <p:txEl>
                                              <p:pRg st="3" end="3"/>
                                            </p:txEl>
                                          </p:spTgt>
                                        </p:tgtEl>
                                        <p:attrNameLst>
                                          <p:attrName>style.visibility</p:attrName>
                                        </p:attrNameLst>
                                      </p:cBhvr>
                                      <p:to>
                                        <p:strVal val="visible"/>
                                      </p:to>
                                    </p:set>
                                    <p:animEffect transition="in" filter="wipe(down)">
                                      <p:cBhvr>
                                        <p:cTn id="18" dur="500"/>
                                        <p:tgtEl>
                                          <p:spTgt spid="569346">
                                            <p:txEl>
                                              <p:pRg st="3" end="3"/>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569346">
                                            <p:txEl>
                                              <p:pRg st="4" end="4"/>
                                            </p:txEl>
                                          </p:spTgt>
                                        </p:tgtEl>
                                        <p:attrNameLst>
                                          <p:attrName>style.visibility</p:attrName>
                                        </p:attrNameLst>
                                      </p:cBhvr>
                                      <p:to>
                                        <p:strVal val="visible"/>
                                      </p:to>
                                    </p:set>
                                    <p:animEffect transition="in" filter="wipe(down)">
                                      <p:cBhvr>
                                        <p:cTn id="21" dur="500"/>
                                        <p:tgtEl>
                                          <p:spTgt spid="5693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Rot="1" noChangeArrowheads="1"/>
          </p:cNvSpPr>
          <p:nvPr>
            <p:ph type="title"/>
          </p:nvPr>
        </p:nvSpPr>
        <p:spPr/>
        <p:txBody>
          <a:bodyPr/>
          <a:lstStyle/>
          <a:p>
            <a:pPr eaLnBrk="1" hangingPunct="1"/>
            <a:r>
              <a:rPr lang="zh-CN" altLang="en-US" b="1" smtClean="0"/>
              <a:t>空闲分区链表</a:t>
            </a:r>
            <a:endParaRPr lang="zh-CN" altLang="en-US" b="1" smtClean="0"/>
          </a:p>
        </p:txBody>
      </p:sp>
      <p:graphicFrame>
        <p:nvGraphicFramePr>
          <p:cNvPr id="4098" name="Object 8"/>
          <p:cNvGraphicFramePr>
            <a:graphicFrameLocks noGrp="1" noChangeAspect="1"/>
          </p:cNvGraphicFramePr>
          <p:nvPr>
            <p:ph idx="1"/>
          </p:nvPr>
        </p:nvGraphicFramePr>
        <p:xfrm>
          <a:off x="2286000" y="1870075"/>
          <a:ext cx="4876800" cy="4378325"/>
        </p:xfrm>
        <a:graphic>
          <a:graphicData uri="http://schemas.openxmlformats.org/presentationml/2006/ole">
            <mc:AlternateContent xmlns:mc="http://schemas.openxmlformats.org/markup-compatibility/2006">
              <mc:Choice xmlns:v="urn:schemas-microsoft-com:vml" Requires="v">
                <p:oleObj spid="_x0000_s4097" name="Visio" r:id="rId1" imgW="2400300" imgH="2152650" progId="">
                  <p:embed/>
                </p:oleObj>
              </mc:Choice>
              <mc:Fallback>
                <p:oleObj name="Visio" r:id="rId1" imgW="2400300" imgH="2152650" progId="">
                  <p:embed/>
                  <p:pic>
                    <p:nvPicPr>
                      <p:cNvPr id="0" name="图片 4096"/>
                      <p:cNvPicPr>
                        <a:picLocks noGrp="1" noChangeAspect="1"/>
                      </p:cNvPicPr>
                      <p:nvPr/>
                    </p:nvPicPr>
                    <p:blipFill>
                      <a:blip r:embed="rId2"/>
                      <a:stretch>
                        <a:fillRect/>
                      </a:stretch>
                    </p:blipFill>
                    <p:spPr>
                      <a:xfrm>
                        <a:off x="2286000" y="1870075"/>
                        <a:ext cx="4876800" cy="437832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rrowheads="1"/>
          </p:cNvSpPr>
          <p:nvPr>
            <p:ph type="title"/>
          </p:nvPr>
        </p:nvSpPr>
        <p:spPr>
          <a:noFill/>
        </p:spPr>
        <p:txBody>
          <a:bodyPr/>
          <a:lstStyle/>
          <a:p>
            <a:r>
              <a:rPr lang="en-US" altLang="zh-CN" b="1" smtClean="0">
                <a:solidFill>
                  <a:schemeClr val="folHlink"/>
                </a:solidFill>
              </a:rPr>
              <a:t>2</a:t>
            </a:r>
            <a:r>
              <a:rPr lang="zh-CN" altLang="en-US" b="1" smtClean="0">
                <a:solidFill>
                  <a:schemeClr val="folHlink"/>
                </a:solidFill>
              </a:rPr>
              <a:t>．分区分配操作</a:t>
            </a:r>
            <a:endParaRPr lang="zh-CN" altLang="en-US" b="1" smtClean="0">
              <a:solidFill>
                <a:schemeClr val="folHlink"/>
              </a:solidFill>
            </a:endParaRPr>
          </a:p>
        </p:txBody>
      </p:sp>
      <p:sp>
        <p:nvSpPr>
          <p:cNvPr id="216067" name="Rectangle 3"/>
          <p:cNvSpPr>
            <a:spLocks noGrp="1" noRot="1" noChangeArrowheads="1"/>
          </p:cNvSpPr>
          <p:nvPr>
            <p:ph type="body" idx="1"/>
          </p:nvPr>
        </p:nvSpPr>
        <p:spPr>
          <a:xfrm>
            <a:off x="533400" y="1597025"/>
            <a:ext cx="8077200" cy="4956175"/>
          </a:xfrm>
        </p:spPr>
        <p:txBody>
          <a:bodyPr/>
          <a:lstStyle/>
          <a:p>
            <a:pPr>
              <a:defRPr/>
            </a:pPr>
            <a:r>
              <a:rPr lang="zh-CN" altLang="en-US" sz="2800" b="1" dirty="0" smtClean="0"/>
              <a:t>在动态分区存储管理方式中，主要的操作是分配内存和回收内存。</a:t>
            </a:r>
            <a:endParaRPr lang="zh-CN" altLang="en-US" sz="2800" b="1" dirty="0" smtClean="0"/>
          </a:p>
          <a:p>
            <a:pPr>
              <a:defRPr/>
            </a:pPr>
            <a:r>
              <a:rPr lang="en-US" altLang="zh-CN" sz="2800" b="1" dirty="0" smtClean="0">
                <a:solidFill>
                  <a:schemeClr val="hlink"/>
                </a:solidFill>
              </a:rPr>
              <a:t>1) </a:t>
            </a:r>
            <a:r>
              <a:rPr lang="zh-CN" altLang="en-US" sz="2800" b="1" dirty="0" smtClean="0">
                <a:solidFill>
                  <a:schemeClr val="hlink"/>
                </a:solidFill>
              </a:rPr>
              <a:t>分配内存</a:t>
            </a:r>
            <a:endParaRPr lang="zh-CN" altLang="en-US" sz="2800" b="1" dirty="0" smtClean="0">
              <a:solidFill>
                <a:schemeClr val="hlink"/>
              </a:solidFill>
            </a:endParaRPr>
          </a:p>
          <a:p>
            <a:pPr>
              <a:defRPr/>
            </a:pPr>
            <a:r>
              <a:rPr lang="zh-CN" altLang="en-US" sz="2800" b="1" dirty="0" smtClean="0"/>
              <a:t>系统应利用某种分配算法，从空闲分区链</a:t>
            </a:r>
            <a:r>
              <a:rPr lang="en-US" altLang="zh-CN" sz="2800" b="1" dirty="0" smtClean="0"/>
              <a:t>(</a:t>
            </a:r>
            <a:r>
              <a:rPr lang="zh-CN" altLang="en-US" sz="2800" b="1" dirty="0" smtClean="0"/>
              <a:t>表</a:t>
            </a:r>
            <a:r>
              <a:rPr lang="en-US" altLang="zh-CN" sz="2800" b="1" dirty="0" smtClean="0"/>
              <a:t>)</a:t>
            </a:r>
            <a:r>
              <a:rPr lang="zh-CN" altLang="en-US" sz="2800" b="1" dirty="0" smtClean="0"/>
              <a:t>中找到所需大小的分区。</a:t>
            </a:r>
            <a:endParaRPr lang="en-US" altLang="zh-CN" sz="2800" b="1" dirty="0" smtClean="0"/>
          </a:p>
          <a:p>
            <a:pPr lvl="1">
              <a:defRPr/>
            </a:pPr>
            <a:r>
              <a:rPr lang="zh-CN" altLang="en-US" sz="2400" b="1" dirty="0" smtClean="0">
                <a:cs typeface="+mn-cs"/>
              </a:rPr>
              <a:t>请求的分区大小为</a:t>
            </a:r>
            <a:r>
              <a:rPr lang="en-US" altLang="zh-CN" sz="2400" b="1" i="1" dirty="0" err="1" smtClean="0">
                <a:solidFill>
                  <a:srgbClr val="C00000"/>
                </a:solidFill>
                <a:cs typeface="+mn-cs"/>
              </a:rPr>
              <a:t>u.size</a:t>
            </a:r>
            <a:r>
              <a:rPr lang="zh-CN" altLang="en-US" sz="2400" b="1" dirty="0" smtClean="0">
                <a:cs typeface="+mn-cs"/>
              </a:rPr>
              <a:t>，</a:t>
            </a:r>
            <a:endParaRPr lang="en-US" altLang="zh-CN" sz="2400" b="1" dirty="0" smtClean="0">
              <a:cs typeface="+mn-cs"/>
            </a:endParaRPr>
          </a:p>
          <a:p>
            <a:pPr lvl="1">
              <a:defRPr/>
            </a:pPr>
            <a:r>
              <a:rPr lang="zh-CN" altLang="en-US" sz="2400" b="1" dirty="0" smtClean="0">
                <a:cs typeface="+mn-cs"/>
              </a:rPr>
              <a:t>表中每个空闲分区的大小可表示为</a:t>
            </a:r>
            <a:r>
              <a:rPr lang="en-US" altLang="zh-CN" sz="2400" b="1" i="1" dirty="0" err="1" smtClean="0">
                <a:solidFill>
                  <a:srgbClr val="C00000"/>
                </a:solidFill>
                <a:cs typeface="+mn-cs"/>
              </a:rPr>
              <a:t>m.size</a:t>
            </a:r>
            <a:r>
              <a:rPr lang="zh-CN" altLang="en-US" sz="2400" b="1" dirty="0" smtClean="0">
                <a:cs typeface="+mn-cs"/>
              </a:rPr>
              <a:t>。</a:t>
            </a:r>
            <a:endParaRPr lang="en-US" altLang="zh-CN" sz="2400" b="1" dirty="0" smtClean="0">
              <a:cs typeface="+mn-cs"/>
            </a:endParaRPr>
          </a:p>
          <a:p>
            <a:pPr lvl="1">
              <a:defRPr/>
            </a:pPr>
            <a:r>
              <a:rPr lang="en-US" altLang="zh-CN" sz="2400" b="1" i="1" dirty="0" smtClean="0">
                <a:solidFill>
                  <a:srgbClr val="C00000"/>
                </a:solidFill>
                <a:cs typeface="+mn-cs"/>
              </a:rPr>
              <a:t>size</a:t>
            </a:r>
            <a:r>
              <a:rPr lang="zh-CN" altLang="en-US" sz="2400" b="1" dirty="0" smtClean="0">
                <a:cs typeface="+mn-cs"/>
              </a:rPr>
              <a:t>是事先规定的不再切割的剩余分区的大小，</a:t>
            </a:r>
            <a:r>
              <a:rPr lang="en-US" altLang="zh-CN" sz="2400" b="1" i="1" dirty="0" err="1" smtClean="0">
                <a:solidFill>
                  <a:srgbClr val="C00000"/>
                </a:solidFill>
                <a:cs typeface="+mn-cs"/>
              </a:rPr>
              <a:t>m.size-u.size</a:t>
            </a:r>
            <a:r>
              <a:rPr lang="zh-CN" altLang="en-US" sz="2400" b="1" i="1" dirty="0" smtClean="0">
                <a:solidFill>
                  <a:srgbClr val="C00000"/>
                </a:solidFill>
                <a:cs typeface="+mn-cs"/>
              </a:rPr>
              <a:t>≤</a:t>
            </a:r>
            <a:r>
              <a:rPr lang="en-US" altLang="zh-CN" sz="2400" b="1" i="1" dirty="0" smtClean="0">
                <a:solidFill>
                  <a:srgbClr val="C00000"/>
                </a:solidFill>
                <a:cs typeface="+mn-cs"/>
              </a:rPr>
              <a:t>size</a:t>
            </a:r>
            <a:r>
              <a:rPr lang="zh-CN" altLang="en-US" sz="2400" b="1" dirty="0" smtClean="0">
                <a:cs typeface="+mn-cs"/>
              </a:rPr>
              <a:t>，说明多余部分太小，不再分割，否则，从该分区中划分一部分空间给请求者。</a:t>
            </a:r>
            <a:endParaRPr lang="zh-CN" altLang="en-US" sz="2400" b="1" dirty="0" smtClean="0">
              <a:cs typeface="+mn-cs"/>
            </a:endParaRPr>
          </a:p>
          <a:p>
            <a:pPr lvl="1">
              <a:defRPr/>
            </a:pPr>
            <a:endParaRPr lang="zh-CN" altLang="en-US" dirty="0" smtClean="0">
              <a:cs typeface="+mn-cs"/>
            </a:endParaRPr>
          </a:p>
          <a:p>
            <a:pPr>
              <a:defRPr/>
            </a:pPr>
            <a:endParaRPr lang="zh-CN" altLang="en-US" b="1" dirty="0" smtClean="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ChangeArrowheads="1"/>
          </p:cNvSpPr>
          <p:nvPr/>
        </p:nvSpPr>
        <p:spPr bwMode="auto">
          <a:xfrm>
            <a:off x="1447800" y="152400"/>
            <a:ext cx="6248400" cy="6705600"/>
          </a:xfrm>
          <a:prstGeom prst="rect">
            <a:avLst/>
          </a:prstGeom>
          <a:solidFill>
            <a:srgbClr val="CCFFFF"/>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37891"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19275" y="304800"/>
            <a:ext cx="5722938"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rrowheads="1"/>
          </p:cNvSpPr>
          <p:nvPr>
            <p:ph type="title"/>
          </p:nvPr>
        </p:nvSpPr>
        <p:spPr>
          <a:xfrm>
            <a:off x="250825" y="609600"/>
            <a:ext cx="7772400" cy="914400"/>
          </a:xfrm>
        </p:spPr>
        <p:txBody>
          <a:bodyPr/>
          <a:lstStyle/>
          <a:p>
            <a:pPr algn="l" eaLnBrk="1" hangingPunct="1"/>
            <a:r>
              <a:rPr lang="zh-CN" altLang="en-US" sz="3200" b="1" smtClean="0">
                <a:solidFill>
                  <a:schemeClr val="folHlink"/>
                </a:solidFill>
              </a:rPr>
              <a:t>（</a:t>
            </a:r>
            <a:r>
              <a:rPr lang="en-US" altLang="zh-CN" sz="3200" b="1" smtClean="0">
                <a:solidFill>
                  <a:schemeClr val="folHlink"/>
                </a:solidFill>
              </a:rPr>
              <a:t>2</a:t>
            </a:r>
            <a:r>
              <a:rPr lang="zh-CN" altLang="en-US" sz="3200" b="1" smtClean="0">
                <a:solidFill>
                  <a:schemeClr val="folHlink"/>
                </a:solidFill>
              </a:rPr>
              <a:t>）分区回收</a:t>
            </a:r>
            <a:r>
              <a:rPr lang="zh-CN" altLang="en-US" b="1" smtClean="0">
                <a:solidFill>
                  <a:schemeClr val="folHlink"/>
                </a:solidFill>
              </a:rPr>
              <a:t> </a:t>
            </a:r>
            <a:endParaRPr lang="zh-CN" altLang="en-US" b="1" smtClean="0">
              <a:solidFill>
                <a:schemeClr val="folHlink"/>
              </a:solidFill>
            </a:endParaRPr>
          </a:p>
        </p:txBody>
      </p:sp>
      <p:sp>
        <p:nvSpPr>
          <p:cNvPr id="575491" name="Rectangle 3"/>
          <p:cNvSpPr>
            <a:spLocks noGrp="1" noRot="1" noChangeArrowheads="1"/>
          </p:cNvSpPr>
          <p:nvPr>
            <p:ph type="body" sz="half" idx="1"/>
          </p:nvPr>
        </p:nvSpPr>
        <p:spPr>
          <a:xfrm>
            <a:off x="468313" y="1524000"/>
            <a:ext cx="8066087" cy="2133600"/>
          </a:xfrm>
        </p:spPr>
        <p:txBody>
          <a:bodyPr/>
          <a:lstStyle/>
          <a:p>
            <a:pPr eaLnBrk="1" hangingPunct="1">
              <a:lnSpc>
                <a:spcPct val="110000"/>
              </a:lnSpc>
              <a:defRPr/>
            </a:pPr>
            <a:r>
              <a:rPr lang="zh-CN" altLang="en-US" sz="2400" b="1" dirty="0" smtClean="0"/>
              <a:t>当进程运行完毕释放内存时，需</a:t>
            </a:r>
            <a:r>
              <a:rPr lang="zh-CN" altLang="en-US" sz="2400" b="1" i="1" u="sng" dirty="0" smtClean="0">
                <a:solidFill>
                  <a:schemeClr val="folHlink"/>
                </a:solidFill>
                <a:effectLst>
                  <a:outerShdw blurRad="38100" dist="38100" dir="2700000" algn="tl">
                    <a:srgbClr val="000000"/>
                  </a:outerShdw>
                </a:effectLst>
              </a:rPr>
              <a:t>合并</a:t>
            </a:r>
            <a:r>
              <a:rPr lang="zh-CN" altLang="en-US" sz="2400" b="1" i="1" u="sng" dirty="0" smtClean="0">
                <a:solidFill>
                  <a:schemeClr val="folHlink"/>
                </a:solidFill>
              </a:rPr>
              <a:t>相邻的空闲分区</a:t>
            </a:r>
            <a:r>
              <a:rPr lang="zh-CN" altLang="en-US" sz="2400" b="1" dirty="0" smtClean="0"/>
              <a:t>，形成大的分区，称为合并技术。</a:t>
            </a:r>
            <a:endParaRPr lang="zh-CN" altLang="en-US" sz="2400" b="1" dirty="0" smtClean="0"/>
          </a:p>
          <a:p>
            <a:pPr eaLnBrk="1" hangingPunct="1">
              <a:lnSpc>
                <a:spcPct val="110000"/>
              </a:lnSpc>
              <a:defRPr/>
            </a:pPr>
            <a:r>
              <a:rPr lang="zh-CN" altLang="en-US" sz="2400" b="1" dirty="0" smtClean="0"/>
              <a:t>需要合并的情况有如下图所示的三种，不论哪种情况，只需修改相应的分区信息来完成合并即可。</a:t>
            </a:r>
            <a:endParaRPr lang="zh-CN" altLang="en-US" sz="2400" b="1" dirty="0" smtClean="0"/>
          </a:p>
        </p:txBody>
      </p:sp>
      <p:pic>
        <p:nvPicPr>
          <p:cNvPr id="38916" name="Picture 4" descr="未命名21"/>
          <p:cNvPicPr>
            <a:picLocks noGrp="1" noChangeAspect="1" noChangeArrowheads="1"/>
          </p:cNvPicPr>
          <p:nvPr>
            <p:ph sz="half" idx="2"/>
          </p:nvPr>
        </p:nvPicPr>
        <p:blipFill>
          <a:blip r:embed="rId1" cstate="print">
            <a:extLst>
              <a:ext uri="{28A0092B-C50C-407E-A947-70E740481C1C}">
                <a14:useLocalDpi xmlns:a14="http://schemas.microsoft.com/office/drawing/2010/main" val="0"/>
              </a:ext>
            </a:extLst>
          </a:blip>
          <a:srcRect/>
          <a:stretch>
            <a:fillRect/>
          </a:stretch>
        </p:blipFill>
        <p:spPr>
          <a:xfrm>
            <a:off x="1295400" y="3429000"/>
            <a:ext cx="6400800" cy="2792413"/>
          </a:xfrm>
          <a:noFill/>
        </p:spPr>
      </p:pic>
      <p:sp>
        <p:nvSpPr>
          <p:cNvPr id="38917" name="Text Box 5"/>
          <p:cNvSpPr txBox="1">
            <a:spLocks noChangeArrowheads="1"/>
          </p:cNvSpPr>
          <p:nvPr/>
        </p:nvSpPr>
        <p:spPr bwMode="auto">
          <a:xfrm>
            <a:off x="685800" y="6324600"/>
            <a:ext cx="845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t>回收分区前有空闲分区   回收分区后有空闲分区   回收分区前后都有空闲分区 </a:t>
            </a:r>
            <a:endParaRPr lang="zh-CN" altLang="en-US" b="1"/>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rrowheads="1"/>
          </p:cNvSpPr>
          <p:nvPr>
            <p:ph type="title"/>
          </p:nvPr>
        </p:nvSpPr>
        <p:spPr>
          <a:xfrm>
            <a:off x="533400" y="622300"/>
            <a:ext cx="7546975" cy="798513"/>
          </a:xfrm>
        </p:spPr>
        <p:txBody>
          <a:bodyPr/>
          <a:lstStyle/>
          <a:p>
            <a:pPr algn="l" eaLnBrk="1" hangingPunct="1"/>
            <a:r>
              <a:rPr lang="en-US" altLang="zh-CN" sz="3600" b="1" smtClean="0">
                <a:solidFill>
                  <a:schemeClr val="folHlink"/>
                </a:solidFill>
              </a:rPr>
              <a:t>4.3.4  </a:t>
            </a:r>
            <a:r>
              <a:rPr lang="zh-CN" altLang="en-US" sz="3600" b="1" smtClean="0">
                <a:solidFill>
                  <a:schemeClr val="folHlink"/>
                </a:solidFill>
              </a:rPr>
              <a:t>顺序搜索的动态分区分配算法</a:t>
            </a:r>
            <a:endParaRPr lang="zh-CN" altLang="en-US" sz="3600" smtClean="0">
              <a:solidFill>
                <a:schemeClr val="folHlink"/>
              </a:solidFill>
            </a:endParaRPr>
          </a:p>
        </p:txBody>
      </p:sp>
      <p:sp>
        <p:nvSpPr>
          <p:cNvPr id="571395" name="Rectangle 3"/>
          <p:cNvSpPr>
            <a:spLocks noGrp="1" noRot="1" noChangeArrowheads="1"/>
          </p:cNvSpPr>
          <p:nvPr>
            <p:ph type="body" idx="1"/>
          </p:nvPr>
        </p:nvSpPr>
        <p:spPr>
          <a:xfrm>
            <a:off x="323850" y="1754188"/>
            <a:ext cx="8286750" cy="4341812"/>
          </a:xfrm>
        </p:spPr>
        <p:txBody>
          <a:bodyPr/>
          <a:lstStyle/>
          <a:p>
            <a:pPr eaLnBrk="1" hangingPunct="1">
              <a:lnSpc>
                <a:spcPct val="110000"/>
              </a:lnSpc>
              <a:buFont typeface="Wingdings" panose="05000000000000000000" pitchFamily="2" charset="2"/>
              <a:buNone/>
              <a:defRPr/>
            </a:pPr>
            <a:r>
              <a:rPr lang="en-US" altLang="zh-CN" b="1" dirty="0" smtClean="0">
                <a:solidFill>
                  <a:schemeClr val="folHlink"/>
                </a:solidFill>
                <a:latin typeface="宋体" panose="02010600030101010101" pitchFamily="2" charset="-122"/>
              </a:rPr>
              <a:t>	①</a:t>
            </a:r>
            <a:r>
              <a:rPr lang="zh-CN" altLang="en-US" b="1" dirty="0" smtClean="0">
                <a:solidFill>
                  <a:schemeClr val="folHlink"/>
                </a:solidFill>
                <a:effectLst>
                  <a:outerShdw blurRad="38100" dist="38100" dir="2700000" algn="tl">
                    <a:srgbClr val="000000"/>
                  </a:outerShdw>
                </a:effectLst>
              </a:rPr>
              <a:t>首次匹配</a:t>
            </a:r>
            <a:r>
              <a:rPr lang="en-US" altLang="zh-CN" b="1" dirty="0" smtClean="0">
                <a:solidFill>
                  <a:schemeClr val="folHlink"/>
                </a:solidFill>
                <a:effectLst>
                  <a:outerShdw blurRad="38100" dist="38100" dir="2700000" algn="tl">
                    <a:srgbClr val="000000"/>
                  </a:outerShdw>
                </a:effectLst>
              </a:rPr>
              <a:t>(</a:t>
            </a:r>
            <a:r>
              <a:rPr lang="zh-CN" altLang="en-US" b="1" dirty="0" smtClean="0">
                <a:solidFill>
                  <a:schemeClr val="folHlink"/>
                </a:solidFill>
                <a:effectLst>
                  <a:outerShdw blurRad="38100" dist="38100" dir="2700000" algn="tl">
                    <a:srgbClr val="000000"/>
                  </a:outerShdw>
                </a:effectLst>
              </a:rPr>
              <a:t>首次适应算法</a:t>
            </a:r>
            <a:r>
              <a:rPr lang="en-US" altLang="zh-CN" b="1" dirty="0" smtClean="0">
                <a:solidFill>
                  <a:schemeClr val="folHlink"/>
                </a:solidFill>
                <a:effectLst>
                  <a:outerShdw blurRad="38100" dist="38100" dir="2700000" algn="tl">
                    <a:srgbClr val="000000"/>
                  </a:outerShdw>
                </a:effectLst>
              </a:rPr>
              <a:t>FF</a:t>
            </a:r>
            <a:r>
              <a:rPr lang="en-US" altLang="zh-CN" b="1" dirty="0" smtClean="0">
                <a:solidFill>
                  <a:schemeClr val="folHlink"/>
                </a:solidFill>
              </a:rPr>
              <a:t> )</a:t>
            </a:r>
            <a:r>
              <a:rPr lang="zh-CN" altLang="en-US" b="1" dirty="0" smtClean="0">
                <a:solidFill>
                  <a:schemeClr val="folHlink"/>
                </a:solidFill>
              </a:rPr>
              <a:t>：</a:t>
            </a:r>
            <a:r>
              <a:rPr lang="zh-CN" altLang="en-US" b="1" dirty="0" smtClean="0"/>
              <a:t>要求</a:t>
            </a:r>
            <a:r>
              <a:rPr lang="zh-CN" altLang="en-US" b="1" i="1" u="sng" dirty="0" smtClean="0">
                <a:solidFill>
                  <a:schemeClr val="folHlink"/>
                </a:solidFill>
              </a:rPr>
              <a:t>空闲分区链以地址递增的次序链接</a:t>
            </a:r>
            <a:r>
              <a:rPr lang="zh-CN" altLang="en-US" b="1" dirty="0" smtClean="0"/>
              <a:t>。在分配内存时，从链首开始顺序查找，直至找到一个大小能满足要求的空闲分区为止</a:t>
            </a:r>
            <a:r>
              <a:rPr lang="en-US" altLang="zh-CN" b="1" dirty="0" smtClean="0"/>
              <a:t>; </a:t>
            </a:r>
            <a:r>
              <a:rPr lang="zh-CN" altLang="en-US" b="1" dirty="0" smtClean="0"/>
              <a:t>然后再按照作业的大小，从该分区中划出一块空间分配给请求者，余下的空闲分区仍留在空闲链中。</a:t>
            </a:r>
            <a:endParaRPr lang="zh-CN" altLang="en-US" b="1" dirty="0" smtClean="0"/>
          </a:p>
          <a:p>
            <a:pPr eaLnBrk="1" hangingPunct="1">
              <a:lnSpc>
                <a:spcPct val="110000"/>
              </a:lnSpc>
              <a:buFont typeface="Wingdings" panose="05000000000000000000" pitchFamily="2" charset="2"/>
              <a:buNone/>
              <a:defRPr/>
            </a:pPr>
            <a:r>
              <a:rPr lang="zh-CN" altLang="en-US" b="1" dirty="0" smtClean="0">
                <a:solidFill>
                  <a:schemeClr val="folHlink"/>
                </a:solidFill>
                <a:effectLst>
                  <a:outerShdw blurRad="38100" dist="38100" dir="2700000" algn="tl">
                    <a:srgbClr val="000000"/>
                  </a:outerShdw>
                </a:effectLst>
              </a:rPr>
              <a:t>	</a:t>
            </a:r>
            <a:endParaRPr lang="zh-CN" altLang="en-US" b="1" dirty="0" smtClean="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eaLnBrk="1" hangingPunct="1">
              <a:lnSpc>
                <a:spcPct val="110000"/>
              </a:lnSpc>
              <a:buFont typeface="Wingdings" panose="05000000000000000000" pitchFamily="2" charset="2"/>
              <a:buNone/>
              <a:defRPr/>
            </a:pPr>
            <a:r>
              <a:rPr lang="en-US" altLang="zh-CN" b="1" dirty="0" smtClean="0">
                <a:solidFill>
                  <a:schemeClr val="folHlink"/>
                </a:solidFill>
                <a:effectLst>
                  <a:outerShdw blurRad="38100" dist="38100" dir="2700000" algn="tl">
                    <a:srgbClr val="000000"/>
                  </a:outerShdw>
                </a:effectLst>
              </a:rPr>
              <a:t>	</a:t>
            </a:r>
            <a:r>
              <a:rPr lang="zh-CN" altLang="en-US" b="1" dirty="0" smtClean="0">
                <a:solidFill>
                  <a:schemeClr val="folHlink"/>
                </a:solidFill>
                <a:effectLst>
                  <a:outerShdw blurRad="38100" dist="38100" dir="2700000" algn="tl">
                    <a:srgbClr val="000000"/>
                  </a:outerShdw>
                </a:effectLst>
              </a:rPr>
              <a:t>优点：</a:t>
            </a:r>
            <a:endParaRPr lang="en-US" altLang="zh-CN" b="1" dirty="0" smtClean="0">
              <a:solidFill>
                <a:schemeClr val="folHlink"/>
              </a:solidFill>
              <a:effectLst>
                <a:outerShdw blurRad="38100" dist="38100" dir="2700000" algn="tl">
                  <a:srgbClr val="000000"/>
                </a:outerShdw>
              </a:effectLst>
            </a:endParaRPr>
          </a:p>
          <a:p>
            <a:pPr eaLnBrk="1" hangingPunct="1">
              <a:lnSpc>
                <a:spcPct val="110000"/>
              </a:lnSpc>
              <a:buFont typeface="Wingdings" panose="05000000000000000000" pitchFamily="2" charset="2"/>
              <a:buNone/>
              <a:defRPr/>
            </a:pPr>
            <a:r>
              <a:rPr lang="en-US" altLang="zh-CN" b="1" dirty="0" smtClean="0">
                <a:solidFill>
                  <a:schemeClr val="folHlink"/>
                </a:solidFill>
                <a:effectLst>
                  <a:outerShdw blurRad="38100" dist="38100" dir="2700000" algn="tl">
                    <a:srgbClr val="000000"/>
                  </a:outerShdw>
                </a:effectLst>
              </a:rPr>
              <a:t>   </a:t>
            </a:r>
            <a:r>
              <a:rPr lang="zh-CN" altLang="en-US" b="1" dirty="0" smtClean="0">
                <a:effectLst>
                  <a:outerShdw blurRad="38100" dist="38100" dir="2700000" algn="tl">
                    <a:srgbClr val="000000"/>
                  </a:outerShdw>
                </a:effectLst>
              </a:rPr>
              <a:t>优先利用内存中的低地址部分的空闲分区，从而保留了高地址部分的大空闲区，因此</a:t>
            </a:r>
            <a:r>
              <a:rPr lang="zh-CN" altLang="en-US" b="1" dirty="0" smtClean="0"/>
              <a:t>为大作业分配大的内存空间创造了条件。</a:t>
            </a:r>
            <a:endParaRPr lang="en-US" altLang="zh-CN" b="1" dirty="0" smtClean="0"/>
          </a:p>
          <a:p>
            <a:pPr eaLnBrk="1" hangingPunct="1">
              <a:lnSpc>
                <a:spcPct val="110000"/>
              </a:lnSpc>
              <a:buFont typeface="Wingdings" panose="05000000000000000000" pitchFamily="2" charset="2"/>
              <a:buNone/>
              <a:defRPr/>
            </a:pPr>
            <a:r>
              <a:rPr lang="zh-CN" altLang="en-US" b="1" dirty="0" smtClean="0">
                <a:solidFill>
                  <a:schemeClr val="folHlink"/>
                </a:solidFill>
                <a:effectLst>
                  <a:outerShdw blurRad="38100" dist="38100" dir="2700000" algn="tl">
                    <a:srgbClr val="000000"/>
                  </a:outerShdw>
                </a:effectLst>
              </a:rPr>
              <a:t>缺点：</a:t>
            </a:r>
            <a:endParaRPr lang="en-US" altLang="zh-CN" b="1" dirty="0" smtClean="0">
              <a:solidFill>
                <a:schemeClr val="folHlink"/>
              </a:solidFill>
              <a:effectLst>
                <a:outerShdw blurRad="38100" dist="38100" dir="2700000" algn="tl">
                  <a:srgbClr val="000000"/>
                </a:outerShdw>
              </a:effectLst>
            </a:endParaRPr>
          </a:p>
          <a:p>
            <a:pPr eaLnBrk="1" hangingPunct="1">
              <a:lnSpc>
                <a:spcPct val="110000"/>
              </a:lnSpc>
              <a:buFont typeface="Wingdings" panose="05000000000000000000" pitchFamily="2" charset="2"/>
              <a:buNone/>
              <a:defRPr/>
            </a:pPr>
            <a:r>
              <a:rPr lang="zh-CN" altLang="en-US" b="1" dirty="0" smtClean="0"/>
              <a:t>   但是由于低址部分不断被划分，会留下许多难以利用的、很小的空闲分区。</a:t>
            </a:r>
            <a:endParaRPr lang="zh-CN" altLang="en-US" b="1" dirty="0" smtClean="0"/>
          </a:p>
          <a:p>
            <a:pPr>
              <a:defRPr/>
            </a:pPr>
            <a:endParaRPr lang="zh-CN" altLang="en-US" dirty="0"/>
          </a:p>
        </p:txBody>
      </p:sp>
      <p:sp>
        <p:nvSpPr>
          <p:cNvPr id="40963" name="标题 3"/>
          <p:cNvSpPr>
            <a:spLocks noGrp="1"/>
          </p:cNvSpPr>
          <p:nvPr>
            <p:ph type="title"/>
          </p:nvPr>
        </p:nvSpPr>
        <p:spPr/>
        <p:txBody>
          <a:bodyPr/>
          <a:lstStyle/>
          <a:p>
            <a:endParaRPr lang="zh-CN" altLang="en-US"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Rot="1" noChangeArrowheads="1"/>
          </p:cNvSpPr>
          <p:nvPr>
            <p:ph/>
          </p:nvPr>
        </p:nvSpPr>
        <p:spPr>
          <a:xfrm>
            <a:off x="228600" y="1544638"/>
            <a:ext cx="8458200" cy="4246562"/>
          </a:xfrm>
        </p:spPr>
        <p:txBody>
          <a:bodyPr/>
          <a:lstStyle/>
          <a:p>
            <a:pPr eaLnBrk="1" hangingPunct="1">
              <a:lnSpc>
                <a:spcPct val="110000"/>
              </a:lnSpc>
              <a:buFont typeface="Wingdings" panose="05000000000000000000" pitchFamily="2" charset="2"/>
              <a:buNone/>
              <a:defRPr/>
            </a:pPr>
            <a:r>
              <a:rPr lang="en-US" altLang="zh-CN" b="1" dirty="0" smtClean="0">
                <a:solidFill>
                  <a:schemeClr val="folHlink"/>
                </a:solidFill>
                <a:latin typeface="宋体" panose="02010600030101010101" pitchFamily="2" charset="-122"/>
              </a:rPr>
              <a:t>②</a:t>
            </a:r>
            <a:r>
              <a:rPr lang="zh-CN" altLang="en-US" b="1" dirty="0" smtClean="0">
                <a:solidFill>
                  <a:schemeClr val="folHlink"/>
                </a:solidFill>
                <a:effectLst>
                  <a:outerShdw blurRad="38100" dist="38100" dir="2700000" algn="tl">
                    <a:srgbClr val="000000"/>
                  </a:outerShdw>
                </a:effectLst>
              </a:rPr>
              <a:t>循环匹配</a:t>
            </a:r>
            <a:r>
              <a:rPr lang="en-US" altLang="zh-CN" b="1" dirty="0" smtClean="0">
                <a:solidFill>
                  <a:schemeClr val="folHlink"/>
                </a:solidFill>
                <a:effectLst>
                  <a:outerShdw blurRad="38100" dist="38100" dir="2700000" algn="tl">
                    <a:srgbClr val="000000"/>
                  </a:outerShdw>
                </a:effectLst>
              </a:rPr>
              <a:t>(</a:t>
            </a:r>
            <a:r>
              <a:rPr lang="zh-CN" altLang="en-US" b="1" dirty="0" smtClean="0">
                <a:solidFill>
                  <a:schemeClr val="folHlink"/>
                </a:solidFill>
                <a:effectLst>
                  <a:outerShdw blurRad="38100" dist="38100" dir="2700000" algn="tl">
                    <a:srgbClr val="000000"/>
                  </a:outerShdw>
                </a:effectLst>
              </a:rPr>
              <a:t>循环首次适应算法</a:t>
            </a:r>
            <a:r>
              <a:rPr lang="en-US" altLang="zh-CN" b="1" dirty="0" smtClean="0">
                <a:solidFill>
                  <a:schemeClr val="folHlink"/>
                </a:solidFill>
                <a:effectLst>
                  <a:outerShdw blurRad="38100" dist="38100" dir="2700000" algn="tl">
                    <a:srgbClr val="000000"/>
                  </a:outerShdw>
                </a:effectLst>
              </a:rPr>
              <a:t>)</a:t>
            </a:r>
            <a:r>
              <a:rPr lang="en-US" altLang="zh-CN" b="1" dirty="0" smtClean="0">
                <a:solidFill>
                  <a:schemeClr val="folHlink"/>
                </a:solidFill>
              </a:rPr>
              <a:t> :</a:t>
            </a:r>
            <a:r>
              <a:rPr lang="en-US" altLang="zh-CN" b="1" dirty="0" smtClean="0"/>
              <a:t>  </a:t>
            </a:r>
            <a:r>
              <a:rPr lang="zh-CN" altLang="en-US" b="1" dirty="0" smtClean="0"/>
              <a:t>将所有的空闲分区构成一个循环链表。每次查找时不是从头开始，而是从上次找到的空闲分区的下一个空闲分区开始查找，直到找到一个能满足要求的空闲分区，从而划出一块与请求大小相等的内存空间分配给作业。该算法由首次适应算法演变而来。</a:t>
            </a:r>
            <a:endParaRPr lang="zh-CN" altLang="en-US" b="1" dirty="0" smtClean="0"/>
          </a:p>
          <a:p>
            <a:pPr eaLnBrk="1" hangingPunct="1">
              <a:lnSpc>
                <a:spcPct val="110000"/>
              </a:lnSpc>
              <a:buFont typeface="Wingdings" panose="05000000000000000000" pitchFamily="2" charset="2"/>
              <a:buNone/>
              <a:defRPr/>
            </a:pPr>
            <a:endParaRPr lang="zh-CN" altLang="en-US" b="1" dirty="0" smtClean="0"/>
          </a:p>
          <a:p>
            <a:pPr eaLnBrk="1" hangingPunct="1">
              <a:lnSpc>
                <a:spcPct val="110000"/>
              </a:lnSpc>
              <a:buFont typeface="Wingdings" panose="05000000000000000000" pitchFamily="2" charset="2"/>
              <a:buNone/>
              <a:defRPr/>
            </a:pPr>
            <a:r>
              <a:rPr lang="zh-CN" altLang="en-US" b="1" dirty="0" smtClean="0">
                <a:solidFill>
                  <a:schemeClr val="folHlink"/>
                </a:solidFill>
                <a:effectLst>
                  <a:outerShdw blurRad="38100" dist="38100" dir="2700000" algn="tl">
                    <a:srgbClr val="000000"/>
                  </a:outerShdw>
                </a:effectLst>
              </a:rPr>
              <a:t>	</a:t>
            </a:r>
            <a:endParaRPr lang="zh-CN" altLang="en-US" b="1" dirty="0" smtClean="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endParaRPr lang="zh-CN" altLang="en-US" smtClean="0"/>
          </a:p>
        </p:txBody>
      </p:sp>
      <p:sp>
        <p:nvSpPr>
          <p:cNvPr id="3" name="内容占位符 2"/>
          <p:cNvSpPr>
            <a:spLocks noGrp="1"/>
          </p:cNvSpPr>
          <p:nvPr>
            <p:ph idx="1"/>
          </p:nvPr>
        </p:nvSpPr>
        <p:spPr/>
        <p:txBody>
          <a:bodyPr/>
          <a:lstStyle/>
          <a:p>
            <a:pPr>
              <a:defRPr/>
            </a:pPr>
            <a:r>
              <a:rPr lang="zh-CN" altLang="en-US" b="1" dirty="0" smtClean="0">
                <a:solidFill>
                  <a:schemeClr val="folHlink"/>
                </a:solidFill>
                <a:effectLst>
                  <a:outerShdw blurRad="38100" dist="38100" dir="2700000" algn="tl">
                    <a:srgbClr val="000000"/>
                  </a:outerShdw>
                </a:effectLst>
              </a:rPr>
              <a:t>优缺点：</a:t>
            </a:r>
            <a:r>
              <a:rPr lang="zh-CN" altLang="en-US" b="1" dirty="0" smtClean="0"/>
              <a:t>能使内存中的空闲分区分布得更均匀，从而减少了查找空闲分区时的开销，但这样会缺乏大的空闲分区。</a:t>
            </a:r>
            <a:endParaRPr lang="zh-CN" altLang="en-US" b="1" dirty="0" smtClean="0"/>
          </a:p>
          <a:p>
            <a:pPr>
              <a:defRPr/>
            </a:pPr>
            <a:endParaRPr lang="zh-CN" altLang="en-US"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Rot="1" noChangeArrowheads="1"/>
          </p:cNvSpPr>
          <p:nvPr>
            <p:ph/>
          </p:nvPr>
        </p:nvSpPr>
        <p:spPr>
          <a:xfrm>
            <a:off x="554038" y="838200"/>
            <a:ext cx="8132762" cy="4454525"/>
          </a:xfrm>
        </p:spPr>
        <p:txBody>
          <a:bodyPr/>
          <a:lstStyle/>
          <a:p>
            <a:pPr marL="0" indent="0" eaLnBrk="1" hangingPunct="1">
              <a:buFont typeface="Wingdings" panose="05000000000000000000" pitchFamily="2" charset="2"/>
              <a:buNone/>
              <a:defRPr/>
            </a:pPr>
            <a:r>
              <a:rPr lang="en-US" altLang="zh-CN" sz="3600" b="1" dirty="0" smtClean="0">
                <a:solidFill>
                  <a:schemeClr val="folHlink"/>
                </a:solidFill>
                <a:effectLst>
                  <a:outerShdw blurRad="38100" dist="38100" dir="2700000" algn="tl">
                    <a:srgbClr val="000000"/>
                  </a:outerShdw>
                </a:effectLst>
                <a:latin typeface="宋体" panose="02010600030101010101" pitchFamily="2" charset="-122"/>
              </a:rPr>
              <a:t>③</a:t>
            </a:r>
            <a:r>
              <a:rPr lang="zh-CN" altLang="en-US" sz="3600" b="1" dirty="0" smtClean="0">
                <a:solidFill>
                  <a:schemeClr val="folHlink"/>
                </a:solidFill>
                <a:effectLst>
                  <a:outerShdw blurRad="38100" dist="38100" dir="2700000" algn="tl">
                    <a:srgbClr val="000000"/>
                  </a:outerShdw>
                </a:effectLst>
              </a:rPr>
              <a:t>最佳匹配</a:t>
            </a:r>
            <a:r>
              <a:rPr lang="en-US" altLang="zh-CN" sz="3600" b="1" dirty="0" smtClean="0">
                <a:solidFill>
                  <a:schemeClr val="folHlink"/>
                </a:solidFill>
                <a:effectLst>
                  <a:outerShdw blurRad="38100" dist="38100" dir="2700000" algn="tl">
                    <a:srgbClr val="000000"/>
                  </a:outerShdw>
                </a:effectLst>
              </a:rPr>
              <a:t>(</a:t>
            </a:r>
            <a:r>
              <a:rPr lang="zh-CN" altLang="en-US" sz="3600" b="1" dirty="0" smtClean="0">
                <a:solidFill>
                  <a:schemeClr val="folHlink"/>
                </a:solidFill>
                <a:effectLst>
                  <a:outerShdw blurRad="38100" dist="38100" dir="2700000" algn="tl">
                    <a:srgbClr val="000000"/>
                  </a:outerShdw>
                </a:effectLst>
              </a:rPr>
              <a:t>最佳适应算法 </a:t>
            </a:r>
            <a:r>
              <a:rPr lang="en-US" altLang="zh-CN" sz="3600" b="1" dirty="0" smtClean="0">
                <a:solidFill>
                  <a:schemeClr val="folHlink"/>
                </a:solidFill>
                <a:effectLst>
                  <a:outerShdw blurRad="38100" dist="38100" dir="2700000" algn="tl">
                    <a:srgbClr val="000000"/>
                  </a:outerShdw>
                </a:effectLst>
              </a:rPr>
              <a:t>):</a:t>
            </a:r>
            <a:endParaRPr lang="en-US" altLang="zh-CN" sz="3600" b="1" dirty="0" smtClean="0">
              <a:solidFill>
                <a:schemeClr val="folHlink"/>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en-US" altLang="zh-CN" sz="2800" b="1" dirty="0" smtClean="0"/>
              <a:t>   </a:t>
            </a:r>
            <a:endParaRPr lang="en-US" altLang="zh-CN" sz="2800" b="1" dirty="0" smtClean="0"/>
          </a:p>
          <a:p>
            <a:pPr marL="0" indent="0" eaLnBrk="1" hangingPunct="1">
              <a:buFont typeface="Wingdings" panose="05000000000000000000" pitchFamily="2" charset="2"/>
              <a:buNone/>
              <a:defRPr/>
            </a:pPr>
            <a:r>
              <a:rPr lang="zh-CN" altLang="en-US" sz="2800" b="1" dirty="0" smtClean="0"/>
              <a:t>该算法要求将所有的空闲分区按其容量以</a:t>
            </a:r>
            <a:r>
              <a:rPr lang="zh-CN" altLang="en-US" sz="2800" b="1" i="1" u="sng" dirty="0" smtClean="0">
                <a:solidFill>
                  <a:schemeClr val="hlink"/>
                </a:solidFill>
              </a:rPr>
              <a:t>从小到大</a:t>
            </a:r>
            <a:r>
              <a:rPr lang="zh-CN" altLang="en-US" sz="2800" b="1" dirty="0" smtClean="0"/>
              <a:t>的顺序形成一空闲分区链。从头开始查找</a:t>
            </a:r>
            <a:r>
              <a:rPr lang="zh-CN" altLang="en-US" sz="2800" b="1" i="1" u="sng" dirty="0" smtClean="0">
                <a:solidFill>
                  <a:schemeClr val="folHlink"/>
                </a:solidFill>
              </a:rPr>
              <a:t>，将表中第一个大于所需求空间大小的空闲区分配给作业</a:t>
            </a:r>
            <a:r>
              <a:rPr lang="zh-CN" altLang="en-US" sz="2800" b="1" dirty="0" smtClean="0"/>
              <a:t>。</a:t>
            </a:r>
            <a:endParaRPr lang="zh-CN" altLang="en-US" sz="2800" b="1" dirty="0" smtClean="0"/>
          </a:p>
          <a:p>
            <a:pPr marL="0" indent="0" eaLnBrk="1" hangingPunct="1">
              <a:buFont typeface="Wingdings" panose="05000000000000000000" pitchFamily="2" charset="2"/>
              <a:buNone/>
              <a:defRPr/>
            </a:pPr>
            <a:endParaRPr lang="zh-CN" altLang="en-US" sz="2800" b="1" dirty="0" smtClean="0"/>
          </a:p>
          <a:p>
            <a:pPr marL="0" indent="0" eaLnBrk="1" hangingPunct="1">
              <a:buFont typeface="Wingdings" panose="05000000000000000000" pitchFamily="2" charset="2"/>
              <a:buNone/>
              <a:defRPr/>
            </a:pPr>
            <a:r>
              <a:rPr lang="zh-CN" altLang="en-US" sz="2800" b="1" dirty="0" smtClean="0">
                <a:solidFill>
                  <a:schemeClr val="folHlink"/>
                </a:solidFill>
                <a:effectLst>
                  <a:outerShdw blurRad="38100" dist="38100" dir="2700000" algn="tl">
                    <a:srgbClr val="000000"/>
                  </a:outerShdw>
                </a:effectLst>
              </a:rPr>
              <a:t>优点：</a:t>
            </a:r>
            <a:r>
              <a:rPr lang="zh-CN" altLang="en-US" sz="2800" b="1" dirty="0" smtClean="0"/>
              <a:t>为大作业分配大的内存空间创造了条件。</a:t>
            </a:r>
            <a:endParaRPr lang="zh-CN" altLang="en-US" sz="2800" b="1" dirty="0" smtClean="0"/>
          </a:p>
          <a:p>
            <a:pPr marL="0" indent="0" eaLnBrk="1" hangingPunct="1">
              <a:buFont typeface="Wingdings" panose="05000000000000000000" pitchFamily="2" charset="2"/>
              <a:buNone/>
              <a:defRPr/>
            </a:pPr>
            <a:r>
              <a:rPr lang="zh-CN" altLang="en-US" sz="2800" b="1" dirty="0" smtClean="0">
                <a:solidFill>
                  <a:schemeClr val="folHlink"/>
                </a:solidFill>
              </a:rPr>
              <a:t>缺点：</a:t>
            </a:r>
            <a:r>
              <a:rPr lang="zh-CN" altLang="en-US" sz="2800" b="1" dirty="0" smtClean="0"/>
              <a:t>每次分配后所切割下来的剩余部分总是最小的，这样，在存储器中会留下许多难以利用的小空闲区。 </a:t>
            </a:r>
            <a:endParaRPr lang="zh-CN" altLang="en-US" sz="2800" b="1" dirty="0" smtClean="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42" name="Rectangle 2"/>
          <p:cNvSpPr>
            <a:spLocks noGrp="1" noRot="1" noChangeArrowheads="1"/>
          </p:cNvSpPr>
          <p:nvPr>
            <p:ph idx="4294967295"/>
          </p:nvPr>
        </p:nvSpPr>
        <p:spPr>
          <a:xfrm>
            <a:off x="381000" y="914400"/>
            <a:ext cx="8229600" cy="4454525"/>
          </a:xfrm>
        </p:spPr>
        <p:txBody>
          <a:bodyPr/>
          <a:lstStyle/>
          <a:p>
            <a:pPr marL="609600" indent="-609600" eaLnBrk="1" hangingPunct="1">
              <a:buSzTx/>
              <a:buFont typeface="Wingdings" panose="05000000000000000000" pitchFamily="2" charset="2"/>
              <a:buAutoNum type="circleNumDbPlain" startAt="4"/>
              <a:defRPr/>
            </a:pPr>
            <a:r>
              <a:rPr lang="zh-CN" altLang="zh-CN" sz="3600" b="1" dirty="0" smtClean="0">
                <a:solidFill>
                  <a:schemeClr val="folHlink"/>
                </a:solidFill>
              </a:rPr>
              <a:t>最坏</a:t>
            </a:r>
            <a:r>
              <a:rPr lang="zh-CN" altLang="en-US" sz="3600" b="1" dirty="0" smtClean="0">
                <a:solidFill>
                  <a:schemeClr val="folHlink"/>
                </a:solidFill>
                <a:effectLst>
                  <a:outerShdw blurRad="38100" dist="38100" dir="2700000" algn="tl">
                    <a:srgbClr val="000000"/>
                  </a:outerShdw>
                </a:effectLst>
              </a:rPr>
              <a:t>适应算法 </a:t>
            </a:r>
            <a:r>
              <a:rPr lang="en-US" altLang="zh-CN" sz="3600" b="1" dirty="0" smtClean="0">
                <a:solidFill>
                  <a:schemeClr val="folHlink"/>
                </a:solidFill>
                <a:effectLst>
                  <a:outerShdw blurRad="38100" dist="38100" dir="2700000" algn="tl">
                    <a:srgbClr val="000000"/>
                  </a:outerShdw>
                </a:effectLst>
              </a:rPr>
              <a:t>:</a:t>
            </a:r>
            <a:endParaRPr lang="en-US" altLang="zh-CN" sz="3600" b="1" dirty="0" smtClean="0">
              <a:solidFill>
                <a:schemeClr val="folHlink"/>
              </a:solidFill>
              <a:effectLst>
                <a:outerShdw blurRad="38100" dist="38100" dir="2700000" algn="tl">
                  <a:srgbClr val="000000"/>
                </a:outerShdw>
              </a:effectLst>
            </a:endParaRPr>
          </a:p>
          <a:p>
            <a:pPr marL="609600" indent="-609600" eaLnBrk="1" hangingPunct="1">
              <a:buFont typeface="Wingdings" panose="05000000000000000000" pitchFamily="2" charset="2"/>
              <a:buNone/>
              <a:defRPr/>
            </a:pPr>
            <a:r>
              <a:rPr lang="en-US" altLang="zh-CN" b="1" dirty="0" smtClean="0"/>
              <a:t>   </a:t>
            </a:r>
            <a:r>
              <a:rPr lang="zh-CN" altLang="en-US" b="1" dirty="0" smtClean="0"/>
              <a:t>该算法要求将所有的空闲分区按其容量以</a:t>
            </a:r>
            <a:r>
              <a:rPr lang="zh-CN" altLang="en-US" b="1" i="1" u="sng" dirty="0" smtClean="0">
                <a:solidFill>
                  <a:schemeClr val="hlink"/>
                </a:solidFill>
              </a:rPr>
              <a:t>从大到小</a:t>
            </a:r>
            <a:r>
              <a:rPr lang="zh-CN" altLang="en-US" b="1" dirty="0" smtClean="0"/>
              <a:t>的顺序形成一空闲分区链。从头开始查找</a:t>
            </a:r>
            <a:r>
              <a:rPr lang="zh-CN" altLang="en-US" b="1" i="1" u="sng" dirty="0" smtClean="0">
                <a:solidFill>
                  <a:schemeClr val="folHlink"/>
                </a:solidFill>
              </a:rPr>
              <a:t>，总是挑选一个最大的空闲分区分配给作业。</a:t>
            </a:r>
            <a:endParaRPr lang="zh-CN" altLang="en-US" b="1" i="1" u="sng" dirty="0" smtClean="0">
              <a:solidFill>
                <a:schemeClr val="folHlink"/>
              </a:solidFill>
            </a:endParaRPr>
          </a:p>
          <a:p>
            <a:pPr marL="609600" indent="-609600" eaLnBrk="1" hangingPunct="1">
              <a:buFont typeface="Wingdings" panose="05000000000000000000" pitchFamily="2" charset="2"/>
              <a:buNone/>
              <a:defRPr/>
            </a:pPr>
            <a:endParaRPr lang="zh-CN" altLang="en-US" b="1" i="1" u="sng" dirty="0" smtClean="0">
              <a:solidFill>
                <a:schemeClr val="folHlink"/>
              </a:solidFill>
            </a:endParaRPr>
          </a:p>
          <a:p>
            <a:pPr marL="609600" indent="-609600">
              <a:defRPr/>
            </a:pPr>
            <a:r>
              <a:rPr lang="zh-CN" altLang="en-US" b="1" dirty="0" smtClean="0">
                <a:solidFill>
                  <a:schemeClr val="folHlink"/>
                </a:solidFill>
                <a:effectLst>
                  <a:outerShdw blurRad="38100" dist="38100" dir="2700000" algn="tl">
                    <a:srgbClr val="000000"/>
                  </a:outerShdw>
                </a:effectLst>
              </a:rPr>
              <a:t>优点：</a:t>
            </a:r>
            <a:r>
              <a:rPr lang="zh-CN" altLang="en-US" b="1" dirty="0" smtClean="0"/>
              <a:t>产生碎片的几率最小，对中、小作业有利，同时最坏适应分配算法查找效率很高。</a:t>
            </a:r>
            <a:endParaRPr lang="zh-CN" altLang="en-US" b="1" dirty="0" smtClean="0"/>
          </a:p>
          <a:p>
            <a:pPr marL="609600" indent="-609600">
              <a:defRPr/>
            </a:pPr>
            <a:r>
              <a:rPr lang="zh-CN" altLang="en-US" b="1" dirty="0" smtClean="0">
                <a:solidFill>
                  <a:schemeClr val="folHlink"/>
                </a:solidFill>
              </a:rPr>
              <a:t>缺点：</a:t>
            </a:r>
            <a:r>
              <a:rPr lang="zh-CN" altLang="en-US" b="1" dirty="0" smtClean="0"/>
              <a:t>使存储器中缺乏大的空闲分区。</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3442">
                                            <p:txEl>
                                              <p:pRg st="0" end="0"/>
                                            </p:txEl>
                                          </p:spTgt>
                                        </p:tgtEl>
                                        <p:attrNameLst>
                                          <p:attrName>style.visibility</p:attrName>
                                        </p:attrNameLst>
                                      </p:cBhvr>
                                      <p:to>
                                        <p:strVal val="visible"/>
                                      </p:to>
                                    </p:set>
                                    <p:animEffect transition="in" filter="fade">
                                      <p:cBhvr>
                                        <p:cTn id="7" dur="2000"/>
                                        <p:tgtEl>
                                          <p:spTgt spid="5734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3442">
                                            <p:txEl>
                                              <p:pRg st="1" end="1"/>
                                            </p:txEl>
                                          </p:spTgt>
                                        </p:tgtEl>
                                        <p:attrNameLst>
                                          <p:attrName>style.visibility</p:attrName>
                                        </p:attrNameLst>
                                      </p:cBhvr>
                                      <p:to>
                                        <p:strVal val="visible"/>
                                      </p:to>
                                    </p:set>
                                    <p:animEffect transition="in" filter="fade">
                                      <p:cBhvr>
                                        <p:cTn id="12" dur="2000"/>
                                        <p:tgtEl>
                                          <p:spTgt spid="5734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73442">
                                            <p:txEl>
                                              <p:pRg st="3" end="3"/>
                                            </p:txEl>
                                          </p:spTgt>
                                        </p:tgtEl>
                                        <p:attrNameLst>
                                          <p:attrName>style.visibility</p:attrName>
                                        </p:attrNameLst>
                                      </p:cBhvr>
                                      <p:to>
                                        <p:strVal val="visible"/>
                                      </p:to>
                                    </p:set>
                                    <p:animEffect transition="in" filter="fade">
                                      <p:cBhvr>
                                        <p:cTn id="17" dur="2000"/>
                                        <p:tgtEl>
                                          <p:spTgt spid="57344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73442">
                                            <p:txEl>
                                              <p:pRg st="4" end="4"/>
                                            </p:txEl>
                                          </p:spTgt>
                                        </p:tgtEl>
                                        <p:attrNameLst>
                                          <p:attrName>style.visibility</p:attrName>
                                        </p:attrNameLst>
                                      </p:cBhvr>
                                      <p:to>
                                        <p:strVal val="visible"/>
                                      </p:to>
                                    </p:set>
                                    <p:animEffect transition="in" filter="fade">
                                      <p:cBhvr>
                                        <p:cTn id="22" dur="2000"/>
                                        <p:tgtEl>
                                          <p:spTgt spid="5734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sz="4000" b="1" smtClean="0"/>
              <a:t>基于顺序搜索的分区分配算法小结</a:t>
            </a:r>
            <a:endParaRPr lang="zh-CN" altLang="en-US" sz="4000" b="1" smtClean="0"/>
          </a:p>
        </p:txBody>
      </p:sp>
      <p:sp>
        <p:nvSpPr>
          <p:cNvPr id="46083" name="内容占位符 2"/>
          <p:cNvSpPr>
            <a:spLocks noGrp="1"/>
          </p:cNvSpPr>
          <p:nvPr>
            <p:ph idx="1"/>
          </p:nvPr>
        </p:nvSpPr>
        <p:spPr/>
        <p:txBody>
          <a:bodyPr/>
          <a:lstStyle/>
          <a:p>
            <a:r>
              <a:rPr lang="zh-CN" altLang="en-US" smtClean="0"/>
              <a:t>优点：</a:t>
            </a:r>
            <a:endParaRPr lang="en-US" altLang="zh-CN" smtClean="0"/>
          </a:p>
          <a:p>
            <a:pPr lvl="1"/>
            <a:r>
              <a:rPr lang="zh-CN" altLang="en-US" smtClean="0"/>
              <a:t>简单，易于实现。</a:t>
            </a:r>
            <a:endParaRPr lang="en-US" altLang="zh-CN" smtClean="0"/>
          </a:p>
          <a:p>
            <a:r>
              <a:rPr lang="zh-CN" altLang="en-US" smtClean="0"/>
              <a:t>缺点：</a:t>
            </a:r>
            <a:endParaRPr lang="en-US" altLang="zh-CN" smtClean="0"/>
          </a:p>
          <a:p>
            <a:pPr lvl="1"/>
            <a:r>
              <a:rPr lang="zh-CN" altLang="en-US" smtClean="0"/>
              <a:t>不太适合大的系统，因为空闲分区链表可能很长，因此查找效率会很低。</a:t>
            </a:r>
            <a:endParaRPr lang="en-US" altLang="zh-CN" smtClean="0"/>
          </a:p>
          <a:p>
            <a:pPr lvl="1">
              <a:buFont typeface="Wingdings" panose="05000000000000000000" pitchFamily="2" charset="2"/>
              <a:buNone/>
            </a:pPr>
            <a:endParaRPr lang="zh-CN" altLang="en-US" smtClean="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a:xfrm>
            <a:off x="304800" y="457200"/>
            <a:ext cx="8305800" cy="1066800"/>
          </a:xfrm>
          <a:noFill/>
        </p:spPr>
        <p:txBody>
          <a:bodyPr/>
          <a:lstStyle/>
          <a:p>
            <a:pPr marL="838200" indent="-838200" algn="l"/>
            <a:r>
              <a:rPr lang="en-US" altLang="zh-CN" sz="3600" b="1" smtClean="0">
                <a:solidFill>
                  <a:schemeClr val="folHlink"/>
                </a:solidFill>
              </a:rPr>
              <a:t>4.3.5 </a:t>
            </a:r>
            <a:r>
              <a:rPr lang="zh-CN" altLang="en-US" sz="3600" b="1" smtClean="0">
                <a:solidFill>
                  <a:schemeClr val="folHlink"/>
                </a:solidFill>
              </a:rPr>
              <a:t>基于索引搜索的动态分区分配算法</a:t>
            </a:r>
            <a:endParaRPr lang="zh-CN" altLang="en-US" sz="3600" b="1" smtClean="0">
              <a:solidFill>
                <a:schemeClr val="folHlink"/>
              </a:solidFill>
            </a:endParaRPr>
          </a:p>
        </p:txBody>
      </p:sp>
      <p:sp>
        <p:nvSpPr>
          <p:cNvPr id="47107" name="Rectangle 3"/>
          <p:cNvSpPr>
            <a:spLocks noGrp="1" noRot="1" noChangeArrowheads="1"/>
          </p:cNvSpPr>
          <p:nvPr>
            <p:ph type="body" idx="1"/>
          </p:nvPr>
        </p:nvSpPr>
        <p:spPr>
          <a:xfrm>
            <a:off x="533400" y="1752600"/>
            <a:ext cx="8077200" cy="4319588"/>
          </a:xfrm>
        </p:spPr>
        <p:txBody>
          <a:bodyPr/>
          <a:lstStyle/>
          <a:p>
            <a:pPr>
              <a:lnSpc>
                <a:spcPct val="90000"/>
              </a:lnSpc>
            </a:pPr>
            <a:r>
              <a:rPr lang="en-US" altLang="zh-CN" b="1" smtClean="0">
                <a:solidFill>
                  <a:schemeClr val="folHlink"/>
                </a:solidFill>
              </a:rPr>
              <a:t>1. </a:t>
            </a:r>
            <a:r>
              <a:rPr lang="zh-CN" altLang="en-US" b="1" smtClean="0">
                <a:solidFill>
                  <a:schemeClr val="folHlink"/>
                </a:solidFill>
              </a:rPr>
              <a:t>快速适应算法</a:t>
            </a:r>
            <a:endParaRPr lang="en-US" altLang="zh-CN" b="1" smtClean="0">
              <a:solidFill>
                <a:schemeClr val="folHlink"/>
              </a:solidFill>
            </a:endParaRPr>
          </a:p>
          <a:p>
            <a:pPr>
              <a:lnSpc>
                <a:spcPct val="90000"/>
              </a:lnSpc>
            </a:pPr>
            <a:r>
              <a:rPr lang="zh-CN" altLang="en-US" sz="2800" b="1" smtClean="0"/>
              <a:t>将空闲分区根据其容量大小进行分类，对于每一类具有</a:t>
            </a:r>
            <a:r>
              <a:rPr lang="zh-CN" altLang="en-US" sz="2800" b="1" i="1" smtClean="0">
                <a:solidFill>
                  <a:srgbClr val="FF0000"/>
                </a:solidFill>
              </a:rPr>
              <a:t>相同容量</a:t>
            </a:r>
            <a:r>
              <a:rPr lang="zh-CN" altLang="en-US" sz="2800" b="1" smtClean="0"/>
              <a:t>的所有空闲分区，单独设立一个空闲分区链表。</a:t>
            </a:r>
            <a:endParaRPr lang="zh-CN" altLang="en-US" sz="2800" b="1" smtClean="0"/>
          </a:p>
          <a:p>
            <a:pPr>
              <a:lnSpc>
                <a:spcPct val="90000"/>
              </a:lnSpc>
            </a:pPr>
            <a:r>
              <a:rPr lang="zh-CN" altLang="en-US" sz="2800" b="1" smtClean="0"/>
              <a:t>这样，系统中存在</a:t>
            </a:r>
            <a:r>
              <a:rPr lang="zh-CN" altLang="en-US" sz="2800" b="1" i="1" u="sng" smtClean="0">
                <a:solidFill>
                  <a:schemeClr val="folHlink"/>
                </a:solidFill>
              </a:rPr>
              <a:t>多个空闲分区链表</a:t>
            </a:r>
            <a:r>
              <a:rPr lang="zh-CN" altLang="en-US" sz="2800" b="1" smtClean="0"/>
              <a:t>；</a:t>
            </a:r>
            <a:endParaRPr lang="zh-CN" altLang="en-US" sz="2800" b="1" smtClean="0"/>
          </a:p>
          <a:p>
            <a:pPr>
              <a:lnSpc>
                <a:spcPct val="90000"/>
              </a:lnSpc>
            </a:pPr>
            <a:r>
              <a:rPr lang="zh-CN" altLang="en-US" sz="2800" b="1" smtClean="0"/>
              <a:t>同时，在内存中设立</a:t>
            </a:r>
            <a:r>
              <a:rPr lang="zh-CN" altLang="en-US" sz="2800" b="1" i="1" u="sng" smtClean="0">
                <a:solidFill>
                  <a:schemeClr val="folHlink"/>
                </a:solidFill>
              </a:rPr>
              <a:t>一张管理</a:t>
            </a:r>
            <a:r>
              <a:rPr lang="zh-CN" altLang="en-US" sz="2800" b="1" smtClean="0"/>
              <a:t>分区类型，并记录了该类型空闲分区链表表头</a:t>
            </a:r>
            <a:r>
              <a:rPr lang="zh-CN" altLang="en-US" sz="2800" b="1" i="1" u="sng" smtClean="0">
                <a:solidFill>
                  <a:schemeClr val="folHlink"/>
                </a:solidFill>
              </a:rPr>
              <a:t>索引表</a:t>
            </a:r>
            <a:r>
              <a:rPr lang="zh-CN" altLang="en-US" sz="2800" b="1" smtClean="0"/>
              <a:t>，该表的每一个表项对应了一种空闲分区类型。</a:t>
            </a:r>
            <a:endParaRPr lang="zh-CN" altLang="en-US" sz="2800" b="1" smtClean="0"/>
          </a:p>
          <a:p>
            <a:pPr>
              <a:lnSpc>
                <a:spcPct val="90000"/>
              </a:lnSpc>
            </a:pPr>
            <a:endParaRPr lang="zh-CN" altLang="en-US" sz="2800" b="1" smtClean="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p:cNvSpPr>
          <p:nvPr>
            <p:ph idx="1"/>
          </p:nvPr>
        </p:nvSpPr>
        <p:spPr>
          <a:xfrm>
            <a:off x="301625" y="1143000"/>
            <a:ext cx="8540750" cy="4498975"/>
          </a:xfrm>
        </p:spPr>
        <p:txBody>
          <a:bodyPr/>
          <a:lstStyle/>
          <a:p>
            <a:r>
              <a:rPr lang="zh-CN" altLang="en-US" b="1" smtClean="0">
                <a:solidFill>
                  <a:schemeClr val="folHlink"/>
                </a:solidFill>
              </a:rPr>
              <a:t>空闲分区类型：</a:t>
            </a:r>
            <a:endParaRPr lang="en-US" altLang="zh-CN" b="1" smtClean="0">
              <a:solidFill>
                <a:schemeClr val="folHlink"/>
              </a:solidFill>
            </a:endParaRPr>
          </a:p>
          <a:p>
            <a:pPr lvl="1"/>
            <a:r>
              <a:rPr lang="zh-CN" altLang="en-US" b="1" smtClean="0"/>
              <a:t>按照进程常用的空间大小进行划分，如</a:t>
            </a:r>
            <a:r>
              <a:rPr lang="en-US" altLang="zh-CN" b="1" smtClean="0"/>
              <a:t>2K</a:t>
            </a:r>
            <a:r>
              <a:rPr lang="zh-CN" altLang="en-US" b="1" smtClean="0"/>
              <a:t>、</a:t>
            </a:r>
            <a:r>
              <a:rPr lang="en-US" altLang="zh-CN" b="1" smtClean="0"/>
              <a:t>4K</a:t>
            </a:r>
            <a:r>
              <a:rPr lang="zh-CN" altLang="en-US" b="1" smtClean="0"/>
              <a:t>、</a:t>
            </a:r>
            <a:r>
              <a:rPr lang="en-US" altLang="zh-CN" b="1" smtClean="0"/>
              <a:t>8K</a:t>
            </a:r>
            <a:r>
              <a:rPr lang="zh-CN" altLang="en-US" b="1" smtClean="0"/>
              <a:t>。</a:t>
            </a:r>
            <a:endParaRPr lang="en-US" altLang="zh-CN" b="1" smtClean="0"/>
          </a:p>
          <a:p>
            <a:pPr lvl="1"/>
            <a:endParaRPr lang="en-US" altLang="zh-CN" b="1" smtClean="0"/>
          </a:p>
          <a:p>
            <a:r>
              <a:rPr lang="zh-CN" altLang="en-US" b="1" smtClean="0">
                <a:solidFill>
                  <a:schemeClr val="folHlink"/>
                </a:solidFill>
              </a:rPr>
              <a:t>分配过程：</a:t>
            </a:r>
            <a:endParaRPr lang="en-US" altLang="zh-CN" b="1" smtClean="0">
              <a:solidFill>
                <a:schemeClr val="folHlink"/>
              </a:solidFill>
            </a:endParaRPr>
          </a:p>
          <a:p>
            <a:pPr lvl="1"/>
            <a:r>
              <a:rPr lang="zh-CN" altLang="en-US" b="1" smtClean="0"/>
              <a:t>第一步，根据进程的长度，从索引表中寻找到能容纳它的最小空闲区链表，</a:t>
            </a:r>
            <a:endParaRPr lang="en-US" altLang="zh-CN" b="1" smtClean="0"/>
          </a:p>
          <a:p>
            <a:pPr lvl="1"/>
            <a:r>
              <a:rPr lang="zh-CN" altLang="en-US" b="1" smtClean="0"/>
              <a:t>第二部，从链表中取下第一块进行分配即可。</a:t>
            </a:r>
            <a:endParaRPr lang="zh-CN" altLang="en-US" b="1" smtClean="0"/>
          </a:p>
          <a:p>
            <a:endParaRPr lang="zh-CN" altLang="en-US" smtClean="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Rot="1" noChangeArrowheads="1"/>
          </p:cNvSpPr>
          <p:nvPr>
            <p:ph type="body" idx="1"/>
          </p:nvPr>
        </p:nvSpPr>
        <p:spPr>
          <a:xfrm>
            <a:off x="609600" y="787400"/>
            <a:ext cx="8077200" cy="4498975"/>
          </a:xfrm>
        </p:spPr>
        <p:txBody>
          <a:bodyPr/>
          <a:lstStyle/>
          <a:p>
            <a:r>
              <a:rPr lang="zh-CN" altLang="en-US" sz="3600" b="1" smtClean="0">
                <a:solidFill>
                  <a:schemeClr val="folHlink"/>
                </a:solidFill>
              </a:rPr>
              <a:t>优点：</a:t>
            </a:r>
            <a:endParaRPr lang="zh-CN" altLang="en-US" sz="3600" b="1" smtClean="0">
              <a:solidFill>
                <a:schemeClr val="folHlink"/>
              </a:solidFill>
            </a:endParaRPr>
          </a:p>
          <a:p>
            <a:endParaRPr lang="zh-CN" altLang="en-US" sz="3600" b="1" smtClean="0">
              <a:solidFill>
                <a:schemeClr val="folHlink"/>
              </a:solidFill>
            </a:endParaRPr>
          </a:p>
          <a:p>
            <a:r>
              <a:rPr lang="en-US" altLang="zh-CN" b="1" smtClean="0"/>
              <a:t>1.</a:t>
            </a:r>
            <a:r>
              <a:rPr lang="zh-CN" altLang="en-US" b="1" smtClean="0"/>
              <a:t>查找效率高。</a:t>
            </a:r>
            <a:endParaRPr lang="zh-CN" altLang="en-US" b="1" smtClean="0"/>
          </a:p>
          <a:p>
            <a:r>
              <a:rPr lang="en-US" altLang="zh-CN" b="1" smtClean="0"/>
              <a:t>2.</a:t>
            </a:r>
            <a:r>
              <a:rPr lang="zh-CN" altLang="en-US" b="1" smtClean="0"/>
              <a:t>该算法在进行空闲分区分配时，不会对任何分区产生分割，所以能保留大的分区，满足对大空间的需求，也不会产生内存碎片。</a:t>
            </a:r>
            <a:endParaRPr lang="zh-CN" altLang="en-US" b="1" smtClean="0"/>
          </a:p>
          <a:p>
            <a:endParaRPr lang="en-US" altLang="zh-CN" b="1" smtClean="0"/>
          </a:p>
          <a:p>
            <a:endParaRPr lang="zh-CN" altLang="en-US" smtClean="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Rot="1" noChangeArrowheads="1"/>
          </p:cNvSpPr>
          <p:nvPr>
            <p:ph type="body" idx="1"/>
          </p:nvPr>
        </p:nvSpPr>
        <p:spPr>
          <a:xfrm>
            <a:off x="533400" y="762000"/>
            <a:ext cx="8077200" cy="4498975"/>
          </a:xfrm>
        </p:spPr>
        <p:txBody>
          <a:bodyPr/>
          <a:lstStyle/>
          <a:p>
            <a:pPr>
              <a:lnSpc>
                <a:spcPct val="90000"/>
              </a:lnSpc>
            </a:pPr>
            <a:r>
              <a:rPr lang="zh-CN" altLang="en-US" sz="3600" b="1" smtClean="0">
                <a:solidFill>
                  <a:schemeClr val="folHlink"/>
                </a:solidFill>
              </a:rPr>
              <a:t>缺点：</a:t>
            </a:r>
            <a:endParaRPr lang="zh-CN" altLang="en-US" sz="3600" b="1" smtClean="0">
              <a:solidFill>
                <a:schemeClr val="folHlink"/>
              </a:solidFill>
            </a:endParaRPr>
          </a:p>
          <a:p>
            <a:pPr>
              <a:lnSpc>
                <a:spcPct val="90000"/>
              </a:lnSpc>
            </a:pPr>
            <a:endParaRPr lang="zh-CN" altLang="en-US" sz="3600" b="1" u="sng" smtClean="0">
              <a:solidFill>
                <a:schemeClr val="folHlink"/>
              </a:solidFill>
            </a:endParaRPr>
          </a:p>
          <a:p>
            <a:pPr>
              <a:lnSpc>
                <a:spcPct val="90000"/>
              </a:lnSpc>
            </a:pPr>
            <a:r>
              <a:rPr lang="en-US" altLang="zh-CN" b="1" smtClean="0"/>
              <a:t>1.</a:t>
            </a:r>
            <a:r>
              <a:rPr lang="zh-CN" altLang="en-US" b="1" smtClean="0"/>
              <a:t>在分区归还主存时算法复杂，系统开销较大。</a:t>
            </a:r>
            <a:endParaRPr lang="zh-CN" altLang="en-US" b="1" smtClean="0"/>
          </a:p>
          <a:p>
            <a:pPr>
              <a:lnSpc>
                <a:spcPct val="90000"/>
              </a:lnSpc>
            </a:pPr>
            <a:r>
              <a:rPr lang="en-US" altLang="zh-CN" b="1" smtClean="0"/>
              <a:t>2.</a:t>
            </a:r>
            <a:r>
              <a:rPr lang="zh-CN" altLang="en-US" b="1" smtClean="0"/>
              <a:t>该算法在分配空闲分区时是以进程为单位，一个分区只属于一个进程，因此在为进程所分配的一个分区中，或多或少地存在一定的浪费。空闲分区划分越细，浪费则越严重。</a:t>
            </a:r>
            <a:endParaRPr lang="zh-CN" altLang="en-US" b="1" smtClean="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a:xfrm>
            <a:off x="606425" y="515938"/>
            <a:ext cx="7915275" cy="889000"/>
          </a:xfrm>
        </p:spPr>
        <p:txBody>
          <a:bodyPr/>
          <a:lstStyle/>
          <a:p>
            <a:pPr eaLnBrk="1" hangingPunct="1"/>
            <a:r>
              <a:rPr lang="en-US" altLang="zh-CN" sz="3600" b="1" smtClean="0">
                <a:solidFill>
                  <a:schemeClr val="folHlink"/>
                </a:solidFill>
              </a:rPr>
              <a:t>2. </a:t>
            </a:r>
            <a:r>
              <a:rPr lang="zh-CN" altLang="en-US" sz="3600" b="1" smtClean="0">
                <a:solidFill>
                  <a:schemeClr val="folHlink"/>
                </a:solidFill>
              </a:rPr>
              <a:t>伙伴系统</a:t>
            </a:r>
            <a:endParaRPr lang="zh-CN" altLang="en-US" sz="3600" b="1" smtClean="0">
              <a:solidFill>
                <a:schemeClr val="folHlink"/>
              </a:solidFill>
            </a:endParaRPr>
          </a:p>
        </p:txBody>
      </p:sp>
      <p:sp>
        <p:nvSpPr>
          <p:cNvPr id="51203" name="Rectangle 3"/>
          <p:cNvSpPr>
            <a:spLocks noGrp="1" noRot="1" noChangeArrowheads="1"/>
          </p:cNvSpPr>
          <p:nvPr>
            <p:ph type="body" idx="1"/>
          </p:nvPr>
        </p:nvSpPr>
        <p:spPr>
          <a:xfrm>
            <a:off x="533400" y="1676400"/>
            <a:ext cx="8001000" cy="4953000"/>
          </a:xfrm>
        </p:spPr>
        <p:txBody>
          <a:bodyPr/>
          <a:lstStyle/>
          <a:p>
            <a:pPr eaLnBrk="1" hangingPunct="1">
              <a:lnSpc>
                <a:spcPct val="110000"/>
              </a:lnSpc>
              <a:spcBef>
                <a:spcPct val="0"/>
              </a:spcBef>
            </a:pPr>
            <a:r>
              <a:rPr lang="zh-CN" altLang="en-US" b="1" smtClean="0">
                <a:solidFill>
                  <a:schemeClr val="folHlink"/>
                </a:solidFill>
              </a:rPr>
              <a:t>伙伴系统是一种不需要紧凑的动态分区算法。</a:t>
            </a:r>
            <a:endParaRPr lang="zh-CN" altLang="en-US" b="1" smtClean="0">
              <a:solidFill>
                <a:schemeClr val="folHlink"/>
              </a:solidFill>
            </a:endParaRPr>
          </a:p>
          <a:p>
            <a:pPr eaLnBrk="1" hangingPunct="1">
              <a:lnSpc>
                <a:spcPct val="110000"/>
              </a:lnSpc>
            </a:pPr>
            <a:r>
              <a:rPr lang="zh-CN" altLang="en-US" b="1" smtClean="0"/>
              <a:t>伙伴系统是内存块管理机制，采用二进制数的方式来分配和回收空间。</a:t>
            </a:r>
            <a:endParaRPr lang="en-US" altLang="zh-CN" b="1" smtClean="0"/>
          </a:p>
          <a:p>
            <a:pPr eaLnBrk="1" hangingPunct="1">
              <a:lnSpc>
                <a:spcPct val="110000"/>
              </a:lnSpc>
            </a:pPr>
            <a:r>
              <a:rPr lang="zh-CN" altLang="en-US" b="1" smtClean="0"/>
              <a:t>提高回收空间时合并空闲分区的速度，</a:t>
            </a:r>
            <a:r>
              <a:rPr lang="en-US" altLang="zh-CN" b="1" smtClean="0"/>
              <a:t>Linux</a:t>
            </a:r>
            <a:r>
              <a:rPr lang="zh-CN" altLang="en-US" b="1" smtClean="0"/>
              <a:t>操作系统使用该算法分配和回收页面块。</a:t>
            </a:r>
            <a:endParaRPr lang="zh-CN" altLang="en-US" b="1" smtClean="0"/>
          </a:p>
          <a:p>
            <a:pPr eaLnBrk="1" hangingPunct="1">
              <a:lnSpc>
                <a:spcPct val="110000"/>
              </a:lnSpc>
            </a:pPr>
            <a:endParaRPr lang="en-US" altLang="zh-CN" b="1" smtClean="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a:xfrm>
            <a:off x="533400" y="457200"/>
            <a:ext cx="8077200" cy="768350"/>
          </a:xfrm>
        </p:spPr>
        <p:txBody>
          <a:bodyPr/>
          <a:lstStyle/>
          <a:p>
            <a:pPr eaLnBrk="1" hangingPunct="1"/>
            <a:r>
              <a:rPr lang="en-US" altLang="zh-CN" b="1" smtClean="0">
                <a:solidFill>
                  <a:schemeClr val="folHlink"/>
                </a:solidFill>
                <a:latin typeface="仿宋_GB2312" pitchFamily="49" charset="-122"/>
                <a:ea typeface="仿宋_GB2312" pitchFamily="49" charset="-122"/>
              </a:rPr>
              <a:t>Linux</a:t>
            </a:r>
            <a:r>
              <a:rPr lang="zh-CN" altLang="en-US" b="1" smtClean="0">
                <a:solidFill>
                  <a:schemeClr val="folHlink"/>
                </a:solidFill>
                <a:latin typeface="仿宋_GB2312" pitchFamily="49" charset="-122"/>
                <a:ea typeface="仿宋_GB2312" pitchFamily="49" charset="-122"/>
              </a:rPr>
              <a:t>内存管理</a:t>
            </a:r>
            <a:endParaRPr lang="zh-CN" altLang="en-US" b="1" smtClean="0">
              <a:solidFill>
                <a:schemeClr val="folHlink"/>
              </a:solidFill>
              <a:latin typeface="仿宋_GB2312" pitchFamily="49" charset="-122"/>
              <a:ea typeface="仿宋_GB2312" pitchFamily="49" charset="-122"/>
            </a:endParaRPr>
          </a:p>
        </p:txBody>
      </p:sp>
      <p:sp>
        <p:nvSpPr>
          <p:cNvPr id="52227" name="Rectangle 3"/>
          <p:cNvSpPr>
            <a:spLocks noGrp="1" noRot="1" noChangeArrowheads="1"/>
          </p:cNvSpPr>
          <p:nvPr>
            <p:ph type="body" idx="1"/>
          </p:nvPr>
        </p:nvSpPr>
        <p:spPr>
          <a:xfrm>
            <a:off x="152400" y="1524000"/>
            <a:ext cx="8540750" cy="5068888"/>
          </a:xfrm>
        </p:spPr>
        <p:txBody>
          <a:bodyPr/>
          <a:lstStyle/>
          <a:p>
            <a:pPr eaLnBrk="1" hangingPunct="1">
              <a:buClr>
                <a:srgbClr val="2012D6"/>
              </a:buClr>
              <a:buFont typeface="Wingdings" panose="05000000000000000000" pitchFamily="2" charset="2"/>
              <a:buChar char="Ø"/>
            </a:pPr>
            <a:r>
              <a:rPr lang="en-US" altLang="zh-CN" sz="2800" b="1" smtClean="0">
                <a:latin typeface="仿宋_GB2312" pitchFamily="49" charset="-122"/>
                <a:ea typeface="仿宋_GB2312" pitchFamily="49" charset="-122"/>
              </a:rPr>
              <a:t>Linux</a:t>
            </a:r>
            <a:r>
              <a:rPr lang="zh-CN" altLang="en-US" sz="2800" b="1" smtClean="0">
                <a:latin typeface="仿宋_GB2312" pitchFamily="49" charset="-122"/>
                <a:ea typeface="仿宋_GB2312" pitchFamily="49" charset="-122"/>
              </a:rPr>
              <a:t>采用多种内存分配策略，</a:t>
            </a:r>
            <a:r>
              <a:rPr lang="en-US" altLang="zh-CN" sz="2800" b="1" smtClean="0">
                <a:latin typeface="仿宋_GB2312" pitchFamily="49" charset="-122"/>
                <a:ea typeface="仿宋_GB2312" pitchFamily="49" charset="-122"/>
              </a:rPr>
              <a:t>2.4</a:t>
            </a:r>
            <a:r>
              <a:rPr lang="zh-CN" altLang="en-US" sz="2800" b="1" smtClean="0">
                <a:latin typeface="仿宋_GB2312" pitchFamily="49" charset="-122"/>
                <a:ea typeface="仿宋_GB2312" pitchFamily="49" charset="-122"/>
              </a:rPr>
              <a:t>版采用伙伴系统，原理：</a:t>
            </a:r>
            <a:endParaRPr lang="zh-CN" altLang="en-US" sz="2800" b="1" smtClean="0">
              <a:latin typeface="仿宋_GB2312" pitchFamily="49" charset="-122"/>
              <a:ea typeface="仿宋_GB2312" pitchFamily="49" charset="-122"/>
            </a:endParaRPr>
          </a:p>
          <a:p>
            <a:pPr lvl="1" eaLnBrk="1" hangingPunct="1">
              <a:buClr>
                <a:srgbClr val="0066FF"/>
              </a:buClr>
              <a:buFontTx/>
              <a:buChar char="•"/>
            </a:pPr>
            <a:r>
              <a:rPr lang="zh-CN" altLang="en-US" sz="2400" b="1" smtClean="0">
                <a:latin typeface="仿宋_GB2312" pitchFamily="49" charset="-122"/>
                <a:ea typeface="仿宋_GB2312" pitchFamily="49" charset="-122"/>
              </a:rPr>
              <a:t>把所有的空闲页面块分为</a:t>
            </a:r>
            <a:r>
              <a:rPr lang="en-US" altLang="zh-CN" sz="2400" b="1" smtClean="0">
                <a:latin typeface="仿宋_GB2312" pitchFamily="49" charset="-122"/>
                <a:ea typeface="仿宋_GB2312" pitchFamily="49" charset="-122"/>
              </a:rPr>
              <a:t>10</a:t>
            </a:r>
            <a:r>
              <a:rPr lang="zh-CN" altLang="en-US" sz="2400" b="1" smtClean="0">
                <a:latin typeface="仿宋_GB2312" pitchFamily="49" charset="-122"/>
                <a:ea typeface="仿宋_GB2312" pitchFamily="49" charset="-122"/>
              </a:rPr>
              <a:t>个块组，每组中块的大小为</a:t>
            </a:r>
            <a:r>
              <a:rPr lang="en-US" altLang="zh-CN" sz="2400" b="1" smtClean="0">
                <a:latin typeface="仿宋_GB2312" pitchFamily="49" charset="-122"/>
                <a:ea typeface="仿宋_GB2312" pitchFamily="49" charset="-122"/>
              </a:rPr>
              <a:t>2</a:t>
            </a:r>
            <a:r>
              <a:rPr lang="zh-CN" altLang="en-US" sz="2400" b="1" smtClean="0">
                <a:latin typeface="仿宋_GB2312" pitchFamily="49" charset="-122"/>
                <a:ea typeface="仿宋_GB2312" pitchFamily="49" charset="-122"/>
              </a:rPr>
              <a:t>的</a:t>
            </a:r>
            <a:r>
              <a:rPr lang="en-US" altLang="zh-CN" sz="2400" b="1" smtClean="0">
                <a:latin typeface="仿宋_GB2312" pitchFamily="49" charset="-122"/>
                <a:ea typeface="仿宋_GB2312" pitchFamily="49" charset="-122"/>
              </a:rPr>
              <a:t>n</a:t>
            </a:r>
            <a:r>
              <a:rPr lang="zh-CN" altLang="en-US" sz="2400" b="1" smtClean="0">
                <a:latin typeface="仿宋_GB2312" pitchFamily="49" charset="-122"/>
                <a:ea typeface="仿宋_GB2312" pitchFamily="49" charset="-122"/>
              </a:rPr>
              <a:t>幂次，如：</a:t>
            </a:r>
            <a:endParaRPr lang="zh-CN" altLang="en-US" sz="2400" b="1" smtClean="0">
              <a:latin typeface="仿宋_GB2312" pitchFamily="49" charset="-122"/>
              <a:ea typeface="仿宋_GB2312" pitchFamily="49" charset="-122"/>
            </a:endParaRPr>
          </a:p>
          <a:p>
            <a:pPr lvl="2" eaLnBrk="1" hangingPunct="1">
              <a:buClr>
                <a:srgbClr val="0066FF"/>
              </a:buClr>
              <a:buFontTx/>
              <a:buChar char="•"/>
            </a:pPr>
            <a:r>
              <a:rPr lang="zh-CN" altLang="en-US" sz="2000" b="1" smtClean="0">
                <a:latin typeface="仿宋_GB2312" pitchFamily="49" charset="-122"/>
                <a:ea typeface="仿宋_GB2312" pitchFamily="49" charset="-122"/>
              </a:rPr>
              <a:t>第</a:t>
            </a:r>
            <a:r>
              <a:rPr lang="en-US" altLang="zh-CN" sz="2000" b="1" smtClean="0">
                <a:latin typeface="仿宋_GB2312" pitchFamily="49" charset="-122"/>
                <a:ea typeface="仿宋_GB2312" pitchFamily="49" charset="-122"/>
              </a:rPr>
              <a:t>0</a:t>
            </a:r>
            <a:r>
              <a:rPr lang="zh-CN" altLang="en-US" sz="2000" b="1" smtClean="0">
                <a:latin typeface="仿宋_GB2312" pitchFamily="49" charset="-122"/>
                <a:ea typeface="仿宋_GB2312" pitchFamily="49" charset="-122"/>
              </a:rPr>
              <a:t>组块大小 </a:t>
            </a:r>
            <a:r>
              <a:rPr lang="en-US" altLang="zh-CN" sz="2000" b="1" smtClean="0">
                <a:latin typeface="仿宋_GB2312" pitchFamily="49" charset="-122"/>
                <a:ea typeface="仿宋_GB2312" pitchFamily="49" charset="-122"/>
              </a:rPr>
              <a:t>2</a:t>
            </a:r>
            <a:r>
              <a:rPr lang="en-US" altLang="zh-CN" sz="2000" b="1" baseline="30000" smtClean="0">
                <a:latin typeface="仿宋_GB2312" pitchFamily="49" charset="-122"/>
                <a:ea typeface="仿宋_GB2312" pitchFamily="49" charset="-122"/>
              </a:rPr>
              <a:t>0</a:t>
            </a:r>
            <a:r>
              <a:rPr lang="en-US" altLang="zh-CN" sz="2000" b="1" smtClean="0">
                <a:latin typeface="仿宋_GB2312" pitchFamily="49" charset="-122"/>
                <a:ea typeface="仿宋_GB2312" pitchFamily="49" charset="-122"/>
              </a:rPr>
              <a:t>=1</a:t>
            </a:r>
            <a:r>
              <a:rPr lang="zh-CN" altLang="en-US" sz="2000" b="1" smtClean="0">
                <a:latin typeface="仿宋_GB2312" pitchFamily="49" charset="-122"/>
                <a:ea typeface="仿宋_GB2312" pitchFamily="49" charset="-122"/>
              </a:rPr>
              <a:t>页</a:t>
            </a:r>
            <a:endParaRPr lang="zh-CN" altLang="en-US" sz="2000" b="1" smtClean="0">
              <a:latin typeface="仿宋_GB2312" pitchFamily="49" charset="-122"/>
              <a:ea typeface="仿宋_GB2312" pitchFamily="49" charset="-122"/>
            </a:endParaRPr>
          </a:p>
          <a:p>
            <a:pPr lvl="2" eaLnBrk="1" hangingPunct="1">
              <a:buClr>
                <a:srgbClr val="0066FF"/>
              </a:buClr>
              <a:buFontTx/>
              <a:buChar char="•"/>
            </a:pPr>
            <a:r>
              <a:rPr lang="zh-CN" altLang="en-US" sz="2000" b="1" smtClean="0">
                <a:latin typeface="仿宋_GB2312" pitchFamily="49" charset="-122"/>
                <a:ea typeface="仿宋_GB2312" pitchFamily="49" charset="-122"/>
              </a:rPr>
              <a:t>第</a:t>
            </a:r>
            <a:r>
              <a:rPr lang="en-US" altLang="zh-CN" sz="2000" b="1" smtClean="0">
                <a:latin typeface="仿宋_GB2312" pitchFamily="49" charset="-122"/>
                <a:ea typeface="仿宋_GB2312" pitchFamily="49" charset="-122"/>
              </a:rPr>
              <a:t>1</a:t>
            </a:r>
            <a:r>
              <a:rPr lang="zh-CN" altLang="en-US" sz="2000" b="1" smtClean="0">
                <a:latin typeface="仿宋_GB2312" pitchFamily="49" charset="-122"/>
                <a:ea typeface="仿宋_GB2312" pitchFamily="49" charset="-122"/>
              </a:rPr>
              <a:t>组块大小 </a:t>
            </a:r>
            <a:r>
              <a:rPr lang="en-US" altLang="zh-CN" sz="2000" b="1" smtClean="0">
                <a:latin typeface="仿宋_GB2312" pitchFamily="49" charset="-122"/>
                <a:ea typeface="仿宋_GB2312" pitchFamily="49" charset="-122"/>
              </a:rPr>
              <a:t>2</a:t>
            </a:r>
            <a:r>
              <a:rPr lang="en-US" altLang="zh-CN" sz="2000" b="1" baseline="30000" smtClean="0">
                <a:latin typeface="仿宋_GB2312" pitchFamily="49" charset="-122"/>
                <a:ea typeface="仿宋_GB2312" pitchFamily="49" charset="-122"/>
              </a:rPr>
              <a:t>1</a:t>
            </a:r>
            <a:r>
              <a:rPr lang="en-US" altLang="zh-CN" sz="2000" b="1" smtClean="0">
                <a:latin typeface="仿宋_GB2312" pitchFamily="49" charset="-122"/>
                <a:ea typeface="仿宋_GB2312" pitchFamily="49" charset="-122"/>
              </a:rPr>
              <a:t>=2</a:t>
            </a:r>
            <a:r>
              <a:rPr lang="zh-CN" altLang="en-US" sz="2000" b="1" smtClean="0">
                <a:latin typeface="仿宋_GB2312" pitchFamily="49" charset="-122"/>
                <a:ea typeface="仿宋_GB2312" pitchFamily="49" charset="-122"/>
              </a:rPr>
              <a:t>页</a:t>
            </a:r>
            <a:endParaRPr lang="zh-CN" altLang="en-US" sz="2000" b="1" smtClean="0">
              <a:latin typeface="仿宋_GB2312" pitchFamily="49" charset="-122"/>
              <a:ea typeface="仿宋_GB2312" pitchFamily="49" charset="-122"/>
            </a:endParaRPr>
          </a:p>
          <a:p>
            <a:pPr lvl="2" eaLnBrk="1" hangingPunct="1">
              <a:buClr>
                <a:srgbClr val="0066FF"/>
              </a:buClr>
              <a:buFontTx/>
              <a:buChar char="•"/>
            </a:pPr>
            <a:r>
              <a:rPr lang="zh-CN" altLang="en-US" sz="2000" b="1" smtClean="0">
                <a:latin typeface="仿宋_GB2312" pitchFamily="49" charset="-122"/>
                <a:ea typeface="仿宋_GB2312" pitchFamily="49" charset="-122"/>
              </a:rPr>
              <a:t>第</a:t>
            </a:r>
            <a:r>
              <a:rPr lang="en-US" altLang="zh-CN" sz="2000" b="1" smtClean="0">
                <a:latin typeface="仿宋_GB2312" pitchFamily="49" charset="-122"/>
                <a:ea typeface="仿宋_GB2312" pitchFamily="49" charset="-122"/>
              </a:rPr>
              <a:t>2</a:t>
            </a:r>
            <a:r>
              <a:rPr lang="zh-CN" altLang="en-US" sz="2000" b="1" smtClean="0">
                <a:latin typeface="仿宋_GB2312" pitchFamily="49" charset="-122"/>
                <a:ea typeface="仿宋_GB2312" pitchFamily="49" charset="-122"/>
              </a:rPr>
              <a:t>组块大小 </a:t>
            </a:r>
            <a:r>
              <a:rPr lang="en-US" altLang="zh-CN" sz="2000" b="1" smtClean="0">
                <a:latin typeface="仿宋_GB2312" pitchFamily="49" charset="-122"/>
                <a:ea typeface="仿宋_GB2312" pitchFamily="49" charset="-122"/>
              </a:rPr>
              <a:t>2</a:t>
            </a:r>
            <a:r>
              <a:rPr lang="en-US" altLang="zh-CN" sz="2000" b="1" baseline="30000" smtClean="0">
                <a:latin typeface="仿宋_GB2312" pitchFamily="49" charset="-122"/>
                <a:ea typeface="仿宋_GB2312" pitchFamily="49" charset="-122"/>
              </a:rPr>
              <a:t>2</a:t>
            </a:r>
            <a:r>
              <a:rPr lang="en-US" altLang="zh-CN" sz="2000" b="1" smtClean="0">
                <a:latin typeface="仿宋_GB2312" pitchFamily="49" charset="-122"/>
                <a:ea typeface="仿宋_GB2312" pitchFamily="49" charset="-122"/>
              </a:rPr>
              <a:t>=4</a:t>
            </a:r>
            <a:r>
              <a:rPr lang="zh-CN" altLang="en-US" sz="2000" b="1" smtClean="0">
                <a:latin typeface="仿宋_GB2312" pitchFamily="49" charset="-122"/>
                <a:ea typeface="仿宋_GB2312" pitchFamily="49" charset="-122"/>
              </a:rPr>
              <a:t>页</a:t>
            </a:r>
            <a:r>
              <a:rPr lang="en-US" altLang="zh-CN" sz="2000" b="1" smtClean="0">
                <a:ea typeface="仿宋_GB2312" pitchFamily="49" charset="-122"/>
              </a:rPr>
              <a:t>…</a:t>
            </a:r>
            <a:r>
              <a:rPr lang="en-US" altLang="zh-CN" sz="2000" b="1" smtClean="0">
                <a:latin typeface="仿宋_GB2312" pitchFamily="49" charset="-122"/>
                <a:ea typeface="仿宋_GB2312" pitchFamily="49" charset="-122"/>
              </a:rPr>
              <a:t>.</a:t>
            </a:r>
            <a:endParaRPr lang="en-US" altLang="zh-CN" sz="2000" b="1" smtClean="0">
              <a:latin typeface="仿宋_GB2312" pitchFamily="49" charset="-122"/>
              <a:ea typeface="仿宋_GB2312" pitchFamily="49" charset="-122"/>
            </a:endParaRPr>
          </a:p>
          <a:p>
            <a:pPr lvl="2" eaLnBrk="1" hangingPunct="1">
              <a:buClr>
                <a:srgbClr val="0066FF"/>
              </a:buClr>
              <a:buFontTx/>
              <a:buChar char="•"/>
            </a:pPr>
            <a:r>
              <a:rPr lang="zh-CN" altLang="en-US" sz="2000" b="1" smtClean="0">
                <a:latin typeface="仿宋_GB2312" pitchFamily="49" charset="-122"/>
                <a:ea typeface="仿宋_GB2312" pitchFamily="49" charset="-122"/>
              </a:rPr>
              <a:t>第</a:t>
            </a:r>
            <a:r>
              <a:rPr lang="en-US" altLang="zh-CN" sz="2000" b="1" smtClean="0">
                <a:latin typeface="仿宋_GB2312" pitchFamily="49" charset="-122"/>
                <a:ea typeface="仿宋_GB2312" pitchFamily="49" charset="-122"/>
              </a:rPr>
              <a:t>10</a:t>
            </a:r>
            <a:r>
              <a:rPr lang="zh-CN" altLang="en-US" sz="2000" b="1" smtClean="0">
                <a:latin typeface="仿宋_GB2312" pitchFamily="49" charset="-122"/>
                <a:ea typeface="仿宋_GB2312" pitchFamily="49" charset="-122"/>
              </a:rPr>
              <a:t>组块大小 </a:t>
            </a:r>
            <a:r>
              <a:rPr lang="en-US" altLang="zh-CN" sz="2000" b="1" smtClean="0">
                <a:latin typeface="仿宋_GB2312" pitchFamily="49" charset="-122"/>
                <a:ea typeface="仿宋_GB2312" pitchFamily="49" charset="-122"/>
              </a:rPr>
              <a:t>2</a:t>
            </a:r>
            <a:r>
              <a:rPr lang="en-US" altLang="zh-CN" sz="2000" b="1" baseline="30000" smtClean="0">
                <a:latin typeface="仿宋_GB2312" pitchFamily="49" charset="-122"/>
                <a:ea typeface="仿宋_GB2312" pitchFamily="49" charset="-122"/>
              </a:rPr>
              <a:t>9</a:t>
            </a:r>
            <a:r>
              <a:rPr lang="en-US" altLang="zh-CN" sz="2000" b="1" smtClean="0">
                <a:latin typeface="仿宋_GB2312" pitchFamily="49" charset="-122"/>
                <a:ea typeface="仿宋_GB2312" pitchFamily="49" charset="-122"/>
              </a:rPr>
              <a:t>=512</a:t>
            </a:r>
            <a:r>
              <a:rPr lang="zh-CN" altLang="en-US" sz="2000" b="1" smtClean="0">
                <a:latin typeface="仿宋_GB2312" pitchFamily="49" charset="-122"/>
                <a:ea typeface="仿宋_GB2312" pitchFamily="49" charset="-122"/>
              </a:rPr>
              <a:t>页</a:t>
            </a:r>
            <a:endParaRPr lang="zh-CN" altLang="en-US" sz="2000" b="1" smtClean="0">
              <a:latin typeface="仿宋_GB2312" pitchFamily="49" charset="-122"/>
              <a:ea typeface="仿宋_GB2312" pitchFamily="49" charset="-122"/>
            </a:endParaRPr>
          </a:p>
          <a:p>
            <a:pPr lvl="1" eaLnBrk="1" hangingPunct="1">
              <a:buClr>
                <a:srgbClr val="0066FF"/>
              </a:buClr>
              <a:buFontTx/>
              <a:buChar char="•"/>
            </a:pPr>
            <a:r>
              <a:rPr lang="zh-CN" altLang="en-US" sz="2400" b="1" smtClean="0">
                <a:latin typeface="仿宋_GB2312" pitchFamily="49" charset="-122"/>
                <a:ea typeface="仿宋_GB2312" pitchFamily="49" charset="-122"/>
              </a:rPr>
              <a:t>将相同大小的块组织成一个队列。并用位图表示该队列是否有空闲块，如果有则为</a:t>
            </a:r>
            <a:r>
              <a:rPr lang="en-US" altLang="zh-CN" sz="2400" b="1" smtClean="0">
                <a:latin typeface="仿宋_GB2312" pitchFamily="49" charset="-122"/>
                <a:ea typeface="仿宋_GB2312" pitchFamily="49" charset="-122"/>
              </a:rPr>
              <a:t>1</a:t>
            </a:r>
            <a:r>
              <a:rPr lang="zh-CN" altLang="en-US" sz="2400" b="1" smtClean="0">
                <a:latin typeface="仿宋_GB2312" pitchFamily="49" charset="-122"/>
                <a:ea typeface="仿宋_GB2312" pitchFamily="49" charset="-122"/>
              </a:rPr>
              <a:t>；否则为</a:t>
            </a:r>
            <a:r>
              <a:rPr lang="en-US" altLang="zh-CN" sz="2400" b="1" smtClean="0">
                <a:latin typeface="仿宋_GB2312" pitchFamily="49" charset="-122"/>
                <a:ea typeface="仿宋_GB2312" pitchFamily="49" charset="-122"/>
              </a:rPr>
              <a:t>0</a:t>
            </a:r>
            <a:r>
              <a:rPr lang="zh-CN" altLang="en-US" sz="2400" b="1" smtClean="0">
                <a:latin typeface="仿宋_GB2312" pitchFamily="49" charset="-122"/>
                <a:ea typeface="仿宋_GB2312" pitchFamily="49" charset="-122"/>
              </a:rPr>
              <a:t>。</a:t>
            </a:r>
            <a:endParaRPr lang="zh-CN" altLang="en-US" sz="2400" b="1" smtClean="0">
              <a:latin typeface="仿宋_GB2312" pitchFamily="49" charset="-122"/>
              <a:ea typeface="仿宋_GB2312" pitchFamily="49" charset="-122"/>
            </a:endParaRPr>
          </a:p>
          <a:p>
            <a:pPr lvl="1" eaLnBrk="1" hangingPunct="1">
              <a:buClr>
                <a:srgbClr val="0066FF"/>
              </a:buClr>
              <a:buFontTx/>
              <a:buChar char="•"/>
            </a:pPr>
            <a:r>
              <a:rPr lang="zh-CN" altLang="en-US" sz="2400" b="1" smtClean="0">
                <a:latin typeface="仿宋_GB2312" pitchFamily="49" charset="-122"/>
                <a:ea typeface="仿宋_GB2312" pitchFamily="49" charset="-122"/>
              </a:rPr>
              <a:t>将多个队列组织成一个表，设置位图数组存放每个队列的位图。</a:t>
            </a:r>
            <a:endParaRPr lang="zh-CN" altLang="en-US" sz="2400" b="1" smtClean="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Rot="1" noChangeArrowheads="1"/>
          </p:cNvSpPr>
          <p:nvPr>
            <p:ph type="title"/>
          </p:nvPr>
        </p:nvSpPr>
        <p:spPr>
          <a:xfrm>
            <a:off x="301625" y="76200"/>
            <a:ext cx="8540750" cy="792163"/>
          </a:xfrm>
        </p:spPr>
        <p:txBody>
          <a:bodyPr/>
          <a:lstStyle/>
          <a:p>
            <a:pPr eaLnBrk="1" hangingPunct="1"/>
            <a:r>
              <a:rPr lang="en-US" altLang="zh-CN" smtClean="0">
                <a:solidFill>
                  <a:schemeClr val="folHlink"/>
                </a:solidFill>
                <a:latin typeface="仿宋_GB2312" pitchFamily="49" charset="-122"/>
                <a:ea typeface="仿宋_GB2312" pitchFamily="49" charset="-122"/>
              </a:rPr>
              <a:t>Linux</a:t>
            </a:r>
            <a:r>
              <a:rPr lang="zh-CN" altLang="en-US" smtClean="0">
                <a:solidFill>
                  <a:schemeClr val="folHlink"/>
                </a:solidFill>
              </a:rPr>
              <a:t>内存管理结构</a:t>
            </a:r>
            <a:endParaRPr lang="zh-CN" altLang="en-US" smtClean="0">
              <a:solidFill>
                <a:schemeClr val="folHlink"/>
              </a:solidFill>
            </a:endParaRPr>
          </a:p>
        </p:txBody>
      </p:sp>
      <p:sp>
        <p:nvSpPr>
          <p:cNvPr id="5124" name="Rectangle 8"/>
          <p:cNvSpPr>
            <a:spLocks noChangeArrowheads="1"/>
          </p:cNvSpPr>
          <p:nvPr/>
        </p:nvSpPr>
        <p:spPr bwMode="auto">
          <a:xfrm>
            <a:off x="0" y="1066800"/>
            <a:ext cx="9144000" cy="5715000"/>
          </a:xfrm>
          <a:prstGeom prst="rect">
            <a:avLst/>
          </a:prstGeom>
          <a:solidFill>
            <a:srgbClr val="00B050"/>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2" name="Object 9"/>
          <p:cNvGraphicFramePr>
            <a:graphicFrameLocks noGrp="1" noChangeAspect="1"/>
          </p:cNvGraphicFramePr>
          <p:nvPr>
            <p:ph idx="1"/>
          </p:nvPr>
        </p:nvGraphicFramePr>
        <p:xfrm>
          <a:off x="1476375" y="1189038"/>
          <a:ext cx="4779963" cy="5516562"/>
        </p:xfrm>
        <a:graphic>
          <a:graphicData uri="http://schemas.openxmlformats.org/presentationml/2006/ole">
            <mc:AlternateContent xmlns:mc="http://schemas.openxmlformats.org/markup-compatibility/2006">
              <mc:Choice xmlns:v="urn:schemas-microsoft-com:vml" Requires="v">
                <p:oleObj spid="_x0000_s5121" name="Visio" r:id="rId1" imgW="4127500" imgH="4762500" progId="">
                  <p:embed/>
                </p:oleObj>
              </mc:Choice>
              <mc:Fallback>
                <p:oleObj name="Visio" r:id="rId1" imgW="4127500" imgH="4762500" progId="">
                  <p:embed/>
                  <p:pic>
                    <p:nvPicPr>
                      <p:cNvPr id="0" name="图片 5120"/>
                      <p:cNvPicPr>
                        <a:picLocks noGrp="1" noChangeAspect="1"/>
                      </p:cNvPicPr>
                      <p:nvPr/>
                    </p:nvPicPr>
                    <p:blipFill>
                      <a:blip r:embed="rId2"/>
                      <a:stretch>
                        <a:fillRect/>
                      </a:stretch>
                    </p:blipFill>
                    <p:spPr>
                      <a:xfrm>
                        <a:off x="1476375" y="1189038"/>
                        <a:ext cx="4779963" cy="5516562"/>
                      </a:xfrm>
                      <a:prstGeom prst="rect">
                        <a:avLst/>
                      </a:prstGeom>
                      <a:noFill/>
                      <a:ln w="9525">
                        <a:noFill/>
                      </a:ln>
                    </p:spPr>
                  </p:pic>
                </p:oleObj>
              </mc:Fallback>
            </mc:AlternateContent>
          </a:graphicData>
        </a:graphic>
      </p:graphicFrame>
      <p:sp>
        <p:nvSpPr>
          <p:cNvPr id="5125" name="Rectangle 10"/>
          <p:cNvSpPr>
            <a:spLocks noChangeArrowheads="1"/>
          </p:cNvSpPr>
          <p:nvPr/>
        </p:nvSpPr>
        <p:spPr bwMode="auto">
          <a:xfrm>
            <a:off x="4419600" y="1989138"/>
            <a:ext cx="4329113" cy="719137"/>
          </a:xfrm>
          <a:prstGeom prst="rect">
            <a:avLst/>
          </a:prstGeom>
          <a:solidFill>
            <a:schemeClr val="accent1"/>
          </a:solidFill>
          <a:ln w="9525" algn="ctr">
            <a:solidFill>
              <a:schemeClr val="tx1"/>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t>举例：要求分配大小为</a:t>
            </a:r>
            <a:r>
              <a:rPr lang="en-US" altLang="zh-CN" b="1"/>
              <a:t>64</a:t>
            </a:r>
            <a:r>
              <a:rPr lang="zh-CN" altLang="en-US" b="1"/>
              <a:t>个页面的块。</a:t>
            </a:r>
            <a:endParaRPr lang="zh-CN" altLang="en-US" b="1"/>
          </a:p>
        </p:txBody>
      </p:sp>
      <p:sp>
        <p:nvSpPr>
          <p:cNvPr id="5126" name="AutoShape 11"/>
          <p:cNvSpPr/>
          <p:nvPr/>
        </p:nvSpPr>
        <p:spPr bwMode="auto">
          <a:xfrm>
            <a:off x="250825" y="5516563"/>
            <a:ext cx="1152525" cy="754062"/>
          </a:xfrm>
          <a:prstGeom prst="borderCallout3">
            <a:avLst>
              <a:gd name="adj1" fmla="val 15157"/>
              <a:gd name="adj2" fmla="val -6611"/>
              <a:gd name="adj3" fmla="val 15157"/>
              <a:gd name="adj4" fmla="val -8403"/>
              <a:gd name="adj5" fmla="val -76208"/>
              <a:gd name="adj6" fmla="val -8403"/>
              <a:gd name="adj7" fmla="val -167792"/>
              <a:gd name="adj8" fmla="val 100278"/>
            </a:avLst>
          </a:prstGeom>
          <a:solidFill>
            <a:schemeClr val="accent1"/>
          </a:solidFill>
          <a:ln w="9525">
            <a:solidFill>
              <a:schemeClr val="tx1"/>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t>空闲位图数组</a:t>
            </a:r>
            <a:endParaRPr lang="zh-CN" altLang="en-US" b="1"/>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p:cNvSpPr>
            <a:spLocks noGrp="1"/>
          </p:cNvSpPr>
          <p:nvPr>
            <p:ph idx="1"/>
          </p:nvPr>
        </p:nvSpPr>
        <p:spPr>
          <a:xfrm>
            <a:off x="214313" y="285750"/>
            <a:ext cx="8643937" cy="6215063"/>
          </a:xfrm>
        </p:spPr>
        <p:txBody>
          <a:bodyPr/>
          <a:lstStyle/>
          <a:p>
            <a:r>
              <a:rPr lang="zh-CN" altLang="en-US" b="1" smtClean="0">
                <a:solidFill>
                  <a:srgbClr val="FF0000"/>
                </a:solidFill>
              </a:rPr>
              <a:t>分配过程：</a:t>
            </a:r>
            <a:endParaRPr lang="en-US" altLang="zh-CN" b="1" smtClean="0">
              <a:solidFill>
                <a:srgbClr val="FF0000"/>
              </a:solidFill>
            </a:endParaRPr>
          </a:p>
          <a:p>
            <a:r>
              <a:rPr lang="zh-CN" altLang="en-US" sz="2800" b="1" smtClean="0"/>
              <a:t>当需要为进程分配一个长度为</a:t>
            </a:r>
            <a:r>
              <a:rPr lang="en-US" altLang="zh-CN" sz="2800" b="1" smtClean="0"/>
              <a:t>n </a:t>
            </a:r>
            <a:r>
              <a:rPr lang="zh-CN" altLang="en-US" sz="2800" b="1" smtClean="0"/>
              <a:t>的存储空间时，首先计算一个</a:t>
            </a:r>
            <a:r>
              <a:rPr lang="en-US" altLang="zh-CN" sz="2800" b="1" smtClean="0"/>
              <a:t>i </a:t>
            </a:r>
            <a:r>
              <a:rPr lang="zh-CN" altLang="en-US" sz="2800" b="1" smtClean="0"/>
              <a:t>值，使</a:t>
            </a:r>
            <a:r>
              <a:rPr lang="en-US" altLang="zh-CN" sz="2800" b="1" smtClean="0"/>
              <a:t>2 </a:t>
            </a:r>
            <a:r>
              <a:rPr lang="en-US" altLang="zh-CN" sz="2800" b="1" baseline="30000" smtClean="0"/>
              <a:t>i</a:t>
            </a:r>
            <a:r>
              <a:rPr lang="zh-CN" altLang="en-US" sz="2800" b="1" baseline="30000" smtClean="0"/>
              <a:t>－</a:t>
            </a:r>
            <a:r>
              <a:rPr lang="en-US" altLang="zh-CN" sz="2800" b="1" baseline="30000" smtClean="0"/>
              <a:t>1</a:t>
            </a:r>
            <a:r>
              <a:rPr lang="en-US" altLang="zh-CN" sz="2800" b="1" smtClean="0"/>
              <a:t>&lt;n</a:t>
            </a:r>
            <a:r>
              <a:rPr lang="zh-CN" altLang="en-US" sz="2800" b="1" smtClean="0"/>
              <a:t>≤</a:t>
            </a:r>
            <a:r>
              <a:rPr lang="en-US" altLang="zh-CN" sz="2800" b="1" smtClean="0"/>
              <a:t>2</a:t>
            </a:r>
            <a:r>
              <a:rPr lang="en-US" altLang="zh-CN" sz="2800" b="1" baseline="30000" smtClean="0"/>
              <a:t>i</a:t>
            </a:r>
            <a:r>
              <a:rPr lang="zh-CN" altLang="en-US" sz="2800" b="1" smtClean="0"/>
              <a:t>，然后在空闲分区大小为</a:t>
            </a:r>
            <a:r>
              <a:rPr lang="en-US" altLang="zh-CN" sz="2800" b="1" smtClean="0"/>
              <a:t>2</a:t>
            </a:r>
            <a:r>
              <a:rPr lang="en-US" altLang="zh-CN" sz="2800" b="1" baseline="30000" smtClean="0"/>
              <a:t>i</a:t>
            </a:r>
            <a:r>
              <a:rPr lang="en-US" altLang="zh-CN" sz="2800" b="1" smtClean="0"/>
              <a:t> </a:t>
            </a:r>
            <a:r>
              <a:rPr lang="zh-CN" altLang="en-US" sz="2800" b="1" smtClean="0"/>
              <a:t>的空闲分区链表中查找。</a:t>
            </a:r>
            <a:endParaRPr lang="en-US" altLang="zh-CN" sz="2800" b="1" smtClean="0"/>
          </a:p>
          <a:p>
            <a:r>
              <a:rPr lang="zh-CN" altLang="en-US" sz="2800" b="1" smtClean="0"/>
              <a:t>若找到，即把该空闲分区分配给进程。否则，表明长度为</a:t>
            </a:r>
            <a:r>
              <a:rPr lang="en-US" altLang="zh-CN" sz="2800" b="1" smtClean="0"/>
              <a:t>2</a:t>
            </a:r>
            <a:r>
              <a:rPr lang="en-US" altLang="zh-CN" sz="2800" b="1" baseline="30000" smtClean="0"/>
              <a:t>i</a:t>
            </a:r>
            <a:r>
              <a:rPr lang="zh-CN" altLang="en-US" sz="2800" b="1" smtClean="0"/>
              <a:t>的空闲分区已经耗尽，则在分区大小为</a:t>
            </a:r>
            <a:r>
              <a:rPr lang="en-US" altLang="zh-CN" sz="2800" b="1" smtClean="0"/>
              <a:t>2 </a:t>
            </a:r>
            <a:r>
              <a:rPr lang="en-US" altLang="zh-CN" sz="2800" b="1" baseline="30000" smtClean="0"/>
              <a:t>i</a:t>
            </a:r>
            <a:r>
              <a:rPr lang="zh-CN" altLang="en-US" sz="2800" b="1" baseline="30000" smtClean="0"/>
              <a:t>＋</a:t>
            </a:r>
            <a:r>
              <a:rPr lang="en-US" altLang="zh-CN" sz="2800" b="1" baseline="30000" smtClean="0"/>
              <a:t>1</a:t>
            </a:r>
            <a:r>
              <a:rPr lang="zh-CN" altLang="en-US" sz="2800" b="1" smtClean="0"/>
              <a:t>的空闲分区链表中寻找。</a:t>
            </a:r>
            <a:endParaRPr lang="en-US" altLang="zh-CN" sz="2800" b="1" smtClean="0"/>
          </a:p>
          <a:p>
            <a:r>
              <a:rPr lang="zh-CN" altLang="en-US" sz="2800" b="1" smtClean="0"/>
              <a:t>若存在</a:t>
            </a:r>
            <a:r>
              <a:rPr lang="en-US" altLang="zh-CN" sz="2800" b="1" smtClean="0"/>
              <a:t>2 </a:t>
            </a:r>
            <a:r>
              <a:rPr lang="en-US" altLang="zh-CN" sz="2800" b="1" baseline="30000" smtClean="0"/>
              <a:t>i</a:t>
            </a:r>
            <a:r>
              <a:rPr lang="zh-CN" altLang="en-US" sz="2800" b="1" baseline="30000" smtClean="0"/>
              <a:t>＋</a:t>
            </a:r>
            <a:r>
              <a:rPr lang="en-US" altLang="zh-CN" sz="2800" b="1" baseline="30000" smtClean="0"/>
              <a:t>1</a:t>
            </a:r>
            <a:r>
              <a:rPr lang="en-US" altLang="zh-CN" sz="2800" b="1" smtClean="0"/>
              <a:t> </a:t>
            </a:r>
            <a:r>
              <a:rPr lang="zh-CN" altLang="en-US" sz="2800" b="1" smtClean="0"/>
              <a:t>的一个空闲分区，则把该空闲分区分为相等的两个分区，</a:t>
            </a:r>
            <a:r>
              <a:rPr lang="zh-CN" altLang="en-US" sz="2800" b="1" i="1" smtClean="0">
                <a:solidFill>
                  <a:srgbClr val="FF0000"/>
                </a:solidFill>
              </a:rPr>
              <a:t>这两个分区称为一对伙伴</a:t>
            </a:r>
            <a:r>
              <a:rPr lang="zh-CN" altLang="en-US" sz="2800" b="1" smtClean="0"/>
              <a:t>，其中的一个分区用于分配，而把另一个加入分区大小为</a:t>
            </a:r>
            <a:r>
              <a:rPr lang="en-US" altLang="zh-CN" sz="2800" b="1" smtClean="0"/>
              <a:t>2</a:t>
            </a:r>
            <a:r>
              <a:rPr lang="en-US" altLang="zh-CN" sz="2800" b="1" baseline="30000" smtClean="0"/>
              <a:t>i </a:t>
            </a:r>
            <a:r>
              <a:rPr lang="zh-CN" altLang="en-US" sz="2800" b="1" smtClean="0"/>
              <a:t>的空闲分区链表中。</a:t>
            </a:r>
            <a:endParaRPr lang="en-US" altLang="zh-CN" sz="2800" b="1" smtClean="0"/>
          </a:p>
          <a:p>
            <a:r>
              <a:rPr lang="zh-CN" altLang="en-US" sz="2800" b="1" smtClean="0"/>
              <a:t>在最坏的情况下，可能需要对</a:t>
            </a:r>
            <a:r>
              <a:rPr lang="en-US" altLang="zh-CN" sz="2800" b="1" smtClean="0"/>
              <a:t>2</a:t>
            </a:r>
            <a:r>
              <a:rPr lang="en-US" altLang="zh-CN" sz="2800" b="1" baseline="30000" smtClean="0"/>
              <a:t>k</a:t>
            </a:r>
            <a:r>
              <a:rPr lang="zh-CN" altLang="en-US" sz="2800" b="1" smtClean="0"/>
              <a:t>的空闲分区进行</a:t>
            </a:r>
            <a:r>
              <a:rPr lang="en-US" altLang="zh-CN" sz="2800" b="1" smtClean="0"/>
              <a:t>k </a:t>
            </a:r>
            <a:r>
              <a:rPr lang="zh-CN" altLang="en-US" sz="2800" b="1" smtClean="0"/>
              <a:t>次分割才能得到所需分区。</a:t>
            </a:r>
            <a:endParaRPr lang="zh-CN" altLang="en-US" sz="2800" b="1" smtClean="0"/>
          </a:p>
          <a:p>
            <a:endParaRPr lang="zh-CN" altLang="en-US" sz="2800" b="1" smtClean="0"/>
          </a:p>
          <a:p>
            <a:endParaRPr lang="zh-CN" altLang="en-US" sz="2800" b="1" smtClean="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p:cNvSpPr>
          <p:nvPr>
            <p:ph idx="1"/>
          </p:nvPr>
        </p:nvSpPr>
        <p:spPr/>
        <p:txBody>
          <a:bodyPr/>
          <a:lstStyle/>
          <a:p>
            <a:r>
              <a:rPr lang="zh-CN" altLang="en-US" b="1" smtClean="0"/>
              <a:t>在伙伴系统中，对于一个大小为</a:t>
            </a:r>
            <a:r>
              <a:rPr lang="en-US" altLang="zh-CN" b="1" smtClean="0"/>
              <a:t>2</a:t>
            </a:r>
            <a:r>
              <a:rPr lang="en-US" altLang="zh-CN" b="1" baseline="30000" smtClean="0"/>
              <a:t>k</a:t>
            </a:r>
            <a:r>
              <a:rPr lang="en-US" altLang="zh-CN" b="1" smtClean="0"/>
              <a:t>,</a:t>
            </a:r>
            <a:r>
              <a:rPr lang="zh-CN" altLang="en-US" b="1" smtClean="0"/>
              <a:t>地址为</a:t>
            </a:r>
            <a:r>
              <a:rPr lang="en-US" altLang="zh-CN" b="1" smtClean="0"/>
              <a:t>x</a:t>
            </a:r>
            <a:r>
              <a:rPr lang="zh-CN" altLang="en-US" b="1" smtClean="0"/>
              <a:t>的内存块，其伙伴块的地址则用</a:t>
            </a:r>
            <a:r>
              <a:rPr lang="en-US" altLang="zh-CN" b="1" smtClean="0"/>
              <a:t>buddyk(x)</a:t>
            </a:r>
            <a:r>
              <a:rPr lang="zh-CN" altLang="en-US" b="1" smtClean="0"/>
              <a:t>表示，其通式为：</a:t>
            </a:r>
            <a:endParaRPr lang="en-US" altLang="zh-CN" b="1" smtClean="0"/>
          </a:p>
          <a:p>
            <a:endParaRPr lang="en-US" altLang="zh-CN" b="1" smtClean="0"/>
          </a:p>
          <a:p>
            <a:r>
              <a:rPr lang="en-US" altLang="zh-CN" b="1" smtClean="0"/>
              <a:t>Buddy</a:t>
            </a:r>
            <a:r>
              <a:rPr lang="en-US" altLang="zh-CN" sz="1800" b="1" smtClean="0"/>
              <a:t>k</a:t>
            </a:r>
            <a:r>
              <a:rPr lang="en-US" altLang="zh-CN" b="1" smtClean="0"/>
              <a:t>(x)=</a:t>
            </a:r>
            <a:endParaRPr lang="en-US" altLang="zh-CN" b="1" smtClean="0"/>
          </a:p>
          <a:p>
            <a:endParaRPr lang="zh-CN" altLang="en-US" b="1" smtClean="0"/>
          </a:p>
        </p:txBody>
      </p:sp>
      <p:sp>
        <p:nvSpPr>
          <p:cNvPr id="4" name="左大括号 3"/>
          <p:cNvSpPr/>
          <p:nvPr/>
        </p:nvSpPr>
        <p:spPr>
          <a:xfrm>
            <a:off x="3276600" y="3429000"/>
            <a:ext cx="609600" cy="14478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a:p>
        </p:txBody>
      </p:sp>
      <p:sp>
        <p:nvSpPr>
          <p:cNvPr id="54276" name="TextBox 5"/>
          <p:cNvSpPr txBox="1">
            <a:spLocks noChangeArrowheads="1"/>
          </p:cNvSpPr>
          <p:nvPr/>
        </p:nvSpPr>
        <p:spPr bwMode="auto">
          <a:xfrm>
            <a:off x="3962400" y="3200400"/>
            <a:ext cx="403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X</a:t>
            </a:r>
            <a:r>
              <a:rPr lang="en-US" altLang="zh-CN" sz="2800" b="1"/>
              <a:t>+2</a:t>
            </a:r>
            <a:r>
              <a:rPr lang="en-US" altLang="zh-CN" sz="2800" b="1" baseline="30000"/>
              <a:t>k</a:t>
            </a:r>
            <a:r>
              <a:rPr lang="en-US" altLang="zh-CN" sz="2400" b="1"/>
              <a:t> (</a:t>
            </a:r>
            <a:r>
              <a:rPr lang="zh-CN" altLang="en-US" sz="2400" b="1"/>
              <a:t>若</a:t>
            </a:r>
            <a:r>
              <a:rPr lang="en-US" altLang="zh-CN" sz="2400" b="1"/>
              <a:t>x MOD 2</a:t>
            </a:r>
            <a:r>
              <a:rPr lang="en-US" altLang="zh-CN" sz="2400" b="1" baseline="30000"/>
              <a:t>k+1</a:t>
            </a:r>
            <a:r>
              <a:rPr lang="en-US" altLang="zh-CN" sz="2400" b="1"/>
              <a:t> =0)</a:t>
            </a:r>
            <a:endParaRPr lang="zh-CN" altLang="en-US" sz="2400" b="1"/>
          </a:p>
        </p:txBody>
      </p:sp>
      <p:sp>
        <p:nvSpPr>
          <p:cNvPr id="54277" name="TextBox 6"/>
          <p:cNvSpPr txBox="1">
            <a:spLocks noChangeArrowheads="1"/>
          </p:cNvSpPr>
          <p:nvPr/>
        </p:nvSpPr>
        <p:spPr bwMode="auto">
          <a:xfrm>
            <a:off x="3886200" y="4800600"/>
            <a:ext cx="4724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t>X-2</a:t>
            </a:r>
            <a:r>
              <a:rPr lang="en-US" altLang="zh-CN" sz="2800" b="1" baseline="30000"/>
              <a:t>k</a:t>
            </a:r>
            <a:r>
              <a:rPr lang="en-US" altLang="zh-CN" sz="2800" b="1"/>
              <a:t>( </a:t>
            </a:r>
            <a:r>
              <a:rPr lang="zh-CN" altLang="en-US" sz="2800" b="1"/>
              <a:t>若</a:t>
            </a:r>
            <a:r>
              <a:rPr lang="en-US" altLang="zh-CN" sz="2800" b="1"/>
              <a:t>x MOD 2 </a:t>
            </a:r>
            <a:r>
              <a:rPr lang="en-US" altLang="zh-CN" sz="2800" b="1" baseline="30000"/>
              <a:t>k+1</a:t>
            </a:r>
            <a:r>
              <a:rPr lang="en-US" altLang="zh-CN" sz="2800" b="1"/>
              <a:t> = 2</a:t>
            </a:r>
            <a:r>
              <a:rPr lang="en-US" altLang="zh-CN" sz="2800" b="1" baseline="30000"/>
              <a:t>k</a:t>
            </a:r>
            <a:r>
              <a:rPr lang="en-US" altLang="zh-CN" sz="2800" b="1"/>
              <a:t>)</a:t>
            </a:r>
            <a:endParaRPr lang="zh-CN" altLang="en-US" sz="2800" b="1"/>
          </a:p>
        </p:txBody>
      </p:sp>
      <p:sp>
        <p:nvSpPr>
          <p:cNvPr id="54278" name="左大括号 5"/>
          <p:cNvSpPr/>
          <p:nvPr/>
        </p:nvSpPr>
        <p:spPr bwMode="auto">
          <a:xfrm>
            <a:off x="3000375" y="3500438"/>
            <a:ext cx="571500" cy="1571625"/>
          </a:xfrm>
          <a:prstGeom prst="leftBrace">
            <a:avLst>
              <a:gd name="adj1" fmla="val 8339"/>
              <a:gd name="adj2" fmla="val 50000"/>
            </a:avLst>
          </a:prstGeom>
          <a:solidFill>
            <a:schemeClr val="accent1"/>
          </a:solidFill>
          <a:ln w="9525" algn="ctr">
            <a:solidFill>
              <a:schemeClr val="tx1"/>
            </a:solidFill>
            <a:round/>
          </a:ln>
          <a:effectLst>
            <a:prstShdw prst="shdw17" dist="17961" dir="13500000">
              <a:schemeClr val="bg2"/>
            </a:prstShdw>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1"/>
          </p:nvPr>
        </p:nvSpPr>
        <p:spPr>
          <a:xfrm>
            <a:off x="533400" y="762000"/>
            <a:ext cx="8077200" cy="5410200"/>
          </a:xfrm>
        </p:spPr>
        <p:txBody>
          <a:bodyPr/>
          <a:lstStyle/>
          <a:p>
            <a:r>
              <a:rPr lang="zh-CN" altLang="en-US" b="1" smtClean="0">
                <a:solidFill>
                  <a:srgbClr val="FF0000"/>
                </a:solidFill>
              </a:rPr>
              <a:t>回收过程：</a:t>
            </a:r>
            <a:endParaRPr lang="en-US" altLang="zh-CN" b="1" smtClean="0">
              <a:solidFill>
                <a:srgbClr val="FF0000"/>
              </a:solidFill>
            </a:endParaRPr>
          </a:p>
          <a:p>
            <a:endParaRPr lang="en-US" altLang="zh-CN" b="1" smtClean="0"/>
          </a:p>
          <a:p>
            <a:pPr lvl="1"/>
            <a:r>
              <a:rPr lang="zh-CN" altLang="en-US" b="1" smtClean="0"/>
              <a:t>回收也要进行多次合并，如回收大小为</a:t>
            </a:r>
            <a:r>
              <a:rPr lang="en-US" altLang="zh-CN" b="1" smtClean="0"/>
              <a:t>2</a:t>
            </a:r>
            <a:r>
              <a:rPr lang="en-US" altLang="zh-CN" b="1" baseline="30000" smtClean="0"/>
              <a:t>i</a:t>
            </a:r>
            <a:r>
              <a:rPr lang="zh-CN" altLang="en-US" b="1" smtClean="0"/>
              <a:t>的空闲分区时，若事先已经存在</a:t>
            </a:r>
            <a:r>
              <a:rPr lang="en-US" altLang="zh-CN" b="1" smtClean="0"/>
              <a:t>2</a:t>
            </a:r>
            <a:r>
              <a:rPr lang="en-US" altLang="zh-CN" b="1" baseline="30000" smtClean="0"/>
              <a:t>i</a:t>
            </a:r>
            <a:r>
              <a:rPr lang="zh-CN" altLang="en-US" b="1" smtClean="0"/>
              <a:t>的空闲分区，则应将其于 伙伴分区合并为大小为</a:t>
            </a:r>
            <a:r>
              <a:rPr lang="en-US" altLang="zh-CN" b="1" smtClean="0"/>
              <a:t>2</a:t>
            </a:r>
            <a:r>
              <a:rPr lang="en-US" altLang="zh-CN" b="1" baseline="30000" smtClean="0"/>
              <a:t>i+1</a:t>
            </a:r>
            <a:r>
              <a:rPr lang="zh-CN" altLang="en-US" b="1" smtClean="0"/>
              <a:t>的空闲分区。</a:t>
            </a:r>
            <a:endParaRPr lang="en-US" altLang="zh-CN" b="1" smtClean="0"/>
          </a:p>
          <a:p>
            <a:pPr lvl="1"/>
            <a:r>
              <a:rPr lang="zh-CN" altLang="en-US" b="1" smtClean="0"/>
              <a:t>若事先已存在</a:t>
            </a:r>
            <a:r>
              <a:rPr lang="en-US" altLang="zh-CN" b="1" smtClean="0"/>
              <a:t>2</a:t>
            </a:r>
            <a:r>
              <a:rPr lang="en-US" altLang="zh-CN" b="1" baseline="30000" smtClean="0"/>
              <a:t>i+1</a:t>
            </a:r>
            <a:r>
              <a:rPr lang="zh-CN" altLang="en-US" b="1" smtClean="0"/>
              <a:t>的空闲分区，则应继续与其 伙伴分区合并为大小为</a:t>
            </a:r>
            <a:r>
              <a:rPr lang="en-US" altLang="zh-CN" b="1" smtClean="0"/>
              <a:t>2</a:t>
            </a:r>
            <a:r>
              <a:rPr lang="en-US" altLang="zh-CN" b="1" baseline="30000" smtClean="0"/>
              <a:t>i+2</a:t>
            </a:r>
            <a:r>
              <a:rPr lang="zh-CN" altLang="en-US" b="1" smtClean="0"/>
              <a:t>的空闲分区，以此类推。</a:t>
            </a:r>
            <a:endParaRPr lang="zh-CN" altLang="en-US" b="1" smtClean="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body" idx="1"/>
          </p:nvPr>
        </p:nvSpPr>
        <p:spPr>
          <a:xfrm>
            <a:off x="323850" y="441325"/>
            <a:ext cx="8286750" cy="4968875"/>
          </a:xfrm>
        </p:spPr>
        <p:txBody>
          <a:bodyPr/>
          <a:lstStyle/>
          <a:p>
            <a:pPr eaLnBrk="1" hangingPunct="1">
              <a:lnSpc>
                <a:spcPct val="110000"/>
              </a:lnSpc>
            </a:pPr>
            <a:r>
              <a:rPr lang="zh-CN" altLang="en-US" b="1" smtClean="0"/>
              <a:t>优点：分配和回收内存速度快，且不会产生很多小碎片。</a:t>
            </a:r>
            <a:endParaRPr lang="zh-CN" altLang="en-US" b="1" smtClean="0"/>
          </a:p>
          <a:p>
            <a:pPr eaLnBrk="1" hangingPunct="1">
              <a:lnSpc>
                <a:spcPct val="110000"/>
              </a:lnSpc>
            </a:pPr>
            <a:r>
              <a:rPr lang="zh-CN" altLang="en-US" b="1" smtClean="0"/>
              <a:t>缺点：内存利用率不高，分配的内存大小为</a:t>
            </a:r>
            <a:r>
              <a:rPr lang="en-US" altLang="zh-CN" b="1" smtClean="0"/>
              <a:t>2</a:t>
            </a:r>
            <a:r>
              <a:rPr lang="zh-CN" altLang="en-US" b="1" smtClean="0"/>
              <a:t>的幂，假如只需要</a:t>
            </a:r>
            <a:r>
              <a:rPr lang="en-US" altLang="zh-CN" b="1" smtClean="0"/>
              <a:t>65</a:t>
            </a:r>
            <a:r>
              <a:rPr lang="zh-CN" altLang="en-US" b="1" smtClean="0"/>
              <a:t>个页面，也需要分配</a:t>
            </a:r>
            <a:r>
              <a:rPr lang="en-US" altLang="zh-CN" b="1" smtClean="0"/>
              <a:t>128</a:t>
            </a:r>
            <a:r>
              <a:rPr lang="zh-CN" altLang="en-US" b="1" smtClean="0"/>
              <a:t>个页面的块，从而浪费了</a:t>
            </a:r>
            <a:r>
              <a:rPr lang="en-US" altLang="zh-CN" b="1" smtClean="0"/>
              <a:t>63</a:t>
            </a:r>
            <a:r>
              <a:rPr lang="zh-CN" altLang="en-US" b="1" smtClean="0"/>
              <a:t>个页面，即产生内部碎片。</a:t>
            </a:r>
            <a:endParaRPr lang="zh-CN" altLang="en-US" b="1" smtClean="0"/>
          </a:p>
          <a:p>
            <a:pPr eaLnBrk="1" hangingPunct="1">
              <a:lnSpc>
                <a:spcPct val="110000"/>
              </a:lnSpc>
            </a:pPr>
            <a:r>
              <a:rPr lang="zh-CN" altLang="en-US" b="1" smtClean="0">
                <a:solidFill>
                  <a:schemeClr val="folHlink"/>
                </a:solidFill>
              </a:rPr>
              <a:t>思考：你有什么办法对伙伴算法进行改进，使其内存利用率更高？</a:t>
            </a:r>
            <a:endParaRPr lang="zh-CN" altLang="en-US" b="1" smtClean="0">
              <a:solidFill>
                <a:schemeClr val="folHlink"/>
              </a:solidFill>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Rot="1" noChangeArrowheads="1"/>
          </p:cNvSpPr>
          <p:nvPr>
            <p:ph type="body" idx="1"/>
          </p:nvPr>
        </p:nvSpPr>
        <p:spPr>
          <a:xfrm>
            <a:off x="285750" y="1500188"/>
            <a:ext cx="8540750" cy="4608512"/>
          </a:xfrm>
        </p:spPr>
        <p:txBody>
          <a:bodyPr/>
          <a:lstStyle/>
          <a:p>
            <a:pPr eaLnBrk="1" hangingPunct="1">
              <a:defRPr/>
            </a:pPr>
            <a:r>
              <a:rPr lang="en-US" altLang="zh-CN" b="1" dirty="0" smtClean="0">
                <a:solidFill>
                  <a:srgbClr val="FF0000"/>
                </a:solidFill>
              </a:rPr>
              <a:t>1.</a:t>
            </a:r>
            <a:r>
              <a:rPr lang="zh-CN" altLang="en-US" b="1" dirty="0" smtClean="0">
                <a:solidFill>
                  <a:srgbClr val="FF0000"/>
                </a:solidFill>
              </a:rPr>
              <a:t>动态重定位的引入</a:t>
            </a:r>
            <a:endParaRPr lang="en-US" altLang="zh-CN" b="1" dirty="0" smtClean="0">
              <a:solidFill>
                <a:srgbClr val="FF0000"/>
              </a:solidFill>
            </a:endParaRPr>
          </a:p>
          <a:p>
            <a:pPr eaLnBrk="1" hangingPunct="1">
              <a:defRPr/>
            </a:pPr>
            <a:r>
              <a:rPr lang="zh-CN" altLang="en-US" b="1" dirty="0" smtClean="0"/>
              <a:t>上述的各种动态分区的分配算法都不可避免的产生大量无法利用的碎片，这些无法利用的空闲分区称为“外部碎片” 。</a:t>
            </a:r>
            <a:endParaRPr lang="zh-CN" altLang="en-US" b="1" dirty="0" smtClean="0"/>
          </a:p>
          <a:p>
            <a:pPr eaLnBrk="1" hangingPunct="1">
              <a:defRPr/>
            </a:pPr>
            <a:endParaRPr lang="zh-CN" altLang="en-US" b="1" dirty="0" smtClean="0"/>
          </a:p>
          <a:p>
            <a:pPr eaLnBrk="1" hangingPunct="1">
              <a:defRPr/>
            </a:pPr>
            <a:r>
              <a:rPr lang="zh-CN" altLang="en-US" b="1" dirty="0" smtClean="0">
                <a:solidFill>
                  <a:schemeClr val="tx2"/>
                </a:solidFill>
              </a:rPr>
              <a:t>紧凑技术</a:t>
            </a:r>
            <a:r>
              <a:rPr lang="en-US" altLang="zh-CN" b="1" dirty="0" smtClean="0">
                <a:latin typeface="Courier New" panose="02070309020205020404"/>
              </a:rPr>
              <a:t>——</a:t>
            </a:r>
            <a:r>
              <a:rPr lang="zh-CN" altLang="en-US" b="1" dirty="0" smtClean="0"/>
              <a:t>将内存中的所有作业进行移动，使它们全都相邻接，这样，可</a:t>
            </a:r>
            <a:r>
              <a:rPr lang="zh-CN" altLang="en-US" b="1" i="1" u="sng" dirty="0" smtClean="0">
                <a:solidFill>
                  <a:srgbClr val="FF0000"/>
                </a:solidFill>
              </a:rPr>
              <a:t>把原来分散的多个小分区合成一个大分区</a:t>
            </a:r>
            <a:r>
              <a:rPr lang="zh-CN" altLang="en-US" b="1" dirty="0" smtClean="0"/>
              <a:t>的方法，称为</a:t>
            </a:r>
            <a:r>
              <a:rPr lang="zh-CN" altLang="en-US" b="1" dirty="0" smtClean="0">
                <a:solidFill>
                  <a:schemeClr val="folHlink"/>
                </a:solidFill>
                <a:effectLst>
                  <a:outerShdw blurRad="38100" dist="38100" dir="2700000" algn="tl">
                    <a:srgbClr val="000000"/>
                  </a:outerShdw>
                </a:effectLst>
              </a:rPr>
              <a:t>紧凑</a:t>
            </a:r>
            <a:r>
              <a:rPr lang="zh-CN" altLang="en-US" b="1" dirty="0" smtClean="0"/>
              <a:t>。 </a:t>
            </a:r>
            <a:endParaRPr lang="zh-CN" altLang="en-US" b="1" dirty="0" smtClean="0"/>
          </a:p>
        </p:txBody>
      </p:sp>
      <p:sp>
        <p:nvSpPr>
          <p:cNvPr id="57347" name="Rectangle 3"/>
          <p:cNvSpPr>
            <a:spLocks noGrp="1" noRot="1" noChangeArrowheads="1"/>
          </p:cNvSpPr>
          <p:nvPr>
            <p:ph type="title"/>
          </p:nvPr>
        </p:nvSpPr>
        <p:spPr/>
        <p:txBody>
          <a:bodyPr/>
          <a:lstStyle/>
          <a:p>
            <a:pPr eaLnBrk="1" hangingPunct="1"/>
            <a:r>
              <a:rPr lang="en-US" altLang="zh-CN" sz="3600" b="1" smtClean="0">
                <a:solidFill>
                  <a:schemeClr val="folHlink"/>
                </a:solidFill>
              </a:rPr>
              <a:t>4.3.6 </a:t>
            </a:r>
            <a:r>
              <a:rPr lang="zh-CN" altLang="en-US" sz="3600" b="1" smtClean="0">
                <a:solidFill>
                  <a:schemeClr val="folHlink"/>
                </a:solidFill>
              </a:rPr>
              <a:t>可重定位分区分配</a:t>
            </a:r>
            <a:endParaRPr lang="zh-CN" altLang="en-US" sz="3600" b="1" smtClean="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76514">
                                            <p:txEl>
                                              <p:pRg st="1" end="1"/>
                                            </p:txEl>
                                          </p:spTgt>
                                        </p:tgtEl>
                                        <p:attrNameLst>
                                          <p:attrName>style.visibility</p:attrName>
                                        </p:attrNameLst>
                                      </p:cBhvr>
                                      <p:to>
                                        <p:strVal val="visible"/>
                                      </p:to>
                                    </p:set>
                                    <p:animEffect transition="in" filter="wipe(down)">
                                      <p:cBhvr>
                                        <p:cTn id="7" dur="500"/>
                                        <p:tgtEl>
                                          <p:spTgt spid="5765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76514">
                                            <p:txEl>
                                              <p:pRg st="0" end="0"/>
                                            </p:txEl>
                                          </p:spTgt>
                                        </p:tgtEl>
                                        <p:attrNameLst>
                                          <p:attrName>style.visibility</p:attrName>
                                        </p:attrNameLst>
                                      </p:cBhvr>
                                      <p:to>
                                        <p:strVal val="visible"/>
                                      </p:to>
                                    </p:set>
                                    <p:animEffect transition="in" filter="wipe(down)">
                                      <p:cBhvr>
                                        <p:cTn id="12" dur="500"/>
                                        <p:tgtEl>
                                          <p:spTgt spid="5765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76514">
                                            <p:txEl>
                                              <p:pRg st="3" end="3"/>
                                            </p:txEl>
                                          </p:spTgt>
                                        </p:tgtEl>
                                        <p:attrNameLst>
                                          <p:attrName>style.visibility</p:attrName>
                                        </p:attrNameLst>
                                      </p:cBhvr>
                                      <p:to>
                                        <p:strVal val="visible"/>
                                      </p:to>
                                    </p:set>
                                    <p:animEffect transition="in" filter="wipe(down)">
                                      <p:cBhvr>
                                        <p:cTn id="17" dur="500"/>
                                        <p:tgtEl>
                                          <p:spTgt spid="5765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2790825"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58371"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19250" y="549275"/>
            <a:ext cx="6048375"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 Box 4"/>
          <p:cNvSpPr txBox="1">
            <a:spLocks noChangeArrowheads="1"/>
          </p:cNvSpPr>
          <p:nvPr/>
        </p:nvSpPr>
        <p:spPr bwMode="auto">
          <a:xfrm>
            <a:off x="2555875" y="5589588"/>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t>紧凑示意图</a:t>
            </a:r>
            <a:endParaRPr lang="zh-CN" altLang="en-US" sz="2400" b="1"/>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body" idx="1"/>
          </p:nvPr>
        </p:nvSpPr>
        <p:spPr>
          <a:xfrm>
            <a:off x="381000" y="1447800"/>
            <a:ext cx="8153400" cy="5181600"/>
          </a:xfrm>
        </p:spPr>
        <p:txBody>
          <a:bodyPr/>
          <a:lstStyle/>
          <a:p>
            <a:r>
              <a:rPr lang="zh-CN" altLang="en-US" b="1" smtClean="0"/>
              <a:t>在动态运行时装入的方式中，作业装入内存后的所有地址都仍然是相对地址，将相对地址转换为物理地址的工作，被推迟到程序指令要真正执行时进行。</a:t>
            </a:r>
            <a:endParaRPr lang="en-US" altLang="zh-CN" b="1" smtClean="0"/>
          </a:p>
          <a:p>
            <a:endParaRPr lang="en-US" altLang="zh-CN" sz="2800" b="1" smtClean="0"/>
          </a:p>
          <a:p>
            <a:r>
              <a:rPr lang="zh-CN" altLang="en-US" b="1" smtClean="0"/>
              <a:t>动态重定位机制需要硬件的支持， 即须在系统中增设一个</a:t>
            </a:r>
            <a:r>
              <a:rPr lang="zh-CN" altLang="en-US" b="1" i="1" u="sng" smtClean="0">
                <a:solidFill>
                  <a:srgbClr val="FF0000"/>
                </a:solidFill>
              </a:rPr>
              <a:t>重定位寄存器</a:t>
            </a:r>
            <a:r>
              <a:rPr lang="zh-CN" altLang="en-US" b="1" smtClean="0"/>
              <a:t>，用它来</a:t>
            </a:r>
            <a:r>
              <a:rPr lang="zh-CN" altLang="en-US" b="1" i="1" u="sng" smtClean="0">
                <a:solidFill>
                  <a:schemeClr val="folHlink"/>
                </a:solidFill>
              </a:rPr>
              <a:t>存放程序</a:t>
            </a:r>
            <a:r>
              <a:rPr lang="en-US" altLang="zh-CN" b="1" i="1" u="sng" smtClean="0">
                <a:solidFill>
                  <a:schemeClr val="folHlink"/>
                </a:solidFill>
              </a:rPr>
              <a:t>(</a:t>
            </a:r>
            <a:r>
              <a:rPr lang="zh-CN" altLang="en-US" b="1" i="1" u="sng" smtClean="0">
                <a:solidFill>
                  <a:schemeClr val="folHlink"/>
                </a:solidFill>
              </a:rPr>
              <a:t>数据</a:t>
            </a:r>
            <a:r>
              <a:rPr lang="en-US" altLang="zh-CN" b="1" i="1" u="sng" smtClean="0">
                <a:solidFill>
                  <a:schemeClr val="folHlink"/>
                </a:solidFill>
              </a:rPr>
              <a:t>)</a:t>
            </a:r>
            <a:r>
              <a:rPr lang="zh-CN" altLang="en-US" b="1" i="1" u="sng" smtClean="0">
                <a:solidFill>
                  <a:schemeClr val="folHlink"/>
                </a:solidFill>
              </a:rPr>
              <a:t>在内存中的起始地址</a:t>
            </a:r>
            <a:r>
              <a:rPr lang="zh-CN" altLang="en-US" b="1" smtClean="0"/>
              <a:t>。程序在执行时，真正访问的内存地址是相对地址与重定位寄存器中的地址相加而形成的。</a:t>
            </a:r>
            <a:endParaRPr lang="zh-CN" altLang="en-US" b="1" smtClean="0"/>
          </a:p>
          <a:p>
            <a:pPr eaLnBrk="1" hangingPunct="1">
              <a:lnSpc>
                <a:spcPct val="110000"/>
              </a:lnSpc>
              <a:buFont typeface="Wingdings" panose="05000000000000000000" pitchFamily="2" charset="2"/>
              <a:buNone/>
            </a:pPr>
            <a:endParaRPr lang="en-US" altLang="zh-CN" sz="2800" b="1" i="1" u="sng" smtClean="0">
              <a:solidFill>
                <a:schemeClr val="folHlink"/>
              </a:solidFill>
            </a:endParaRPr>
          </a:p>
        </p:txBody>
      </p:sp>
      <p:sp>
        <p:nvSpPr>
          <p:cNvPr id="576515" name="Rectangle 3"/>
          <p:cNvSpPr>
            <a:spLocks noRot="1" noChangeArrowheads="1"/>
          </p:cNvSpPr>
          <p:nvPr/>
        </p:nvSpPr>
        <p:spPr bwMode="auto">
          <a:xfrm>
            <a:off x="533400" y="457200"/>
            <a:ext cx="8077200" cy="1066800"/>
          </a:xfrm>
          <a:prstGeom prst="rect">
            <a:avLst/>
          </a:prstGeom>
          <a:noFill/>
          <a:ln w="9525">
            <a:noFill/>
            <a:miter lim="800000"/>
          </a:ln>
        </p:spPr>
        <p:txBody>
          <a:bodyPr anchor="ctr"/>
          <a:lstStyle/>
          <a:p>
            <a:pPr algn="ctr">
              <a:defRPr/>
            </a:pPr>
            <a:r>
              <a:rPr lang="en-US" altLang="zh-CN" sz="3600" b="1" dirty="0">
                <a:solidFill>
                  <a:schemeClr val="folHlink"/>
                </a:solidFill>
                <a:effectLst>
                  <a:outerShdw blurRad="38100" dist="38100" dir="2700000" algn="tl">
                    <a:srgbClr val="000000"/>
                  </a:outerShdw>
                </a:effectLst>
                <a:latin typeface="Arial" panose="020B0604020202020204" pitchFamily="34" charset="0"/>
              </a:rPr>
              <a:t>2.</a:t>
            </a:r>
            <a:r>
              <a:rPr lang="zh-CN" altLang="en-US" sz="3600" b="1" dirty="0">
                <a:solidFill>
                  <a:schemeClr val="folHlink"/>
                </a:solidFill>
                <a:effectLst>
                  <a:outerShdw blurRad="38100" dist="38100" dir="2700000" algn="tl">
                    <a:srgbClr val="000000"/>
                  </a:outerShdw>
                </a:effectLst>
                <a:latin typeface="Arial" panose="020B0604020202020204" pitchFamily="34" charset="0"/>
              </a:rPr>
              <a:t>动态重定位的实现</a:t>
            </a:r>
            <a:endParaRPr lang="zh-CN" altLang="en-US" sz="3600" b="1" dirty="0">
              <a:solidFill>
                <a:schemeClr val="folHlink"/>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0363" y="790575"/>
            <a:ext cx="8555037"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Rot="1" noChangeArrowheads="1"/>
          </p:cNvSpPr>
          <p:nvPr>
            <p:ph type="title"/>
          </p:nvPr>
        </p:nvSpPr>
        <p:spPr>
          <a:xfrm>
            <a:off x="690563" y="498475"/>
            <a:ext cx="7353300" cy="568325"/>
          </a:xfrm>
        </p:spPr>
        <p:txBody>
          <a:bodyPr/>
          <a:lstStyle/>
          <a:p>
            <a:pPr eaLnBrk="1" hangingPunct="1"/>
            <a:r>
              <a:rPr lang="en-US" altLang="zh-CN" sz="3600" b="1" smtClean="0">
                <a:solidFill>
                  <a:schemeClr val="folHlink"/>
                </a:solidFill>
              </a:rPr>
              <a:t>3. </a:t>
            </a:r>
            <a:r>
              <a:rPr lang="zh-CN" altLang="en-US" sz="3600" b="1" smtClean="0">
                <a:solidFill>
                  <a:schemeClr val="folHlink"/>
                </a:solidFill>
              </a:rPr>
              <a:t>动态重定位分区分配算法 </a:t>
            </a:r>
            <a:endParaRPr lang="zh-CN" altLang="en-US" sz="3600" b="1" smtClean="0">
              <a:solidFill>
                <a:schemeClr val="folHlink"/>
              </a:solidFill>
            </a:endParaRPr>
          </a:p>
        </p:txBody>
      </p:sp>
      <p:pic>
        <p:nvPicPr>
          <p:cNvPr id="61443"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4400" y="2514600"/>
            <a:ext cx="73469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381000" y="1219200"/>
            <a:ext cx="8001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t>此算法与动态分区分配算法基本相同，唯一差别在于增加了紧凑的功能。当载入大程序，而无可用空间时，系统自动启动紧凑；当发现碎片较多，系统比较空闲时。</a:t>
            </a:r>
            <a:endParaRPr lang="zh-CN" altLang="en-US" sz="24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p:cNvSpPr>
            <a:spLocks noGrp="1" noRot="1" noChangeArrowheads="1"/>
          </p:cNvSpPr>
          <p:nvPr>
            <p:ph type="body" idx="1"/>
          </p:nvPr>
        </p:nvSpPr>
        <p:spPr>
          <a:xfrm>
            <a:off x="533400" y="1340768"/>
            <a:ext cx="8153400" cy="5181600"/>
          </a:xfrm>
        </p:spPr>
        <p:txBody>
          <a:bodyPr/>
          <a:lstStyle/>
          <a:p>
            <a:pPr algn="just" eaLnBrk="1" hangingPunct="1">
              <a:lnSpc>
                <a:spcPct val="110000"/>
              </a:lnSpc>
              <a:buFont typeface="Wingdings" panose="05000000000000000000" pitchFamily="2" charset="2"/>
              <a:buNone/>
              <a:defRPr/>
            </a:pPr>
            <a:r>
              <a:rPr lang="en-US" altLang="zh-CN" sz="3600" b="1" dirty="0" smtClean="0">
                <a:solidFill>
                  <a:schemeClr val="folHlink"/>
                </a:solidFill>
              </a:rPr>
              <a:t> </a:t>
            </a:r>
            <a:r>
              <a:rPr lang="en-US" altLang="zh-CN" sz="3600" b="1" dirty="0" smtClean="0">
                <a:solidFill>
                  <a:schemeClr val="folHlink"/>
                </a:solidFill>
                <a:effectLst>
                  <a:outerShdw blurRad="38100" dist="38100" dir="2700000" algn="tl">
                    <a:srgbClr val="000000"/>
                  </a:outerShdw>
                </a:effectLst>
              </a:rPr>
              <a:t>1</a:t>
            </a:r>
            <a:r>
              <a:rPr lang="zh-CN" altLang="en-US" sz="3600" b="1" dirty="0" smtClean="0">
                <a:solidFill>
                  <a:schemeClr val="folHlink"/>
                </a:solidFill>
                <a:effectLst>
                  <a:outerShdw blurRad="38100" dist="38100" dir="2700000" algn="tl">
                    <a:srgbClr val="000000"/>
                  </a:outerShdw>
                </a:effectLst>
              </a:rPr>
              <a:t>．对换的引入</a:t>
            </a:r>
            <a:endParaRPr lang="zh-CN" altLang="en-US" sz="3600" b="1" dirty="0" smtClean="0">
              <a:solidFill>
                <a:schemeClr val="folHlink"/>
              </a:solidFill>
              <a:effectLst>
                <a:outerShdw blurRad="38100" dist="38100" dir="2700000" algn="tl">
                  <a:srgbClr val="000000"/>
                </a:outerShdw>
              </a:effectLst>
            </a:endParaRPr>
          </a:p>
          <a:p>
            <a:pPr eaLnBrk="1" hangingPunct="1">
              <a:lnSpc>
                <a:spcPct val="110000"/>
              </a:lnSpc>
              <a:defRPr/>
            </a:pPr>
            <a:r>
              <a:rPr lang="zh-CN" altLang="en-US" sz="3500" b="1" dirty="0" smtClean="0"/>
              <a:t>所谓</a:t>
            </a:r>
            <a:r>
              <a:rPr lang="zh-CN" altLang="en-US" sz="3500" b="1" dirty="0" smtClean="0">
                <a:latin typeface="Courier New" panose="02070309020205020404"/>
              </a:rPr>
              <a:t>“</a:t>
            </a:r>
            <a:r>
              <a:rPr lang="zh-CN" altLang="en-US" sz="3500" b="1" dirty="0" smtClean="0"/>
              <a:t>对换</a:t>
            </a:r>
            <a:r>
              <a:rPr lang="zh-CN" altLang="en-US" sz="3500" b="1" dirty="0" smtClean="0">
                <a:latin typeface="Courier New" panose="02070309020205020404"/>
              </a:rPr>
              <a:t>”</a:t>
            </a:r>
            <a:r>
              <a:rPr lang="zh-CN" altLang="en-US" sz="3500" b="1" dirty="0" smtClean="0"/>
              <a:t>，是指把内存中暂时不能运行的进程或者暂时不用的程序和数据，调出到外存</a:t>
            </a:r>
            <a:r>
              <a:rPr lang="en-US" altLang="zh-CN" sz="3500" b="1" dirty="0" smtClean="0"/>
              <a:t>(</a:t>
            </a:r>
            <a:r>
              <a:rPr lang="zh-CN" altLang="en-US" sz="3500" b="1" dirty="0" smtClean="0"/>
              <a:t>后备队列</a:t>
            </a:r>
            <a:r>
              <a:rPr lang="en-US" altLang="zh-CN" sz="3500" b="1" dirty="0" smtClean="0"/>
              <a:t>)</a:t>
            </a:r>
            <a:r>
              <a:rPr lang="zh-CN" altLang="en-US" sz="3500" b="1" dirty="0" smtClean="0"/>
              <a:t>上，以便腾出足够的内存空间；</a:t>
            </a:r>
            <a:endParaRPr lang="en-US" altLang="zh-CN" sz="3500" b="1" dirty="0" smtClean="0"/>
          </a:p>
          <a:p>
            <a:pPr eaLnBrk="1" hangingPunct="1">
              <a:lnSpc>
                <a:spcPct val="110000"/>
              </a:lnSpc>
              <a:defRPr/>
            </a:pPr>
            <a:r>
              <a:rPr lang="zh-CN" altLang="en-US" sz="3500" b="1" dirty="0" smtClean="0"/>
              <a:t>再把后备队列上已具备运行条件的进程或进程所需要的程序和数据，调入内存。对换是提高内存利用率的有效措施。</a:t>
            </a:r>
            <a:endParaRPr lang="zh-CN" altLang="en-US" sz="3500" b="1" dirty="0" smtClean="0"/>
          </a:p>
        </p:txBody>
      </p:sp>
      <p:sp>
        <p:nvSpPr>
          <p:cNvPr id="62467" name="Rectangle 4"/>
          <p:cNvSpPr>
            <a:spLocks noGrp="1" noRot="1" noChangeArrowheads="1"/>
          </p:cNvSpPr>
          <p:nvPr>
            <p:ph type="title"/>
          </p:nvPr>
        </p:nvSpPr>
        <p:spPr/>
        <p:txBody>
          <a:bodyPr/>
          <a:lstStyle/>
          <a:p>
            <a:pPr eaLnBrk="1" hangingPunct="1"/>
            <a:r>
              <a:rPr lang="en-US" altLang="zh-CN" b="1" smtClean="0">
                <a:solidFill>
                  <a:srgbClr val="FF0000"/>
                </a:solidFill>
              </a:rPr>
              <a:t>4.3.7 </a:t>
            </a:r>
            <a:r>
              <a:rPr lang="zh-CN" altLang="en-US" b="1" smtClean="0">
                <a:solidFill>
                  <a:srgbClr val="FF0000"/>
                </a:solidFill>
              </a:rPr>
              <a:t>对换 </a:t>
            </a:r>
            <a:endParaRPr lang="zh-CN" altLang="en-US" b="1" smtClean="0">
              <a:solidFill>
                <a:srgbClr val="FF0000"/>
              </a:solidFill>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Rot="1" noChangeArrowheads="1"/>
          </p:cNvSpPr>
          <p:nvPr>
            <p:ph type="body" idx="1"/>
          </p:nvPr>
        </p:nvSpPr>
        <p:spPr>
          <a:xfrm>
            <a:off x="533400" y="476672"/>
            <a:ext cx="8077200" cy="5976664"/>
          </a:xfrm>
        </p:spPr>
        <p:txBody>
          <a:bodyPr/>
          <a:lstStyle/>
          <a:p>
            <a:pPr eaLnBrk="1" hangingPunct="1">
              <a:lnSpc>
                <a:spcPct val="110000"/>
              </a:lnSpc>
            </a:pPr>
            <a:r>
              <a:rPr lang="zh-CN" altLang="en-US" b="1" dirty="0" smtClean="0"/>
              <a:t>如果对换是以整个进程为单位，便称之为</a:t>
            </a:r>
            <a:r>
              <a:rPr lang="zh-CN" altLang="en-US" b="1" dirty="0" smtClean="0">
                <a:latin typeface="Courier New" panose="02070309020205020404" pitchFamily="49" charset="0"/>
              </a:rPr>
              <a:t>“</a:t>
            </a:r>
            <a:r>
              <a:rPr lang="zh-CN" altLang="en-US" b="1" dirty="0" smtClean="0">
                <a:solidFill>
                  <a:schemeClr val="folHlink"/>
                </a:solidFill>
              </a:rPr>
              <a:t>整体对换</a:t>
            </a:r>
            <a:r>
              <a:rPr lang="zh-CN" altLang="en-US" b="1" dirty="0" smtClean="0">
                <a:latin typeface="Courier New" panose="02070309020205020404" pitchFamily="49" charset="0"/>
              </a:rPr>
              <a:t>”</a:t>
            </a:r>
            <a:r>
              <a:rPr lang="zh-CN" altLang="en-US" b="1" dirty="0" smtClean="0"/>
              <a:t>或</a:t>
            </a:r>
            <a:r>
              <a:rPr lang="zh-CN" altLang="en-US" b="1" dirty="0" smtClean="0">
                <a:latin typeface="Courier New" panose="02070309020205020404" pitchFamily="49" charset="0"/>
              </a:rPr>
              <a:t>“</a:t>
            </a:r>
            <a:r>
              <a:rPr lang="zh-CN" altLang="en-US" b="1" dirty="0" smtClean="0">
                <a:solidFill>
                  <a:schemeClr val="folHlink"/>
                </a:solidFill>
              </a:rPr>
              <a:t>进程对换</a:t>
            </a:r>
            <a:r>
              <a:rPr lang="zh-CN" altLang="en-US" b="1" dirty="0" smtClean="0">
                <a:latin typeface="Courier New" panose="02070309020205020404" pitchFamily="49" charset="0"/>
              </a:rPr>
              <a:t>”</a:t>
            </a:r>
            <a:r>
              <a:rPr lang="zh-CN" altLang="en-US" b="1" dirty="0" smtClean="0"/>
              <a:t>。</a:t>
            </a:r>
            <a:endParaRPr lang="en-US" altLang="zh-CN" b="1" dirty="0" smtClean="0"/>
          </a:p>
          <a:p>
            <a:pPr eaLnBrk="1" hangingPunct="1">
              <a:lnSpc>
                <a:spcPct val="110000"/>
              </a:lnSpc>
            </a:pPr>
            <a:r>
              <a:rPr lang="zh-CN" altLang="en-US" b="1" dirty="0"/>
              <a:t>如果</a:t>
            </a:r>
            <a:r>
              <a:rPr lang="zh-CN" altLang="en-US" b="1" dirty="0" smtClean="0"/>
              <a:t>对换是以一个“页面”或者“分段”为单位进行，分别称为“</a:t>
            </a:r>
            <a:r>
              <a:rPr lang="zh-CN" altLang="en-US" b="1" dirty="0" smtClean="0">
                <a:solidFill>
                  <a:srgbClr val="FF0000"/>
                </a:solidFill>
              </a:rPr>
              <a:t>页面对换</a:t>
            </a:r>
            <a:r>
              <a:rPr lang="zh-CN" altLang="en-US" b="1" dirty="0" smtClean="0"/>
              <a:t>”或“</a:t>
            </a:r>
            <a:r>
              <a:rPr lang="zh-CN" altLang="en-US" b="1" dirty="0" smtClean="0">
                <a:solidFill>
                  <a:srgbClr val="FF0000"/>
                </a:solidFill>
              </a:rPr>
              <a:t>分段对换</a:t>
            </a:r>
            <a:r>
              <a:rPr lang="zh-CN" altLang="en-US" b="1" dirty="0" smtClean="0"/>
              <a:t>”</a:t>
            </a:r>
            <a:endParaRPr lang="zh-CN" altLang="en-US" b="1" dirty="0" smtClean="0"/>
          </a:p>
          <a:p>
            <a:pPr eaLnBrk="1" hangingPunct="1">
              <a:lnSpc>
                <a:spcPct val="110000"/>
              </a:lnSpc>
            </a:pPr>
            <a:r>
              <a:rPr lang="zh-CN" altLang="en-US" b="1" dirty="0" smtClean="0"/>
              <a:t>为了实现进程对换，系统必须能实现三方面的功能：</a:t>
            </a:r>
            <a:endParaRPr lang="zh-CN" altLang="en-US" b="1" dirty="0" smtClean="0"/>
          </a:p>
          <a:p>
            <a:pPr lvl="1" eaLnBrk="1" hangingPunct="1">
              <a:lnSpc>
                <a:spcPct val="110000"/>
              </a:lnSpc>
            </a:pPr>
            <a:r>
              <a:rPr lang="zh-CN" altLang="en-US" sz="3200" b="1" dirty="0" smtClean="0">
                <a:solidFill>
                  <a:schemeClr val="folHlink"/>
                </a:solidFill>
              </a:rPr>
              <a:t>对换空间的管理</a:t>
            </a:r>
            <a:endParaRPr lang="zh-CN" altLang="en-US" sz="3200" b="1" dirty="0" smtClean="0">
              <a:solidFill>
                <a:schemeClr val="folHlink"/>
              </a:solidFill>
            </a:endParaRPr>
          </a:p>
          <a:p>
            <a:pPr lvl="1" eaLnBrk="1" hangingPunct="1">
              <a:lnSpc>
                <a:spcPct val="110000"/>
              </a:lnSpc>
            </a:pPr>
            <a:r>
              <a:rPr lang="zh-CN" altLang="en-US" sz="3200" b="1" dirty="0" smtClean="0">
                <a:solidFill>
                  <a:schemeClr val="folHlink"/>
                </a:solidFill>
              </a:rPr>
              <a:t>进程的换出</a:t>
            </a:r>
            <a:endParaRPr lang="zh-CN" altLang="en-US" sz="3200" b="1" dirty="0" smtClean="0">
              <a:solidFill>
                <a:schemeClr val="folHlink"/>
              </a:solidFill>
            </a:endParaRPr>
          </a:p>
          <a:p>
            <a:pPr lvl="1" eaLnBrk="1" hangingPunct="1">
              <a:lnSpc>
                <a:spcPct val="110000"/>
              </a:lnSpc>
            </a:pPr>
            <a:r>
              <a:rPr lang="zh-CN" altLang="en-US" sz="3200" b="1" dirty="0" smtClean="0">
                <a:solidFill>
                  <a:schemeClr val="folHlink"/>
                </a:solidFill>
              </a:rPr>
              <a:t>进程的换入</a:t>
            </a:r>
            <a:r>
              <a:rPr lang="zh-CN" altLang="en-US" sz="3200" b="1" dirty="0" smtClean="0"/>
              <a:t>   </a:t>
            </a:r>
            <a:endParaRPr lang="zh-CN" altLang="en-US" sz="3200" b="1" dirty="0" smtClean="0"/>
          </a:p>
          <a:p>
            <a:pPr eaLnBrk="1" hangingPunct="1">
              <a:lnSpc>
                <a:spcPct val="90000"/>
              </a:lnSpc>
            </a:pPr>
            <a:endParaRPr lang="en-US" altLang="zh-CN" dirty="0" smtClean="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Rot="1" noChangeArrowheads="1"/>
          </p:cNvSpPr>
          <p:nvPr>
            <p:ph/>
          </p:nvPr>
        </p:nvSpPr>
        <p:spPr>
          <a:xfrm>
            <a:off x="467544" y="404664"/>
            <a:ext cx="8077200" cy="5486400"/>
          </a:xfrm>
        </p:spPr>
        <p:txBody>
          <a:bodyPr/>
          <a:lstStyle/>
          <a:p>
            <a:pPr eaLnBrk="1" hangingPunct="1">
              <a:lnSpc>
                <a:spcPct val="110000"/>
              </a:lnSpc>
              <a:buFont typeface="Wingdings" panose="05000000000000000000" pitchFamily="2" charset="2"/>
              <a:buNone/>
              <a:defRPr/>
            </a:pPr>
            <a:r>
              <a:rPr lang="en-US" altLang="zh-CN" sz="3600" b="1" dirty="0" smtClean="0">
                <a:solidFill>
                  <a:schemeClr val="folHlink"/>
                </a:solidFill>
                <a:effectLst>
                  <a:outerShdw blurRad="38100" dist="38100" dir="2700000" algn="tl">
                    <a:srgbClr val="000000"/>
                  </a:outerShdw>
                </a:effectLst>
              </a:rPr>
              <a:t>4.4.2</a:t>
            </a:r>
            <a:r>
              <a:rPr lang="zh-CN" altLang="en-US" sz="3600" b="1" dirty="0" smtClean="0">
                <a:solidFill>
                  <a:schemeClr val="folHlink"/>
                </a:solidFill>
                <a:effectLst>
                  <a:outerShdw blurRad="38100" dist="38100" dir="2700000" algn="tl">
                    <a:srgbClr val="000000"/>
                  </a:outerShdw>
                </a:effectLst>
              </a:rPr>
              <a:t>．对换空间的管理</a:t>
            </a:r>
            <a:r>
              <a:rPr lang="zh-CN" altLang="en-US" sz="3600" dirty="0" smtClean="0">
                <a:solidFill>
                  <a:schemeClr val="folHlink"/>
                </a:solidFill>
              </a:rPr>
              <a:t> </a:t>
            </a:r>
            <a:endParaRPr lang="en-US" altLang="zh-CN" sz="3600" dirty="0" smtClean="0">
              <a:solidFill>
                <a:schemeClr val="folHlink"/>
              </a:solidFill>
            </a:endParaRPr>
          </a:p>
          <a:p>
            <a:pPr eaLnBrk="1" hangingPunct="1">
              <a:lnSpc>
                <a:spcPct val="110000"/>
              </a:lnSpc>
              <a:buFont typeface="Wingdings" panose="05000000000000000000" pitchFamily="2" charset="2"/>
              <a:buNone/>
              <a:defRPr/>
            </a:pPr>
            <a:endParaRPr lang="en-US" altLang="zh-CN" sz="3600" b="1" dirty="0" smtClean="0">
              <a:solidFill>
                <a:srgbClr val="C00000"/>
              </a:solidFill>
            </a:endParaRPr>
          </a:p>
          <a:p>
            <a:pPr eaLnBrk="1" hangingPunct="1">
              <a:lnSpc>
                <a:spcPct val="110000"/>
              </a:lnSpc>
              <a:buFont typeface="Wingdings" panose="05000000000000000000" pitchFamily="2" charset="2"/>
              <a:buNone/>
              <a:defRPr/>
            </a:pPr>
            <a:r>
              <a:rPr lang="en-US" altLang="zh-CN" sz="3600" b="1" dirty="0" smtClean="0">
                <a:solidFill>
                  <a:srgbClr val="C00000"/>
                </a:solidFill>
              </a:rPr>
              <a:t>1. </a:t>
            </a:r>
            <a:r>
              <a:rPr lang="zh-CN" altLang="en-US" sz="3600" b="1" dirty="0" smtClean="0">
                <a:solidFill>
                  <a:srgbClr val="C00000"/>
                </a:solidFill>
              </a:rPr>
              <a:t>对换空间管理的主要目标</a:t>
            </a:r>
            <a:endParaRPr lang="zh-CN" altLang="en-US" sz="3600" b="1" dirty="0" smtClean="0">
              <a:solidFill>
                <a:srgbClr val="C00000"/>
              </a:solidFill>
            </a:endParaRPr>
          </a:p>
          <a:p>
            <a:pPr eaLnBrk="1" hangingPunct="1">
              <a:lnSpc>
                <a:spcPct val="110000"/>
              </a:lnSpc>
              <a:defRPr/>
            </a:pPr>
            <a:r>
              <a:rPr lang="zh-CN" altLang="en-US" b="1" dirty="0" smtClean="0"/>
              <a:t>在具有对换功能的</a:t>
            </a:r>
            <a:r>
              <a:rPr lang="en-US" altLang="zh-CN" b="1" dirty="0" smtClean="0"/>
              <a:t>OS</a:t>
            </a:r>
            <a:r>
              <a:rPr lang="zh-CN" altLang="en-US" b="1" dirty="0" smtClean="0"/>
              <a:t>中，通常把外存分为</a:t>
            </a:r>
            <a:r>
              <a:rPr lang="zh-CN" altLang="en-US" b="1" dirty="0" smtClean="0">
                <a:solidFill>
                  <a:srgbClr val="FF0000"/>
                </a:solidFill>
              </a:rPr>
              <a:t>文件区</a:t>
            </a:r>
            <a:r>
              <a:rPr lang="zh-CN" altLang="en-US" b="1" dirty="0" smtClean="0"/>
              <a:t>和</a:t>
            </a:r>
            <a:r>
              <a:rPr lang="zh-CN" altLang="en-US" b="1" dirty="0" smtClean="0">
                <a:solidFill>
                  <a:srgbClr val="FF0000"/>
                </a:solidFill>
              </a:rPr>
              <a:t>对换区</a:t>
            </a:r>
            <a:r>
              <a:rPr lang="zh-CN" altLang="en-US" b="1" dirty="0" smtClean="0"/>
              <a:t>。</a:t>
            </a:r>
            <a:endParaRPr lang="zh-CN" altLang="en-US" b="1" dirty="0" smtClean="0"/>
          </a:p>
          <a:p>
            <a:pPr eaLnBrk="1" hangingPunct="1">
              <a:lnSpc>
                <a:spcPct val="110000"/>
              </a:lnSpc>
              <a:defRPr/>
            </a:pPr>
            <a:r>
              <a:rPr lang="zh-CN" altLang="en-US" b="1" dirty="0" smtClean="0"/>
              <a:t>进程在对换区中驻留的时间是短暂的、对换操作又较频繁</a:t>
            </a:r>
            <a:r>
              <a:rPr lang="en-US" altLang="zh-CN" b="1" dirty="0" smtClean="0"/>
              <a:t>.</a:t>
            </a:r>
            <a:endParaRPr lang="en-US" altLang="zh-CN" b="1" dirty="0" smtClean="0"/>
          </a:p>
          <a:p>
            <a:pPr eaLnBrk="1" hangingPunct="1">
              <a:lnSpc>
                <a:spcPct val="110000"/>
              </a:lnSpc>
              <a:defRPr/>
            </a:pPr>
            <a:r>
              <a:rPr lang="zh-CN" altLang="en-US" b="1" dirty="0" smtClean="0"/>
              <a:t>对换空间管理的</a:t>
            </a:r>
            <a:r>
              <a:rPr lang="zh-CN" altLang="en-US" b="1" i="1" u="sng" dirty="0" smtClean="0">
                <a:solidFill>
                  <a:srgbClr val="FF0000"/>
                </a:solidFill>
              </a:rPr>
              <a:t>目标</a:t>
            </a:r>
            <a:r>
              <a:rPr lang="zh-CN" altLang="en-US" b="1" dirty="0" smtClean="0"/>
              <a:t>：</a:t>
            </a:r>
            <a:r>
              <a:rPr lang="zh-CN" altLang="en-US" b="1" i="1" u="sng" dirty="0" smtClean="0">
                <a:solidFill>
                  <a:srgbClr val="FF0000"/>
                </a:solidFill>
              </a:rPr>
              <a:t>提高进程换入和换出的速度。</a:t>
            </a:r>
            <a:endParaRPr lang="zh-CN" altLang="en-US" b="1" i="1" u="sng" dirty="0" smtClean="0">
              <a:solidFill>
                <a:srgbClr val="FF0000"/>
              </a:solidFill>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1625" y="764704"/>
            <a:ext cx="8540750" cy="5334471"/>
          </a:xfrm>
        </p:spPr>
        <p:txBody>
          <a:bodyPr/>
          <a:lstStyle/>
          <a:p>
            <a:r>
              <a:rPr lang="en-US" altLang="zh-CN" b="1" dirty="0" smtClean="0">
                <a:solidFill>
                  <a:srgbClr val="C00000"/>
                </a:solidFill>
              </a:rPr>
              <a:t>2. </a:t>
            </a:r>
            <a:r>
              <a:rPr lang="zh-CN" altLang="en-US" b="1" dirty="0" smtClean="0">
                <a:solidFill>
                  <a:srgbClr val="C00000"/>
                </a:solidFill>
              </a:rPr>
              <a:t>对换区空闲盘块管理中的数据结构</a:t>
            </a:r>
            <a:endParaRPr lang="en-US" altLang="zh-CN" b="1" dirty="0" smtClean="0">
              <a:solidFill>
                <a:srgbClr val="C00000"/>
              </a:solidFill>
            </a:endParaRPr>
          </a:p>
          <a:p>
            <a:r>
              <a:rPr lang="zh-CN" altLang="en-US" b="1" dirty="0" smtClean="0"/>
              <a:t>在系统中配置相应的数据结构，记录外存对换区中的空闲盘块的使用情况。</a:t>
            </a:r>
            <a:endParaRPr lang="en-US" altLang="zh-CN" b="1" dirty="0" smtClean="0"/>
          </a:p>
          <a:p>
            <a:r>
              <a:rPr lang="zh-CN" altLang="en-US" b="1" dirty="0" smtClean="0"/>
              <a:t>数据结构与内存动态分区分配类似。</a:t>
            </a:r>
            <a:endParaRPr lang="en-US" altLang="zh-CN" b="1" dirty="0" smtClean="0"/>
          </a:p>
          <a:p>
            <a:endParaRPr lang="en-US" altLang="zh-CN" dirty="0"/>
          </a:p>
          <a:p>
            <a:r>
              <a:rPr lang="en-US" altLang="zh-CN" b="1" dirty="0">
                <a:solidFill>
                  <a:srgbClr val="C00000"/>
                </a:solidFill>
              </a:rPr>
              <a:t>3. </a:t>
            </a:r>
            <a:r>
              <a:rPr lang="zh-CN" altLang="en-US" b="1" dirty="0">
                <a:solidFill>
                  <a:srgbClr val="C00000"/>
                </a:solidFill>
              </a:rPr>
              <a:t>对换空间的分配与回收</a:t>
            </a:r>
            <a:endParaRPr lang="en-US" altLang="zh-CN" b="1" dirty="0">
              <a:solidFill>
                <a:srgbClr val="C00000"/>
              </a:solidFill>
            </a:endParaRPr>
          </a:p>
          <a:p>
            <a:r>
              <a:rPr lang="en-US" altLang="zh-CN" dirty="0"/>
              <a:t> </a:t>
            </a:r>
            <a:r>
              <a:rPr lang="zh-CN" altLang="en-US" b="1" dirty="0" smtClean="0"/>
              <a:t>对换分区分配采取连续分配方式，因此其空间分配和回收与内存动态分区分配方式雷同。分配算法也一样。</a:t>
            </a:r>
            <a:endParaRPr lang="zh-CN" altLang="en-US" b="1"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Rot="1" noChangeArrowheads="1"/>
          </p:cNvSpPr>
          <p:nvPr>
            <p:ph/>
          </p:nvPr>
        </p:nvSpPr>
        <p:spPr>
          <a:xfrm>
            <a:off x="457200" y="685800"/>
            <a:ext cx="8147248" cy="6019800"/>
          </a:xfrm>
        </p:spPr>
        <p:txBody>
          <a:bodyPr/>
          <a:lstStyle/>
          <a:p>
            <a:pPr eaLnBrk="1" hangingPunct="1">
              <a:buFont typeface="Wingdings" panose="05000000000000000000" pitchFamily="2" charset="2"/>
              <a:buNone/>
              <a:defRPr/>
            </a:pPr>
            <a:r>
              <a:rPr lang="en-US" altLang="zh-CN" sz="3600" b="1" dirty="0" smtClean="0">
                <a:solidFill>
                  <a:schemeClr val="folHlink"/>
                </a:solidFill>
                <a:effectLst>
                  <a:outerShdw blurRad="38100" dist="38100" dir="2700000" algn="tl">
                    <a:srgbClr val="000000"/>
                  </a:outerShdw>
                </a:effectLst>
              </a:rPr>
              <a:t>4.4.3 </a:t>
            </a:r>
            <a:r>
              <a:rPr lang="zh-CN" altLang="en-US" sz="3600" b="1" dirty="0" smtClean="0">
                <a:solidFill>
                  <a:schemeClr val="folHlink"/>
                </a:solidFill>
                <a:effectLst>
                  <a:outerShdw blurRad="38100" dist="38100" dir="2700000" algn="tl">
                    <a:srgbClr val="000000"/>
                  </a:outerShdw>
                </a:effectLst>
              </a:rPr>
              <a:t>进程的换出与换入</a:t>
            </a:r>
            <a:r>
              <a:rPr lang="zh-CN" altLang="en-US" sz="3600" b="1" dirty="0" smtClean="0"/>
              <a:t> </a:t>
            </a:r>
            <a:endParaRPr lang="en-US" altLang="zh-CN" sz="3600" b="1" dirty="0" smtClean="0"/>
          </a:p>
          <a:p>
            <a:pPr eaLnBrk="1" hangingPunct="1">
              <a:buFont typeface="Wingdings" panose="05000000000000000000" pitchFamily="2" charset="2"/>
              <a:buNone/>
              <a:defRPr/>
            </a:pPr>
            <a:endParaRPr lang="zh-CN" altLang="en-US" sz="3600" b="1" dirty="0" smtClean="0"/>
          </a:p>
          <a:p>
            <a:pPr eaLnBrk="1" hangingPunct="1">
              <a:buFont typeface="Wingdings" panose="05000000000000000000" pitchFamily="2" charset="2"/>
              <a:buNone/>
              <a:defRPr/>
            </a:pPr>
            <a:r>
              <a:rPr lang="zh-CN" altLang="en-US" sz="3600" b="1" dirty="0" smtClean="0">
                <a:solidFill>
                  <a:srgbClr val="FF0000"/>
                </a:solidFill>
              </a:rPr>
              <a:t>（</a:t>
            </a:r>
            <a:r>
              <a:rPr lang="en-US" altLang="zh-CN" sz="3600" b="1" dirty="0" smtClean="0">
                <a:solidFill>
                  <a:srgbClr val="FF0000"/>
                </a:solidFill>
              </a:rPr>
              <a:t>1</a:t>
            </a:r>
            <a:r>
              <a:rPr lang="zh-CN" altLang="en-US" sz="3600" b="1" dirty="0" smtClean="0">
                <a:solidFill>
                  <a:srgbClr val="FF0000"/>
                </a:solidFill>
              </a:rPr>
              <a:t>）进程的换出 </a:t>
            </a:r>
            <a:endParaRPr lang="zh-CN" altLang="en-US" sz="3600" b="1" dirty="0" smtClean="0">
              <a:solidFill>
                <a:srgbClr val="FF0000"/>
              </a:solidFill>
            </a:endParaRPr>
          </a:p>
          <a:p>
            <a:pPr lvl="1" algn="just" eaLnBrk="1" hangingPunct="1">
              <a:lnSpc>
                <a:spcPct val="120000"/>
              </a:lnSpc>
              <a:buFont typeface="Wingdings" panose="05000000000000000000" pitchFamily="2" charset="2"/>
              <a:buNone/>
              <a:defRPr/>
            </a:pPr>
            <a:r>
              <a:rPr lang="zh-CN" altLang="en-US" sz="3200" b="1" dirty="0" smtClean="0"/>
              <a:t>   系统选择处于</a:t>
            </a:r>
            <a:r>
              <a:rPr lang="zh-CN" altLang="en-US" sz="3200" b="1" i="1" u="sng" dirty="0" smtClean="0">
                <a:solidFill>
                  <a:schemeClr val="folHlink"/>
                </a:solidFill>
              </a:rPr>
              <a:t>阻塞状态（或者休眠</a:t>
            </a:r>
            <a:r>
              <a:rPr lang="zh-CN" altLang="en-US" sz="3200" b="1" i="1" u="sng" smtClean="0">
                <a:solidFill>
                  <a:schemeClr val="folHlink"/>
                </a:solidFill>
              </a:rPr>
              <a:t>状态）且优先级</a:t>
            </a:r>
            <a:r>
              <a:rPr lang="zh-CN" altLang="en-US" sz="3200" b="1" i="1" u="sng" dirty="0" smtClean="0">
                <a:solidFill>
                  <a:schemeClr val="folHlink"/>
                </a:solidFill>
              </a:rPr>
              <a:t>最低的进程</a:t>
            </a:r>
            <a:r>
              <a:rPr lang="zh-CN" altLang="en-US" sz="3200" b="1" dirty="0" smtClean="0"/>
              <a:t>作为换出进程，</a:t>
            </a:r>
            <a:r>
              <a:rPr lang="zh-CN" altLang="en-US" sz="3200" b="1" i="1" u="sng" dirty="0" smtClean="0">
                <a:solidFill>
                  <a:schemeClr val="folHlink"/>
                </a:solidFill>
              </a:rPr>
              <a:t>将该进程的程序和数据传送到磁盘的对换区上</a:t>
            </a:r>
            <a:r>
              <a:rPr lang="zh-CN" altLang="en-US" sz="3200" b="1" dirty="0" smtClean="0"/>
              <a:t>。然后回收该进程所占用的内存空间，并对该进程的进程控制块做相应的修改。</a:t>
            </a:r>
            <a:endParaRPr lang="zh-CN" altLang="en-US" sz="3200" b="1" dirty="0" smtClean="0"/>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9" name="Rectangle 3"/>
          <p:cNvSpPr>
            <a:spLocks noGrp="1" noRot="1" noChangeArrowheads="1"/>
          </p:cNvSpPr>
          <p:nvPr>
            <p:ph type="body" idx="1"/>
          </p:nvPr>
        </p:nvSpPr>
        <p:spPr>
          <a:xfrm>
            <a:off x="228600" y="685800"/>
            <a:ext cx="8077200" cy="4498975"/>
          </a:xfrm>
        </p:spPr>
        <p:txBody>
          <a:bodyPr/>
          <a:lstStyle/>
          <a:p>
            <a:pPr algn="just" eaLnBrk="1" hangingPunct="1">
              <a:buFont typeface="Wingdings" panose="05000000000000000000" pitchFamily="2" charset="2"/>
              <a:buNone/>
              <a:defRPr/>
            </a:pPr>
            <a:r>
              <a:rPr lang="zh-CN" altLang="en-US" b="1" dirty="0" smtClean="0">
                <a:solidFill>
                  <a:schemeClr val="folHlink"/>
                </a:solidFill>
              </a:rPr>
              <a:t>（</a:t>
            </a:r>
            <a:r>
              <a:rPr lang="en-US" altLang="zh-CN" b="1" dirty="0" smtClean="0">
                <a:solidFill>
                  <a:schemeClr val="folHlink"/>
                </a:solidFill>
              </a:rPr>
              <a:t>2</a:t>
            </a:r>
            <a:r>
              <a:rPr lang="zh-CN" altLang="en-US" b="1" dirty="0" smtClean="0">
                <a:solidFill>
                  <a:schemeClr val="folHlink"/>
                </a:solidFill>
              </a:rPr>
              <a:t>）进程的换入 （一般由调度程序实现）</a:t>
            </a:r>
            <a:endParaRPr lang="en-US" altLang="zh-CN" b="1" dirty="0" smtClean="0">
              <a:solidFill>
                <a:schemeClr val="folHlink"/>
              </a:solidFill>
            </a:endParaRPr>
          </a:p>
          <a:p>
            <a:pPr algn="just" eaLnBrk="1" hangingPunct="1">
              <a:buFont typeface="Wingdings" panose="05000000000000000000" pitchFamily="2" charset="2"/>
              <a:buNone/>
              <a:defRPr/>
            </a:pPr>
            <a:endParaRPr lang="zh-CN" altLang="en-US" b="1" dirty="0" smtClean="0">
              <a:solidFill>
                <a:schemeClr val="folHlink"/>
              </a:solidFill>
            </a:endParaRPr>
          </a:p>
          <a:p>
            <a:pPr lvl="1" algn="just" eaLnBrk="1" hangingPunct="1">
              <a:defRPr/>
            </a:pPr>
            <a:r>
              <a:rPr lang="zh-CN" altLang="en-US" sz="3200" b="1" dirty="0" smtClean="0"/>
              <a:t>系统定时地查看所有进程的状态，从中找出</a:t>
            </a:r>
            <a:r>
              <a:rPr lang="zh-CN" altLang="en-US" sz="3200" b="1" dirty="0" smtClean="0">
                <a:latin typeface="Courier New" panose="02070309020205020404"/>
              </a:rPr>
              <a:t>“</a:t>
            </a:r>
            <a:r>
              <a:rPr lang="zh-CN" altLang="en-US" sz="3200" b="1" dirty="0" smtClean="0"/>
              <a:t>就绪</a:t>
            </a:r>
            <a:r>
              <a:rPr lang="zh-CN" altLang="en-US" sz="3200" b="1" dirty="0" smtClean="0">
                <a:latin typeface="Courier New" panose="02070309020205020404"/>
              </a:rPr>
              <a:t>”</a:t>
            </a:r>
            <a:r>
              <a:rPr lang="zh-CN" altLang="en-US" sz="3200" b="1" dirty="0" smtClean="0"/>
              <a:t>状态但已换出的进程；</a:t>
            </a:r>
            <a:endParaRPr lang="zh-CN" altLang="en-US" sz="3200" b="1" dirty="0" smtClean="0"/>
          </a:p>
          <a:p>
            <a:pPr lvl="1" algn="just" eaLnBrk="1" hangingPunct="1">
              <a:defRPr/>
            </a:pPr>
            <a:r>
              <a:rPr lang="zh-CN" altLang="en-US" sz="3200" b="1" dirty="0" smtClean="0"/>
              <a:t>将其中换出时间最久的进程作为换入进程；</a:t>
            </a:r>
            <a:endParaRPr lang="zh-CN" altLang="en-US" sz="3200" b="1" dirty="0" smtClean="0"/>
          </a:p>
          <a:p>
            <a:pPr lvl="1" algn="just" eaLnBrk="1" hangingPunct="1">
              <a:defRPr/>
            </a:pPr>
            <a:r>
              <a:rPr lang="zh-CN" altLang="en-US" sz="3200" b="1" dirty="0" smtClean="0"/>
              <a:t>有能满足进程需要的内存时可将之换入。</a:t>
            </a:r>
            <a:endParaRPr lang="zh-CN" altLang="en-US" sz="3200" b="1" dirty="0" smtClean="0"/>
          </a:p>
          <a:p>
            <a:pPr algn="just" eaLnBrk="1" hangingPunct="1">
              <a:buFont typeface="Wingdings" panose="05000000000000000000" pitchFamily="2" charset="2"/>
              <a:buNone/>
              <a:defRPr/>
            </a:pPr>
            <a:r>
              <a:rPr lang="zh-CN" altLang="en-US" b="1" dirty="0" smtClean="0">
                <a:solidFill>
                  <a:schemeClr val="folHlink"/>
                </a:solidFill>
                <a:effectLst>
                  <a:outerShdw blurRad="38100" dist="38100" dir="2700000" algn="tl">
                    <a:srgbClr val="000000"/>
                  </a:outerShdw>
                </a:effectLst>
              </a:rPr>
              <a:t>	注意</a:t>
            </a:r>
            <a:r>
              <a:rPr lang="zh-CN" altLang="en-US" b="1" dirty="0" smtClean="0">
                <a:solidFill>
                  <a:schemeClr val="folHlink"/>
                </a:solidFill>
              </a:rPr>
              <a:t>：</a:t>
            </a:r>
            <a:r>
              <a:rPr lang="zh-CN" altLang="en-US" b="1" dirty="0" smtClean="0"/>
              <a:t>为了避免频繁的换进换出，设置换出的一个时间限制。例如在内存至少驻留</a:t>
            </a:r>
            <a:r>
              <a:rPr lang="en-US" altLang="zh-CN" b="1" dirty="0" smtClean="0"/>
              <a:t>2</a:t>
            </a:r>
            <a:r>
              <a:rPr lang="zh-CN" altLang="en-US" b="1" dirty="0" smtClean="0"/>
              <a:t>秒钟才能换出。</a:t>
            </a:r>
            <a:endParaRPr lang="zh-CN" altLang="en-US" b="1" dirty="0" smtClean="0"/>
          </a:p>
          <a:p>
            <a:pPr eaLnBrk="1" hangingPunct="1">
              <a:defRPr/>
            </a:pPr>
            <a:endParaRPr lang="en-US" altLang="zh-CN" dirty="0" smtClean="0"/>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rrowheads="1"/>
          </p:cNvSpPr>
          <p:nvPr>
            <p:ph type="title"/>
          </p:nvPr>
        </p:nvSpPr>
        <p:spPr/>
        <p:txBody>
          <a:bodyPr/>
          <a:lstStyle/>
          <a:p>
            <a:pPr eaLnBrk="1" hangingPunct="1"/>
            <a:r>
              <a:rPr lang="zh-CN" altLang="en-US" b="1" smtClean="0">
                <a:solidFill>
                  <a:schemeClr val="folHlink"/>
                </a:solidFill>
              </a:rPr>
              <a:t>思考：</a:t>
            </a:r>
            <a:endParaRPr lang="zh-CN" altLang="en-US" b="1" smtClean="0">
              <a:solidFill>
                <a:schemeClr val="folHlink"/>
              </a:solidFill>
            </a:endParaRPr>
          </a:p>
        </p:txBody>
      </p:sp>
      <p:sp>
        <p:nvSpPr>
          <p:cNvPr id="67587" name="Rectangle 3"/>
          <p:cNvSpPr>
            <a:spLocks noGrp="1" noRot="1" noChangeArrowheads="1"/>
          </p:cNvSpPr>
          <p:nvPr>
            <p:ph type="body" idx="1"/>
          </p:nvPr>
        </p:nvSpPr>
        <p:spPr/>
        <p:txBody>
          <a:bodyPr/>
          <a:lstStyle/>
          <a:p>
            <a:pPr eaLnBrk="1" hangingPunct="1"/>
            <a:r>
              <a:rPr lang="zh-CN" altLang="en-US" b="1" smtClean="0"/>
              <a:t>连续分配方式有什么优缺点？</a:t>
            </a:r>
            <a:endParaRPr lang="zh-CN" altLang="en-US" b="1" smtClean="0"/>
          </a:p>
          <a:p>
            <a:pPr eaLnBrk="1" hangingPunct="1"/>
            <a:r>
              <a:rPr lang="zh-CN" altLang="en-US" b="1" smtClean="0"/>
              <a:t>有没有更好的分配方式？</a:t>
            </a:r>
            <a:endParaRPr lang="zh-CN" altLang="en-US" b="1" smtClean="0"/>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Rot="1" noChangeArrowheads="1"/>
          </p:cNvSpPr>
          <p:nvPr>
            <p:ph type="body" idx="1"/>
          </p:nvPr>
        </p:nvSpPr>
        <p:spPr>
          <a:xfrm>
            <a:off x="685800" y="1752600"/>
            <a:ext cx="7772400" cy="4191000"/>
          </a:xfrm>
        </p:spPr>
        <p:txBody>
          <a:bodyPr/>
          <a:lstStyle/>
          <a:p>
            <a:pPr eaLnBrk="1" hangingPunct="1">
              <a:lnSpc>
                <a:spcPct val="110000"/>
              </a:lnSpc>
            </a:pPr>
            <a:r>
              <a:rPr lang="zh-CN" altLang="en-US" b="1" dirty="0" smtClean="0">
                <a:solidFill>
                  <a:schemeClr val="folHlink"/>
                </a:solidFill>
              </a:rPr>
              <a:t>离散分配方式</a:t>
            </a:r>
            <a:r>
              <a:rPr lang="en-US" altLang="zh-CN" b="1" dirty="0" smtClean="0">
                <a:solidFill>
                  <a:schemeClr val="folHlink"/>
                </a:solidFill>
              </a:rPr>
              <a:t>:</a:t>
            </a:r>
            <a:endParaRPr lang="en-US" altLang="zh-CN" b="1" dirty="0" smtClean="0">
              <a:solidFill>
                <a:schemeClr val="folHlink"/>
              </a:solidFill>
            </a:endParaRPr>
          </a:p>
          <a:p>
            <a:pPr eaLnBrk="1" hangingPunct="1">
              <a:lnSpc>
                <a:spcPct val="110000"/>
              </a:lnSpc>
              <a:buFont typeface="Wingdings" panose="05000000000000000000" pitchFamily="2" charset="2"/>
              <a:buNone/>
            </a:pPr>
            <a:r>
              <a:rPr lang="en-US" altLang="zh-CN" b="1" dirty="0" smtClean="0">
                <a:solidFill>
                  <a:schemeClr val="folHlink"/>
                </a:solidFill>
              </a:rPr>
              <a:t>	</a:t>
            </a:r>
            <a:r>
              <a:rPr lang="zh-CN" altLang="en-US" b="1" dirty="0" smtClean="0"/>
              <a:t>为进程分配空间不要求具有连续的空间</a:t>
            </a:r>
            <a:r>
              <a:rPr lang="en-US" altLang="zh-CN" b="1" dirty="0" smtClean="0"/>
              <a:t>,</a:t>
            </a:r>
            <a:r>
              <a:rPr lang="zh-CN" altLang="en-US" b="1" dirty="0" smtClean="0"/>
              <a:t>可以是多个分离的空间为进程占用。</a:t>
            </a:r>
            <a:endParaRPr lang="zh-CN" altLang="en-US" b="1" dirty="0" smtClean="0"/>
          </a:p>
          <a:p>
            <a:pPr eaLnBrk="1" hangingPunct="1">
              <a:lnSpc>
                <a:spcPct val="110000"/>
              </a:lnSpc>
            </a:pPr>
            <a:r>
              <a:rPr lang="zh-CN" altLang="en-US" b="1" dirty="0" smtClean="0">
                <a:solidFill>
                  <a:srgbClr val="FF0000"/>
                </a:solidFill>
              </a:rPr>
              <a:t>采用离散分配方式的存储管理有：</a:t>
            </a:r>
            <a:endParaRPr lang="zh-CN" altLang="en-US" b="1" dirty="0" smtClean="0">
              <a:solidFill>
                <a:srgbClr val="FF0000"/>
              </a:solidFill>
            </a:endParaRPr>
          </a:p>
          <a:p>
            <a:pPr lvl="1" eaLnBrk="1" hangingPunct="1">
              <a:lnSpc>
                <a:spcPct val="110000"/>
              </a:lnSpc>
            </a:pPr>
            <a:r>
              <a:rPr lang="zh-CN" altLang="en-US" b="1" dirty="0" smtClean="0"/>
              <a:t>分页存储管理</a:t>
            </a:r>
            <a:endParaRPr lang="zh-CN" altLang="en-US" b="1" dirty="0" smtClean="0"/>
          </a:p>
          <a:p>
            <a:pPr lvl="1" eaLnBrk="1" hangingPunct="1">
              <a:lnSpc>
                <a:spcPct val="110000"/>
              </a:lnSpc>
            </a:pPr>
            <a:r>
              <a:rPr lang="zh-CN" altLang="en-US" b="1" dirty="0" smtClean="0"/>
              <a:t>段式存储管理</a:t>
            </a:r>
            <a:endParaRPr lang="zh-CN" altLang="en-US" b="1" dirty="0" smtClean="0"/>
          </a:p>
          <a:p>
            <a:pPr lvl="1" eaLnBrk="1" hangingPunct="1">
              <a:lnSpc>
                <a:spcPct val="110000"/>
              </a:lnSpc>
            </a:pPr>
            <a:r>
              <a:rPr lang="zh-CN" altLang="en-US" b="1" dirty="0" smtClean="0"/>
              <a:t>段页式存储管理</a:t>
            </a:r>
            <a:endParaRPr lang="zh-CN" altLang="en-US" b="1" dirty="0" smtClean="0"/>
          </a:p>
        </p:txBody>
      </p:sp>
      <p:sp>
        <p:nvSpPr>
          <p:cNvPr id="68611" name="Rectangle 4"/>
          <p:cNvSpPr>
            <a:spLocks noGrp="1" noRot="1" noChangeArrowheads="1"/>
          </p:cNvSpPr>
          <p:nvPr>
            <p:ph type="title"/>
          </p:nvPr>
        </p:nvSpPr>
        <p:spPr/>
        <p:txBody>
          <a:bodyPr/>
          <a:lstStyle/>
          <a:p>
            <a:pPr eaLnBrk="1" hangingPunct="1"/>
            <a:r>
              <a:rPr lang="en-US" altLang="zh-CN" b="1" dirty="0" smtClean="0">
                <a:solidFill>
                  <a:srgbClr val="FF0000"/>
                </a:solidFill>
              </a:rPr>
              <a:t>4.5 </a:t>
            </a:r>
            <a:r>
              <a:rPr lang="zh-CN" altLang="en-US" b="1" dirty="0" smtClean="0">
                <a:solidFill>
                  <a:srgbClr val="FF0000"/>
                </a:solidFill>
              </a:rPr>
              <a:t>分页存储管理方式</a:t>
            </a:r>
            <a:endParaRPr lang="zh-CN" altLang="en-US" b="1" dirty="0" smtClean="0">
              <a:solidFill>
                <a:srgbClr val="FF0000"/>
              </a:solidFill>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rrowheads="1"/>
          </p:cNvSpPr>
          <p:nvPr>
            <p:ph type="title"/>
          </p:nvPr>
        </p:nvSpPr>
        <p:spPr>
          <a:xfrm>
            <a:off x="228600" y="381000"/>
            <a:ext cx="8663880" cy="1143000"/>
          </a:xfrm>
        </p:spPr>
        <p:txBody>
          <a:bodyPr/>
          <a:lstStyle/>
          <a:p>
            <a:pPr eaLnBrk="1" hangingPunct="1"/>
            <a:r>
              <a:rPr lang="en-US" altLang="zh-CN" b="1" dirty="0" smtClean="0">
                <a:solidFill>
                  <a:srgbClr val="FF0000"/>
                </a:solidFill>
              </a:rPr>
              <a:t>4.5.1 </a:t>
            </a:r>
            <a:r>
              <a:rPr lang="zh-CN" altLang="en-US" b="1" dirty="0" smtClean="0">
                <a:solidFill>
                  <a:srgbClr val="FF0000"/>
                </a:solidFill>
              </a:rPr>
              <a:t>分页存储管理的基本方法</a:t>
            </a:r>
            <a:endParaRPr lang="zh-CN" altLang="en-US" b="1" dirty="0" smtClean="0">
              <a:solidFill>
                <a:srgbClr val="FF0000"/>
              </a:solidFill>
            </a:endParaRPr>
          </a:p>
        </p:txBody>
      </p:sp>
      <p:sp>
        <p:nvSpPr>
          <p:cNvPr id="69635" name="Rectangle 3"/>
          <p:cNvSpPr>
            <a:spLocks noGrp="1" noRot="1" noChangeArrowheads="1"/>
          </p:cNvSpPr>
          <p:nvPr>
            <p:ph type="body" idx="1"/>
          </p:nvPr>
        </p:nvSpPr>
        <p:spPr>
          <a:xfrm>
            <a:off x="228600" y="1600200"/>
            <a:ext cx="8305800" cy="4953000"/>
          </a:xfrm>
        </p:spPr>
        <p:txBody>
          <a:bodyPr/>
          <a:lstStyle/>
          <a:p>
            <a:pPr eaLnBrk="1" hangingPunct="1">
              <a:lnSpc>
                <a:spcPct val="110000"/>
              </a:lnSpc>
            </a:pPr>
            <a:r>
              <a:rPr lang="en-US" altLang="zh-CN" sz="3600" b="1" dirty="0" smtClean="0">
                <a:solidFill>
                  <a:schemeClr val="folHlink"/>
                </a:solidFill>
              </a:rPr>
              <a:t>1.</a:t>
            </a:r>
            <a:r>
              <a:rPr lang="zh-CN" altLang="en-US" sz="3600" b="1" dirty="0" smtClean="0">
                <a:solidFill>
                  <a:schemeClr val="folHlink"/>
                </a:solidFill>
              </a:rPr>
              <a:t>页面和物理块</a:t>
            </a:r>
            <a:endParaRPr lang="en-US" altLang="zh-CN" sz="3600" b="1" dirty="0" smtClean="0">
              <a:solidFill>
                <a:schemeClr val="folHlink"/>
              </a:solidFill>
            </a:endParaRPr>
          </a:p>
          <a:p>
            <a:pPr eaLnBrk="1" hangingPunct="1">
              <a:lnSpc>
                <a:spcPct val="110000"/>
              </a:lnSpc>
            </a:pPr>
            <a:r>
              <a:rPr lang="zh-CN" altLang="en-US" sz="3600" b="1" dirty="0" smtClean="0">
                <a:solidFill>
                  <a:schemeClr val="folHlink"/>
                </a:solidFill>
              </a:rPr>
              <a:t>（</a:t>
            </a:r>
            <a:r>
              <a:rPr lang="en-US" altLang="zh-CN" sz="3600" b="1" dirty="0" smtClean="0">
                <a:solidFill>
                  <a:schemeClr val="folHlink"/>
                </a:solidFill>
              </a:rPr>
              <a:t>1</a:t>
            </a:r>
            <a:r>
              <a:rPr lang="zh-CN" altLang="en-US" sz="3600" b="1" dirty="0" smtClean="0">
                <a:solidFill>
                  <a:schemeClr val="folHlink"/>
                </a:solidFill>
              </a:rPr>
              <a:t>）页面</a:t>
            </a:r>
            <a:endParaRPr lang="en-US" altLang="zh-CN" sz="3600" b="1" dirty="0" smtClean="0">
              <a:solidFill>
                <a:schemeClr val="folHlink"/>
              </a:solidFill>
            </a:endParaRPr>
          </a:p>
          <a:p>
            <a:pPr lvl="1" eaLnBrk="1" hangingPunct="1">
              <a:lnSpc>
                <a:spcPct val="110000"/>
              </a:lnSpc>
            </a:pPr>
            <a:r>
              <a:rPr lang="zh-CN" altLang="en-US" sz="3200" b="1" dirty="0" smtClean="0"/>
              <a:t>将一个进程的</a:t>
            </a:r>
            <a:r>
              <a:rPr lang="zh-CN" altLang="en-US" sz="3200" b="1" dirty="0" smtClean="0">
                <a:solidFill>
                  <a:schemeClr val="folHlink"/>
                </a:solidFill>
              </a:rPr>
              <a:t>逻辑地址空间分成</a:t>
            </a:r>
            <a:r>
              <a:rPr lang="zh-CN" altLang="en-US" sz="3200" b="1" dirty="0" smtClean="0"/>
              <a:t>若干个大小相等的片，称为</a:t>
            </a:r>
            <a:r>
              <a:rPr lang="zh-CN" altLang="en-US" sz="3200" b="1" i="1" u="sng" dirty="0" smtClean="0">
                <a:solidFill>
                  <a:schemeClr val="folHlink"/>
                </a:solidFill>
              </a:rPr>
              <a:t>页面或页</a:t>
            </a:r>
            <a:r>
              <a:rPr lang="zh-CN" altLang="en-US" sz="3200" b="1" dirty="0" smtClean="0"/>
              <a:t>。</a:t>
            </a:r>
            <a:endParaRPr lang="zh-CN" altLang="en-US" sz="3200" b="1" dirty="0" smtClean="0"/>
          </a:p>
          <a:p>
            <a:pPr lvl="1" eaLnBrk="1" hangingPunct="1">
              <a:lnSpc>
                <a:spcPct val="110000"/>
              </a:lnSpc>
            </a:pPr>
            <a:r>
              <a:rPr lang="zh-CN" altLang="en-US" sz="3200" b="1" dirty="0" smtClean="0"/>
              <a:t>相应地，也把</a:t>
            </a:r>
            <a:r>
              <a:rPr lang="zh-CN" altLang="en-US" sz="3200" b="1" dirty="0" smtClean="0">
                <a:solidFill>
                  <a:schemeClr val="folHlink"/>
                </a:solidFill>
              </a:rPr>
              <a:t>内存空间分成</a:t>
            </a:r>
            <a:r>
              <a:rPr lang="zh-CN" altLang="en-US" sz="3200" b="1" dirty="0" smtClean="0"/>
              <a:t>与页面相同大小的若干个存储块，称为</a:t>
            </a:r>
            <a:r>
              <a:rPr lang="zh-CN" altLang="en-US" sz="3200" b="1" i="1" u="sng" dirty="0" smtClean="0"/>
              <a:t>（</a:t>
            </a:r>
            <a:r>
              <a:rPr lang="zh-CN" altLang="en-US" sz="3200" b="1" i="1" u="sng" dirty="0" smtClean="0">
                <a:solidFill>
                  <a:schemeClr val="folHlink"/>
                </a:solidFill>
              </a:rPr>
              <a:t>物理）块或页框</a:t>
            </a:r>
            <a:r>
              <a:rPr lang="zh-CN" altLang="en-US" sz="3200" b="1" dirty="0" smtClean="0">
                <a:solidFill>
                  <a:schemeClr val="folHlink"/>
                </a:solidFill>
              </a:rPr>
              <a:t>。</a:t>
            </a:r>
            <a:endParaRPr lang="zh-CN" altLang="en-US" sz="3200" b="1" dirty="0" smtClean="0"/>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p:cNvSpPr>
            <a:spLocks noGrp="1"/>
          </p:cNvSpPr>
          <p:nvPr>
            <p:ph idx="1"/>
          </p:nvPr>
        </p:nvSpPr>
        <p:spPr>
          <a:xfrm>
            <a:off x="251520" y="908720"/>
            <a:ext cx="8305800" cy="4498975"/>
          </a:xfrm>
        </p:spPr>
        <p:txBody>
          <a:bodyPr/>
          <a:lstStyle/>
          <a:p>
            <a:pPr lvl="1" eaLnBrk="1" hangingPunct="1">
              <a:lnSpc>
                <a:spcPct val="110000"/>
              </a:lnSpc>
            </a:pPr>
            <a:r>
              <a:rPr lang="zh-CN" altLang="en-US" sz="3200" b="1" dirty="0" smtClean="0"/>
              <a:t>在为进程分配内存时，以块为单位将进程中的若干个</a:t>
            </a:r>
            <a:r>
              <a:rPr lang="zh-CN" altLang="en-US" sz="3200" b="1" dirty="0" smtClean="0">
                <a:solidFill>
                  <a:schemeClr val="folHlink"/>
                </a:solidFill>
              </a:rPr>
              <a:t>页分别装入到</a:t>
            </a:r>
            <a:r>
              <a:rPr lang="zh-CN" altLang="en-US" sz="3200" b="1" dirty="0" smtClean="0"/>
              <a:t>多个</a:t>
            </a:r>
            <a:r>
              <a:rPr lang="zh-CN" altLang="en-US" sz="3200" b="1" i="1" u="sng" dirty="0" smtClean="0">
                <a:solidFill>
                  <a:srgbClr val="FF0000"/>
                </a:solidFill>
              </a:rPr>
              <a:t>可以不相邻接</a:t>
            </a:r>
            <a:r>
              <a:rPr lang="zh-CN" altLang="en-US" sz="3200" b="1" dirty="0" smtClean="0"/>
              <a:t>的</a:t>
            </a:r>
            <a:r>
              <a:rPr lang="zh-CN" altLang="en-US" sz="3200" b="1" dirty="0" smtClean="0">
                <a:solidFill>
                  <a:schemeClr val="folHlink"/>
                </a:solidFill>
              </a:rPr>
              <a:t>物理块</a:t>
            </a:r>
            <a:r>
              <a:rPr lang="zh-CN" altLang="en-US" sz="3200" b="1" dirty="0" smtClean="0"/>
              <a:t>中。</a:t>
            </a:r>
            <a:endParaRPr lang="en-US" altLang="zh-CN" sz="3200" b="1" dirty="0" smtClean="0"/>
          </a:p>
          <a:p>
            <a:pPr lvl="1" eaLnBrk="1" hangingPunct="1">
              <a:lnSpc>
                <a:spcPct val="110000"/>
              </a:lnSpc>
            </a:pPr>
            <a:endParaRPr lang="zh-CN" altLang="en-US" sz="3200" b="1" dirty="0" smtClean="0"/>
          </a:p>
          <a:p>
            <a:pPr lvl="1" eaLnBrk="1" hangingPunct="1">
              <a:lnSpc>
                <a:spcPct val="110000"/>
              </a:lnSpc>
            </a:pPr>
            <a:r>
              <a:rPr lang="zh-CN" altLang="en-US" sz="3200" b="1" dirty="0" smtClean="0"/>
              <a:t>由于进程的最后一页经常装不满一块而形成了不可利用的碎片，称之为</a:t>
            </a:r>
            <a:r>
              <a:rPr lang="zh-CN" altLang="en-US" sz="3200" b="1" dirty="0" smtClean="0">
                <a:latin typeface="Courier New" panose="02070309020205020404" pitchFamily="49" charset="0"/>
              </a:rPr>
              <a:t>“</a:t>
            </a:r>
            <a:r>
              <a:rPr lang="zh-CN" altLang="en-US" sz="3200" b="1" dirty="0" smtClean="0"/>
              <a:t>页内碎片</a:t>
            </a:r>
            <a:r>
              <a:rPr lang="zh-CN" altLang="en-US" sz="3200" b="1" dirty="0" smtClean="0">
                <a:latin typeface="Courier New" panose="02070309020205020404" pitchFamily="49" charset="0"/>
              </a:rPr>
              <a:t>”</a:t>
            </a:r>
            <a:r>
              <a:rPr lang="zh-CN" altLang="en-US" sz="3200" b="1" dirty="0" smtClean="0"/>
              <a:t>或称为</a:t>
            </a:r>
            <a:r>
              <a:rPr lang="zh-CN" altLang="en-US" sz="3200" b="1" dirty="0" smtClean="0">
                <a:latin typeface="Courier New" panose="02070309020205020404" pitchFamily="49" charset="0"/>
              </a:rPr>
              <a:t>“</a:t>
            </a:r>
            <a:r>
              <a:rPr lang="zh-CN" altLang="en-US" sz="3200" b="1" dirty="0" smtClean="0"/>
              <a:t>内零头</a:t>
            </a:r>
            <a:r>
              <a:rPr lang="zh-CN" altLang="en-US" sz="3200" b="1" dirty="0" smtClean="0">
                <a:latin typeface="Courier New" panose="02070309020205020404" pitchFamily="49" charset="0"/>
              </a:rPr>
              <a:t>”</a:t>
            </a:r>
            <a:r>
              <a:rPr lang="zh-CN" altLang="en-US" sz="3200" b="1" dirty="0" smtClean="0"/>
              <a:t>。 </a:t>
            </a:r>
            <a:endParaRPr lang="zh-CN" altLang="en-US" sz="3200" b="1" dirty="0" smtClean="0"/>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Rot="1" noChangeArrowheads="1"/>
          </p:cNvSpPr>
          <p:nvPr>
            <p:ph type="body" idx="1"/>
          </p:nvPr>
        </p:nvSpPr>
        <p:spPr>
          <a:xfrm>
            <a:off x="298648" y="174848"/>
            <a:ext cx="8305800" cy="5486400"/>
          </a:xfrm>
        </p:spPr>
        <p:txBody>
          <a:bodyPr/>
          <a:lstStyle/>
          <a:p>
            <a:pPr marL="609600" indent="-609600" eaLnBrk="1" hangingPunct="1">
              <a:lnSpc>
                <a:spcPct val="110000"/>
              </a:lnSpc>
              <a:buFontTx/>
              <a:buNone/>
            </a:pPr>
            <a:endParaRPr lang="en-US" altLang="zh-CN" b="1" dirty="0" smtClean="0"/>
          </a:p>
          <a:p>
            <a:pPr marL="609600" indent="-609600" algn="just" eaLnBrk="1" hangingPunct="1">
              <a:lnSpc>
                <a:spcPct val="110000"/>
              </a:lnSpc>
            </a:pPr>
            <a:r>
              <a:rPr lang="zh-CN" altLang="en-US" sz="3600" b="1" dirty="0" smtClean="0">
                <a:solidFill>
                  <a:srgbClr val="FF0000"/>
                </a:solidFill>
              </a:rPr>
              <a:t>（</a:t>
            </a:r>
            <a:r>
              <a:rPr lang="en-US" altLang="zh-CN" sz="3600" b="1" dirty="0" smtClean="0">
                <a:solidFill>
                  <a:srgbClr val="FF0000"/>
                </a:solidFill>
              </a:rPr>
              <a:t>2</a:t>
            </a:r>
            <a:r>
              <a:rPr lang="zh-CN" altLang="en-US" sz="3600" b="1" dirty="0" smtClean="0">
                <a:solidFill>
                  <a:srgbClr val="FF0000"/>
                </a:solidFill>
              </a:rPr>
              <a:t>）页面大小</a:t>
            </a:r>
            <a:endParaRPr lang="en-US" altLang="zh-CN" sz="3600" b="1" dirty="0" smtClean="0">
              <a:solidFill>
                <a:srgbClr val="FF0000"/>
              </a:solidFill>
            </a:endParaRPr>
          </a:p>
          <a:p>
            <a:pPr marL="609600" indent="-609600" algn="just" eaLnBrk="1" hangingPunct="1">
              <a:lnSpc>
                <a:spcPct val="110000"/>
              </a:lnSpc>
            </a:pPr>
            <a:r>
              <a:rPr lang="zh-CN" altLang="en-US" b="1" dirty="0" smtClean="0"/>
              <a:t>如果选择的页面较大，虽然可以减少页表的长度，提高页面换进换出的速度，但却又会使页内碎片增大。</a:t>
            </a:r>
            <a:endParaRPr lang="en-US" altLang="zh-CN" b="1" dirty="0" smtClean="0"/>
          </a:p>
          <a:p>
            <a:pPr marL="609600" indent="-609600" algn="just" eaLnBrk="1" hangingPunct="1">
              <a:lnSpc>
                <a:spcPct val="110000"/>
              </a:lnSpc>
            </a:pPr>
            <a:r>
              <a:rPr lang="zh-CN" altLang="en-US" b="1" dirty="0" smtClean="0"/>
              <a:t>页面的大小应选择得适中，且页面大小应是</a:t>
            </a:r>
            <a:r>
              <a:rPr lang="en-US" altLang="zh-CN" b="1" dirty="0" smtClean="0"/>
              <a:t>2</a:t>
            </a:r>
            <a:r>
              <a:rPr lang="zh-CN" altLang="en-US" b="1" dirty="0" smtClean="0"/>
              <a:t>的幂，通常为</a:t>
            </a:r>
            <a:r>
              <a:rPr lang="en-US" altLang="zh-CN" b="1" dirty="0" smtClean="0"/>
              <a:t>512B</a:t>
            </a:r>
            <a:r>
              <a:rPr lang="zh-CN" altLang="en-US" b="1" dirty="0" smtClean="0"/>
              <a:t>～</a:t>
            </a:r>
            <a:r>
              <a:rPr lang="en-US" altLang="zh-CN" b="1" dirty="0" smtClean="0"/>
              <a:t>8KB</a:t>
            </a:r>
            <a:r>
              <a:rPr lang="zh-CN" altLang="en-US" b="1" dirty="0" smtClean="0"/>
              <a:t>。</a:t>
            </a:r>
            <a:endParaRPr lang="zh-CN" altLang="en-US" b="1" dirty="0" smtClean="0"/>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rrowheads="1"/>
          </p:cNvSpPr>
          <p:nvPr>
            <p:ph type="title"/>
          </p:nvPr>
        </p:nvSpPr>
        <p:spPr>
          <a:xfrm>
            <a:off x="533400" y="116632"/>
            <a:ext cx="8077200" cy="1066800"/>
          </a:xfrm>
        </p:spPr>
        <p:txBody>
          <a:bodyPr/>
          <a:lstStyle/>
          <a:p>
            <a:pPr eaLnBrk="1" hangingPunct="1"/>
            <a:r>
              <a:rPr lang="en-US" altLang="zh-CN" b="1" dirty="0" smtClean="0">
                <a:solidFill>
                  <a:srgbClr val="FF0000"/>
                </a:solidFill>
              </a:rPr>
              <a:t>2.</a:t>
            </a:r>
            <a:r>
              <a:rPr lang="zh-CN" altLang="en-US" b="1" dirty="0" smtClean="0">
                <a:solidFill>
                  <a:srgbClr val="FF0000"/>
                </a:solidFill>
              </a:rPr>
              <a:t>地址结构</a:t>
            </a:r>
            <a:endParaRPr lang="zh-CN" altLang="en-US" b="1" dirty="0" smtClean="0">
              <a:solidFill>
                <a:srgbClr val="FF0000"/>
              </a:solidFill>
            </a:endParaRPr>
          </a:p>
        </p:txBody>
      </p:sp>
      <p:sp>
        <p:nvSpPr>
          <p:cNvPr id="72707" name="Rectangle 3"/>
          <p:cNvSpPr>
            <a:spLocks noGrp="1" noRot="1" noChangeArrowheads="1"/>
          </p:cNvSpPr>
          <p:nvPr>
            <p:ph type="body" sz="half" idx="1"/>
          </p:nvPr>
        </p:nvSpPr>
        <p:spPr>
          <a:xfrm>
            <a:off x="323528" y="1123990"/>
            <a:ext cx="8496944" cy="2876550"/>
          </a:xfrm>
        </p:spPr>
        <p:txBody>
          <a:bodyPr/>
          <a:lstStyle/>
          <a:p>
            <a:pPr eaLnBrk="1" hangingPunct="1"/>
            <a:r>
              <a:rPr lang="zh-CN" altLang="en-US" sz="3000" b="1" dirty="0" smtClean="0"/>
              <a:t>地址空间为程序限定的空间。</a:t>
            </a:r>
            <a:endParaRPr lang="zh-CN" altLang="en-US" sz="3000" b="1" dirty="0" smtClean="0"/>
          </a:p>
          <a:p>
            <a:pPr eaLnBrk="1" hangingPunct="1"/>
            <a:r>
              <a:rPr lang="zh-CN" altLang="en-US" sz="3000" b="1" dirty="0" smtClean="0"/>
              <a:t>物理空间为内存限定空间。</a:t>
            </a:r>
            <a:endParaRPr lang="zh-CN" altLang="en-US" sz="3000" b="1" dirty="0" smtClean="0"/>
          </a:p>
          <a:p>
            <a:pPr eaLnBrk="1" hangingPunct="1"/>
            <a:r>
              <a:rPr lang="zh-CN" altLang="en-US" sz="3000" b="1" dirty="0" smtClean="0"/>
              <a:t>在页式管理系统中将</a:t>
            </a:r>
            <a:r>
              <a:rPr lang="zh-CN" altLang="en-US" sz="3000" b="1" dirty="0">
                <a:solidFill>
                  <a:schemeClr val="folHlink"/>
                </a:solidFill>
              </a:rPr>
              <a:t>程序</a:t>
            </a:r>
            <a:r>
              <a:rPr lang="zh-CN" altLang="en-US" sz="3000" b="1" dirty="0" smtClean="0">
                <a:solidFill>
                  <a:schemeClr val="folHlink"/>
                </a:solidFill>
              </a:rPr>
              <a:t>地址空间分成大小相同页面</a:t>
            </a:r>
            <a:r>
              <a:rPr lang="zh-CN" altLang="en-US" sz="3000" b="1" dirty="0" smtClean="0"/>
              <a:t>。将</a:t>
            </a:r>
            <a:r>
              <a:rPr lang="zh-CN" altLang="en-US" sz="3000" b="1" dirty="0" smtClean="0">
                <a:solidFill>
                  <a:schemeClr val="folHlink"/>
                </a:solidFill>
              </a:rPr>
              <a:t>内存空间分成与页面相同大小的存储块</a:t>
            </a:r>
            <a:r>
              <a:rPr lang="zh-CN" altLang="en-US" sz="3000" b="1" dirty="0" smtClean="0"/>
              <a:t>。</a:t>
            </a:r>
            <a:endParaRPr lang="zh-CN" altLang="en-US" sz="3000" b="1" dirty="0" smtClean="0"/>
          </a:p>
          <a:p>
            <a:pPr eaLnBrk="1" hangingPunct="1"/>
            <a:r>
              <a:rPr lang="en-US" altLang="zh-CN" sz="3000" b="1" dirty="0" smtClean="0"/>
              <a:t>32</a:t>
            </a:r>
            <a:r>
              <a:rPr lang="zh-CN" altLang="en-US" sz="3000" b="1" dirty="0" smtClean="0"/>
              <a:t>位机的分页存储逻辑地址结构</a:t>
            </a:r>
            <a:r>
              <a:rPr lang="en-US" altLang="zh-CN" sz="3000" b="1" dirty="0" smtClean="0"/>
              <a:t>:</a:t>
            </a:r>
            <a:endParaRPr lang="en-US" altLang="zh-CN" sz="3000" b="1" dirty="0" smtClean="0"/>
          </a:p>
        </p:txBody>
      </p:sp>
      <p:sp>
        <p:nvSpPr>
          <p:cNvPr id="72708" name="Rectangle 20"/>
          <p:cNvSpPr>
            <a:spLocks noChangeArrowheads="1"/>
          </p:cNvSpPr>
          <p:nvPr/>
        </p:nvSpPr>
        <p:spPr bwMode="auto">
          <a:xfrm>
            <a:off x="762000" y="4612432"/>
            <a:ext cx="7620000" cy="1905000"/>
          </a:xfrm>
          <a:prstGeom prst="rect">
            <a:avLst/>
          </a:prstGeom>
          <a:solidFill>
            <a:schemeClr val="tx2">
              <a:lumMod val="40000"/>
              <a:lumOff val="6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72709" name="Group 21"/>
          <p:cNvGrpSpPr/>
          <p:nvPr/>
        </p:nvGrpSpPr>
        <p:grpSpPr bwMode="auto">
          <a:xfrm>
            <a:off x="1600200" y="4688632"/>
            <a:ext cx="5791200" cy="1752600"/>
            <a:chOff x="2700" y="6120"/>
            <a:chExt cx="4680" cy="1404"/>
          </a:xfrm>
        </p:grpSpPr>
        <p:grpSp>
          <p:nvGrpSpPr>
            <p:cNvPr id="72710" name="Group 22"/>
            <p:cNvGrpSpPr/>
            <p:nvPr/>
          </p:nvGrpSpPr>
          <p:grpSpPr bwMode="auto">
            <a:xfrm>
              <a:off x="2700" y="6120"/>
              <a:ext cx="4680" cy="780"/>
              <a:chOff x="2700" y="6432"/>
              <a:chExt cx="4680" cy="780"/>
            </a:xfrm>
          </p:grpSpPr>
          <p:grpSp>
            <p:nvGrpSpPr>
              <p:cNvPr id="72712" name="Group 23"/>
              <p:cNvGrpSpPr/>
              <p:nvPr/>
            </p:nvGrpSpPr>
            <p:grpSpPr bwMode="auto">
              <a:xfrm>
                <a:off x="2700" y="6744"/>
                <a:ext cx="4680" cy="468"/>
                <a:chOff x="2700" y="6276"/>
                <a:chExt cx="4680" cy="468"/>
              </a:xfrm>
            </p:grpSpPr>
            <p:sp>
              <p:nvSpPr>
                <p:cNvPr id="72714" name="Text Box 24"/>
                <p:cNvSpPr txBox="1">
                  <a:spLocks noChangeArrowheads="1"/>
                </p:cNvSpPr>
                <p:nvPr/>
              </p:nvSpPr>
              <p:spPr bwMode="auto">
                <a:xfrm>
                  <a:off x="2700" y="6276"/>
                  <a:ext cx="1440" cy="46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800" b="1">
                      <a:latin typeface="Times New Roman" panose="02020603050405020304" pitchFamily="18" charset="0"/>
                    </a:rPr>
                    <a:t>页号</a:t>
                  </a:r>
                  <a:endParaRPr lang="zh-CN" altLang="en-US" sz="2800" b="1">
                    <a:latin typeface="Times New Roman" panose="02020603050405020304" pitchFamily="18" charset="0"/>
                  </a:endParaRPr>
                </a:p>
              </p:txBody>
            </p:sp>
            <p:sp>
              <p:nvSpPr>
                <p:cNvPr id="72715" name="Text Box 25"/>
                <p:cNvSpPr txBox="1">
                  <a:spLocks noChangeArrowheads="1"/>
                </p:cNvSpPr>
                <p:nvPr/>
              </p:nvSpPr>
              <p:spPr bwMode="auto">
                <a:xfrm>
                  <a:off x="4140" y="6276"/>
                  <a:ext cx="3240" cy="46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800" b="1">
                      <a:latin typeface="Times New Roman" panose="02020603050405020304" pitchFamily="18" charset="0"/>
                    </a:rPr>
                    <a:t>页内偏移量</a:t>
                  </a:r>
                  <a:endParaRPr lang="zh-CN" altLang="en-US" sz="2800" b="1">
                    <a:latin typeface="Times New Roman" panose="02020603050405020304" pitchFamily="18" charset="0"/>
                  </a:endParaRPr>
                </a:p>
              </p:txBody>
            </p:sp>
          </p:grpSp>
          <p:sp>
            <p:nvSpPr>
              <p:cNvPr id="72713" name="Text Box 26"/>
              <p:cNvSpPr txBox="1">
                <a:spLocks noChangeArrowheads="1"/>
              </p:cNvSpPr>
              <p:nvPr/>
            </p:nvSpPr>
            <p:spPr bwMode="auto">
              <a:xfrm>
                <a:off x="2700" y="6432"/>
                <a:ext cx="46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800" b="1">
                    <a:solidFill>
                      <a:srgbClr val="000000"/>
                    </a:solidFill>
                    <a:latin typeface="Times New Roman" panose="02020603050405020304" pitchFamily="18" charset="0"/>
                  </a:rPr>
                  <a:t>31          12  11                                      0</a:t>
                </a:r>
                <a:endParaRPr lang="en-US" altLang="zh-CN" sz="2800" b="1">
                  <a:solidFill>
                    <a:srgbClr val="000000"/>
                  </a:solidFill>
                  <a:latin typeface="Times New Roman" panose="02020603050405020304" pitchFamily="18" charset="0"/>
                </a:endParaRPr>
              </a:p>
            </p:txBody>
          </p:sp>
        </p:grpSp>
        <p:sp>
          <p:nvSpPr>
            <p:cNvPr id="72711" name="Text Box 27"/>
            <p:cNvSpPr txBox="1">
              <a:spLocks noChangeArrowheads="1"/>
            </p:cNvSpPr>
            <p:nvPr/>
          </p:nvSpPr>
          <p:spPr bwMode="auto">
            <a:xfrm>
              <a:off x="2700" y="7056"/>
              <a:ext cx="46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800" b="1">
                  <a:solidFill>
                    <a:srgbClr val="000000"/>
                  </a:solidFill>
                  <a:latin typeface="Times New Roman" panose="02020603050405020304" pitchFamily="18" charset="0"/>
                </a:rPr>
                <a:t>图</a:t>
              </a:r>
              <a:r>
                <a:rPr lang="en-US" altLang="zh-CN" sz="2800" b="1">
                  <a:solidFill>
                    <a:srgbClr val="000000"/>
                  </a:solidFill>
                  <a:latin typeface="Times New Roman" panose="02020603050405020304" pitchFamily="18" charset="0"/>
                </a:rPr>
                <a:t>3.13  </a:t>
              </a:r>
              <a:r>
                <a:rPr lang="zh-CN" altLang="en-US" sz="2800" b="1">
                  <a:solidFill>
                    <a:srgbClr val="000000"/>
                  </a:solidFill>
                  <a:latin typeface="Times New Roman" panose="02020603050405020304" pitchFamily="18" charset="0"/>
                </a:rPr>
                <a:t>分页管理的逻辑地址表示</a:t>
              </a:r>
              <a:endParaRPr lang="zh-CN" altLang="en-US" sz="2800" b="1">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Rot="1" noChangeArrowheads="1"/>
          </p:cNvSpPr>
          <p:nvPr>
            <p:ph type="body" idx="1"/>
          </p:nvPr>
        </p:nvSpPr>
        <p:spPr>
          <a:xfrm>
            <a:off x="533400" y="1417241"/>
            <a:ext cx="7848600" cy="4498975"/>
          </a:xfrm>
        </p:spPr>
        <p:txBody>
          <a:bodyPr/>
          <a:lstStyle/>
          <a:p>
            <a:r>
              <a:rPr lang="zh-CN" altLang="en-US" b="1" smtClean="0"/>
              <a:t>若给定一个逻辑地址空间中的地址为</a:t>
            </a:r>
            <a:r>
              <a:rPr lang="en-US" altLang="zh-CN" b="1" smtClean="0"/>
              <a:t>A</a:t>
            </a:r>
            <a:r>
              <a:rPr lang="zh-CN" altLang="en-US" b="1" smtClean="0"/>
              <a:t>，页面的大小为</a:t>
            </a:r>
            <a:r>
              <a:rPr lang="en-US" altLang="zh-CN" b="1" smtClean="0"/>
              <a:t>L</a:t>
            </a:r>
            <a:r>
              <a:rPr lang="zh-CN" altLang="en-US" b="1" smtClean="0"/>
              <a:t>，则页号</a:t>
            </a:r>
            <a:r>
              <a:rPr lang="en-US" altLang="zh-CN" b="1" smtClean="0"/>
              <a:t>P</a:t>
            </a:r>
            <a:r>
              <a:rPr lang="zh-CN" altLang="en-US" b="1" smtClean="0"/>
              <a:t>和页内地址</a:t>
            </a:r>
            <a:r>
              <a:rPr lang="en-US" altLang="zh-CN" b="1" smtClean="0"/>
              <a:t>d</a:t>
            </a:r>
            <a:r>
              <a:rPr lang="zh-CN" altLang="en-US" b="1" smtClean="0"/>
              <a:t>可按下式求得：</a:t>
            </a:r>
            <a:endParaRPr lang="zh-CN" altLang="en-US" b="1" smtClean="0"/>
          </a:p>
          <a:p>
            <a:endParaRPr lang="zh-CN" altLang="en-US" sz="2800" b="1" smtClean="0"/>
          </a:p>
          <a:p>
            <a:endParaRPr lang="zh-CN" altLang="en-US" sz="2800" b="1" smtClean="0"/>
          </a:p>
          <a:p>
            <a:endParaRPr lang="zh-CN" altLang="en-US" sz="2800" b="1" smtClean="0"/>
          </a:p>
          <a:p>
            <a:endParaRPr lang="zh-CN" altLang="en-US" sz="2800" b="1" smtClean="0"/>
          </a:p>
          <a:p>
            <a:r>
              <a:rPr lang="zh-CN" altLang="en-US" b="1" smtClean="0"/>
              <a:t>例如，其系统的页面大小为</a:t>
            </a:r>
            <a:r>
              <a:rPr lang="en-US" altLang="zh-CN" b="1" smtClean="0"/>
              <a:t>1 KB</a:t>
            </a:r>
            <a:r>
              <a:rPr lang="zh-CN" altLang="en-US" b="1" smtClean="0"/>
              <a:t>，设</a:t>
            </a:r>
            <a:r>
              <a:rPr lang="en-US" altLang="zh-CN" b="1" smtClean="0"/>
              <a:t>A = 2170 B</a:t>
            </a:r>
            <a:r>
              <a:rPr lang="zh-CN" altLang="en-US" b="1" smtClean="0"/>
              <a:t>，则由上式可以求得</a:t>
            </a:r>
            <a:r>
              <a:rPr lang="en-US" altLang="zh-CN" b="1" smtClean="0"/>
              <a:t>P = 2</a:t>
            </a:r>
            <a:r>
              <a:rPr lang="zh-CN" altLang="en-US" b="1" smtClean="0"/>
              <a:t>，</a:t>
            </a:r>
            <a:r>
              <a:rPr lang="en-US" altLang="zh-CN" b="1" smtClean="0"/>
              <a:t>d = 122</a:t>
            </a:r>
            <a:r>
              <a:rPr lang="zh-CN" altLang="en-US" b="1" smtClean="0"/>
              <a:t>。</a:t>
            </a:r>
            <a:endParaRPr lang="zh-CN" altLang="en-US" b="1" smtClean="0"/>
          </a:p>
          <a:p>
            <a:endParaRPr lang="zh-CN" altLang="en-US" sz="2800" b="1" smtClean="0"/>
          </a:p>
        </p:txBody>
      </p:sp>
      <p:pic>
        <p:nvPicPr>
          <p:cNvPr id="73731"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95600" y="3111104"/>
            <a:ext cx="3124200" cy="166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Rot="1" noChangeArrowheads="1"/>
          </p:cNvSpPr>
          <p:nvPr>
            <p:ph type="title"/>
          </p:nvPr>
        </p:nvSpPr>
        <p:spPr>
          <a:xfrm>
            <a:off x="301625" y="-27384"/>
            <a:ext cx="8540750" cy="1143000"/>
          </a:xfrm>
        </p:spPr>
        <p:txBody>
          <a:bodyPr/>
          <a:lstStyle/>
          <a:p>
            <a:pPr eaLnBrk="1" hangingPunct="1"/>
            <a:r>
              <a:rPr lang="en-US" altLang="zh-CN" b="1" dirty="0" smtClean="0">
                <a:solidFill>
                  <a:srgbClr val="FF0000"/>
                </a:solidFill>
              </a:rPr>
              <a:t>2.</a:t>
            </a:r>
            <a:r>
              <a:rPr lang="zh-CN" altLang="en-US" b="1" dirty="0" smtClean="0">
                <a:solidFill>
                  <a:srgbClr val="FF0000"/>
                </a:solidFill>
              </a:rPr>
              <a:t>地址结构</a:t>
            </a:r>
            <a:endParaRPr lang="zh-CN" altLang="en-US" b="1" dirty="0" smtClean="0">
              <a:solidFill>
                <a:srgbClr val="FF0000"/>
              </a:solidFill>
            </a:endParaRP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p:txBody>
          <a:bodyPr/>
          <a:lstStyle/>
          <a:p>
            <a:pPr eaLnBrk="1" hangingPunct="1"/>
            <a:r>
              <a:rPr lang="en-US" altLang="zh-CN" b="1" dirty="0" smtClean="0">
                <a:solidFill>
                  <a:srgbClr val="FF0000"/>
                </a:solidFill>
              </a:rPr>
              <a:t>3. </a:t>
            </a:r>
            <a:r>
              <a:rPr lang="zh-CN" altLang="en-US" b="1" dirty="0" smtClean="0">
                <a:solidFill>
                  <a:srgbClr val="FF0000"/>
                </a:solidFill>
              </a:rPr>
              <a:t>页表 </a:t>
            </a:r>
            <a:endParaRPr lang="zh-CN" altLang="en-US" b="1" dirty="0" smtClean="0">
              <a:solidFill>
                <a:srgbClr val="FF0000"/>
              </a:solidFill>
            </a:endParaRPr>
          </a:p>
        </p:txBody>
      </p:sp>
      <p:sp>
        <p:nvSpPr>
          <p:cNvPr id="74755" name="Rectangle 3"/>
          <p:cNvSpPr>
            <a:spLocks noGrp="1" noRot="1" noChangeArrowheads="1"/>
          </p:cNvSpPr>
          <p:nvPr>
            <p:ph type="body" idx="1"/>
          </p:nvPr>
        </p:nvSpPr>
        <p:spPr>
          <a:xfrm>
            <a:off x="533400" y="1600200"/>
            <a:ext cx="8077200" cy="4498975"/>
          </a:xfrm>
        </p:spPr>
        <p:txBody>
          <a:bodyPr/>
          <a:lstStyle/>
          <a:p>
            <a:pPr eaLnBrk="1" hangingPunct="1">
              <a:lnSpc>
                <a:spcPct val="110000"/>
              </a:lnSpc>
            </a:pPr>
            <a:r>
              <a:rPr lang="zh-CN" altLang="en-US" b="1" smtClean="0"/>
              <a:t>在分页系统中，进程可能有多个页，允许将</a:t>
            </a:r>
            <a:r>
              <a:rPr lang="zh-CN" altLang="en-US" b="1" i="1" u="sng" smtClean="0">
                <a:solidFill>
                  <a:schemeClr val="folHlink"/>
                </a:solidFill>
              </a:rPr>
              <a:t>进程的每一页离散地存储在内存的任一物理块中</a:t>
            </a:r>
            <a:r>
              <a:rPr lang="zh-CN" altLang="en-US" b="1" smtClean="0"/>
              <a:t>。</a:t>
            </a:r>
            <a:endParaRPr lang="zh-CN" altLang="en-US" b="1" smtClean="0"/>
          </a:p>
          <a:p>
            <a:pPr eaLnBrk="1" hangingPunct="1">
              <a:lnSpc>
                <a:spcPct val="110000"/>
              </a:lnSpc>
            </a:pPr>
            <a:r>
              <a:rPr lang="zh-CN" altLang="en-US" b="1" smtClean="0"/>
              <a:t>系统应能保证进程的正确运行，即能在内存中找到每个页面所对应的物理块。为此，系统又为</a:t>
            </a:r>
            <a:r>
              <a:rPr lang="zh-CN" altLang="en-US" b="1" i="1" u="sng" smtClean="0">
                <a:solidFill>
                  <a:schemeClr val="folHlink"/>
                </a:solidFill>
              </a:rPr>
              <a:t>每个进程建立了一张页面映像表，简称页表</a:t>
            </a:r>
            <a:r>
              <a:rPr lang="zh-CN" altLang="en-US" b="1" smtClean="0"/>
              <a:t>。</a:t>
            </a:r>
            <a:endParaRPr lang="zh-CN" altLang="en-US" b="1" smtClean="0"/>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2562225" y="1509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75779" name="Picture 3" descr="未命名2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2000" y="838200"/>
            <a:ext cx="7334250" cy="484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Text Box 4"/>
          <p:cNvSpPr txBox="1">
            <a:spLocks noChangeArrowheads="1"/>
          </p:cNvSpPr>
          <p:nvPr/>
        </p:nvSpPr>
        <p:spPr bwMode="auto">
          <a:xfrm>
            <a:off x="1143000" y="5943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a:t>页表结构</a:t>
            </a:r>
            <a:endParaRPr lang="zh-CN" altLang="en-US" sz="2800" b="1"/>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p:txBody>
          <a:bodyPr/>
          <a:lstStyle/>
          <a:p>
            <a:pPr eaLnBrk="1" hangingPunct="1"/>
            <a:r>
              <a:rPr lang="zh-CN" altLang="en-US" b="1" i="1" dirty="0" smtClean="0">
                <a:solidFill>
                  <a:srgbClr val="FF0000"/>
                </a:solidFill>
                <a:ea typeface="仿宋_GB2312" pitchFamily="49" charset="-122"/>
              </a:rPr>
              <a:t>例如</a:t>
            </a:r>
            <a:endParaRPr lang="zh-CN" altLang="en-US" b="1" i="1" dirty="0" smtClean="0">
              <a:solidFill>
                <a:srgbClr val="FF0000"/>
              </a:solidFill>
              <a:ea typeface="仿宋_GB2312" pitchFamily="49" charset="-122"/>
            </a:endParaRPr>
          </a:p>
        </p:txBody>
      </p:sp>
      <p:sp>
        <p:nvSpPr>
          <p:cNvPr id="590851" name="Rectangle 3"/>
          <p:cNvSpPr>
            <a:spLocks noGrp="1" noRot="1" noChangeArrowheads="1"/>
          </p:cNvSpPr>
          <p:nvPr>
            <p:ph type="body" idx="1"/>
          </p:nvPr>
        </p:nvSpPr>
        <p:spPr>
          <a:xfrm>
            <a:off x="301625" y="1402419"/>
            <a:ext cx="8540750" cy="4498975"/>
          </a:xfrm>
        </p:spPr>
        <p:txBody>
          <a:bodyPr/>
          <a:lstStyle/>
          <a:p>
            <a:pPr eaLnBrk="1" hangingPunct="1">
              <a:lnSpc>
                <a:spcPct val="110000"/>
              </a:lnSpc>
              <a:defRPr/>
            </a:pPr>
            <a:r>
              <a:rPr lang="zh-CN" altLang="en-US" sz="2800" b="1" dirty="0" smtClean="0">
                <a:latin typeface="+mn-ea"/>
              </a:rPr>
              <a:t>假设内存能提供</a:t>
            </a:r>
            <a:r>
              <a:rPr lang="en-US" altLang="zh-CN" sz="2800" b="1" dirty="0" smtClean="0">
                <a:latin typeface="+mn-ea"/>
              </a:rPr>
              <a:t>16</a:t>
            </a:r>
            <a:r>
              <a:rPr lang="zh-CN" altLang="en-US" sz="2800" b="1" dirty="0" smtClean="0">
                <a:latin typeface="+mn-ea"/>
              </a:rPr>
              <a:t>个空闲页框，进程</a:t>
            </a:r>
            <a:r>
              <a:rPr lang="en-US" altLang="zh-CN" sz="2800" b="1" dirty="0" smtClean="0">
                <a:latin typeface="+mn-ea"/>
              </a:rPr>
              <a:t>P1</a:t>
            </a:r>
            <a:r>
              <a:rPr lang="zh-CN" altLang="en-US" sz="2800" b="1" dirty="0" smtClean="0">
                <a:latin typeface="+mn-ea"/>
              </a:rPr>
              <a:t>被分割成</a:t>
            </a:r>
            <a:r>
              <a:rPr lang="en-US" altLang="zh-CN" sz="2800" b="1" dirty="0" smtClean="0">
                <a:latin typeface="+mn-ea"/>
              </a:rPr>
              <a:t>4</a:t>
            </a:r>
            <a:r>
              <a:rPr lang="zh-CN" altLang="en-US" sz="2800" b="1" dirty="0" smtClean="0">
                <a:latin typeface="+mn-ea"/>
              </a:rPr>
              <a:t>个页面，装入内存中的</a:t>
            </a:r>
            <a:r>
              <a:rPr lang="en-US" altLang="zh-CN" sz="2800" b="1" dirty="0" smtClean="0">
                <a:latin typeface="+mn-ea"/>
              </a:rPr>
              <a:t>0</a:t>
            </a:r>
            <a:r>
              <a:rPr lang="zh-CN" altLang="en-US" sz="2800" b="1" dirty="0" smtClean="0">
                <a:latin typeface="+mn-ea"/>
              </a:rPr>
              <a:t>号至</a:t>
            </a:r>
            <a:r>
              <a:rPr lang="en-US" altLang="zh-CN" sz="2800" b="1" dirty="0" smtClean="0">
                <a:latin typeface="+mn-ea"/>
              </a:rPr>
              <a:t>3</a:t>
            </a:r>
            <a:r>
              <a:rPr lang="zh-CN" altLang="en-US" sz="2800" b="1" dirty="0" smtClean="0">
                <a:latin typeface="+mn-ea"/>
              </a:rPr>
              <a:t>号页框。进程</a:t>
            </a:r>
            <a:r>
              <a:rPr lang="en-US" altLang="zh-CN" sz="2800" b="1" dirty="0" smtClean="0">
                <a:latin typeface="+mn-ea"/>
              </a:rPr>
              <a:t>P2</a:t>
            </a:r>
            <a:r>
              <a:rPr lang="zh-CN" altLang="en-US" sz="2800" b="1" dirty="0" smtClean="0">
                <a:latin typeface="+mn-ea"/>
              </a:rPr>
              <a:t>被分割成</a:t>
            </a:r>
            <a:r>
              <a:rPr lang="en-US" altLang="zh-CN" sz="2800" b="1" dirty="0" smtClean="0">
                <a:latin typeface="+mn-ea"/>
              </a:rPr>
              <a:t>3</a:t>
            </a:r>
            <a:r>
              <a:rPr lang="zh-CN" altLang="en-US" sz="2800" b="1" dirty="0" smtClean="0">
                <a:latin typeface="+mn-ea"/>
              </a:rPr>
              <a:t>个页面，装入</a:t>
            </a:r>
            <a:r>
              <a:rPr lang="en-US" altLang="zh-CN" sz="2800" b="1" dirty="0" smtClean="0">
                <a:latin typeface="+mn-ea"/>
              </a:rPr>
              <a:t>4</a:t>
            </a:r>
            <a:r>
              <a:rPr lang="zh-CN" altLang="en-US" sz="2800" b="1" dirty="0" smtClean="0">
                <a:latin typeface="+mn-ea"/>
              </a:rPr>
              <a:t>号至</a:t>
            </a:r>
            <a:r>
              <a:rPr lang="en-US" altLang="zh-CN" sz="2800" b="1" dirty="0" smtClean="0">
                <a:latin typeface="+mn-ea"/>
              </a:rPr>
              <a:t>6</a:t>
            </a:r>
            <a:r>
              <a:rPr lang="zh-CN" altLang="en-US" sz="2800" b="1" dirty="0" smtClean="0">
                <a:latin typeface="+mn-ea"/>
              </a:rPr>
              <a:t>号页框。进程</a:t>
            </a:r>
            <a:r>
              <a:rPr lang="en-US" altLang="zh-CN" sz="2800" b="1" dirty="0" smtClean="0">
                <a:latin typeface="+mn-ea"/>
              </a:rPr>
              <a:t>P3</a:t>
            </a:r>
            <a:r>
              <a:rPr lang="zh-CN" altLang="en-US" sz="2800" b="1" dirty="0" smtClean="0">
                <a:latin typeface="+mn-ea"/>
              </a:rPr>
              <a:t>被装入</a:t>
            </a:r>
            <a:r>
              <a:rPr lang="en-US" altLang="zh-CN" sz="2800" b="1" dirty="0" smtClean="0">
                <a:latin typeface="+mn-ea"/>
              </a:rPr>
              <a:t>7</a:t>
            </a:r>
            <a:r>
              <a:rPr lang="zh-CN" altLang="en-US" sz="2800" b="1" dirty="0" smtClean="0">
                <a:latin typeface="+mn-ea"/>
              </a:rPr>
              <a:t>号至</a:t>
            </a:r>
            <a:r>
              <a:rPr lang="en-US" altLang="zh-CN" sz="2800" b="1" dirty="0" smtClean="0">
                <a:latin typeface="+mn-ea"/>
              </a:rPr>
              <a:t>12</a:t>
            </a:r>
            <a:r>
              <a:rPr lang="zh-CN" altLang="en-US" sz="2800" b="1" dirty="0" smtClean="0">
                <a:latin typeface="+mn-ea"/>
              </a:rPr>
              <a:t>号页框，如图</a:t>
            </a:r>
            <a:r>
              <a:rPr lang="en-US" altLang="zh-CN" sz="2800" b="1" dirty="0" smtClean="0">
                <a:latin typeface="+mn-ea"/>
              </a:rPr>
              <a:t>(a)</a:t>
            </a:r>
            <a:r>
              <a:rPr lang="zh-CN" altLang="en-US" sz="2800" b="1" dirty="0" smtClean="0">
                <a:latin typeface="+mn-ea"/>
              </a:rPr>
              <a:t>所示。</a:t>
            </a:r>
            <a:endParaRPr lang="zh-CN" altLang="en-US" sz="2800" b="1" dirty="0" smtClean="0">
              <a:latin typeface="+mn-ea"/>
            </a:endParaRPr>
          </a:p>
          <a:p>
            <a:pPr eaLnBrk="1" hangingPunct="1">
              <a:lnSpc>
                <a:spcPct val="110000"/>
              </a:lnSpc>
              <a:defRPr/>
            </a:pPr>
            <a:r>
              <a:rPr lang="zh-CN" altLang="en-US" sz="2800" b="1" dirty="0" smtClean="0">
                <a:latin typeface="+mn-ea"/>
              </a:rPr>
              <a:t>此时，进程</a:t>
            </a:r>
            <a:r>
              <a:rPr lang="en-US" altLang="zh-CN" sz="2800" b="1" dirty="0" smtClean="0">
                <a:latin typeface="+mn-ea"/>
              </a:rPr>
              <a:t>P4</a:t>
            </a:r>
            <a:r>
              <a:rPr lang="zh-CN" altLang="en-US" sz="2800" b="1" dirty="0" smtClean="0">
                <a:latin typeface="+mn-ea"/>
              </a:rPr>
              <a:t>请求分配</a:t>
            </a:r>
            <a:r>
              <a:rPr lang="en-US" altLang="zh-CN" sz="2800" b="1" dirty="0" smtClean="0">
                <a:latin typeface="+mn-ea"/>
              </a:rPr>
              <a:t>5</a:t>
            </a:r>
            <a:r>
              <a:rPr lang="zh-CN" altLang="en-US" sz="2800" b="1" dirty="0" smtClean="0">
                <a:latin typeface="+mn-ea"/>
              </a:rPr>
              <a:t>个页框大小的存储空间，但内存只有</a:t>
            </a:r>
            <a:r>
              <a:rPr lang="en-US" altLang="zh-CN" sz="2800" b="1" dirty="0" smtClean="0">
                <a:latin typeface="+mn-ea"/>
              </a:rPr>
              <a:t>3</a:t>
            </a:r>
            <a:r>
              <a:rPr lang="zh-CN" altLang="en-US" sz="2800" b="1" dirty="0" smtClean="0">
                <a:latin typeface="+mn-ea"/>
              </a:rPr>
              <a:t>个空闲页框。于是，将暂时不运行的</a:t>
            </a:r>
            <a:r>
              <a:rPr lang="en-US" altLang="zh-CN" sz="2800" b="1" dirty="0" smtClean="0">
                <a:latin typeface="+mn-ea"/>
              </a:rPr>
              <a:t>P2</a:t>
            </a:r>
            <a:r>
              <a:rPr lang="zh-CN" altLang="en-US" sz="2800" b="1" dirty="0" smtClean="0">
                <a:latin typeface="+mn-ea"/>
              </a:rPr>
              <a:t>交换出内存，如图</a:t>
            </a:r>
            <a:r>
              <a:rPr lang="en-US" altLang="zh-CN" sz="2800" b="1" dirty="0" smtClean="0">
                <a:latin typeface="+mn-ea"/>
              </a:rPr>
              <a:t>(b)</a:t>
            </a:r>
            <a:r>
              <a:rPr lang="zh-CN" altLang="en-US" sz="2800" b="1" dirty="0" smtClean="0">
                <a:latin typeface="+mn-ea"/>
              </a:rPr>
              <a:t>所示。</a:t>
            </a:r>
            <a:endParaRPr lang="zh-CN" altLang="en-US" sz="2800" b="1" dirty="0" smtClean="0">
              <a:latin typeface="+mn-ea"/>
            </a:endParaRPr>
          </a:p>
          <a:p>
            <a:pPr eaLnBrk="1" hangingPunct="1">
              <a:lnSpc>
                <a:spcPct val="110000"/>
              </a:lnSpc>
              <a:defRPr/>
            </a:pPr>
            <a:r>
              <a:rPr lang="zh-CN" altLang="en-US" sz="2800" b="1" dirty="0" smtClean="0">
                <a:latin typeface="+mn-ea"/>
              </a:rPr>
              <a:t>然后，再将</a:t>
            </a:r>
            <a:r>
              <a:rPr lang="en-US" altLang="zh-CN" sz="2800" b="1" dirty="0" smtClean="0">
                <a:latin typeface="+mn-ea"/>
              </a:rPr>
              <a:t>P4</a:t>
            </a:r>
            <a:r>
              <a:rPr lang="zh-CN" altLang="en-US" sz="2800" b="1" dirty="0" smtClean="0">
                <a:latin typeface="+mn-ea"/>
              </a:rPr>
              <a:t>装入</a:t>
            </a:r>
            <a:r>
              <a:rPr lang="en-US" altLang="zh-CN" sz="2800" b="1" dirty="0" smtClean="0">
                <a:latin typeface="+mn-ea"/>
              </a:rPr>
              <a:t>4</a:t>
            </a:r>
            <a:r>
              <a:rPr lang="zh-CN" altLang="en-US" sz="2800" b="1" dirty="0" smtClean="0">
                <a:latin typeface="+mn-ea"/>
              </a:rPr>
              <a:t>、</a:t>
            </a:r>
            <a:r>
              <a:rPr lang="en-US" altLang="zh-CN" sz="2800" b="1" dirty="0" smtClean="0">
                <a:latin typeface="+mn-ea"/>
              </a:rPr>
              <a:t>5</a:t>
            </a:r>
            <a:r>
              <a:rPr lang="zh-CN" altLang="en-US" sz="2800" b="1" dirty="0" smtClean="0">
                <a:latin typeface="+mn-ea"/>
              </a:rPr>
              <a:t>、</a:t>
            </a:r>
            <a:r>
              <a:rPr lang="en-US" altLang="zh-CN" sz="2800" b="1" dirty="0" smtClean="0">
                <a:latin typeface="+mn-ea"/>
              </a:rPr>
              <a:t>6</a:t>
            </a:r>
            <a:r>
              <a:rPr lang="zh-CN" altLang="en-US" sz="2800" b="1" dirty="0" smtClean="0">
                <a:latin typeface="+mn-ea"/>
              </a:rPr>
              <a:t>、</a:t>
            </a:r>
            <a:r>
              <a:rPr lang="en-US" altLang="zh-CN" sz="2800" b="1" dirty="0" smtClean="0">
                <a:latin typeface="+mn-ea"/>
              </a:rPr>
              <a:t>13</a:t>
            </a:r>
            <a:r>
              <a:rPr lang="zh-CN" altLang="en-US" sz="2800" b="1" dirty="0" smtClean="0">
                <a:latin typeface="+mn-ea"/>
              </a:rPr>
              <a:t>、</a:t>
            </a:r>
            <a:r>
              <a:rPr lang="en-US" altLang="zh-CN" sz="2800" b="1" dirty="0" smtClean="0">
                <a:latin typeface="+mn-ea"/>
              </a:rPr>
              <a:t>14</a:t>
            </a:r>
            <a:r>
              <a:rPr lang="zh-CN" altLang="en-US" sz="2800" b="1" dirty="0" smtClean="0">
                <a:latin typeface="+mn-ea"/>
              </a:rPr>
              <a:t>号页框，如图</a:t>
            </a:r>
            <a:r>
              <a:rPr lang="en-US" altLang="zh-CN" sz="2800" b="1" dirty="0" smtClean="0">
                <a:latin typeface="+mn-ea"/>
              </a:rPr>
              <a:t>(c)</a:t>
            </a:r>
            <a:r>
              <a:rPr lang="zh-CN" altLang="en-US" sz="2800" b="1" dirty="0" smtClean="0">
                <a:latin typeface="+mn-ea"/>
              </a:rPr>
              <a:t>所示。 </a:t>
            </a:r>
            <a:endParaRPr lang="zh-CN" altLang="en-US" sz="2800" b="1" dirty="0" smtClean="0">
              <a:latin typeface="+mn-ea"/>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
          <p:cNvSpPr>
            <a:spLocks noChangeArrowheads="1"/>
          </p:cNvSpPr>
          <p:nvPr/>
        </p:nvSpPr>
        <p:spPr bwMode="auto">
          <a:xfrm>
            <a:off x="0" y="0"/>
            <a:ext cx="9144000" cy="68580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000000"/>
              </a:solidFill>
            </a:endParaRPr>
          </a:p>
        </p:txBody>
      </p:sp>
      <p:grpSp>
        <p:nvGrpSpPr>
          <p:cNvPr id="77827" name="Group 103"/>
          <p:cNvGrpSpPr/>
          <p:nvPr/>
        </p:nvGrpSpPr>
        <p:grpSpPr bwMode="auto">
          <a:xfrm>
            <a:off x="228600" y="228600"/>
            <a:ext cx="8686800" cy="6408738"/>
            <a:chOff x="1980" y="6120"/>
            <a:chExt cx="8100" cy="6552"/>
          </a:xfrm>
        </p:grpSpPr>
        <p:sp>
          <p:nvSpPr>
            <p:cNvPr id="77828" name="Text Box 104"/>
            <p:cNvSpPr txBox="1">
              <a:spLocks noChangeArrowheads="1"/>
            </p:cNvSpPr>
            <p:nvPr/>
          </p:nvSpPr>
          <p:spPr bwMode="auto">
            <a:xfrm>
              <a:off x="2340" y="12204"/>
              <a:ext cx="73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图</a:t>
              </a:r>
              <a:r>
                <a:rPr lang="en-US" altLang="zh-CN" sz="2400" b="1">
                  <a:solidFill>
                    <a:srgbClr val="000000"/>
                  </a:solidFill>
                  <a:latin typeface="Times New Roman" panose="02020603050405020304" pitchFamily="18" charset="0"/>
                </a:rPr>
                <a:t>3.14  </a:t>
              </a:r>
              <a:r>
                <a:rPr lang="zh-CN" altLang="en-US" sz="2400" b="1">
                  <a:solidFill>
                    <a:srgbClr val="000000"/>
                  </a:solidFill>
                  <a:latin typeface="Times New Roman" panose="02020603050405020304" pitchFamily="18" charset="0"/>
                </a:rPr>
                <a:t>进程装入到离散的页框中</a:t>
              </a:r>
              <a:endParaRPr lang="zh-CN" altLang="en-US" sz="2400" b="1">
                <a:solidFill>
                  <a:srgbClr val="000000"/>
                </a:solidFill>
                <a:latin typeface="Times New Roman" panose="02020603050405020304" pitchFamily="18" charset="0"/>
              </a:endParaRPr>
            </a:p>
          </p:txBody>
        </p:sp>
        <p:grpSp>
          <p:nvGrpSpPr>
            <p:cNvPr id="77829" name="Group 105"/>
            <p:cNvGrpSpPr/>
            <p:nvPr/>
          </p:nvGrpSpPr>
          <p:grpSpPr bwMode="auto">
            <a:xfrm>
              <a:off x="1980" y="6120"/>
              <a:ext cx="8100" cy="5928"/>
              <a:chOff x="1980" y="6120"/>
              <a:chExt cx="8100" cy="5928"/>
            </a:xfrm>
          </p:grpSpPr>
          <p:grpSp>
            <p:nvGrpSpPr>
              <p:cNvPr id="77830" name="Group 106"/>
              <p:cNvGrpSpPr/>
              <p:nvPr/>
            </p:nvGrpSpPr>
            <p:grpSpPr bwMode="auto">
              <a:xfrm>
                <a:off x="1980" y="6120"/>
                <a:ext cx="2700" cy="5928"/>
                <a:chOff x="1980" y="6120"/>
                <a:chExt cx="2700" cy="5928"/>
              </a:xfrm>
            </p:grpSpPr>
            <p:grpSp>
              <p:nvGrpSpPr>
                <p:cNvPr id="77896" name="Group 107"/>
                <p:cNvGrpSpPr/>
                <p:nvPr/>
              </p:nvGrpSpPr>
              <p:grpSpPr bwMode="auto">
                <a:xfrm>
                  <a:off x="1980" y="6120"/>
                  <a:ext cx="2520" cy="5928"/>
                  <a:chOff x="2340" y="6120"/>
                  <a:chExt cx="2520" cy="5928"/>
                </a:xfrm>
              </p:grpSpPr>
              <p:grpSp>
                <p:nvGrpSpPr>
                  <p:cNvPr id="77906" name="Group 108"/>
                  <p:cNvGrpSpPr/>
                  <p:nvPr/>
                </p:nvGrpSpPr>
                <p:grpSpPr bwMode="auto">
                  <a:xfrm>
                    <a:off x="2700" y="6588"/>
                    <a:ext cx="1620" cy="4992"/>
                    <a:chOff x="2520" y="6588"/>
                    <a:chExt cx="1620" cy="4992"/>
                  </a:xfrm>
                </p:grpSpPr>
                <p:sp>
                  <p:nvSpPr>
                    <p:cNvPr id="77909" name="Text Box 109"/>
                    <p:cNvSpPr txBox="1">
                      <a:spLocks noChangeArrowheads="1"/>
                    </p:cNvSpPr>
                    <p:nvPr/>
                  </p:nvSpPr>
                  <p:spPr bwMode="auto">
                    <a:xfrm>
                      <a:off x="2520" y="6588"/>
                      <a:ext cx="360" cy="4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0</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6</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7</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8</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9</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10</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11</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12</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13</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14</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15</a:t>
                      </a:r>
                      <a:endParaRPr lang="en-US" altLang="zh-CN" sz="2000" b="1">
                        <a:solidFill>
                          <a:srgbClr val="000000"/>
                        </a:solidFill>
                        <a:latin typeface="Times New Roman" panose="02020603050405020304" pitchFamily="18" charset="0"/>
                      </a:endParaRPr>
                    </a:p>
                  </p:txBody>
                </p:sp>
                <p:grpSp>
                  <p:nvGrpSpPr>
                    <p:cNvPr id="77910" name="Group 110"/>
                    <p:cNvGrpSpPr/>
                    <p:nvPr/>
                  </p:nvGrpSpPr>
                  <p:grpSpPr bwMode="auto">
                    <a:xfrm>
                      <a:off x="2880" y="6588"/>
                      <a:ext cx="1260" cy="4992"/>
                      <a:chOff x="2880" y="6588"/>
                      <a:chExt cx="1260" cy="4992"/>
                    </a:xfrm>
                  </p:grpSpPr>
                  <p:sp>
                    <p:nvSpPr>
                      <p:cNvPr id="77911" name="Text Box 111"/>
                      <p:cNvSpPr txBox="1">
                        <a:spLocks noChangeArrowheads="1"/>
                      </p:cNvSpPr>
                      <p:nvPr/>
                    </p:nvSpPr>
                    <p:spPr bwMode="auto">
                      <a:xfrm>
                        <a:off x="2880" y="721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P1.2</a:t>
                        </a:r>
                        <a:endParaRPr lang="en-US" altLang="zh-CN" sz="2000" b="1">
                          <a:solidFill>
                            <a:srgbClr val="000000"/>
                          </a:solidFill>
                          <a:latin typeface="Times New Roman" panose="02020603050405020304" pitchFamily="18" charset="0"/>
                        </a:endParaRPr>
                      </a:p>
                    </p:txBody>
                  </p:sp>
                  <p:sp>
                    <p:nvSpPr>
                      <p:cNvPr id="77912" name="Text Box 112"/>
                      <p:cNvSpPr txBox="1">
                        <a:spLocks noChangeArrowheads="1"/>
                      </p:cNvSpPr>
                      <p:nvPr/>
                    </p:nvSpPr>
                    <p:spPr bwMode="auto">
                      <a:xfrm>
                        <a:off x="2880" y="690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P1.1</a:t>
                        </a:r>
                        <a:endParaRPr lang="en-US" altLang="zh-CN" sz="2000" b="1">
                          <a:solidFill>
                            <a:srgbClr val="000000"/>
                          </a:solidFill>
                          <a:latin typeface="Times New Roman" panose="02020603050405020304" pitchFamily="18" charset="0"/>
                        </a:endParaRPr>
                      </a:p>
                    </p:txBody>
                  </p:sp>
                  <p:sp>
                    <p:nvSpPr>
                      <p:cNvPr id="77913" name="Text Box 113"/>
                      <p:cNvSpPr txBox="1">
                        <a:spLocks noChangeArrowheads="1"/>
                      </p:cNvSpPr>
                      <p:nvPr/>
                    </p:nvSpPr>
                    <p:spPr bwMode="auto">
                      <a:xfrm>
                        <a:off x="2880" y="658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P1.0</a:t>
                        </a:r>
                        <a:endParaRPr lang="en-US" altLang="zh-CN" sz="2000" b="1">
                          <a:solidFill>
                            <a:srgbClr val="000000"/>
                          </a:solidFill>
                          <a:latin typeface="Times New Roman" panose="02020603050405020304" pitchFamily="18" charset="0"/>
                        </a:endParaRPr>
                      </a:p>
                    </p:txBody>
                  </p:sp>
                  <p:sp>
                    <p:nvSpPr>
                      <p:cNvPr id="77914" name="Text Box 114"/>
                      <p:cNvSpPr txBox="1">
                        <a:spLocks noChangeArrowheads="1"/>
                      </p:cNvSpPr>
                      <p:nvPr/>
                    </p:nvSpPr>
                    <p:spPr bwMode="auto">
                      <a:xfrm>
                        <a:off x="2880" y="752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P1.3</a:t>
                        </a:r>
                        <a:endParaRPr lang="en-US" altLang="zh-CN" sz="2000" b="1">
                          <a:solidFill>
                            <a:srgbClr val="000000"/>
                          </a:solidFill>
                          <a:latin typeface="Times New Roman" panose="02020603050405020304" pitchFamily="18" charset="0"/>
                        </a:endParaRPr>
                      </a:p>
                    </p:txBody>
                  </p:sp>
                  <p:sp>
                    <p:nvSpPr>
                      <p:cNvPr id="77915" name="Text Box 115"/>
                      <p:cNvSpPr txBox="1">
                        <a:spLocks noChangeArrowheads="1"/>
                      </p:cNvSpPr>
                      <p:nvPr/>
                    </p:nvSpPr>
                    <p:spPr bwMode="auto">
                      <a:xfrm>
                        <a:off x="2880" y="783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P2.0</a:t>
                        </a:r>
                        <a:endParaRPr lang="en-US" altLang="zh-CN" sz="2000" b="1">
                          <a:solidFill>
                            <a:srgbClr val="000000"/>
                          </a:solidFill>
                          <a:latin typeface="Times New Roman" panose="02020603050405020304" pitchFamily="18" charset="0"/>
                        </a:endParaRPr>
                      </a:p>
                    </p:txBody>
                  </p:sp>
                  <p:sp>
                    <p:nvSpPr>
                      <p:cNvPr id="77916" name="Text Box 116"/>
                      <p:cNvSpPr txBox="1">
                        <a:spLocks noChangeArrowheads="1"/>
                      </p:cNvSpPr>
                      <p:nvPr/>
                    </p:nvSpPr>
                    <p:spPr bwMode="auto">
                      <a:xfrm>
                        <a:off x="2880" y="814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P2.1</a:t>
                        </a:r>
                        <a:endParaRPr lang="en-US" altLang="zh-CN" sz="2000" b="1">
                          <a:solidFill>
                            <a:srgbClr val="000000"/>
                          </a:solidFill>
                          <a:latin typeface="Times New Roman" panose="02020603050405020304" pitchFamily="18" charset="0"/>
                        </a:endParaRPr>
                      </a:p>
                    </p:txBody>
                  </p:sp>
                  <p:sp>
                    <p:nvSpPr>
                      <p:cNvPr id="77917" name="Text Box 117"/>
                      <p:cNvSpPr txBox="1">
                        <a:spLocks noChangeArrowheads="1"/>
                      </p:cNvSpPr>
                      <p:nvPr/>
                    </p:nvSpPr>
                    <p:spPr bwMode="auto">
                      <a:xfrm>
                        <a:off x="2880" y="846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P2.2</a:t>
                        </a:r>
                        <a:endParaRPr lang="en-US" altLang="zh-CN" sz="2000" b="1">
                          <a:solidFill>
                            <a:srgbClr val="000000"/>
                          </a:solidFill>
                          <a:latin typeface="Times New Roman" panose="02020603050405020304" pitchFamily="18" charset="0"/>
                        </a:endParaRPr>
                      </a:p>
                    </p:txBody>
                  </p:sp>
                  <p:sp>
                    <p:nvSpPr>
                      <p:cNvPr id="77918" name="Text Box 118"/>
                      <p:cNvSpPr txBox="1">
                        <a:spLocks noChangeArrowheads="1"/>
                      </p:cNvSpPr>
                      <p:nvPr/>
                    </p:nvSpPr>
                    <p:spPr bwMode="auto">
                      <a:xfrm>
                        <a:off x="2880" y="877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P3.0</a:t>
                        </a:r>
                        <a:endParaRPr lang="en-US" altLang="zh-CN" sz="2000" b="1">
                          <a:solidFill>
                            <a:srgbClr val="000000"/>
                          </a:solidFill>
                          <a:latin typeface="Times New Roman" panose="02020603050405020304" pitchFamily="18" charset="0"/>
                        </a:endParaRPr>
                      </a:p>
                    </p:txBody>
                  </p:sp>
                  <p:sp>
                    <p:nvSpPr>
                      <p:cNvPr id="77919" name="Text Box 119"/>
                      <p:cNvSpPr txBox="1">
                        <a:spLocks noChangeArrowheads="1"/>
                      </p:cNvSpPr>
                      <p:nvPr/>
                    </p:nvSpPr>
                    <p:spPr bwMode="auto">
                      <a:xfrm>
                        <a:off x="2880" y="908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P3.1</a:t>
                        </a:r>
                        <a:endParaRPr lang="en-US" altLang="zh-CN" sz="2000" b="1">
                          <a:solidFill>
                            <a:srgbClr val="000000"/>
                          </a:solidFill>
                          <a:latin typeface="Times New Roman" panose="02020603050405020304" pitchFamily="18" charset="0"/>
                        </a:endParaRPr>
                      </a:p>
                    </p:txBody>
                  </p:sp>
                  <p:sp>
                    <p:nvSpPr>
                      <p:cNvPr id="77920" name="Text Box 120"/>
                      <p:cNvSpPr txBox="1">
                        <a:spLocks noChangeArrowheads="1"/>
                      </p:cNvSpPr>
                      <p:nvPr/>
                    </p:nvSpPr>
                    <p:spPr bwMode="auto">
                      <a:xfrm>
                        <a:off x="2880" y="939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P3.2</a:t>
                        </a:r>
                        <a:endParaRPr lang="en-US" altLang="zh-CN" sz="2000" b="1">
                          <a:solidFill>
                            <a:srgbClr val="000000"/>
                          </a:solidFill>
                          <a:latin typeface="Times New Roman" panose="02020603050405020304" pitchFamily="18" charset="0"/>
                        </a:endParaRPr>
                      </a:p>
                    </p:txBody>
                  </p:sp>
                  <p:sp>
                    <p:nvSpPr>
                      <p:cNvPr id="77921" name="Text Box 121"/>
                      <p:cNvSpPr txBox="1">
                        <a:spLocks noChangeArrowheads="1"/>
                      </p:cNvSpPr>
                      <p:nvPr/>
                    </p:nvSpPr>
                    <p:spPr bwMode="auto">
                      <a:xfrm>
                        <a:off x="2880" y="970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P3.3</a:t>
                        </a:r>
                        <a:endParaRPr lang="en-US" altLang="zh-CN" sz="2000" b="1">
                          <a:solidFill>
                            <a:srgbClr val="000000"/>
                          </a:solidFill>
                          <a:latin typeface="Times New Roman" panose="02020603050405020304" pitchFamily="18" charset="0"/>
                        </a:endParaRPr>
                      </a:p>
                    </p:txBody>
                  </p:sp>
                  <p:sp>
                    <p:nvSpPr>
                      <p:cNvPr id="77922" name="Text Box 122"/>
                      <p:cNvSpPr txBox="1">
                        <a:spLocks noChangeArrowheads="1"/>
                      </p:cNvSpPr>
                      <p:nvPr/>
                    </p:nvSpPr>
                    <p:spPr bwMode="auto">
                      <a:xfrm>
                        <a:off x="2880" y="1002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P3.4</a:t>
                        </a:r>
                        <a:endParaRPr lang="en-US" altLang="zh-CN" sz="2000" b="1">
                          <a:solidFill>
                            <a:srgbClr val="000000"/>
                          </a:solidFill>
                          <a:latin typeface="Times New Roman" panose="02020603050405020304" pitchFamily="18" charset="0"/>
                        </a:endParaRPr>
                      </a:p>
                    </p:txBody>
                  </p:sp>
                  <p:sp>
                    <p:nvSpPr>
                      <p:cNvPr id="77923" name="Text Box 123"/>
                      <p:cNvSpPr txBox="1">
                        <a:spLocks noChangeArrowheads="1"/>
                      </p:cNvSpPr>
                      <p:nvPr/>
                    </p:nvSpPr>
                    <p:spPr bwMode="auto">
                      <a:xfrm>
                        <a:off x="2880" y="1033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P3.5</a:t>
                        </a:r>
                        <a:endParaRPr lang="en-US" altLang="zh-CN" sz="2000" b="1">
                          <a:solidFill>
                            <a:srgbClr val="000000"/>
                          </a:solidFill>
                          <a:latin typeface="Times New Roman" panose="02020603050405020304" pitchFamily="18" charset="0"/>
                        </a:endParaRPr>
                      </a:p>
                    </p:txBody>
                  </p:sp>
                  <p:sp>
                    <p:nvSpPr>
                      <p:cNvPr id="77924" name="Text Box 124"/>
                      <p:cNvSpPr txBox="1">
                        <a:spLocks noChangeArrowheads="1"/>
                      </p:cNvSpPr>
                      <p:nvPr/>
                    </p:nvSpPr>
                    <p:spPr bwMode="auto">
                      <a:xfrm>
                        <a:off x="2880" y="1064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925" name="Text Box 125"/>
                      <p:cNvSpPr txBox="1">
                        <a:spLocks noChangeArrowheads="1"/>
                      </p:cNvSpPr>
                      <p:nvPr/>
                    </p:nvSpPr>
                    <p:spPr bwMode="auto">
                      <a:xfrm>
                        <a:off x="2880" y="1095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926" name="Text Box 126"/>
                      <p:cNvSpPr txBox="1">
                        <a:spLocks noChangeArrowheads="1"/>
                      </p:cNvSpPr>
                      <p:nvPr/>
                    </p:nvSpPr>
                    <p:spPr bwMode="auto">
                      <a:xfrm>
                        <a:off x="2880" y="1126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grpSp>
              </p:grpSp>
              <p:sp>
                <p:nvSpPr>
                  <p:cNvPr id="77907" name="Text Box 127"/>
                  <p:cNvSpPr txBox="1">
                    <a:spLocks noChangeArrowheads="1"/>
                  </p:cNvSpPr>
                  <p:nvPr/>
                </p:nvSpPr>
                <p:spPr bwMode="auto">
                  <a:xfrm>
                    <a:off x="2340" y="6120"/>
                    <a:ext cx="18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页框号   内存</a:t>
                    </a:r>
                    <a:endParaRPr lang="zh-CN" altLang="en-US" sz="2000" b="1">
                      <a:solidFill>
                        <a:srgbClr val="000000"/>
                      </a:solidFill>
                      <a:latin typeface="Times New Roman" panose="02020603050405020304" pitchFamily="18" charset="0"/>
                    </a:endParaRPr>
                  </a:p>
                </p:txBody>
              </p:sp>
              <p:sp>
                <p:nvSpPr>
                  <p:cNvPr id="77908" name="Text Box 128"/>
                  <p:cNvSpPr txBox="1">
                    <a:spLocks noChangeArrowheads="1"/>
                  </p:cNvSpPr>
                  <p:nvPr/>
                </p:nvSpPr>
                <p:spPr bwMode="auto">
                  <a:xfrm>
                    <a:off x="2520" y="11736"/>
                    <a:ext cx="23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(a) </a:t>
                    </a:r>
                    <a:r>
                      <a:rPr lang="zh-CN" altLang="en-US" b="1">
                        <a:solidFill>
                          <a:srgbClr val="000000"/>
                        </a:solidFill>
                        <a:latin typeface="Times New Roman" panose="02020603050405020304" pitchFamily="18" charset="0"/>
                      </a:rPr>
                      <a:t>依次装入</a:t>
                    </a:r>
                    <a:r>
                      <a:rPr lang="en-US" altLang="zh-CN" b="1">
                        <a:solidFill>
                          <a:srgbClr val="000000"/>
                        </a:solidFill>
                        <a:latin typeface="Times New Roman" panose="02020603050405020304" pitchFamily="18" charset="0"/>
                      </a:rPr>
                      <a:t>P1</a:t>
                    </a:r>
                    <a:r>
                      <a:rPr lang="zh-CN" altLang="en-US" b="1">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P2</a:t>
                    </a:r>
                    <a:r>
                      <a:rPr lang="zh-CN" altLang="en-US" b="1">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P3</a:t>
                    </a:r>
                    <a:endParaRPr lang="en-US" altLang="zh-CN" b="1">
                      <a:solidFill>
                        <a:srgbClr val="000000"/>
                      </a:solidFill>
                      <a:latin typeface="Times New Roman" panose="02020603050405020304" pitchFamily="18" charset="0"/>
                    </a:endParaRPr>
                  </a:p>
                  <a:p>
                    <a:pPr algn="just"/>
                    <a:endParaRPr lang="en-US" altLang="zh-CN" sz="2000" b="1">
                      <a:solidFill>
                        <a:srgbClr val="000000"/>
                      </a:solidFill>
                      <a:latin typeface="Times New Roman" panose="02020603050405020304" pitchFamily="18" charset="0"/>
                    </a:endParaRPr>
                  </a:p>
                </p:txBody>
              </p:sp>
            </p:grpSp>
            <p:grpSp>
              <p:nvGrpSpPr>
                <p:cNvPr id="77897" name="Group 129"/>
                <p:cNvGrpSpPr/>
                <p:nvPr/>
              </p:nvGrpSpPr>
              <p:grpSpPr bwMode="auto">
                <a:xfrm>
                  <a:off x="3960" y="6588"/>
                  <a:ext cx="720" cy="4992"/>
                  <a:chOff x="3960" y="6588"/>
                  <a:chExt cx="720" cy="4992"/>
                </a:xfrm>
              </p:grpSpPr>
              <p:sp>
                <p:nvSpPr>
                  <p:cNvPr id="77898" name="AutoShape 130"/>
                  <p:cNvSpPr/>
                  <p:nvPr/>
                </p:nvSpPr>
                <p:spPr bwMode="auto">
                  <a:xfrm>
                    <a:off x="3960" y="6588"/>
                    <a:ext cx="180" cy="1248"/>
                  </a:xfrm>
                  <a:prstGeom prst="rightBrace">
                    <a:avLst>
                      <a:gd name="adj1" fmla="val 57778"/>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99" name="AutoShape 131"/>
                  <p:cNvSpPr/>
                  <p:nvPr/>
                </p:nvSpPr>
                <p:spPr bwMode="auto">
                  <a:xfrm>
                    <a:off x="3960" y="7836"/>
                    <a:ext cx="180" cy="936"/>
                  </a:xfrm>
                  <a:prstGeom prst="rightBrace">
                    <a:avLst>
                      <a:gd name="adj1" fmla="val 4333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900" name="AutoShape 132"/>
                  <p:cNvSpPr/>
                  <p:nvPr/>
                </p:nvSpPr>
                <p:spPr bwMode="auto">
                  <a:xfrm>
                    <a:off x="3960" y="8772"/>
                    <a:ext cx="180" cy="1872"/>
                  </a:xfrm>
                  <a:prstGeom prst="rightBrace">
                    <a:avLst>
                      <a:gd name="adj1" fmla="val 8666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901" name="AutoShape 133"/>
                  <p:cNvSpPr/>
                  <p:nvPr/>
                </p:nvSpPr>
                <p:spPr bwMode="auto">
                  <a:xfrm>
                    <a:off x="3960" y="10644"/>
                    <a:ext cx="180" cy="936"/>
                  </a:xfrm>
                  <a:prstGeom prst="rightBrace">
                    <a:avLst>
                      <a:gd name="adj1" fmla="val 4333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902" name="Text Box 134"/>
                  <p:cNvSpPr txBox="1">
                    <a:spLocks noChangeArrowheads="1"/>
                  </p:cNvSpPr>
                  <p:nvPr/>
                </p:nvSpPr>
                <p:spPr bwMode="auto">
                  <a:xfrm>
                    <a:off x="4140" y="7056"/>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P1</a:t>
                    </a:r>
                    <a:endParaRPr lang="en-US" altLang="zh-CN" sz="2000" b="1">
                      <a:solidFill>
                        <a:srgbClr val="000000"/>
                      </a:solidFill>
                      <a:latin typeface="Times New Roman" panose="02020603050405020304" pitchFamily="18" charset="0"/>
                    </a:endParaRPr>
                  </a:p>
                </p:txBody>
              </p:sp>
              <p:sp>
                <p:nvSpPr>
                  <p:cNvPr id="77903" name="Text Box 135"/>
                  <p:cNvSpPr txBox="1">
                    <a:spLocks noChangeArrowheads="1"/>
                  </p:cNvSpPr>
                  <p:nvPr/>
                </p:nvSpPr>
                <p:spPr bwMode="auto">
                  <a:xfrm>
                    <a:off x="4140" y="8148"/>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P2</a:t>
                    </a:r>
                    <a:endParaRPr lang="en-US" altLang="zh-CN" sz="2000" b="1">
                      <a:solidFill>
                        <a:srgbClr val="000000"/>
                      </a:solidFill>
                      <a:latin typeface="Times New Roman" panose="02020603050405020304" pitchFamily="18" charset="0"/>
                    </a:endParaRPr>
                  </a:p>
                </p:txBody>
              </p:sp>
              <p:sp>
                <p:nvSpPr>
                  <p:cNvPr id="77904" name="Text Box 136"/>
                  <p:cNvSpPr txBox="1">
                    <a:spLocks noChangeArrowheads="1"/>
                  </p:cNvSpPr>
                  <p:nvPr/>
                </p:nvSpPr>
                <p:spPr bwMode="auto">
                  <a:xfrm>
                    <a:off x="4140" y="9552"/>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P3</a:t>
                    </a:r>
                    <a:endParaRPr lang="en-US" altLang="zh-CN" sz="2000" b="1">
                      <a:solidFill>
                        <a:srgbClr val="000000"/>
                      </a:solidFill>
                      <a:latin typeface="Times New Roman" panose="02020603050405020304" pitchFamily="18" charset="0"/>
                    </a:endParaRPr>
                  </a:p>
                </p:txBody>
              </p:sp>
              <p:sp>
                <p:nvSpPr>
                  <p:cNvPr id="77905" name="Text Box 137"/>
                  <p:cNvSpPr txBox="1">
                    <a:spLocks noChangeArrowheads="1"/>
                  </p:cNvSpPr>
                  <p:nvPr/>
                </p:nvSpPr>
                <p:spPr bwMode="auto">
                  <a:xfrm>
                    <a:off x="4140" y="1095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空闲</a:t>
                    </a:r>
                    <a:endParaRPr lang="zh-CN" altLang="en-US" sz="2000" b="1">
                      <a:solidFill>
                        <a:srgbClr val="000000"/>
                      </a:solidFill>
                      <a:latin typeface="Times New Roman" panose="02020603050405020304" pitchFamily="18" charset="0"/>
                    </a:endParaRPr>
                  </a:p>
                </p:txBody>
              </p:sp>
            </p:grpSp>
          </p:grpSp>
          <p:grpSp>
            <p:nvGrpSpPr>
              <p:cNvPr id="77831" name="Group 138"/>
              <p:cNvGrpSpPr/>
              <p:nvPr/>
            </p:nvGrpSpPr>
            <p:grpSpPr bwMode="auto">
              <a:xfrm>
                <a:off x="4500" y="6120"/>
                <a:ext cx="2700" cy="5928"/>
                <a:chOff x="4500" y="6120"/>
                <a:chExt cx="2700" cy="5928"/>
              </a:xfrm>
            </p:grpSpPr>
            <p:grpSp>
              <p:nvGrpSpPr>
                <p:cNvPr id="77865" name="Group 139"/>
                <p:cNvGrpSpPr/>
                <p:nvPr/>
              </p:nvGrpSpPr>
              <p:grpSpPr bwMode="auto">
                <a:xfrm>
                  <a:off x="4500" y="6120"/>
                  <a:ext cx="2520" cy="5928"/>
                  <a:chOff x="2340" y="6120"/>
                  <a:chExt cx="2520" cy="5928"/>
                </a:xfrm>
              </p:grpSpPr>
              <p:grpSp>
                <p:nvGrpSpPr>
                  <p:cNvPr id="77875" name="Group 140"/>
                  <p:cNvGrpSpPr/>
                  <p:nvPr/>
                </p:nvGrpSpPr>
                <p:grpSpPr bwMode="auto">
                  <a:xfrm>
                    <a:off x="2700" y="6588"/>
                    <a:ext cx="1620" cy="4992"/>
                    <a:chOff x="2520" y="6588"/>
                    <a:chExt cx="1620" cy="4992"/>
                  </a:xfrm>
                </p:grpSpPr>
                <p:sp>
                  <p:nvSpPr>
                    <p:cNvPr id="77878" name="Text Box 141"/>
                    <p:cNvSpPr txBox="1">
                      <a:spLocks noChangeArrowheads="1"/>
                    </p:cNvSpPr>
                    <p:nvPr/>
                  </p:nvSpPr>
                  <p:spPr bwMode="auto">
                    <a:xfrm>
                      <a:off x="2520" y="6588"/>
                      <a:ext cx="360" cy="4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0</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6</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7</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8</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9</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10</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11</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12</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13</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14</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15</a:t>
                      </a:r>
                      <a:endParaRPr lang="en-US" altLang="zh-CN" sz="2000" b="1">
                        <a:solidFill>
                          <a:srgbClr val="000000"/>
                        </a:solidFill>
                        <a:latin typeface="Times New Roman" panose="02020603050405020304" pitchFamily="18" charset="0"/>
                      </a:endParaRPr>
                    </a:p>
                  </p:txBody>
                </p:sp>
                <p:grpSp>
                  <p:nvGrpSpPr>
                    <p:cNvPr id="77879" name="Group 142"/>
                    <p:cNvGrpSpPr/>
                    <p:nvPr/>
                  </p:nvGrpSpPr>
                  <p:grpSpPr bwMode="auto">
                    <a:xfrm>
                      <a:off x="2880" y="6588"/>
                      <a:ext cx="1260" cy="4992"/>
                      <a:chOff x="2880" y="6588"/>
                      <a:chExt cx="1260" cy="4992"/>
                    </a:xfrm>
                  </p:grpSpPr>
                  <p:sp>
                    <p:nvSpPr>
                      <p:cNvPr id="77880" name="Text Box 143"/>
                      <p:cNvSpPr txBox="1">
                        <a:spLocks noChangeArrowheads="1"/>
                      </p:cNvSpPr>
                      <p:nvPr/>
                    </p:nvSpPr>
                    <p:spPr bwMode="auto">
                      <a:xfrm>
                        <a:off x="2880" y="721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P1.2</a:t>
                        </a:r>
                        <a:endParaRPr lang="en-US" altLang="zh-CN" sz="2000" b="1">
                          <a:solidFill>
                            <a:srgbClr val="000000"/>
                          </a:solidFill>
                          <a:latin typeface="Times New Roman" panose="02020603050405020304" pitchFamily="18" charset="0"/>
                        </a:endParaRPr>
                      </a:p>
                    </p:txBody>
                  </p:sp>
                  <p:sp>
                    <p:nvSpPr>
                      <p:cNvPr id="77881" name="Text Box 144"/>
                      <p:cNvSpPr txBox="1">
                        <a:spLocks noChangeArrowheads="1"/>
                      </p:cNvSpPr>
                      <p:nvPr/>
                    </p:nvSpPr>
                    <p:spPr bwMode="auto">
                      <a:xfrm>
                        <a:off x="2880" y="690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P1.1</a:t>
                        </a:r>
                        <a:endParaRPr lang="en-US" altLang="zh-CN" sz="2000" b="1">
                          <a:solidFill>
                            <a:srgbClr val="000000"/>
                          </a:solidFill>
                          <a:latin typeface="Times New Roman" panose="02020603050405020304" pitchFamily="18" charset="0"/>
                        </a:endParaRPr>
                      </a:p>
                    </p:txBody>
                  </p:sp>
                  <p:sp>
                    <p:nvSpPr>
                      <p:cNvPr id="77882" name="Text Box 145"/>
                      <p:cNvSpPr txBox="1">
                        <a:spLocks noChangeArrowheads="1"/>
                      </p:cNvSpPr>
                      <p:nvPr/>
                    </p:nvSpPr>
                    <p:spPr bwMode="auto">
                      <a:xfrm>
                        <a:off x="2880" y="658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P1.0</a:t>
                        </a:r>
                        <a:endParaRPr lang="en-US" altLang="zh-CN" sz="2000" b="1">
                          <a:solidFill>
                            <a:srgbClr val="000000"/>
                          </a:solidFill>
                          <a:latin typeface="Times New Roman" panose="02020603050405020304" pitchFamily="18" charset="0"/>
                        </a:endParaRPr>
                      </a:p>
                    </p:txBody>
                  </p:sp>
                  <p:sp>
                    <p:nvSpPr>
                      <p:cNvPr id="77883" name="Text Box 146"/>
                      <p:cNvSpPr txBox="1">
                        <a:spLocks noChangeArrowheads="1"/>
                      </p:cNvSpPr>
                      <p:nvPr/>
                    </p:nvSpPr>
                    <p:spPr bwMode="auto">
                      <a:xfrm>
                        <a:off x="2880" y="752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P1.3</a:t>
                        </a:r>
                        <a:endParaRPr lang="en-US" altLang="zh-CN" sz="2000" b="1">
                          <a:solidFill>
                            <a:srgbClr val="000000"/>
                          </a:solidFill>
                          <a:latin typeface="Times New Roman" panose="02020603050405020304" pitchFamily="18" charset="0"/>
                        </a:endParaRPr>
                      </a:p>
                    </p:txBody>
                  </p:sp>
                  <p:sp>
                    <p:nvSpPr>
                      <p:cNvPr id="77884" name="Text Box 147"/>
                      <p:cNvSpPr txBox="1">
                        <a:spLocks noChangeArrowheads="1"/>
                      </p:cNvSpPr>
                      <p:nvPr/>
                    </p:nvSpPr>
                    <p:spPr bwMode="auto">
                      <a:xfrm>
                        <a:off x="2880" y="783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885" name="Text Box 148"/>
                      <p:cNvSpPr txBox="1">
                        <a:spLocks noChangeArrowheads="1"/>
                      </p:cNvSpPr>
                      <p:nvPr/>
                    </p:nvSpPr>
                    <p:spPr bwMode="auto">
                      <a:xfrm>
                        <a:off x="2880" y="814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886" name="Text Box 149"/>
                      <p:cNvSpPr txBox="1">
                        <a:spLocks noChangeArrowheads="1"/>
                      </p:cNvSpPr>
                      <p:nvPr/>
                    </p:nvSpPr>
                    <p:spPr bwMode="auto">
                      <a:xfrm>
                        <a:off x="2880" y="846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887" name="Text Box 150"/>
                      <p:cNvSpPr txBox="1">
                        <a:spLocks noChangeArrowheads="1"/>
                      </p:cNvSpPr>
                      <p:nvPr/>
                    </p:nvSpPr>
                    <p:spPr bwMode="auto">
                      <a:xfrm>
                        <a:off x="2880" y="877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P3.0</a:t>
                        </a:r>
                        <a:endParaRPr lang="en-US" altLang="zh-CN" sz="2000" b="1">
                          <a:solidFill>
                            <a:srgbClr val="000000"/>
                          </a:solidFill>
                          <a:latin typeface="Times New Roman" panose="02020603050405020304" pitchFamily="18" charset="0"/>
                        </a:endParaRPr>
                      </a:p>
                    </p:txBody>
                  </p:sp>
                  <p:sp>
                    <p:nvSpPr>
                      <p:cNvPr id="77888" name="Text Box 151"/>
                      <p:cNvSpPr txBox="1">
                        <a:spLocks noChangeArrowheads="1"/>
                      </p:cNvSpPr>
                      <p:nvPr/>
                    </p:nvSpPr>
                    <p:spPr bwMode="auto">
                      <a:xfrm>
                        <a:off x="2880" y="908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P3.1</a:t>
                        </a:r>
                        <a:endParaRPr lang="en-US" altLang="zh-CN" sz="2000" b="1">
                          <a:solidFill>
                            <a:srgbClr val="000000"/>
                          </a:solidFill>
                          <a:latin typeface="Times New Roman" panose="02020603050405020304" pitchFamily="18" charset="0"/>
                        </a:endParaRPr>
                      </a:p>
                    </p:txBody>
                  </p:sp>
                  <p:sp>
                    <p:nvSpPr>
                      <p:cNvPr id="77889" name="Text Box 152"/>
                      <p:cNvSpPr txBox="1">
                        <a:spLocks noChangeArrowheads="1"/>
                      </p:cNvSpPr>
                      <p:nvPr/>
                    </p:nvSpPr>
                    <p:spPr bwMode="auto">
                      <a:xfrm>
                        <a:off x="2880" y="939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P3.2</a:t>
                        </a:r>
                        <a:endParaRPr lang="en-US" altLang="zh-CN" sz="2000" b="1">
                          <a:solidFill>
                            <a:srgbClr val="000000"/>
                          </a:solidFill>
                          <a:latin typeface="Times New Roman" panose="02020603050405020304" pitchFamily="18" charset="0"/>
                        </a:endParaRPr>
                      </a:p>
                    </p:txBody>
                  </p:sp>
                  <p:sp>
                    <p:nvSpPr>
                      <p:cNvPr id="77890" name="Text Box 153"/>
                      <p:cNvSpPr txBox="1">
                        <a:spLocks noChangeArrowheads="1"/>
                      </p:cNvSpPr>
                      <p:nvPr/>
                    </p:nvSpPr>
                    <p:spPr bwMode="auto">
                      <a:xfrm>
                        <a:off x="2880" y="970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P3.3</a:t>
                        </a:r>
                        <a:endParaRPr lang="en-US" altLang="zh-CN" sz="2000" b="1">
                          <a:solidFill>
                            <a:srgbClr val="000000"/>
                          </a:solidFill>
                          <a:latin typeface="Times New Roman" panose="02020603050405020304" pitchFamily="18" charset="0"/>
                        </a:endParaRPr>
                      </a:p>
                    </p:txBody>
                  </p:sp>
                  <p:sp>
                    <p:nvSpPr>
                      <p:cNvPr id="77891" name="Text Box 154"/>
                      <p:cNvSpPr txBox="1">
                        <a:spLocks noChangeArrowheads="1"/>
                      </p:cNvSpPr>
                      <p:nvPr/>
                    </p:nvSpPr>
                    <p:spPr bwMode="auto">
                      <a:xfrm>
                        <a:off x="2880" y="1002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P3.4</a:t>
                        </a:r>
                        <a:endParaRPr lang="en-US" altLang="zh-CN" sz="2000" b="1">
                          <a:solidFill>
                            <a:srgbClr val="000000"/>
                          </a:solidFill>
                          <a:latin typeface="Times New Roman" panose="02020603050405020304" pitchFamily="18" charset="0"/>
                        </a:endParaRPr>
                      </a:p>
                    </p:txBody>
                  </p:sp>
                  <p:sp>
                    <p:nvSpPr>
                      <p:cNvPr id="77892" name="Text Box 155"/>
                      <p:cNvSpPr txBox="1">
                        <a:spLocks noChangeArrowheads="1"/>
                      </p:cNvSpPr>
                      <p:nvPr/>
                    </p:nvSpPr>
                    <p:spPr bwMode="auto">
                      <a:xfrm>
                        <a:off x="2880" y="1033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P3.5</a:t>
                        </a:r>
                        <a:endParaRPr lang="en-US" altLang="zh-CN" sz="2000" b="1">
                          <a:solidFill>
                            <a:srgbClr val="000000"/>
                          </a:solidFill>
                          <a:latin typeface="Times New Roman" panose="02020603050405020304" pitchFamily="18" charset="0"/>
                        </a:endParaRPr>
                      </a:p>
                    </p:txBody>
                  </p:sp>
                  <p:sp>
                    <p:nvSpPr>
                      <p:cNvPr id="77893" name="Text Box 156"/>
                      <p:cNvSpPr txBox="1">
                        <a:spLocks noChangeArrowheads="1"/>
                      </p:cNvSpPr>
                      <p:nvPr/>
                    </p:nvSpPr>
                    <p:spPr bwMode="auto">
                      <a:xfrm>
                        <a:off x="2880" y="1064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894" name="Text Box 157"/>
                      <p:cNvSpPr txBox="1">
                        <a:spLocks noChangeArrowheads="1"/>
                      </p:cNvSpPr>
                      <p:nvPr/>
                    </p:nvSpPr>
                    <p:spPr bwMode="auto">
                      <a:xfrm>
                        <a:off x="2880" y="1095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sp>
                    <p:nvSpPr>
                      <p:cNvPr id="77895" name="Text Box 158"/>
                      <p:cNvSpPr txBox="1">
                        <a:spLocks noChangeArrowheads="1"/>
                      </p:cNvSpPr>
                      <p:nvPr/>
                    </p:nvSpPr>
                    <p:spPr bwMode="auto">
                      <a:xfrm>
                        <a:off x="2880" y="1126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grpSp>
              </p:grpSp>
              <p:sp>
                <p:nvSpPr>
                  <p:cNvPr id="77876" name="Text Box 159"/>
                  <p:cNvSpPr txBox="1">
                    <a:spLocks noChangeArrowheads="1"/>
                  </p:cNvSpPr>
                  <p:nvPr/>
                </p:nvSpPr>
                <p:spPr bwMode="auto">
                  <a:xfrm>
                    <a:off x="2340" y="6120"/>
                    <a:ext cx="18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页框号   内存</a:t>
                    </a:r>
                    <a:endParaRPr lang="zh-CN" altLang="en-US" sz="2000" b="1">
                      <a:solidFill>
                        <a:srgbClr val="000000"/>
                      </a:solidFill>
                      <a:latin typeface="Times New Roman" panose="02020603050405020304" pitchFamily="18" charset="0"/>
                    </a:endParaRPr>
                  </a:p>
                </p:txBody>
              </p:sp>
              <p:sp>
                <p:nvSpPr>
                  <p:cNvPr id="77877" name="Text Box 160"/>
                  <p:cNvSpPr txBox="1">
                    <a:spLocks noChangeArrowheads="1"/>
                  </p:cNvSpPr>
                  <p:nvPr/>
                </p:nvSpPr>
                <p:spPr bwMode="auto">
                  <a:xfrm>
                    <a:off x="2520" y="11736"/>
                    <a:ext cx="23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(b) </a:t>
                    </a:r>
                    <a:r>
                      <a:rPr lang="zh-CN" altLang="en-US" sz="2000" b="1">
                        <a:solidFill>
                          <a:srgbClr val="000000"/>
                        </a:solidFill>
                        <a:latin typeface="Times New Roman" panose="02020603050405020304" pitchFamily="18" charset="0"/>
                      </a:rPr>
                      <a:t>换出</a:t>
                    </a:r>
                    <a:r>
                      <a:rPr lang="en-US" altLang="zh-CN" sz="2000" b="1">
                        <a:solidFill>
                          <a:srgbClr val="000000"/>
                        </a:solidFill>
                        <a:latin typeface="Times New Roman" panose="02020603050405020304" pitchFamily="18" charset="0"/>
                      </a:rPr>
                      <a:t>P2</a:t>
                    </a:r>
                    <a:endParaRPr lang="en-US" altLang="zh-CN" sz="2000" b="1">
                      <a:solidFill>
                        <a:srgbClr val="000000"/>
                      </a:solidFill>
                      <a:latin typeface="Times New Roman" panose="02020603050405020304" pitchFamily="18" charset="0"/>
                    </a:endParaRPr>
                  </a:p>
                </p:txBody>
              </p:sp>
            </p:grpSp>
            <p:grpSp>
              <p:nvGrpSpPr>
                <p:cNvPr id="77866" name="Group 161"/>
                <p:cNvGrpSpPr/>
                <p:nvPr/>
              </p:nvGrpSpPr>
              <p:grpSpPr bwMode="auto">
                <a:xfrm>
                  <a:off x="6480" y="6588"/>
                  <a:ext cx="720" cy="4992"/>
                  <a:chOff x="6480" y="6588"/>
                  <a:chExt cx="720" cy="4992"/>
                </a:xfrm>
              </p:grpSpPr>
              <p:sp>
                <p:nvSpPr>
                  <p:cNvPr id="77867" name="AutoShape 162"/>
                  <p:cNvSpPr/>
                  <p:nvPr/>
                </p:nvSpPr>
                <p:spPr bwMode="auto">
                  <a:xfrm>
                    <a:off x="6480" y="6588"/>
                    <a:ext cx="180" cy="1248"/>
                  </a:xfrm>
                  <a:prstGeom prst="rightBrace">
                    <a:avLst>
                      <a:gd name="adj1" fmla="val 57778"/>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68" name="AutoShape 163"/>
                  <p:cNvSpPr/>
                  <p:nvPr/>
                </p:nvSpPr>
                <p:spPr bwMode="auto">
                  <a:xfrm>
                    <a:off x="6480" y="7836"/>
                    <a:ext cx="180" cy="936"/>
                  </a:xfrm>
                  <a:prstGeom prst="rightBrace">
                    <a:avLst>
                      <a:gd name="adj1" fmla="val 4333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69" name="AutoShape 164"/>
                  <p:cNvSpPr/>
                  <p:nvPr/>
                </p:nvSpPr>
                <p:spPr bwMode="auto">
                  <a:xfrm>
                    <a:off x="6480" y="8772"/>
                    <a:ext cx="180" cy="1872"/>
                  </a:xfrm>
                  <a:prstGeom prst="rightBrace">
                    <a:avLst>
                      <a:gd name="adj1" fmla="val 8666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70" name="AutoShape 165"/>
                  <p:cNvSpPr/>
                  <p:nvPr/>
                </p:nvSpPr>
                <p:spPr bwMode="auto">
                  <a:xfrm>
                    <a:off x="6480" y="10644"/>
                    <a:ext cx="180" cy="936"/>
                  </a:xfrm>
                  <a:prstGeom prst="rightBrace">
                    <a:avLst>
                      <a:gd name="adj1" fmla="val 4333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71" name="Text Box 166"/>
                  <p:cNvSpPr txBox="1">
                    <a:spLocks noChangeArrowheads="1"/>
                  </p:cNvSpPr>
                  <p:nvPr/>
                </p:nvSpPr>
                <p:spPr bwMode="auto">
                  <a:xfrm>
                    <a:off x="6660" y="7056"/>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P1</a:t>
                    </a:r>
                    <a:endParaRPr lang="en-US" altLang="zh-CN" sz="2000" b="1">
                      <a:solidFill>
                        <a:srgbClr val="000000"/>
                      </a:solidFill>
                      <a:latin typeface="Times New Roman" panose="02020603050405020304" pitchFamily="18" charset="0"/>
                    </a:endParaRPr>
                  </a:p>
                </p:txBody>
              </p:sp>
              <p:sp>
                <p:nvSpPr>
                  <p:cNvPr id="77872" name="Text Box 167"/>
                  <p:cNvSpPr txBox="1">
                    <a:spLocks noChangeArrowheads="1"/>
                  </p:cNvSpPr>
                  <p:nvPr/>
                </p:nvSpPr>
                <p:spPr bwMode="auto">
                  <a:xfrm>
                    <a:off x="6660" y="8148"/>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空闲</a:t>
                    </a:r>
                    <a:endParaRPr lang="zh-CN" altLang="en-US" sz="2000" b="1">
                      <a:solidFill>
                        <a:srgbClr val="000000"/>
                      </a:solidFill>
                      <a:latin typeface="Times New Roman" panose="02020603050405020304" pitchFamily="18" charset="0"/>
                    </a:endParaRPr>
                  </a:p>
                </p:txBody>
              </p:sp>
              <p:sp>
                <p:nvSpPr>
                  <p:cNvPr id="77873" name="Text Box 168"/>
                  <p:cNvSpPr txBox="1">
                    <a:spLocks noChangeArrowheads="1"/>
                  </p:cNvSpPr>
                  <p:nvPr/>
                </p:nvSpPr>
                <p:spPr bwMode="auto">
                  <a:xfrm>
                    <a:off x="6660" y="9552"/>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P3</a:t>
                    </a:r>
                    <a:endParaRPr lang="en-US" altLang="zh-CN" sz="2000" b="1">
                      <a:solidFill>
                        <a:srgbClr val="000000"/>
                      </a:solidFill>
                      <a:latin typeface="Times New Roman" panose="02020603050405020304" pitchFamily="18" charset="0"/>
                    </a:endParaRPr>
                  </a:p>
                </p:txBody>
              </p:sp>
              <p:sp>
                <p:nvSpPr>
                  <p:cNvPr id="77874" name="Text Box 169"/>
                  <p:cNvSpPr txBox="1">
                    <a:spLocks noChangeArrowheads="1"/>
                  </p:cNvSpPr>
                  <p:nvPr/>
                </p:nvSpPr>
                <p:spPr bwMode="auto">
                  <a:xfrm>
                    <a:off x="6660" y="1095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空闲</a:t>
                    </a:r>
                    <a:endParaRPr lang="zh-CN" altLang="en-US" sz="2000" b="1">
                      <a:solidFill>
                        <a:srgbClr val="000000"/>
                      </a:solidFill>
                      <a:latin typeface="Times New Roman" panose="02020603050405020304" pitchFamily="18" charset="0"/>
                    </a:endParaRPr>
                  </a:p>
                </p:txBody>
              </p:sp>
            </p:grpSp>
          </p:grpSp>
          <p:grpSp>
            <p:nvGrpSpPr>
              <p:cNvPr id="77832" name="Group 170"/>
              <p:cNvGrpSpPr/>
              <p:nvPr/>
            </p:nvGrpSpPr>
            <p:grpSpPr bwMode="auto">
              <a:xfrm>
                <a:off x="7380" y="6120"/>
                <a:ext cx="2700" cy="5928"/>
                <a:chOff x="7380" y="6120"/>
                <a:chExt cx="2700" cy="5928"/>
              </a:xfrm>
            </p:grpSpPr>
            <p:grpSp>
              <p:nvGrpSpPr>
                <p:cNvPr id="77833" name="Group 171"/>
                <p:cNvGrpSpPr/>
                <p:nvPr/>
              </p:nvGrpSpPr>
              <p:grpSpPr bwMode="auto">
                <a:xfrm>
                  <a:off x="7380" y="6120"/>
                  <a:ext cx="2520" cy="5928"/>
                  <a:chOff x="2340" y="6120"/>
                  <a:chExt cx="2520" cy="5928"/>
                </a:xfrm>
              </p:grpSpPr>
              <p:grpSp>
                <p:nvGrpSpPr>
                  <p:cNvPr id="77844" name="Group 172"/>
                  <p:cNvGrpSpPr/>
                  <p:nvPr/>
                </p:nvGrpSpPr>
                <p:grpSpPr bwMode="auto">
                  <a:xfrm>
                    <a:off x="2700" y="6588"/>
                    <a:ext cx="1620" cy="4992"/>
                    <a:chOff x="2520" y="6588"/>
                    <a:chExt cx="1620" cy="4992"/>
                  </a:xfrm>
                </p:grpSpPr>
                <p:sp>
                  <p:nvSpPr>
                    <p:cNvPr id="77847" name="Text Box 173"/>
                    <p:cNvSpPr txBox="1">
                      <a:spLocks noChangeArrowheads="1"/>
                    </p:cNvSpPr>
                    <p:nvPr/>
                  </p:nvSpPr>
                  <p:spPr bwMode="auto">
                    <a:xfrm>
                      <a:off x="2520" y="6588"/>
                      <a:ext cx="360" cy="4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0</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6</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7</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8</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9</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10</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11</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12</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13</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14</a:t>
                      </a:r>
                      <a:endParaRPr lang="en-US" altLang="zh-CN" sz="2000" b="1">
                        <a:solidFill>
                          <a:srgbClr val="000000"/>
                        </a:solidFill>
                        <a:latin typeface="Times New Roman" panose="02020603050405020304" pitchFamily="18" charset="0"/>
                      </a:endParaRPr>
                    </a:p>
                    <a:p>
                      <a:pPr algn="ctr"/>
                      <a:r>
                        <a:rPr lang="en-US" altLang="zh-CN" sz="2000" b="1">
                          <a:solidFill>
                            <a:srgbClr val="000000"/>
                          </a:solidFill>
                          <a:latin typeface="Times New Roman" panose="02020603050405020304" pitchFamily="18" charset="0"/>
                        </a:rPr>
                        <a:t>15</a:t>
                      </a:r>
                      <a:endParaRPr lang="en-US" altLang="zh-CN" sz="2000" b="1">
                        <a:solidFill>
                          <a:srgbClr val="000000"/>
                        </a:solidFill>
                        <a:latin typeface="Times New Roman" panose="02020603050405020304" pitchFamily="18" charset="0"/>
                      </a:endParaRPr>
                    </a:p>
                  </p:txBody>
                </p:sp>
                <p:grpSp>
                  <p:nvGrpSpPr>
                    <p:cNvPr id="77848" name="Group 174"/>
                    <p:cNvGrpSpPr/>
                    <p:nvPr/>
                  </p:nvGrpSpPr>
                  <p:grpSpPr bwMode="auto">
                    <a:xfrm>
                      <a:off x="2880" y="6588"/>
                      <a:ext cx="1260" cy="4992"/>
                      <a:chOff x="2880" y="6588"/>
                      <a:chExt cx="1260" cy="4992"/>
                    </a:xfrm>
                  </p:grpSpPr>
                  <p:sp>
                    <p:nvSpPr>
                      <p:cNvPr id="77849" name="Text Box 175"/>
                      <p:cNvSpPr txBox="1">
                        <a:spLocks noChangeArrowheads="1"/>
                      </p:cNvSpPr>
                      <p:nvPr/>
                    </p:nvSpPr>
                    <p:spPr bwMode="auto">
                      <a:xfrm>
                        <a:off x="2880" y="721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P1.2</a:t>
                        </a:r>
                        <a:endParaRPr lang="en-US" altLang="zh-CN" sz="2000" b="1">
                          <a:solidFill>
                            <a:srgbClr val="000000"/>
                          </a:solidFill>
                          <a:latin typeface="Times New Roman" panose="02020603050405020304" pitchFamily="18" charset="0"/>
                        </a:endParaRPr>
                      </a:p>
                    </p:txBody>
                  </p:sp>
                  <p:sp>
                    <p:nvSpPr>
                      <p:cNvPr id="77850" name="Text Box 176"/>
                      <p:cNvSpPr txBox="1">
                        <a:spLocks noChangeArrowheads="1"/>
                      </p:cNvSpPr>
                      <p:nvPr/>
                    </p:nvSpPr>
                    <p:spPr bwMode="auto">
                      <a:xfrm>
                        <a:off x="2880" y="690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P1.1</a:t>
                        </a:r>
                        <a:endParaRPr lang="en-US" altLang="zh-CN" sz="2000" b="1">
                          <a:solidFill>
                            <a:srgbClr val="000000"/>
                          </a:solidFill>
                          <a:latin typeface="Times New Roman" panose="02020603050405020304" pitchFamily="18" charset="0"/>
                        </a:endParaRPr>
                      </a:p>
                    </p:txBody>
                  </p:sp>
                  <p:sp>
                    <p:nvSpPr>
                      <p:cNvPr id="77851" name="Text Box 177"/>
                      <p:cNvSpPr txBox="1">
                        <a:spLocks noChangeArrowheads="1"/>
                      </p:cNvSpPr>
                      <p:nvPr/>
                    </p:nvSpPr>
                    <p:spPr bwMode="auto">
                      <a:xfrm>
                        <a:off x="2880" y="658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P1.0</a:t>
                        </a:r>
                        <a:endParaRPr lang="en-US" altLang="zh-CN" sz="2000" b="1">
                          <a:solidFill>
                            <a:srgbClr val="000000"/>
                          </a:solidFill>
                          <a:latin typeface="Times New Roman" panose="02020603050405020304" pitchFamily="18" charset="0"/>
                        </a:endParaRPr>
                      </a:p>
                    </p:txBody>
                  </p:sp>
                  <p:sp>
                    <p:nvSpPr>
                      <p:cNvPr id="77852" name="Text Box 178"/>
                      <p:cNvSpPr txBox="1">
                        <a:spLocks noChangeArrowheads="1"/>
                      </p:cNvSpPr>
                      <p:nvPr/>
                    </p:nvSpPr>
                    <p:spPr bwMode="auto">
                      <a:xfrm>
                        <a:off x="2880" y="752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P1.3</a:t>
                        </a:r>
                        <a:endParaRPr lang="en-US" altLang="zh-CN" sz="2000" b="1">
                          <a:solidFill>
                            <a:srgbClr val="000000"/>
                          </a:solidFill>
                          <a:latin typeface="Times New Roman" panose="02020603050405020304" pitchFamily="18" charset="0"/>
                        </a:endParaRPr>
                      </a:p>
                    </p:txBody>
                  </p:sp>
                  <p:sp>
                    <p:nvSpPr>
                      <p:cNvPr id="77853" name="Text Box 179"/>
                      <p:cNvSpPr txBox="1">
                        <a:spLocks noChangeArrowheads="1"/>
                      </p:cNvSpPr>
                      <p:nvPr/>
                    </p:nvSpPr>
                    <p:spPr bwMode="auto">
                      <a:xfrm>
                        <a:off x="2880" y="783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P4.0</a:t>
                        </a:r>
                        <a:endParaRPr lang="en-US" altLang="zh-CN" sz="2000" b="1">
                          <a:solidFill>
                            <a:srgbClr val="000000"/>
                          </a:solidFill>
                          <a:latin typeface="Times New Roman" panose="02020603050405020304" pitchFamily="18" charset="0"/>
                        </a:endParaRPr>
                      </a:p>
                    </p:txBody>
                  </p:sp>
                  <p:sp>
                    <p:nvSpPr>
                      <p:cNvPr id="77854" name="Text Box 180"/>
                      <p:cNvSpPr txBox="1">
                        <a:spLocks noChangeArrowheads="1"/>
                      </p:cNvSpPr>
                      <p:nvPr/>
                    </p:nvSpPr>
                    <p:spPr bwMode="auto">
                      <a:xfrm>
                        <a:off x="2880" y="814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P4.1</a:t>
                        </a:r>
                        <a:endParaRPr lang="en-US" altLang="zh-CN" sz="2000" b="1">
                          <a:solidFill>
                            <a:srgbClr val="000000"/>
                          </a:solidFill>
                          <a:latin typeface="Times New Roman" panose="02020603050405020304" pitchFamily="18" charset="0"/>
                        </a:endParaRPr>
                      </a:p>
                    </p:txBody>
                  </p:sp>
                  <p:sp>
                    <p:nvSpPr>
                      <p:cNvPr id="77855" name="Text Box 181"/>
                      <p:cNvSpPr txBox="1">
                        <a:spLocks noChangeArrowheads="1"/>
                      </p:cNvSpPr>
                      <p:nvPr/>
                    </p:nvSpPr>
                    <p:spPr bwMode="auto">
                      <a:xfrm>
                        <a:off x="2880" y="846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P4.2</a:t>
                        </a:r>
                        <a:endParaRPr lang="en-US" altLang="zh-CN" sz="2000" b="1">
                          <a:solidFill>
                            <a:srgbClr val="000000"/>
                          </a:solidFill>
                          <a:latin typeface="Times New Roman" panose="02020603050405020304" pitchFamily="18" charset="0"/>
                        </a:endParaRPr>
                      </a:p>
                    </p:txBody>
                  </p:sp>
                  <p:sp>
                    <p:nvSpPr>
                      <p:cNvPr id="77856" name="Text Box 182"/>
                      <p:cNvSpPr txBox="1">
                        <a:spLocks noChangeArrowheads="1"/>
                      </p:cNvSpPr>
                      <p:nvPr/>
                    </p:nvSpPr>
                    <p:spPr bwMode="auto">
                      <a:xfrm>
                        <a:off x="2880" y="877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P3.0</a:t>
                        </a:r>
                        <a:endParaRPr lang="en-US" altLang="zh-CN" sz="2000" b="1">
                          <a:solidFill>
                            <a:srgbClr val="000000"/>
                          </a:solidFill>
                          <a:latin typeface="Times New Roman" panose="02020603050405020304" pitchFamily="18" charset="0"/>
                        </a:endParaRPr>
                      </a:p>
                    </p:txBody>
                  </p:sp>
                  <p:sp>
                    <p:nvSpPr>
                      <p:cNvPr id="77857" name="Text Box 183"/>
                      <p:cNvSpPr txBox="1">
                        <a:spLocks noChangeArrowheads="1"/>
                      </p:cNvSpPr>
                      <p:nvPr/>
                    </p:nvSpPr>
                    <p:spPr bwMode="auto">
                      <a:xfrm>
                        <a:off x="2880" y="908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P3.1</a:t>
                        </a:r>
                        <a:endParaRPr lang="en-US" altLang="zh-CN" sz="2000" b="1">
                          <a:solidFill>
                            <a:srgbClr val="000000"/>
                          </a:solidFill>
                          <a:latin typeface="Times New Roman" panose="02020603050405020304" pitchFamily="18" charset="0"/>
                        </a:endParaRPr>
                      </a:p>
                    </p:txBody>
                  </p:sp>
                  <p:sp>
                    <p:nvSpPr>
                      <p:cNvPr id="77858" name="Text Box 184"/>
                      <p:cNvSpPr txBox="1">
                        <a:spLocks noChangeArrowheads="1"/>
                      </p:cNvSpPr>
                      <p:nvPr/>
                    </p:nvSpPr>
                    <p:spPr bwMode="auto">
                      <a:xfrm>
                        <a:off x="2880" y="939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P3.2</a:t>
                        </a:r>
                        <a:endParaRPr lang="en-US" altLang="zh-CN" sz="2000" b="1">
                          <a:solidFill>
                            <a:srgbClr val="000000"/>
                          </a:solidFill>
                          <a:latin typeface="Times New Roman" panose="02020603050405020304" pitchFamily="18" charset="0"/>
                        </a:endParaRPr>
                      </a:p>
                    </p:txBody>
                  </p:sp>
                  <p:sp>
                    <p:nvSpPr>
                      <p:cNvPr id="77859" name="Text Box 185"/>
                      <p:cNvSpPr txBox="1">
                        <a:spLocks noChangeArrowheads="1"/>
                      </p:cNvSpPr>
                      <p:nvPr/>
                    </p:nvSpPr>
                    <p:spPr bwMode="auto">
                      <a:xfrm>
                        <a:off x="2880" y="970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P3.3</a:t>
                        </a:r>
                        <a:endParaRPr lang="en-US" altLang="zh-CN" sz="2000" b="1">
                          <a:solidFill>
                            <a:srgbClr val="000000"/>
                          </a:solidFill>
                          <a:latin typeface="Times New Roman" panose="02020603050405020304" pitchFamily="18" charset="0"/>
                        </a:endParaRPr>
                      </a:p>
                    </p:txBody>
                  </p:sp>
                  <p:sp>
                    <p:nvSpPr>
                      <p:cNvPr id="77860" name="Text Box 186"/>
                      <p:cNvSpPr txBox="1">
                        <a:spLocks noChangeArrowheads="1"/>
                      </p:cNvSpPr>
                      <p:nvPr/>
                    </p:nvSpPr>
                    <p:spPr bwMode="auto">
                      <a:xfrm>
                        <a:off x="2880" y="10020"/>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P3.4</a:t>
                        </a:r>
                        <a:endParaRPr lang="en-US" altLang="zh-CN" sz="2000" b="1">
                          <a:solidFill>
                            <a:srgbClr val="000000"/>
                          </a:solidFill>
                          <a:latin typeface="Times New Roman" panose="02020603050405020304" pitchFamily="18" charset="0"/>
                        </a:endParaRPr>
                      </a:p>
                    </p:txBody>
                  </p:sp>
                  <p:sp>
                    <p:nvSpPr>
                      <p:cNvPr id="77861" name="Text Box 187"/>
                      <p:cNvSpPr txBox="1">
                        <a:spLocks noChangeArrowheads="1"/>
                      </p:cNvSpPr>
                      <p:nvPr/>
                    </p:nvSpPr>
                    <p:spPr bwMode="auto">
                      <a:xfrm>
                        <a:off x="2880" y="10332"/>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P3.5</a:t>
                        </a:r>
                        <a:endParaRPr lang="en-US" altLang="zh-CN" sz="2000" b="1">
                          <a:solidFill>
                            <a:srgbClr val="000000"/>
                          </a:solidFill>
                          <a:latin typeface="Times New Roman" panose="02020603050405020304" pitchFamily="18" charset="0"/>
                        </a:endParaRPr>
                      </a:p>
                    </p:txBody>
                  </p:sp>
                  <p:sp>
                    <p:nvSpPr>
                      <p:cNvPr id="77862" name="Text Box 188"/>
                      <p:cNvSpPr txBox="1">
                        <a:spLocks noChangeArrowheads="1"/>
                      </p:cNvSpPr>
                      <p:nvPr/>
                    </p:nvSpPr>
                    <p:spPr bwMode="auto">
                      <a:xfrm>
                        <a:off x="2880" y="1064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P4.3</a:t>
                        </a:r>
                        <a:endParaRPr lang="en-US" altLang="zh-CN" sz="2000" b="1">
                          <a:solidFill>
                            <a:srgbClr val="000000"/>
                          </a:solidFill>
                          <a:latin typeface="Times New Roman" panose="02020603050405020304" pitchFamily="18" charset="0"/>
                        </a:endParaRPr>
                      </a:p>
                    </p:txBody>
                  </p:sp>
                  <p:sp>
                    <p:nvSpPr>
                      <p:cNvPr id="77863" name="Text Box 189"/>
                      <p:cNvSpPr txBox="1">
                        <a:spLocks noChangeArrowheads="1"/>
                      </p:cNvSpPr>
                      <p:nvPr/>
                    </p:nvSpPr>
                    <p:spPr bwMode="auto">
                      <a:xfrm>
                        <a:off x="2880" y="10956"/>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P4.4</a:t>
                        </a:r>
                        <a:endParaRPr lang="en-US" altLang="zh-CN" sz="2000" b="1">
                          <a:solidFill>
                            <a:srgbClr val="000000"/>
                          </a:solidFill>
                          <a:latin typeface="Times New Roman" panose="02020603050405020304" pitchFamily="18" charset="0"/>
                        </a:endParaRPr>
                      </a:p>
                    </p:txBody>
                  </p:sp>
                  <p:sp>
                    <p:nvSpPr>
                      <p:cNvPr id="77864" name="Text Box 190"/>
                      <p:cNvSpPr txBox="1">
                        <a:spLocks noChangeArrowheads="1"/>
                      </p:cNvSpPr>
                      <p:nvPr/>
                    </p:nvSpPr>
                    <p:spPr bwMode="auto">
                      <a:xfrm>
                        <a:off x="2880" y="11268"/>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000" b="1">
                          <a:solidFill>
                            <a:srgbClr val="000000"/>
                          </a:solidFill>
                          <a:latin typeface="Times New Roman" panose="02020603050405020304" pitchFamily="18" charset="0"/>
                        </a:endParaRPr>
                      </a:p>
                    </p:txBody>
                  </p:sp>
                </p:grpSp>
              </p:grpSp>
              <p:sp>
                <p:nvSpPr>
                  <p:cNvPr id="77845" name="Text Box 191"/>
                  <p:cNvSpPr txBox="1">
                    <a:spLocks noChangeArrowheads="1"/>
                  </p:cNvSpPr>
                  <p:nvPr/>
                </p:nvSpPr>
                <p:spPr bwMode="auto">
                  <a:xfrm>
                    <a:off x="2340" y="6120"/>
                    <a:ext cx="18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页框号   内存</a:t>
                    </a:r>
                    <a:endParaRPr lang="zh-CN" altLang="en-US" sz="2000" b="1">
                      <a:solidFill>
                        <a:srgbClr val="000000"/>
                      </a:solidFill>
                      <a:latin typeface="Times New Roman" panose="02020603050405020304" pitchFamily="18" charset="0"/>
                    </a:endParaRPr>
                  </a:p>
                </p:txBody>
              </p:sp>
              <p:sp>
                <p:nvSpPr>
                  <p:cNvPr id="77846" name="Text Box 192"/>
                  <p:cNvSpPr txBox="1">
                    <a:spLocks noChangeArrowheads="1"/>
                  </p:cNvSpPr>
                  <p:nvPr/>
                </p:nvSpPr>
                <p:spPr bwMode="auto">
                  <a:xfrm>
                    <a:off x="2520" y="11736"/>
                    <a:ext cx="23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b="1">
                        <a:solidFill>
                          <a:srgbClr val="000000"/>
                        </a:solidFill>
                        <a:latin typeface="Times New Roman" panose="02020603050405020304" pitchFamily="18" charset="0"/>
                      </a:rPr>
                      <a:t>(c) </a:t>
                    </a:r>
                    <a:r>
                      <a:rPr lang="zh-CN" altLang="en-US" sz="2000" b="1">
                        <a:solidFill>
                          <a:srgbClr val="000000"/>
                        </a:solidFill>
                        <a:latin typeface="Times New Roman" panose="02020603050405020304" pitchFamily="18" charset="0"/>
                      </a:rPr>
                      <a:t>装入</a:t>
                    </a:r>
                    <a:r>
                      <a:rPr lang="en-US" altLang="zh-CN" sz="2000" b="1">
                        <a:solidFill>
                          <a:srgbClr val="000000"/>
                        </a:solidFill>
                        <a:latin typeface="Times New Roman" panose="02020603050405020304" pitchFamily="18" charset="0"/>
                      </a:rPr>
                      <a:t>P4</a:t>
                    </a:r>
                    <a:endParaRPr lang="en-US" altLang="zh-CN" sz="2000" b="1">
                      <a:solidFill>
                        <a:srgbClr val="000000"/>
                      </a:solidFill>
                      <a:latin typeface="Times New Roman" panose="02020603050405020304" pitchFamily="18" charset="0"/>
                    </a:endParaRPr>
                  </a:p>
                </p:txBody>
              </p:sp>
            </p:grpSp>
            <p:grpSp>
              <p:nvGrpSpPr>
                <p:cNvPr id="77834" name="Group 193"/>
                <p:cNvGrpSpPr/>
                <p:nvPr/>
              </p:nvGrpSpPr>
              <p:grpSpPr bwMode="auto">
                <a:xfrm>
                  <a:off x="9360" y="6588"/>
                  <a:ext cx="720" cy="4992"/>
                  <a:chOff x="9360" y="6588"/>
                  <a:chExt cx="720" cy="4992"/>
                </a:xfrm>
              </p:grpSpPr>
              <p:sp>
                <p:nvSpPr>
                  <p:cNvPr id="77835" name="AutoShape 194"/>
                  <p:cNvSpPr/>
                  <p:nvPr/>
                </p:nvSpPr>
                <p:spPr bwMode="auto">
                  <a:xfrm>
                    <a:off x="9360" y="6588"/>
                    <a:ext cx="180" cy="1248"/>
                  </a:xfrm>
                  <a:prstGeom prst="rightBrace">
                    <a:avLst>
                      <a:gd name="adj1" fmla="val 57778"/>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36" name="AutoShape 195"/>
                  <p:cNvSpPr/>
                  <p:nvPr/>
                </p:nvSpPr>
                <p:spPr bwMode="auto">
                  <a:xfrm>
                    <a:off x="9360" y="7836"/>
                    <a:ext cx="180" cy="936"/>
                  </a:xfrm>
                  <a:prstGeom prst="rightBrace">
                    <a:avLst>
                      <a:gd name="adj1" fmla="val 4333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37" name="AutoShape 196"/>
                  <p:cNvSpPr/>
                  <p:nvPr/>
                </p:nvSpPr>
                <p:spPr bwMode="auto">
                  <a:xfrm>
                    <a:off x="9360" y="8772"/>
                    <a:ext cx="180" cy="1872"/>
                  </a:xfrm>
                  <a:prstGeom prst="rightBrace">
                    <a:avLst>
                      <a:gd name="adj1" fmla="val 8666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38" name="AutoShape 197"/>
                  <p:cNvSpPr/>
                  <p:nvPr/>
                </p:nvSpPr>
                <p:spPr bwMode="auto">
                  <a:xfrm>
                    <a:off x="9360" y="10644"/>
                    <a:ext cx="180" cy="624"/>
                  </a:xfrm>
                  <a:prstGeom prst="rightBrace">
                    <a:avLst>
                      <a:gd name="adj1" fmla="val 28889"/>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7839" name="Text Box 198"/>
                  <p:cNvSpPr txBox="1">
                    <a:spLocks noChangeArrowheads="1"/>
                  </p:cNvSpPr>
                  <p:nvPr/>
                </p:nvSpPr>
                <p:spPr bwMode="auto">
                  <a:xfrm>
                    <a:off x="9540" y="7056"/>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P1</a:t>
                    </a:r>
                    <a:endParaRPr lang="en-US" altLang="zh-CN" sz="2000" b="1">
                      <a:solidFill>
                        <a:srgbClr val="000000"/>
                      </a:solidFill>
                      <a:latin typeface="Times New Roman" panose="02020603050405020304" pitchFamily="18" charset="0"/>
                    </a:endParaRPr>
                  </a:p>
                </p:txBody>
              </p:sp>
              <p:sp>
                <p:nvSpPr>
                  <p:cNvPr id="77840" name="Text Box 199"/>
                  <p:cNvSpPr txBox="1">
                    <a:spLocks noChangeArrowheads="1"/>
                  </p:cNvSpPr>
                  <p:nvPr/>
                </p:nvSpPr>
                <p:spPr bwMode="auto">
                  <a:xfrm>
                    <a:off x="9540" y="8148"/>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P4</a:t>
                    </a:r>
                    <a:endParaRPr lang="en-US" altLang="zh-CN" sz="2000" b="1">
                      <a:solidFill>
                        <a:srgbClr val="000000"/>
                      </a:solidFill>
                      <a:latin typeface="Times New Roman" panose="02020603050405020304" pitchFamily="18" charset="0"/>
                    </a:endParaRPr>
                  </a:p>
                </p:txBody>
              </p:sp>
              <p:sp>
                <p:nvSpPr>
                  <p:cNvPr id="77841" name="Text Box 200"/>
                  <p:cNvSpPr txBox="1">
                    <a:spLocks noChangeArrowheads="1"/>
                  </p:cNvSpPr>
                  <p:nvPr/>
                </p:nvSpPr>
                <p:spPr bwMode="auto">
                  <a:xfrm>
                    <a:off x="9540" y="9552"/>
                    <a:ext cx="3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P3</a:t>
                    </a:r>
                    <a:endParaRPr lang="en-US" altLang="zh-CN" sz="2000" b="1">
                      <a:solidFill>
                        <a:srgbClr val="000000"/>
                      </a:solidFill>
                      <a:latin typeface="Times New Roman" panose="02020603050405020304" pitchFamily="18" charset="0"/>
                    </a:endParaRPr>
                  </a:p>
                </p:txBody>
              </p:sp>
              <p:sp>
                <p:nvSpPr>
                  <p:cNvPr id="77842" name="Text Box 201"/>
                  <p:cNvSpPr txBox="1">
                    <a:spLocks noChangeArrowheads="1"/>
                  </p:cNvSpPr>
                  <p:nvPr/>
                </p:nvSpPr>
                <p:spPr bwMode="auto">
                  <a:xfrm>
                    <a:off x="9540" y="11268"/>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b="1">
                        <a:solidFill>
                          <a:srgbClr val="000000"/>
                        </a:solidFill>
                        <a:latin typeface="Times New Roman" panose="02020603050405020304" pitchFamily="18" charset="0"/>
                      </a:rPr>
                      <a:t>空闲</a:t>
                    </a:r>
                    <a:endParaRPr lang="zh-CN" altLang="en-US" sz="2000" b="1">
                      <a:solidFill>
                        <a:srgbClr val="000000"/>
                      </a:solidFill>
                      <a:latin typeface="Times New Roman" panose="02020603050405020304" pitchFamily="18" charset="0"/>
                    </a:endParaRPr>
                  </a:p>
                </p:txBody>
              </p:sp>
              <p:sp>
                <p:nvSpPr>
                  <p:cNvPr id="77843" name="Text Box 202"/>
                  <p:cNvSpPr txBox="1">
                    <a:spLocks noChangeArrowheads="1"/>
                  </p:cNvSpPr>
                  <p:nvPr/>
                </p:nvSpPr>
                <p:spPr bwMode="auto">
                  <a:xfrm>
                    <a:off x="9540" y="10800"/>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000" b="1">
                        <a:solidFill>
                          <a:srgbClr val="000000"/>
                        </a:solidFill>
                        <a:latin typeface="Times New Roman" panose="02020603050405020304" pitchFamily="18" charset="0"/>
                      </a:rPr>
                      <a:t>P4</a:t>
                    </a:r>
                    <a:endParaRPr lang="en-US" altLang="zh-CN" sz="2000" b="1">
                      <a:solidFill>
                        <a:srgbClr val="000000"/>
                      </a:solidFill>
                      <a:latin typeface="Times New Roman" panose="02020603050405020304" pitchFamily="18" charset="0"/>
                    </a:endParaRPr>
                  </a:p>
                </p:txBody>
              </p:sp>
            </p:grpSp>
          </p:grpSp>
        </p:grpSp>
      </p:gr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82"/>
          <p:cNvSpPr>
            <a:spLocks noChangeArrowheads="1"/>
          </p:cNvSpPr>
          <p:nvPr/>
        </p:nvSpPr>
        <p:spPr bwMode="auto">
          <a:xfrm>
            <a:off x="381000" y="1371600"/>
            <a:ext cx="8382000" cy="49530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78851" name="Group 83"/>
          <p:cNvGrpSpPr/>
          <p:nvPr/>
        </p:nvGrpSpPr>
        <p:grpSpPr bwMode="auto">
          <a:xfrm>
            <a:off x="762000" y="1981200"/>
            <a:ext cx="7772400" cy="4038600"/>
            <a:chOff x="1980" y="9732"/>
            <a:chExt cx="6300" cy="2940"/>
          </a:xfrm>
        </p:grpSpPr>
        <p:grpSp>
          <p:nvGrpSpPr>
            <p:cNvPr id="78853" name="Group 84"/>
            <p:cNvGrpSpPr/>
            <p:nvPr/>
          </p:nvGrpSpPr>
          <p:grpSpPr bwMode="auto">
            <a:xfrm>
              <a:off x="1980" y="9732"/>
              <a:ext cx="1440" cy="2004"/>
              <a:chOff x="1980" y="9732"/>
              <a:chExt cx="1440" cy="2004"/>
            </a:xfrm>
          </p:grpSpPr>
          <p:grpSp>
            <p:nvGrpSpPr>
              <p:cNvPr id="78915" name="Group 85"/>
              <p:cNvGrpSpPr/>
              <p:nvPr/>
            </p:nvGrpSpPr>
            <p:grpSpPr bwMode="auto">
              <a:xfrm>
                <a:off x="1980" y="9732"/>
                <a:ext cx="1440" cy="1560"/>
                <a:chOff x="1980" y="9732"/>
                <a:chExt cx="1440" cy="1560"/>
              </a:xfrm>
            </p:grpSpPr>
            <p:grpSp>
              <p:nvGrpSpPr>
                <p:cNvPr id="78917" name="Group 86"/>
                <p:cNvGrpSpPr/>
                <p:nvPr/>
              </p:nvGrpSpPr>
              <p:grpSpPr bwMode="auto">
                <a:xfrm>
                  <a:off x="1980" y="9732"/>
                  <a:ext cx="1440" cy="312"/>
                  <a:chOff x="2520" y="7368"/>
                  <a:chExt cx="1440" cy="312"/>
                </a:xfrm>
              </p:grpSpPr>
              <p:sp>
                <p:nvSpPr>
                  <p:cNvPr id="78930" name="Text Box 87"/>
                  <p:cNvSpPr txBox="1">
                    <a:spLocks noChangeArrowheads="1"/>
                  </p:cNvSpPr>
                  <p:nvPr/>
                </p:nvSpPr>
                <p:spPr bwMode="auto">
                  <a:xfrm>
                    <a:off x="252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页号</a:t>
                    </a:r>
                    <a:endParaRPr lang="zh-CN" altLang="en-US" b="1">
                      <a:solidFill>
                        <a:srgbClr val="000000"/>
                      </a:solidFill>
                      <a:latin typeface="Times New Roman" panose="02020603050405020304" pitchFamily="18" charset="0"/>
                    </a:endParaRPr>
                  </a:p>
                </p:txBody>
              </p:sp>
              <p:sp>
                <p:nvSpPr>
                  <p:cNvPr id="78931" name="Text Box 88"/>
                  <p:cNvSpPr txBox="1">
                    <a:spLocks noChangeArrowheads="1"/>
                  </p:cNvSpPr>
                  <p:nvPr/>
                </p:nvSpPr>
                <p:spPr bwMode="auto">
                  <a:xfrm>
                    <a:off x="324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页框号</a:t>
                    </a:r>
                    <a:endParaRPr lang="zh-CN" altLang="en-US" b="1">
                      <a:solidFill>
                        <a:srgbClr val="000000"/>
                      </a:solidFill>
                      <a:latin typeface="Times New Roman" panose="02020603050405020304" pitchFamily="18" charset="0"/>
                    </a:endParaRPr>
                  </a:p>
                </p:txBody>
              </p:sp>
            </p:grpSp>
            <p:grpSp>
              <p:nvGrpSpPr>
                <p:cNvPr id="78918" name="Group 89"/>
                <p:cNvGrpSpPr/>
                <p:nvPr/>
              </p:nvGrpSpPr>
              <p:grpSpPr bwMode="auto">
                <a:xfrm>
                  <a:off x="1980" y="10044"/>
                  <a:ext cx="1440" cy="312"/>
                  <a:chOff x="2520" y="7680"/>
                  <a:chExt cx="1440" cy="312"/>
                </a:xfrm>
              </p:grpSpPr>
              <p:sp>
                <p:nvSpPr>
                  <p:cNvPr id="78928" name="Text Box 90"/>
                  <p:cNvSpPr txBox="1">
                    <a:spLocks noChangeArrowheads="1"/>
                  </p:cNvSpPr>
                  <p:nvPr/>
                </p:nvSpPr>
                <p:spPr bwMode="auto">
                  <a:xfrm>
                    <a:off x="252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78929" name="Text Box 91"/>
                  <p:cNvSpPr txBox="1">
                    <a:spLocks noChangeArrowheads="1"/>
                  </p:cNvSpPr>
                  <p:nvPr/>
                </p:nvSpPr>
                <p:spPr bwMode="auto">
                  <a:xfrm>
                    <a:off x="324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grpSp>
            <p:grpSp>
              <p:nvGrpSpPr>
                <p:cNvPr id="78919" name="Group 92"/>
                <p:cNvGrpSpPr/>
                <p:nvPr/>
              </p:nvGrpSpPr>
              <p:grpSpPr bwMode="auto">
                <a:xfrm>
                  <a:off x="1980" y="10356"/>
                  <a:ext cx="1440" cy="312"/>
                  <a:chOff x="2520" y="7992"/>
                  <a:chExt cx="1440" cy="312"/>
                </a:xfrm>
              </p:grpSpPr>
              <p:sp>
                <p:nvSpPr>
                  <p:cNvPr id="78926" name="Text Box 93"/>
                  <p:cNvSpPr txBox="1">
                    <a:spLocks noChangeArrowheads="1"/>
                  </p:cNvSpPr>
                  <p:nvPr/>
                </p:nvSpPr>
                <p:spPr bwMode="auto">
                  <a:xfrm>
                    <a:off x="252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78927" name="Text Box 94"/>
                  <p:cNvSpPr txBox="1">
                    <a:spLocks noChangeArrowheads="1"/>
                  </p:cNvSpPr>
                  <p:nvPr/>
                </p:nvSpPr>
                <p:spPr bwMode="auto">
                  <a:xfrm>
                    <a:off x="324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grpSp>
            <p:grpSp>
              <p:nvGrpSpPr>
                <p:cNvPr id="78920" name="Group 95"/>
                <p:cNvGrpSpPr/>
                <p:nvPr/>
              </p:nvGrpSpPr>
              <p:grpSpPr bwMode="auto">
                <a:xfrm>
                  <a:off x="1980" y="10668"/>
                  <a:ext cx="1440" cy="312"/>
                  <a:chOff x="2520" y="8304"/>
                  <a:chExt cx="1440" cy="312"/>
                </a:xfrm>
              </p:grpSpPr>
              <p:sp>
                <p:nvSpPr>
                  <p:cNvPr id="78924" name="Text Box 96"/>
                  <p:cNvSpPr txBox="1">
                    <a:spLocks noChangeArrowheads="1"/>
                  </p:cNvSpPr>
                  <p:nvPr/>
                </p:nvSpPr>
                <p:spPr bwMode="auto">
                  <a:xfrm>
                    <a:off x="252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sp>
                <p:nvSpPr>
                  <p:cNvPr id="78925" name="Text Box 97"/>
                  <p:cNvSpPr txBox="1">
                    <a:spLocks noChangeArrowheads="1"/>
                  </p:cNvSpPr>
                  <p:nvPr/>
                </p:nvSpPr>
                <p:spPr bwMode="auto">
                  <a:xfrm>
                    <a:off x="324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grpSp>
            <p:grpSp>
              <p:nvGrpSpPr>
                <p:cNvPr id="78921" name="Group 98"/>
                <p:cNvGrpSpPr/>
                <p:nvPr/>
              </p:nvGrpSpPr>
              <p:grpSpPr bwMode="auto">
                <a:xfrm>
                  <a:off x="1980" y="10980"/>
                  <a:ext cx="1440" cy="312"/>
                  <a:chOff x="2520" y="8616"/>
                  <a:chExt cx="1440" cy="312"/>
                </a:xfrm>
              </p:grpSpPr>
              <p:sp>
                <p:nvSpPr>
                  <p:cNvPr id="78922" name="Text Box 99"/>
                  <p:cNvSpPr txBox="1">
                    <a:spLocks noChangeArrowheads="1"/>
                  </p:cNvSpPr>
                  <p:nvPr/>
                </p:nvSpPr>
                <p:spPr bwMode="auto">
                  <a:xfrm>
                    <a:off x="2520" y="8616"/>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3</a:t>
                    </a:r>
                    <a:endParaRPr lang="en-US" altLang="zh-CN" b="1">
                      <a:solidFill>
                        <a:srgbClr val="000000"/>
                      </a:solidFill>
                      <a:latin typeface="Times New Roman" panose="02020603050405020304" pitchFamily="18" charset="0"/>
                    </a:endParaRPr>
                  </a:p>
                </p:txBody>
              </p:sp>
              <p:sp>
                <p:nvSpPr>
                  <p:cNvPr id="78923" name="Text Box 100"/>
                  <p:cNvSpPr txBox="1">
                    <a:spLocks noChangeArrowheads="1"/>
                  </p:cNvSpPr>
                  <p:nvPr/>
                </p:nvSpPr>
                <p:spPr bwMode="auto">
                  <a:xfrm>
                    <a:off x="3240" y="8616"/>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3</a:t>
                    </a:r>
                    <a:endParaRPr lang="en-US" altLang="zh-CN" b="1">
                      <a:solidFill>
                        <a:srgbClr val="000000"/>
                      </a:solidFill>
                      <a:latin typeface="Times New Roman" panose="02020603050405020304" pitchFamily="18" charset="0"/>
                    </a:endParaRPr>
                  </a:p>
                </p:txBody>
              </p:sp>
            </p:grpSp>
          </p:grpSp>
          <p:sp>
            <p:nvSpPr>
              <p:cNvPr id="78916" name="Text Box 101"/>
              <p:cNvSpPr txBox="1">
                <a:spLocks noChangeArrowheads="1"/>
              </p:cNvSpPr>
              <p:nvPr/>
            </p:nvSpPr>
            <p:spPr bwMode="auto">
              <a:xfrm>
                <a:off x="1980" y="11268"/>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b="1">
                    <a:solidFill>
                      <a:srgbClr val="000000"/>
                    </a:solidFill>
                    <a:latin typeface="Times New Roman" panose="02020603050405020304" pitchFamily="18" charset="0"/>
                  </a:rPr>
                  <a:t>进程</a:t>
                </a:r>
                <a:r>
                  <a:rPr lang="en-US" altLang="zh-CN" b="1">
                    <a:solidFill>
                      <a:srgbClr val="000000"/>
                    </a:solidFill>
                    <a:latin typeface="Times New Roman" panose="02020603050405020304" pitchFamily="18" charset="0"/>
                  </a:rPr>
                  <a:t>P1</a:t>
                </a:r>
                <a:r>
                  <a:rPr lang="zh-CN" altLang="en-US" b="1">
                    <a:solidFill>
                      <a:srgbClr val="000000"/>
                    </a:solidFill>
                    <a:latin typeface="Times New Roman" panose="02020603050405020304" pitchFamily="18" charset="0"/>
                  </a:rPr>
                  <a:t>页表</a:t>
                </a:r>
                <a:endParaRPr lang="zh-CN" altLang="en-US" b="1">
                  <a:solidFill>
                    <a:srgbClr val="000000"/>
                  </a:solidFill>
                  <a:latin typeface="Times New Roman" panose="02020603050405020304" pitchFamily="18" charset="0"/>
                </a:endParaRPr>
              </a:p>
            </p:txBody>
          </p:sp>
        </p:grpSp>
        <p:grpSp>
          <p:nvGrpSpPr>
            <p:cNvPr id="78854" name="Group 102"/>
            <p:cNvGrpSpPr/>
            <p:nvPr/>
          </p:nvGrpSpPr>
          <p:grpSpPr bwMode="auto">
            <a:xfrm>
              <a:off x="3600" y="9732"/>
              <a:ext cx="1440" cy="1692"/>
              <a:chOff x="3600" y="9732"/>
              <a:chExt cx="1440" cy="1692"/>
            </a:xfrm>
          </p:grpSpPr>
          <p:grpSp>
            <p:nvGrpSpPr>
              <p:cNvPr id="78901" name="Group 103"/>
              <p:cNvGrpSpPr/>
              <p:nvPr/>
            </p:nvGrpSpPr>
            <p:grpSpPr bwMode="auto">
              <a:xfrm>
                <a:off x="3600" y="9732"/>
                <a:ext cx="1440" cy="1248"/>
                <a:chOff x="3600" y="9732"/>
                <a:chExt cx="1440" cy="1248"/>
              </a:xfrm>
            </p:grpSpPr>
            <p:grpSp>
              <p:nvGrpSpPr>
                <p:cNvPr id="78903" name="Group 104"/>
                <p:cNvGrpSpPr/>
                <p:nvPr/>
              </p:nvGrpSpPr>
              <p:grpSpPr bwMode="auto">
                <a:xfrm>
                  <a:off x="3600" y="9732"/>
                  <a:ext cx="1440" cy="312"/>
                  <a:chOff x="2520" y="7368"/>
                  <a:chExt cx="1440" cy="312"/>
                </a:xfrm>
              </p:grpSpPr>
              <p:sp>
                <p:nvSpPr>
                  <p:cNvPr id="78913" name="Text Box 105"/>
                  <p:cNvSpPr txBox="1">
                    <a:spLocks noChangeArrowheads="1"/>
                  </p:cNvSpPr>
                  <p:nvPr/>
                </p:nvSpPr>
                <p:spPr bwMode="auto">
                  <a:xfrm>
                    <a:off x="252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页号</a:t>
                    </a:r>
                    <a:endParaRPr lang="zh-CN" altLang="en-US" b="1">
                      <a:solidFill>
                        <a:srgbClr val="000000"/>
                      </a:solidFill>
                      <a:latin typeface="Times New Roman" panose="02020603050405020304" pitchFamily="18" charset="0"/>
                    </a:endParaRPr>
                  </a:p>
                </p:txBody>
              </p:sp>
              <p:sp>
                <p:nvSpPr>
                  <p:cNvPr id="78914" name="Text Box 106"/>
                  <p:cNvSpPr txBox="1">
                    <a:spLocks noChangeArrowheads="1"/>
                  </p:cNvSpPr>
                  <p:nvPr/>
                </p:nvSpPr>
                <p:spPr bwMode="auto">
                  <a:xfrm>
                    <a:off x="324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页框号</a:t>
                    </a:r>
                    <a:endParaRPr lang="zh-CN" altLang="en-US" b="1">
                      <a:solidFill>
                        <a:srgbClr val="000000"/>
                      </a:solidFill>
                      <a:latin typeface="Times New Roman" panose="02020603050405020304" pitchFamily="18" charset="0"/>
                    </a:endParaRPr>
                  </a:p>
                </p:txBody>
              </p:sp>
            </p:grpSp>
            <p:grpSp>
              <p:nvGrpSpPr>
                <p:cNvPr id="78904" name="Group 107"/>
                <p:cNvGrpSpPr/>
                <p:nvPr/>
              </p:nvGrpSpPr>
              <p:grpSpPr bwMode="auto">
                <a:xfrm>
                  <a:off x="3600" y="10044"/>
                  <a:ext cx="1440" cy="312"/>
                  <a:chOff x="2520" y="7680"/>
                  <a:chExt cx="1440" cy="312"/>
                </a:xfrm>
              </p:grpSpPr>
              <p:sp>
                <p:nvSpPr>
                  <p:cNvPr id="78911" name="Text Box 108"/>
                  <p:cNvSpPr txBox="1">
                    <a:spLocks noChangeArrowheads="1"/>
                  </p:cNvSpPr>
                  <p:nvPr/>
                </p:nvSpPr>
                <p:spPr bwMode="auto">
                  <a:xfrm>
                    <a:off x="252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78912" name="Text Box 109"/>
                  <p:cNvSpPr txBox="1">
                    <a:spLocks noChangeArrowheads="1"/>
                  </p:cNvSpPr>
                  <p:nvPr/>
                </p:nvSpPr>
                <p:spPr bwMode="auto">
                  <a:xfrm>
                    <a:off x="324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a:t>
                    </a:r>
                    <a:endParaRPr lang="en-US" altLang="zh-CN" b="1">
                      <a:solidFill>
                        <a:srgbClr val="000000"/>
                      </a:solidFill>
                      <a:latin typeface="Times New Roman" panose="02020603050405020304" pitchFamily="18" charset="0"/>
                    </a:endParaRPr>
                  </a:p>
                </p:txBody>
              </p:sp>
            </p:grpSp>
            <p:grpSp>
              <p:nvGrpSpPr>
                <p:cNvPr id="78905" name="Group 110"/>
                <p:cNvGrpSpPr/>
                <p:nvPr/>
              </p:nvGrpSpPr>
              <p:grpSpPr bwMode="auto">
                <a:xfrm>
                  <a:off x="3600" y="10356"/>
                  <a:ext cx="1440" cy="312"/>
                  <a:chOff x="2520" y="7992"/>
                  <a:chExt cx="1440" cy="312"/>
                </a:xfrm>
              </p:grpSpPr>
              <p:sp>
                <p:nvSpPr>
                  <p:cNvPr id="78909" name="Text Box 111"/>
                  <p:cNvSpPr txBox="1">
                    <a:spLocks noChangeArrowheads="1"/>
                  </p:cNvSpPr>
                  <p:nvPr/>
                </p:nvSpPr>
                <p:spPr bwMode="auto">
                  <a:xfrm>
                    <a:off x="252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78910" name="Text Box 112"/>
                  <p:cNvSpPr txBox="1">
                    <a:spLocks noChangeArrowheads="1"/>
                  </p:cNvSpPr>
                  <p:nvPr/>
                </p:nvSpPr>
                <p:spPr bwMode="auto">
                  <a:xfrm>
                    <a:off x="324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a:t>
                    </a:r>
                    <a:endParaRPr lang="en-US" altLang="zh-CN" b="1">
                      <a:solidFill>
                        <a:srgbClr val="000000"/>
                      </a:solidFill>
                      <a:latin typeface="Times New Roman" panose="02020603050405020304" pitchFamily="18" charset="0"/>
                    </a:endParaRPr>
                  </a:p>
                </p:txBody>
              </p:sp>
            </p:grpSp>
            <p:grpSp>
              <p:nvGrpSpPr>
                <p:cNvPr id="78906" name="Group 113"/>
                <p:cNvGrpSpPr/>
                <p:nvPr/>
              </p:nvGrpSpPr>
              <p:grpSpPr bwMode="auto">
                <a:xfrm>
                  <a:off x="3600" y="10668"/>
                  <a:ext cx="1440" cy="312"/>
                  <a:chOff x="2520" y="8304"/>
                  <a:chExt cx="1440" cy="312"/>
                </a:xfrm>
              </p:grpSpPr>
              <p:sp>
                <p:nvSpPr>
                  <p:cNvPr id="78907" name="Text Box 114"/>
                  <p:cNvSpPr txBox="1">
                    <a:spLocks noChangeArrowheads="1"/>
                  </p:cNvSpPr>
                  <p:nvPr/>
                </p:nvSpPr>
                <p:spPr bwMode="auto">
                  <a:xfrm>
                    <a:off x="252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sp>
                <p:nvSpPr>
                  <p:cNvPr id="78908" name="Text Box 115"/>
                  <p:cNvSpPr txBox="1">
                    <a:spLocks noChangeArrowheads="1"/>
                  </p:cNvSpPr>
                  <p:nvPr/>
                </p:nvSpPr>
                <p:spPr bwMode="auto">
                  <a:xfrm>
                    <a:off x="324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a:t>
                    </a:r>
                    <a:endParaRPr lang="en-US" altLang="zh-CN" b="1">
                      <a:solidFill>
                        <a:srgbClr val="000000"/>
                      </a:solidFill>
                      <a:latin typeface="Times New Roman" panose="02020603050405020304" pitchFamily="18" charset="0"/>
                    </a:endParaRPr>
                  </a:p>
                </p:txBody>
              </p:sp>
            </p:grpSp>
          </p:grpSp>
          <p:sp>
            <p:nvSpPr>
              <p:cNvPr id="78902" name="Text Box 116"/>
              <p:cNvSpPr txBox="1">
                <a:spLocks noChangeArrowheads="1"/>
              </p:cNvSpPr>
              <p:nvPr/>
            </p:nvSpPr>
            <p:spPr bwMode="auto">
              <a:xfrm>
                <a:off x="3600" y="10956"/>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b="1">
                    <a:solidFill>
                      <a:srgbClr val="000000"/>
                    </a:solidFill>
                    <a:latin typeface="Times New Roman" panose="02020603050405020304" pitchFamily="18" charset="0"/>
                  </a:rPr>
                  <a:t>进程</a:t>
                </a:r>
                <a:r>
                  <a:rPr lang="en-US" altLang="zh-CN" b="1">
                    <a:solidFill>
                      <a:srgbClr val="000000"/>
                    </a:solidFill>
                    <a:latin typeface="Times New Roman" panose="02020603050405020304" pitchFamily="18" charset="0"/>
                  </a:rPr>
                  <a:t>P2</a:t>
                </a:r>
                <a:r>
                  <a:rPr lang="zh-CN" altLang="en-US" b="1">
                    <a:solidFill>
                      <a:srgbClr val="000000"/>
                    </a:solidFill>
                    <a:latin typeface="Times New Roman" panose="02020603050405020304" pitchFamily="18" charset="0"/>
                  </a:rPr>
                  <a:t>页表</a:t>
                </a:r>
                <a:endParaRPr lang="zh-CN" altLang="en-US" b="1">
                  <a:solidFill>
                    <a:srgbClr val="000000"/>
                  </a:solidFill>
                  <a:latin typeface="Times New Roman" panose="02020603050405020304" pitchFamily="18" charset="0"/>
                </a:endParaRPr>
              </a:p>
            </p:txBody>
          </p:sp>
        </p:grpSp>
        <p:grpSp>
          <p:nvGrpSpPr>
            <p:cNvPr id="78855" name="Group 117"/>
            <p:cNvGrpSpPr/>
            <p:nvPr/>
          </p:nvGrpSpPr>
          <p:grpSpPr bwMode="auto">
            <a:xfrm>
              <a:off x="5220" y="9732"/>
              <a:ext cx="1440" cy="2628"/>
              <a:chOff x="5400" y="9732"/>
              <a:chExt cx="1440" cy="2628"/>
            </a:xfrm>
          </p:grpSpPr>
          <p:grpSp>
            <p:nvGrpSpPr>
              <p:cNvPr id="78878" name="Group 118"/>
              <p:cNvGrpSpPr/>
              <p:nvPr/>
            </p:nvGrpSpPr>
            <p:grpSpPr bwMode="auto">
              <a:xfrm>
                <a:off x="5400" y="9732"/>
                <a:ext cx="1440" cy="2184"/>
                <a:chOff x="2520" y="7368"/>
                <a:chExt cx="1440" cy="2184"/>
              </a:xfrm>
            </p:grpSpPr>
            <p:grpSp>
              <p:nvGrpSpPr>
                <p:cNvPr id="78880" name="Group 119"/>
                <p:cNvGrpSpPr/>
                <p:nvPr/>
              </p:nvGrpSpPr>
              <p:grpSpPr bwMode="auto">
                <a:xfrm>
                  <a:off x="2520" y="7368"/>
                  <a:ext cx="1440" cy="312"/>
                  <a:chOff x="2520" y="7368"/>
                  <a:chExt cx="1440" cy="312"/>
                </a:xfrm>
              </p:grpSpPr>
              <p:sp>
                <p:nvSpPr>
                  <p:cNvPr id="78899" name="Text Box 120"/>
                  <p:cNvSpPr txBox="1">
                    <a:spLocks noChangeArrowheads="1"/>
                  </p:cNvSpPr>
                  <p:nvPr/>
                </p:nvSpPr>
                <p:spPr bwMode="auto">
                  <a:xfrm>
                    <a:off x="252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页号</a:t>
                    </a:r>
                    <a:endParaRPr lang="zh-CN" altLang="en-US" b="1">
                      <a:solidFill>
                        <a:srgbClr val="000000"/>
                      </a:solidFill>
                      <a:latin typeface="Times New Roman" panose="02020603050405020304" pitchFamily="18" charset="0"/>
                    </a:endParaRPr>
                  </a:p>
                </p:txBody>
              </p:sp>
              <p:sp>
                <p:nvSpPr>
                  <p:cNvPr id="78900" name="Text Box 121"/>
                  <p:cNvSpPr txBox="1">
                    <a:spLocks noChangeArrowheads="1"/>
                  </p:cNvSpPr>
                  <p:nvPr/>
                </p:nvSpPr>
                <p:spPr bwMode="auto">
                  <a:xfrm>
                    <a:off x="324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页框号</a:t>
                    </a:r>
                    <a:endParaRPr lang="zh-CN" altLang="en-US" b="1">
                      <a:solidFill>
                        <a:srgbClr val="000000"/>
                      </a:solidFill>
                      <a:latin typeface="Times New Roman" panose="02020603050405020304" pitchFamily="18" charset="0"/>
                    </a:endParaRPr>
                  </a:p>
                </p:txBody>
              </p:sp>
            </p:grpSp>
            <p:grpSp>
              <p:nvGrpSpPr>
                <p:cNvPr id="78881" name="Group 122"/>
                <p:cNvGrpSpPr/>
                <p:nvPr/>
              </p:nvGrpSpPr>
              <p:grpSpPr bwMode="auto">
                <a:xfrm>
                  <a:off x="2520" y="7680"/>
                  <a:ext cx="1440" cy="312"/>
                  <a:chOff x="2520" y="7680"/>
                  <a:chExt cx="1440" cy="312"/>
                </a:xfrm>
              </p:grpSpPr>
              <p:sp>
                <p:nvSpPr>
                  <p:cNvPr id="78897" name="Text Box 123"/>
                  <p:cNvSpPr txBox="1">
                    <a:spLocks noChangeArrowheads="1"/>
                  </p:cNvSpPr>
                  <p:nvPr/>
                </p:nvSpPr>
                <p:spPr bwMode="auto">
                  <a:xfrm>
                    <a:off x="252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78898" name="Text Box 124"/>
                  <p:cNvSpPr txBox="1">
                    <a:spLocks noChangeArrowheads="1"/>
                  </p:cNvSpPr>
                  <p:nvPr/>
                </p:nvSpPr>
                <p:spPr bwMode="auto">
                  <a:xfrm>
                    <a:off x="324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7</a:t>
                    </a:r>
                    <a:endParaRPr lang="en-US" altLang="zh-CN" b="1">
                      <a:solidFill>
                        <a:srgbClr val="000000"/>
                      </a:solidFill>
                      <a:latin typeface="Times New Roman" panose="02020603050405020304" pitchFamily="18" charset="0"/>
                    </a:endParaRPr>
                  </a:p>
                </p:txBody>
              </p:sp>
            </p:grpSp>
            <p:grpSp>
              <p:nvGrpSpPr>
                <p:cNvPr id="78882" name="Group 125"/>
                <p:cNvGrpSpPr/>
                <p:nvPr/>
              </p:nvGrpSpPr>
              <p:grpSpPr bwMode="auto">
                <a:xfrm>
                  <a:off x="2520" y="7992"/>
                  <a:ext cx="1440" cy="312"/>
                  <a:chOff x="2520" y="7992"/>
                  <a:chExt cx="1440" cy="312"/>
                </a:xfrm>
              </p:grpSpPr>
              <p:sp>
                <p:nvSpPr>
                  <p:cNvPr id="78895" name="Text Box 126"/>
                  <p:cNvSpPr txBox="1">
                    <a:spLocks noChangeArrowheads="1"/>
                  </p:cNvSpPr>
                  <p:nvPr/>
                </p:nvSpPr>
                <p:spPr bwMode="auto">
                  <a:xfrm>
                    <a:off x="252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78896" name="Text Box 127"/>
                  <p:cNvSpPr txBox="1">
                    <a:spLocks noChangeArrowheads="1"/>
                  </p:cNvSpPr>
                  <p:nvPr/>
                </p:nvSpPr>
                <p:spPr bwMode="auto">
                  <a:xfrm>
                    <a:off x="324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8</a:t>
                    </a:r>
                    <a:endParaRPr lang="en-US" altLang="zh-CN" b="1">
                      <a:solidFill>
                        <a:srgbClr val="000000"/>
                      </a:solidFill>
                      <a:latin typeface="Times New Roman" panose="02020603050405020304" pitchFamily="18" charset="0"/>
                    </a:endParaRPr>
                  </a:p>
                </p:txBody>
              </p:sp>
            </p:grpSp>
            <p:grpSp>
              <p:nvGrpSpPr>
                <p:cNvPr id="78883" name="Group 128"/>
                <p:cNvGrpSpPr/>
                <p:nvPr/>
              </p:nvGrpSpPr>
              <p:grpSpPr bwMode="auto">
                <a:xfrm>
                  <a:off x="2520" y="8304"/>
                  <a:ext cx="1440" cy="312"/>
                  <a:chOff x="2520" y="8304"/>
                  <a:chExt cx="1440" cy="312"/>
                </a:xfrm>
              </p:grpSpPr>
              <p:sp>
                <p:nvSpPr>
                  <p:cNvPr id="78893" name="Text Box 129"/>
                  <p:cNvSpPr txBox="1">
                    <a:spLocks noChangeArrowheads="1"/>
                  </p:cNvSpPr>
                  <p:nvPr/>
                </p:nvSpPr>
                <p:spPr bwMode="auto">
                  <a:xfrm>
                    <a:off x="252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sp>
                <p:nvSpPr>
                  <p:cNvPr id="78894" name="Text Box 130"/>
                  <p:cNvSpPr txBox="1">
                    <a:spLocks noChangeArrowheads="1"/>
                  </p:cNvSpPr>
                  <p:nvPr/>
                </p:nvSpPr>
                <p:spPr bwMode="auto">
                  <a:xfrm>
                    <a:off x="324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9</a:t>
                    </a:r>
                    <a:endParaRPr lang="en-US" altLang="zh-CN" b="1">
                      <a:solidFill>
                        <a:srgbClr val="000000"/>
                      </a:solidFill>
                      <a:latin typeface="Times New Roman" panose="02020603050405020304" pitchFamily="18" charset="0"/>
                    </a:endParaRPr>
                  </a:p>
                </p:txBody>
              </p:sp>
            </p:grpSp>
            <p:grpSp>
              <p:nvGrpSpPr>
                <p:cNvPr id="78884" name="Group 131"/>
                <p:cNvGrpSpPr/>
                <p:nvPr/>
              </p:nvGrpSpPr>
              <p:grpSpPr bwMode="auto">
                <a:xfrm>
                  <a:off x="2520" y="8616"/>
                  <a:ext cx="1440" cy="312"/>
                  <a:chOff x="2520" y="8616"/>
                  <a:chExt cx="1440" cy="312"/>
                </a:xfrm>
              </p:grpSpPr>
              <p:sp>
                <p:nvSpPr>
                  <p:cNvPr id="78891" name="Text Box 132"/>
                  <p:cNvSpPr txBox="1">
                    <a:spLocks noChangeArrowheads="1"/>
                  </p:cNvSpPr>
                  <p:nvPr/>
                </p:nvSpPr>
                <p:spPr bwMode="auto">
                  <a:xfrm>
                    <a:off x="2520" y="8616"/>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3</a:t>
                    </a:r>
                    <a:endParaRPr lang="en-US" altLang="zh-CN" b="1">
                      <a:solidFill>
                        <a:srgbClr val="000000"/>
                      </a:solidFill>
                      <a:latin typeface="Times New Roman" panose="02020603050405020304" pitchFamily="18" charset="0"/>
                    </a:endParaRPr>
                  </a:p>
                </p:txBody>
              </p:sp>
              <p:sp>
                <p:nvSpPr>
                  <p:cNvPr id="78892" name="Text Box 133"/>
                  <p:cNvSpPr txBox="1">
                    <a:spLocks noChangeArrowheads="1"/>
                  </p:cNvSpPr>
                  <p:nvPr/>
                </p:nvSpPr>
                <p:spPr bwMode="auto">
                  <a:xfrm>
                    <a:off x="3240" y="8616"/>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10</a:t>
                    </a:r>
                    <a:endParaRPr lang="en-US" altLang="zh-CN" b="1">
                      <a:solidFill>
                        <a:srgbClr val="000000"/>
                      </a:solidFill>
                      <a:latin typeface="Times New Roman" panose="02020603050405020304" pitchFamily="18" charset="0"/>
                    </a:endParaRPr>
                  </a:p>
                </p:txBody>
              </p:sp>
            </p:grpSp>
            <p:grpSp>
              <p:nvGrpSpPr>
                <p:cNvPr id="78885" name="Group 134"/>
                <p:cNvGrpSpPr/>
                <p:nvPr/>
              </p:nvGrpSpPr>
              <p:grpSpPr bwMode="auto">
                <a:xfrm>
                  <a:off x="2520" y="8928"/>
                  <a:ext cx="1440" cy="312"/>
                  <a:chOff x="2520" y="8928"/>
                  <a:chExt cx="1440" cy="312"/>
                </a:xfrm>
              </p:grpSpPr>
              <p:sp>
                <p:nvSpPr>
                  <p:cNvPr id="78889" name="Text Box 135"/>
                  <p:cNvSpPr txBox="1">
                    <a:spLocks noChangeArrowheads="1"/>
                  </p:cNvSpPr>
                  <p:nvPr/>
                </p:nvSpPr>
                <p:spPr bwMode="auto">
                  <a:xfrm>
                    <a:off x="2520" y="892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4</a:t>
                    </a:r>
                    <a:endParaRPr lang="en-US" altLang="zh-CN" b="1">
                      <a:solidFill>
                        <a:srgbClr val="000000"/>
                      </a:solidFill>
                      <a:latin typeface="Times New Roman" panose="02020603050405020304" pitchFamily="18" charset="0"/>
                    </a:endParaRPr>
                  </a:p>
                </p:txBody>
              </p:sp>
              <p:sp>
                <p:nvSpPr>
                  <p:cNvPr id="78890" name="Text Box 136"/>
                  <p:cNvSpPr txBox="1">
                    <a:spLocks noChangeArrowheads="1"/>
                  </p:cNvSpPr>
                  <p:nvPr/>
                </p:nvSpPr>
                <p:spPr bwMode="auto">
                  <a:xfrm>
                    <a:off x="3240" y="892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11</a:t>
                    </a:r>
                    <a:endParaRPr lang="en-US" altLang="zh-CN" b="1">
                      <a:solidFill>
                        <a:srgbClr val="000000"/>
                      </a:solidFill>
                      <a:latin typeface="Times New Roman" panose="02020603050405020304" pitchFamily="18" charset="0"/>
                    </a:endParaRPr>
                  </a:p>
                </p:txBody>
              </p:sp>
            </p:grpSp>
            <p:grpSp>
              <p:nvGrpSpPr>
                <p:cNvPr id="78886" name="Group 137"/>
                <p:cNvGrpSpPr/>
                <p:nvPr/>
              </p:nvGrpSpPr>
              <p:grpSpPr bwMode="auto">
                <a:xfrm>
                  <a:off x="2520" y="9240"/>
                  <a:ext cx="1440" cy="312"/>
                  <a:chOff x="2520" y="9240"/>
                  <a:chExt cx="1440" cy="312"/>
                </a:xfrm>
              </p:grpSpPr>
              <p:sp>
                <p:nvSpPr>
                  <p:cNvPr id="78887" name="Text Box 138"/>
                  <p:cNvSpPr txBox="1">
                    <a:spLocks noChangeArrowheads="1"/>
                  </p:cNvSpPr>
                  <p:nvPr/>
                </p:nvSpPr>
                <p:spPr bwMode="auto">
                  <a:xfrm>
                    <a:off x="2520" y="924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5</a:t>
                    </a:r>
                    <a:endParaRPr lang="en-US" altLang="zh-CN" b="1">
                      <a:solidFill>
                        <a:srgbClr val="000000"/>
                      </a:solidFill>
                      <a:latin typeface="Times New Roman" panose="02020603050405020304" pitchFamily="18" charset="0"/>
                    </a:endParaRPr>
                  </a:p>
                </p:txBody>
              </p:sp>
              <p:sp>
                <p:nvSpPr>
                  <p:cNvPr id="78888" name="Text Box 139"/>
                  <p:cNvSpPr txBox="1">
                    <a:spLocks noChangeArrowheads="1"/>
                  </p:cNvSpPr>
                  <p:nvPr/>
                </p:nvSpPr>
                <p:spPr bwMode="auto">
                  <a:xfrm>
                    <a:off x="3240" y="924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12</a:t>
                    </a:r>
                    <a:endParaRPr lang="en-US" altLang="zh-CN" b="1">
                      <a:solidFill>
                        <a:srgbClr val="000000"/>
                      </a:solidFill>
                      <a:latin typeface="Times New Roman" panose="02020603050405020304" pitchFamily="18" charset="0"/>
                    </a:endParaRPr>
                  </a:p>
                </p:txBody>
              </p:sp>
            </p:grpSp>
          </p:grpSp>
          <p:sp>
            <p:nvSpPr>
              <p:cNvPr id="78879" name="Text Box 140"/>
              <p:cNvSpPr txBox="1">
                <a:spLocks noChangeArrowheads="1"/>
              </p:cNvSpPr>
              <p:nvPr/>
            </p:nvSpPr>
            <p:spPr bwMode="auto">
              <a:xfrm>
                <a:off x="5400" y="11892"/>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b="1">
                    <a:solidFill>
                      <a:srgbClr val="000000"/>
                    </a:solidFill>
                    <a:latin typeface="Times New Roman" panose="02020603050405020304" pitchFamily="18" charset="0"/>
                  </a:rPr>
                  <a:t>进程</a:t>
                </a:r>
                <a:r>
                  <a:rPr lang="en-US" altLang="zh-CN" b="1">
                    <a:solidFill>
                      <a:srgbClr val="000000"/>
                    </a:solidFill>
                    <a:latin typeface="Times New Roman" panose="02020603050405020304" pitchFamily="18" charset="0"/>
                  </a:rPr>
                  <a:t>P3</a:t>
                </a:r>
                <a:r>
                  <a:rPr lang="zh-CN" altLang="en-US" b="1">
                    <a:solidFill>
                      <a:srgbClr val="000000"/>
                    </a:solidFill>
                    <a:latin typeface="Times New Roman" panose="02020603050405020304" pitchFamily="18" charset="0"/>
                  </a:rPr>
                  <a:t>页表</a:t>
                </a:r>
                <a:endParaRPr lang="zh-CN" altLang="en-US" b="1">
                  <a:solidFill>
                    <a:srgbClr val="000000"/>
                  </a:solidFill>
                  <a:latin typeface="Times New Roman" panose="02020603050405020304" pitchFamily="18" charset="0"/>
                </a:endParaRPr>
              </a:p>
            </p:txBody>
          </p:sp>
        </p:grpSp>
        <p:grpSp>
          <p:nvGrpSpPr>
            <p:cNvPr id="78856" name="Group 141"/>
            <p:cNvGrpSpPr/>
            <p:nvPr/>
          </p:nvGrpSpPr>
          <p:grpSpPr bwMode="auto">
            <a:xfrm>
              <a:off x="6840" y="9732"/>
              <a:ext cx="1440" cy="2316"/>
              <a:chOff x="7200" y="9732"/>
              <a:chExt cx="1440" cy="2316"/>
            </a:xfrm>
          </p:grpSpPr>
          <p:grpSp>
            <p:nvGrpSpPr>
              <p:cNvPr id="78858" name="Group 142"/>
              <p:cNvGrpSpPr/>
              <p:nvPr/>
            </p:nvGrpSpPr>
            <p:grpSpPr bwMode="auto">
              <a:xfrm>
                <a:off x="7200" y="9732"/>
                <a:ext cx="1440" cy="1872"/>
                <a:chOff x="7200" y="9732"/>
                <a:chExt cx="1440" cy="1872"/>
              </a:xfrm>
            </p:grpSpPr>
            <p:grpSp>
              <p:nvGrpSpPr>
                <p:cNvPr id="78860" name="Group 143"/>
                <p:cNvGrpSpPr/>
                <p:nvPr/>
              </p:nvGrpSpPr>
              <p:grpSpPr bwMode="auto">
                <a:xfrm>
                  <a:off x="7200" y="9732"/>
                  <a:ext cx="1440" cy="312"/>
                  <a:chOff x="2520" y="7368"/>
                  <a:chExt cx="1440" cy="312"/>
                </a:xfrm>
              </p:grpSpPr>
              <p:sp>
                <p:nvSpPr>
                  <p:cNvPr id="78876" name="Text Box 144"/>
                  <p:cNvSpPr txBox="1">
                    <a:spLocks noChangeArrowheads="1"/>
                  </p:cNvSpPr>
                  <p:nvPr/>
                </p:nvSpPr>
                <p:spPr bwMode="auto">
                  <a:xfrm>
                    <a:off x="252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页号</a:t>
                    </a:r>
                    <a:endParaRPr lang="zh-CN" altLang="en-US" b="1">
                      <a:solidFill>
                        <a:srgbClr val="000000"/>
                      </a:solidFill>
                      <a:latin typeface="Times New Roman" panose="02020603050405020304" pitchFamily="18" charset="0"/>
                    </a:endParaRPr>
                  </a:p>
                </p:txBody>
              </p:sp>
              <p:sp>
                <p:nvSpPr>
                  <p:cNvPr id="78877" name="Text Box 145"/>
                  <p:cNvSpPr txBox="1">
                    <a:spLocks noChangeArrowheads="1"/>
                  </p:cNvSpPr>
                  <p:nvPr/>
                </p:nvSpPr>
                <p:spPr bwMode="auto">
                  <a:xfrm>
                    <a:off x="3240" y="736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页框号</a:t>
                    </a:r>
                    <a:endParaRPr lang="zh-CN" altLang="en-US" b="1">
                      <a:solidFill>
                        <a:srgbClr val="000000"/>
                      </a:solidFill>
                      <a:latin typeface="Times New Roman" panose="02020603050405020304" pitchFamily="18" charset="0"/>
                    </a:endParaRPr>
                  </a:p>
                </p:txBody>
              </p:sp>
            </p:grpSp>
            <p:grpSp>
              <p:nvGrpSpPr>
                <p:cNvPr id="78861" name="Group 146"/>
                <p:cNvGrpSpPr/>
                <p:nvPr/>
              </p:nvGrpSpPr>
              <p:grpSpPr bwMode="auto">
                <a:xfrm>
                  <a:off x="7200" y="10044"/>
                  <a:ext cx="1440" cy="312"/>
                  <a:chOff x="2520" y="7680"/>
                  <a:chExt cx="1440" cy="312"/>
                </a:xfrm>
              </p:grpSpPr>
              <p:sp>
                <p:nvSpPr>
                  <p:cNvPr id="78874" name="Text Box 147"/>
                  <p:cNvSpPr txBox="1">
                    <a:spLocks noChangeArrowheads="1"/>
                  </p:cNvSpPr>
                  <p:nvPr/>
                </p:nvSpPr>
                <p:spPr bwMode="auto">
                  <a:xfrm>
                    <a:off x="252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78875" name="Text Box 148"/>
                  <p:cNvSpPr txBox="1">
                    <a:spLocks noChangeArrowheads="1"/>
                  </p:cNvSpPr>
                  <p:nvPr/>
                </p:nvSpPr>
                <p:spPr bwMode="auto">
                  <a:xfrm>
                    <a:off x="3240" y="7680"/>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4</a:t>
                    </a:r>
                    <a:endParaRPr lang="en-US" altLang="zh-CN" b="1">
                      <a:solidFill>
                        <a:srgbClr val="000000"/>
                      </a:solidFill>
                      <a:latin typeface="Times New Roman" panose="02020603050405020304" pitchFamily="18" charset="0"/>
                    </a:endParaRPr>
                  </a:p>
                </p:txBody>
              </p:sp>
            </p:grpSp>
            <p:grpSp>
              <p:nvGrpSpPr>
                <p:cNvPr id="78862" name="Group 149"/>
                <p:cNvGrpSpPr/>
                <p:nvPr/>
              </p:nvGrpSpPr>
              <p:grpSpPr bwMode="auto">
                <a:xfrm>
                  <a:off x="7200" y="10356"/>
                  <a:ext cx="1440" cy="312"/>
                  <a:chOff x="2520" y="7992"/>
                  <a:chExt cx="1440" cy="312"/>
                </a:xfrm>
              </p:grpSpPr>
              <p:sp>
                <p:nvSpPr>
                  <p:cNvPr id="78872" name="Text Box 150"/>
                  <p:cNvSpPr txBox="1">
                    <a:spLocks noChangeArrowheads="1"/>
                  </p:cNvSpPr>
                  <p:nvPr/>
                </p:nvSpPr>
                <p:spPr bwMode="auto">
                  <a:xfrm>
                    <a:off x="252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78873" name="Text Box 151"/>
                  <p:cNvSpPr txBox="1">
                    <a:spLocks noChangeArrowheads="1"/>
                  </p:cNvSpPr>
                  <p:nvPr/>
                </p:nvSpPr>
                <p:spPr bwMode="auto">
                  <a:xfrm>
                    <a:off x="3240" y="7992"/>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5</a:t>
                    </a:r>
                    <a:endParaRPr lang="en-US" altLang="zh-CN" b="1">
                      <a:solidFill>
                        <a:srgbClr val="000000"/>
                      </a:solidFill>
                      <a:latin typeface="Times New Roman" panose="02020603050405020304" pitchFamily="18" charset="0"/>
                    </a:endParaRPr>
                  </a:p>
                </p:txBody>
              </p:sp>
            </p:grpSp>
            <p:grpSp>
              <p:nvGrpSpPr>
                <p:cNvPr id="78863" name="Group 152"/>
                <p:cNvGrpSpPr/>
                <p:nvPr/>
              </p:nvGrpSpPr>
              <p:grpSpPr bwMode="auto">
                <a:xfrm>
                  <a:off x="7200" y="10668"/>
                  <a:ext cx="1440" cy="312"/>
                  <a:chOff x="2520" y="8304"/>
                  <a:chExt cx="1440" cy="312"/>
                </a:xfrm>
              </p:grpSpPr>
              <p:sp>
                <p:nvSpPr>
                  <p:cNvPr id="78870" name="Text Box 153"/>
                  <p:cNvSpPr txBox="1">
                    <a:spLocks noChangeArrowheads="1"/>
                  </p:cNvSpPr>
                  <p:nvPr/>
                </p:nvSpPr>
                <p:spPr bwMode="auto">
                  <a:xfrm>
                    <a:off x="252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sp>
                <p:nvSpPr>
                  <p:cNvPr id="78871" name="Text Box 154"/>
                  <p:cNvSpPr txBox="1">
                    <a:spLocks noChangeArrowheads="1"/>
                  </p:cNvSpPr>
                  <p:nvPr/>
                </p:nvSpPr>
                <p:spPr bwMode="auto">
                  <a:xfrm>
                    <a:off x="3240" y="8304"/>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6</a:t>
                    </a:r>
                    <a:endParaRPr lang="en-US" altLang="zh-CN" b="1">
                      <a:solidFill>
                        <a:srgbClr val="000000"/>
                      </a:solidFill>
                      <a:latin typeface="Times New Roman" panose="02020603050405020304" pitchFamily="18" charset="0"/>
                    </a:endParaRPr>
                  </a:p>
                </p:txBody>
              </p:sp>
            </p:grpSp>
            <p:grpSp>
              <p:nvGrpSpPr>
                <p:cNvPr id="78864" name="Group 155"/>
                <p:cNvGrpSpPr/>
                <p:nvPr/>
              </p:nvGrpSpPr>
              <p:grpSpPr bwMode="auto">
                <a:xfrm>
                  <a:off x="7200" y="10980"/>
                  <a:ext cx="1440" cy="312"/>
                  <a:chOff x="2520" y="8616"/>
                  <a:chExt cx="1440" cy="312"/>
                </a:xfrm>
              </p:grpSpPr>
              <p:sp>
                <p:nvSpPr>
                  <p:cNvPr id="78868" name="Text Box 156"/>
                  <p:cNvSpPr txBox="1">
                    <a:spLocks noChangeArrowheads="1"/>
                  </p:cNvSpPr>
                  <p:nvPr/>
                </p:nvSpPr>
                <p:spPr bwMode="auto">
                  <a:xfrm>
                    <a:off x="2520" y="8616"/>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3</a:t>
                    </a:r>
                    <a:endParaRPr lang="en-US" altLang="zh-CN" b="1">
                      <a:solidFill>
                        <a:srgbClr val="000000"/>
                      </a:solidFill>
                      <a:latin typeface="Times New Roman" panose="02020603050405020304" pitchFamily="18" charset="0"/>
                    </a:endParaRPr>
                  </a:p>
                </p:txBody>
              </p:sp>
              <p:sp>
                <p:nvSpPr>
                  <p:cNvPr id="78869" name="Text Box 157"/>
                  <p:cNvSpPr txBox="1">
                    <a:spLocks noChangeArrowheads="1"/>
                  </p:cNvSpPr>
                  <p:nvPr/>
                </p:nvSpPr>
                <p:spPr bwMode="auto">
                  <a:xfrm>
                    <a:off x="3240" y="8616"/>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13</a:t>
                    </a:r>
                    <a:endParaRPr lang="en-US" altLang="zh-CN" b="1">
                      <a:solidFill>
                        <a:srgbClr val="000000"/>
                      </a:solidFill>
                      <a:latin typeface="Times New Roman" panose="02020603050405020304" pitchFamily="18" charset="0"/>
                    </a:endParaRPr>
                  </a:p>
                </p:txBody>
              </p:sp>
            </p:grpSp>
            <p:grpSp>
              <p:nvGrpSpPr>
                <p:cNvPr id="78865" name="Group 158"/>
                <p:cNvGrpSpPr/>
                <p:nvPr/>
              </p:nvGrpSpPr>
              <p:grpSpPr bwMode="auto">
                <a:xfrm>
                  <a:off x="7200" y="11292"/>
                  <a:ext cx="1440" cy="312"/>
                  <a:chOff x="2520" y="8928"/>
                  <a:chExt cx="1440" cy="312"/>
                </a:xfrm>
              </p:grpSpPr>
              <p:sp>
                <p:nvSpPr>
                  <p:cNvPr id="78866" name="Text Box 159"/>
                  <p:cNvSpPr txBox="1">
                    <a:spLocks noChangeArrowheads="1"/>
                  </p:cNvSpPr>
                  <p:nvPr/>
                </p:nvSpPr>
                <p:spPr bwMode="auto">
                  <a:xfrm>
                    <a:off x="2520" y="892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4</a:t>
                    </a:r>
                    <a:endParaRPr lang="en-US" altLang="zh-CN" b="1">
                      <a:solidFill>
                        <a:srgbClr val="000000"/>
                      </a:solidFill>
                      <a:latin typeface="Times New Roman" panose="02020603050405020304" pitchFamily="18" charset="0"/>
                    </a:endParaRPr>
                  </a:p>
                </p:txBody>
              </p:sp>
              <p:sp>
                <p:nvSpPr>
                  <p:cNvPr id="78867" name="Text Box 160"/>
                  <p:cNvSpPr txBox="1">
                    <a:spLocks noChangeArrowheads="1"/>
                  </p:cNvSpPr>
                  <p:nvPr/>
                </p:nvSpPr>
                <p:spPr bwMode="auto">
                  <a:xfrm>
                    <a:off x="3240" y="892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14</a:t>
                    </a:r>
                    <a:endParaRPr lang="en-US" altLang="zh-CN" b="1">
                      <a:solidFill>
                        <a:srgbClr val="000000"/>
                      </a:solidFill>
                      <a:latin typeface="Times New Roman" panose="02020603050405020304" pitchFamily="18" charset="0"/>
                    </a:endParaRPr>
                  </a:p>
                </p:txBody>
              </p:sp>
            </p:grpSp>
          </p:grpSp>
          <p:sp>
            <p:nvSpPr>
              <p:cNvPr id="78859" name="Text Box 161"/>
              <p:cNvSpPr txBox="1">
                <a:spLocks noChangeArrowheads="1"/>
              </p:cNvSpPr>
              <p:nvPr/>
            </p:nvSpPr>
            <p:spPr bwMode="auto">
              <a:xfrm>
                <a:off x="7200" y="11580"/>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b="1">
                    <a:solidFill>
                      <a:srgbClr val="000000"/>
                    </a:solidFill>
                    <a:latin typeface="Times New Roman" panose="02020603050405020304" pitchFamily="18" charset="0"/>
                  </a:rPr>
                  <a:t>进程</a:t>
                </a:r>
                <a:r>
                  <a:rPr lang="en-US" altLang="zh-CN" b="1">
                    <a:solidFill>
                      <a:srgbClr val="000000"/>
                    </a:solidFill>
                    <a:latin typeface="Times New Roman" panose="02020603050405020304" pitchFamily="18" charset="0"/>
                  </a:rPr>
                  <a:t>P4</a:t>
                </a:r>
                <a:r>
                  <a:rPr lang="zh-CN" altLang="en-US" b="1">
                    <a:solidFill>
                      <a:srgbClr val="000000"/>
                    </a:solidFill>
                    <a:latin typeface="Times New Roman" panose="02020603050405020304" pitchFamily="18" charset="0"/>
                  </a:rPr>
                  <a:t>页表</a:t>
                </a:r>
                <a:endParaRPr lang="zh-CN" altLang="en-US" b="1">
                  <a:solidFill>
                    <a:srgbClr val="000000"/>
                  </a:solidFill>
                  <a:latin typeface="Times New Roman" panose="02020603050405020304" pitchFamily="18" charset="0"/>
                </a:endParaRPr>
              </a:p>
            </p:txBody>
          </p:sp>
        </p:grpSp>
        <p:sp>
          <p:nvSpPr>
            <p:cNvPr id="78857" name="Text Box 162"/>
            <p:cNvSpPr txBox="1">
              <a:spLocks noChangeArrowheads="1"/>
            </p:cNvSpPr>
            <p:nvPr/>
          </p:nvSpPr>
          <p:spPr bwMode="auto">
            <a:xfrm>
              <a:off x="2160" y="12204"/>
              <a:ext cx="61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图  进程</a:t>
              </a:r>
              <a:r>
                <a:rPr lang="en-US" altLang="zh-CN" sz="2400" b="1">
                  <a:solidFill>
                    <a:srgbClr val="000000"/>
                  </a:solidFill>
                  <a:latin typeface="Times New Roman" panose="02020603050405020304" pitchFamily="18" charset="0"/>
                </a:rPr>
                <a:t>P1</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P2</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P3</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P4</a:t>
              </a:r>
              <a:r>
                <a:rPr lang="zh-CN" altLang="en-US" sz="2400" b="1">
                  <a:solidFill>
                    <a:srgbClr val="000000"/>
                  </a:solidFill>
                  <a:latin typeface="Times New Roman" panose="02020603050405020304" pitchFamily="18" charset="0"/>
                </a:rPr>
                <a:t>的页表</a:t>
              </a:r>
              <a:endParaRPr lang="zh-CN" altLang="en-US" sz="2400" b="1">
                <a:solidFill>
                  <a:srgbClr val="000000"/>
                </a:solidFill>
                <a:latin typeface="Times New Roman" panose="02020603050405020304" pitchFamily="18" charset="0"/>
              </a:endParaRPr>
            </a:p>
          </p:txBody>
        </p:sp>
      </p:grpSp>
      <p:sp>
        <p:nvSpPr>
          <p:cNvPr id="78852" name="Text Box 163"/>
          <p:cNvSpPr txBox="1">
            <a:spLocks noChangeArrowheads="1"/>
          </p:cNvSpPr>
          <p:nvPr/>
        </p:nvSpPr>
        <p:spPr bwMode="auto">
          <a:xfrm>
            <a:off x="533400" y="457200"/>
            <a:ext cx="746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solidFill>
                  <a:schemeClr val="folHlink"/>
                </a:solidFill>
              </a:rPr>
              <a:t>各进程的页表结构及其内容</a:t>
            </a:r>
            <a:endParaRPr lang="zh-CN" altLang="en-US" sz="3200" b="1">
              <a:solidFill>
                <a:schemeClr val="folHlink"/>
              </a:solidFill>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rrowheads="1"/>
          </p:cNvSpPr>
          <p:nvPr>
            <p:ph type="title"/>
          </p:nvPr>
        </p:nvSpPr>
        <p:spPr/>
        <p:txBody>
          <a:bodyPr/>
          <a:lstStyle/>
          <a:p>
            <a:pPr eaLnBrk="1" hangingPunct="1"/>
            <a:r>
              <a:rPr lang="en-US" altLang="zh-CN" b="1" u="sng" dirty="0" smtClean="0">
                <a:solidFill>
                  <a:schemeClr val="folHlink"/>
                </a:solidFill>
                <a:ea typeface="仿宋_GB2312" pitchFamily="49" charset="-122"/>
              </a:rPr>
              <a:t>4.5.2 </a:t>
            </a:r>
            <a:r>
              <a:rPr lang="zh-CN" altLang="en-US" b="1" u="sng" dirty="0" smtClean="0">
                <a:solidFill>
                  <a:schemeClr val="folHlink"/>
                </a:solidFill>
                <a:ea typeface="仿宋_GB2312" pitchFamily="49" charset="-122"/>
              </a:rPr>
              <a:t>地址变换机构</a:t>
            </a:r>
            <a:endParaRPr lang="zh-CN" altLang="en-US" b="1" u="sng" dirty="0" smtClean="0">
              <a:solidFill>
                <a:schemeClr val="folHlink"/>
              </a:solidFill>
              <a:ea typeface="仿宋_GB2312" pitchFamily="49" charset="-122"/>
            </a:endParaRPr>
          </a:p>
        </p:txBody>
      </p:sp>
      <p:sp>
        <p:nvSpPr>
          <p:cNvPr id="595971" name="Rectangle 3"/>
          <p:cNvSpPr>
            <a:spLocks noGrp="1" noRot="1" noChangeArrowheads="1"/>
          </p:cNvSpPr>
          <p:nvPr>
            <p:ph type="body" idx="1"/>
          </p:nvPr>
        </p:nvSpPr>
        <p:spPr>
          <a:xfrm>
            <a:off x="381000" y="1524000"/>
            <a:ext cx="8229600" cy="4879975"/>
          </a:xfrm>
        </p:spPr>
        <p:txBody>
          <a:bodyPr/>
          <a:lstStyle/>
          <a:p>
            <a:pPr algn="just" eaLnBrk="1" hangingPunct="1">
              <a:lnSpc>
                <a:spcPct val="110000"/>
              </a:lnSpc>
              <a:defRPr/>
            </a:pPr>
            <a:r>
              <a:rPr lang="en-US" altLang="zh-CN" b="1" dirty="0" smtClean="0">
                <a:solidFill>
                  <a:schemeClr val="folHlink"/>
                </a:solidFill>
              </a:rPr>
              <a:t>1</a:t>
            </a:r>
            <a:r>
              <a:rPr lang="zh-CN" altLang="en-US" b="1" dirty="0" smtClean="0">
                <a:solidFill>
                  <a:schemeClr val="folHlink"/>
                </a:solidFill>
              </a:rPr>
              <a:t>．基本的地址变换机构</a:t>
            </a:r>
            <a:endParaRPr lang="zh-CN" altLang="en-US" b="1" dirty="0" smtClean="0">
              <a:solidFill>
                <a:schemeClr val="folHlink"/>
              </a:solidFill>
              <a:effectLst>
                <a:outerShdw blurRad="38100" dist="38100" dir="2700000" algn="tl">
                  <a:srgbClr val="000000"/>
                </a:outerShdw>
              </a:effectLst>
              <a:latin typeface="仿宋_GB2312" pitchFamily="49" charset="-122"/>
              <a:ea typeface="仿宋_GB2312" pitchFamily="49" charset="-122"/>
            </a:endParaRPr>
          </a:p>
          <a:p>
            <a:pPr algn="just" eaLnBrk="1" hangingPunct="1">
              <a:lnSpc>
                <a:spcPct val="110000"/>
              </a:lnSpc>
              <a:defRPr/>
            </a:pPr>
            <a:r>
              <a:rPr lang="zh-CN" altLang="en-US" sz="2800" b="1" dirty="0" smtClean="0">
                <a:latin typeface="仿宋_GB2312" pitchFamily="49" charset="-122"/>
                <a:ea typeface="仿宋_GB2312" pitchFamily="49" charset="-122"/>
              </a:rPr>
              <a:t>硬件机制，实现逻辑地址到物理地址的转换。</a:t>
            </a:r>
            <a:r>
              <a:rPr lang="zh-CN" altLang="en-US" sz="2800" b="1" dirty="0" smtClean="0"/>
              <a:t>在系统中只设置一个</a:t>
            </a:r>
            <a:r>
              <a:rPr lang="zh-CN" altLang="en-US" sz="2800" b="1" dirty="0" smtClean="0">
                <a:solidFill>
                  <a:schemeClr val="folHlink"/>
                </a:solidFill>
              </a:rPr>
              <a:t>页表寄存器</a:t>
            </a:r>
            <a:r>
              <a:rPr lang="en-US" altLang="zh-CN" sz="2800" b="1" dirty="0" smtClean="0">
                <a:solidFill>
                  <a:schemeClr val="folHlink"/>
                </a:solidFill>
              </a:rPr>
              <a:t>PTR</a:t>
            </a:r>
            <a:r>
              <a:rPr lang="zh-CN" altLang="en-US" sz="2800" b="1" dirty="0" smtClean="0"/>
              <a:t>，在其中</a:t>
            </a:r>
            <a:r>
              <a:rPr lang="zh-CN" altLang="en-US" sz="2800" b="1" dirty="0" smtClean="0">
                <a:solidFill>
                  <a:schemeClr val="folHlink"/>
                </a:solidFill>
              </a:rPr>
              <a:t>存放</a:t>
            </a:r>
            <a:r>
              <a:rPr lang="zh-CN" altLang="en-US" sz="2800" b="1" i="1" u="sng" dirty="0" smtClean="0">
                <a:solidFill>
                  <a:schemeClr val="folHlink"/>
                </a:solidFill>
              </a:rPr>
              <a:t>当前运行的进程</a:t>
            </a:r>
            <a:r>
              <a:rPr lang="zh-CN" altLang="en-US" sz="2800" b="1" dirty="0" smtClean="0"/>
              <a:t>的页表在内存中的起始地址和页表长度。</a:t>
            </a:r>
            <a:endParaRPr lang="zh-CN" altLang="en-US" sz="2800" b="1" dirty="0" smtClean="0"/>
          </a:p>
          <a:p>
            <a:pPr algn="just" eaLnBrk="1" hangingPunct="1">
              <a:lnSpc>
                <a:spcPct val="110000"/>
              </a:lnSpc>
              <a:defRPr/>
            </a:pPr>
            <a:r>
              <a:rPr lang="zh-CN" altLang="en-US" sz="2800" b="1" dirty="0" smtClean="0"/>
              <a:t>当进程真正投入运行时，</a:t>
            </a:r>
            <a:r>
              <a:rPr lang="zh-CN" altLang="en-US" sz="2800" b="1" i="1" u="sng" dirty="0" smtClean="0">
                <a:solidFill>
                  <a:srgbClr val="FF0000"/>
                </a:solidFill>
              </a:rPr>
              <a:t>从进程</a:t>
            </a:r>
            <a:r>
              <a:rPr lang="en-US" altLang="zh-CN" sz="2800" b="1" i="1" u="sng" dirty="0" smtClean="0">
                <a:solidFill>
                  <a:srgbClr val="FF0000"/>
                </a:solidFill>
              </a:rPr>
              <a:t>PCB</a:t>
            </a:r>
            <a:r>
              <a:rPr lang="zh-CN" altLang="en-US" sz="2800" b="1" i="1" u="sng" dirty="0" smtClean="0">
                <a:solidFill>
                  <a:srgbClr val="FF0000"/>
                </a:solidFill>
              </a:rPr>
              <a:t>中读出</a:t>
            </a:r>
            <a:r>
              <a:rPr lang="zh-CN" altLang="en-US" b="1" i="1" u="sng" dirty="0" smtClean="0">
                <a:solidFill>
                  <a:srgbClr val="FF0000"/>
                </a:solidFill>
              </a:rPr>
              <a:t>页表的始址和页表长度</a:t>
            </a:r>
            <a:r>
              <a:rPr lang="zh-CN" altLang="en-US" sz="2800" b="1" dirty="0" smtClean="0"/>
              <a:t>，并将这两个数据装入</a:t>
            </a:r>
            <a:r>
              <a:rPr lang="en-US" altLang="zh-CN" sz="2800" b="1" dirty="0" smtClean="0"/>
              <a:t>PTR</a:t>
            </a:r>
            <a:r>
              <a:rPr lang="zh-CN" altLang="en-US" sz="2800" b="1" dirty="0" smtClean="0"/>
              <a:t>中，以后地址转换时直接从</a:t>
            </a:r>
            <a:r>
              <a:rPr lang="en-US" altLang="zh-CN" sz="2800" b="1" dirty="0" smtClean="0"/>
              <a:t>PTR</a:t>
            </a:r>
            <a:r>
              <a:rPr lang="zh-CN" altLang="en-US" sz="2800" b="1" dirty="0" smtClean="0"/>
              <a:t>中获得页表的起始地址。</a:t>
            </a:r>
            <a:endParaRPr lang="zh-CN" altLang="en-US" sz="2800" b="1" dirty="0" smtClean="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5" name="Rectangle 3"/>
          <p:cNvSpPr>
            <a:spLocks noGrp="1" noRot="1" noChangeArrowheads="1"/>
          </p:cNvSpPr>
          <p:nvPr>
            <p:ph type="body" idx="1"/>
          </p:nvPr>
        </p:nvSpPr>
        <p:spPr>
          <a:xfrm>
            <a:off x="301625" y="620688"/>
            <a:ext cx="8540750" cy="5478487"/>
          </a:xfrm>
        </p:spPr>
        <p:txBody>
          <a:bodyPr/>
          <a:lstStyle/>
          <a:p>
            <a:pPr algn="just" eaLnBrk="1" hangingPunct="1">
              <a:lnSpc>
                <a:spcPct val="110000"/>
              </a:lnSpc>
              <a:defRPr/>
            </a:pPr>
            <a:r>
              <a:rPr lang="zh-CN" altLang="en-US" b="1" dirty="0" smtClean="0">
                <a:solidFill>
                  <a:schemeClr val="folHlink"/>
                </a:solidFill>
                <a:latin typeface="仿宋_GB2312" pitchFamily="49" charset="-122"/>
                <a:ea typeface="仿宋_GB2312" pitchFamily="49" charset="-122"/>
              </a:rPr>
              <a:t>分页系统中的地址变换过程如下：</a:t>
            </a:r>
            <a:endParaRPr lang="en-US" altLang="zh-CN" b="1" dirty="0" smtClean="0">
              <a:solidFill>
                <a:schemeClr val="folHlink"/>
              </a:solidFill>
              <a:latin typeface="仿宋_GB2312" pitchFamily="49" charset="-122"/>
              <a:ea typeface="仿宋_GB2312" pitchFamily="49" charset="-122"/>
            </a:endParaRPr>
          </a:p>
          <a:p>
            <a:pPr algn="just" eaLnBrk="1" hangingPunct="1">
              <a:lnSpc>
                <a:spcPct val="110000"/>
              </a:lnSpc>
              <a:defRPr/>
            </a:pPr>
            <a:endParaRPr lang="zh-CN" altLang="en-US" b="1" dirty="0" smtClean="0">
              <a:solidFill>
                <a:schemeClr val="folHlink"/>
              </a:solidFill>
              <a:latin typeface="仿宋_GB2312" pitchFamily="49" charset="-122"/>
              <a:ea typeface="仿宋_GB2312" pitchFamily="49" charset="-122"/>
            </a:endParaRPr>
          </a:p>
          <a:p>
            <a:pPr algn="just" eaLnBrk="1" hangingPunct="1">
              <a:lnSpc>
                <a:spcPct val="110000"/>
              </a:lnSpc>
              <a:buFont typeface="Wingdings" panose="05000000000000000000" pitchFamily="2" charset="2"/>
              <a:buNone/>
              <a:defRPr/>
            </a:pPr>
            <a:r>
              <a:rPr lang="zh-CN" altLang="en-US" sz="2800" b="1" dirty="0" smtClean="0">
                <a:latin typeface="仿宋_GB2312" pitchFamily="49" charset="-122"/>
                <a:ea typeface="仿宋_GB2312" pitchFamily="49" charset="-122"/>
              </a:rPr>
              <a:t>（</a:t>
            </a:r>
            <a:r>
              <a:rPr lang="en-US" altLang="zh-CN" sz="2800" b="1" dirty="0" smtClean="0">
                <a:latin typeface="仿宋_GB2312" pitchFamily="49" charset="-122"/>
                <a:ea typeface="仿宋_GB2312" pitchFamily="49" charset="-122"/>
              </a:rPr>
              <a:t>1</a:t>
            </a:r>
            <a:r>
              <a:rPr lang="zh-CN" altLang="en-US" sz="2800" b="1" dirty="0" smtClean="0">
                <a:latin typeface="仿宋_GB2312" pitchFamily="49" charset="-122"/>
                <a:ea typeface="仿宋_GB2312" pitchFamily="49" charset="-122"/>
              </a:rPr>
              <a:t>）</a:t>
            </a:r>
            <a:r>
              <a:rPr lang="zh-CN" altLang="en-US" sz="2800" b="1" dirty="0" smtClean="0">
                <a:ea typeface="仿宋_GB2312" pitchFamily="49" charset="-122"/>
              </a:rPr>
              <a:t> </a:t>
            </a:r>
            <a:r>
              <a:rPr lang="zh-CN" altLang="en-US" sz="2800" b="1" dirty="0" smtClean="0">
                <a:latin typeface="仿宋_GB2312" pitchFamily="49" charset="-122"/>
                <a:ea typeface="仿宋_GB2312" pitchFamily="49" charset="-122"/>
              </a:rPr>
              <a:t>根据逻辑地址</a:t>
            </a:r>
            <a:r>
              <a:rPr lang="en-US" altLang="zh-CN" sz="2800" b="1" dirty="0" smtClean="0">
                <a:latin typeface="仿宋_GB2312" pitchFamily="49" charset="-122"/>
                <a:ea typeface="仿宋_GB2312" pitchFamily="49" charset="-122"/>
              </a:rPr>
              <a:t>,</a:t>
            </a:r>
            <a:r>
              <a:rPr lang="zh-CN" altLang="en-US" sz="2800" b="1" dirty="0" smtClean="0">
                <a:latin typeface="仿宋_GB2312" pitchFamily="49" charset="-122"/>
                <a:ea typeface="仿宋_GB2312" pitchFamily="49" charset="-122"/>
              </a:rPr>
              <a:t>计算出页号和页内偏移量；</a:t>
            </a:r>
            <a:endParaRPr lang="zh-CN" altLang="en-US" sz="2800" b="1" dirty="0" smtClean="0">
              <a:latin typeface="仿宋_GB2312" pitchFamily="49" charset="-122"/>
              <a:ea typeface="仿宋_GB2312" pitchFamily="49" charset="-122"/>
            </a:endParaRPr>
          </a:p>
          <a:p>
            <a:pPr algn="just" eaLnBrk="1" hangingPunct="1">
              <a:lnSpc>
                <a:spcPct val="110000"/>
              </a:lnSpc>
              <a:buFont typeface="Wingdings" panose="05000000000000000000" pitchFamily="2" charset="2"/>
              <a:buNone/>
              <a:defRPr/>
            </a:pPr>
            <a:r>
              <a:rPr lang="zh-CN" altLang="en-US" sz="2800" b="1" dirty="0" smtClean="0">
                <a:latin typeface="仿宋_GB2312" pitchFamily="49" charset="-122"/>
                <a:ea typeface="仿宋_GB2312" pitchFamily="49" charset="-122"/>
              </a:rPr>
              <a:t>（</a:t>
            </a:r>
            <a:r>
              <a:rPr lang="en-US" altLang="zh-CN" sz="2800" b="1" dirty="0" smtClean="0">
                <a:latin typeface="仿宋_GB2312" pitchFamily="49" charset="-122"/>
                <a:ea typeface="仿宋_GB2312" pitchFamily="49" charset="-122"/>
              </a:rPr>
              <a:t>2</a:t>
            </a:r>
            <a:r>
              <a:rPr lang="zh-CN" altLang="en-US" sz="2800" b="1" dirty="0" smtClean="0">
                <a:latin typeface="仿宋_GB2312" pitchFamily="49" charset="-122"/>
                <a:ea typeface="仿宋_GB2312" pitchFamily="49" charset="-122"/>
              </a:rPr>
              <a:t>）从</a:t>
            </a:r>
            <a:r>
              <a:rPr lang="en-US" altLang="zh-CN" sz="2800" b="1" dirty="0" smtClean="0">
                <a:latin typeface="仿宋_GB2312" pitchFamily="49" charset="-122"/>
                <a:ea typeface="仿宋_GB2312" pitchFamily="49" charset="-122"/>
              </a:rPr>
              <a:t>PTR</a:t>
            </a:r>
            <a:r>
              <a:rPr lang="zh-CN" altLang="en-US" sz="2800" b="1" dirty="0" smtClean="0">
                <a:latin typeface="仿宋_GB2312" pitchFamily="49" charset="-122"/>
                <a:ea typeface="仿宋_GB2312" pitchFamily="49" charset="-122"/>
              </a:rPr>
              <a:t>中得到页表首址，然后检索页表，查找指定页面对应的页框号；</a:t>
            </a:r>
            <a:endParaRPr lang="zh-CN" altLang="en-US" sz="2800" b="1" dirty="0" smtClean="0">
              <a:latin typeface="仿宋_GB2312" pitchFamily="49" charset="-122"/>
              <a:ea typeface="仿宋_GB2312" pitchFamily="49" charset="-122"/>
            </a:endParaRPr>
          </a:p>
          <a:p>
            <a:pPr algn="just" eaLnBrk="1" hangingPunct="1">
              <a:lnSpc>
                <a:spcPct val="110000"/>
              </a:lnSpc>
              <a:buFont typeface="Wingdings" panose="05000000000000000000" pitchFamily="2" charset="2"/>
              <a:buNone/>
              <a:defRPr/>
            </a:pPr>
            <a:r>
              <a:rPr lang="zh-CN" altLang="en-US" sz="2800" b="1" dirty="0" smtClean="0">
                <a:latin typeface="仿宋_GB2312" pitchFamily="49" charset="-122"/>
                <a:ea typeface="仿宋_GB2312" pitchFamily="49" charset="-122"/>
              </a:rPr>
              <a:t>（</a:t>
            </a:r>
            <a:r>
              <a:rPr lang="en-US" altLang="zh-CN" sz="2800" b="1" dirty="0" smtClean="0">
                <a:latin typeface="仿宋_GB2312" pitchFamily="49" charset="-122"/>
                <a:ea typeface="仿宋_GB2312" pitchFamily="49" charset="-122"/>
              </a:rPr>
              <a:t>3</a:t>
            </a:r>
            <a:r>
              <a:rPr lang="zh-CN" altLang="en-US" sz="2800" b="1" dirty="0" smtClean="0">
                <a:latin typeface="仿宋_GB2312" pitchFamily="49" charset="-122"/>
                <a:ea typeface="仿宋_GB2312" pitchFamily="49" charset="-122"/>
              </a:rPr>
              <a:t>）用页框号乘以页面大小获得其对应的起始地址，并将其送入物理地址的高端。</a:t>
            </a:r>
            <a:endParaRPr lang="zh-CN" altLang="en-US" sz="2800" b="1" dirty="0" smtClean="0">
              <a:latin typeface="仿宋_GB2312" pitchFamily="49" charset="-122"/>
              <a:ea typeface="仿宋_GB2312" pitchFamily="49" charset="-122"/>
            </a:endParaRPr>
          </a:p>
          <a:p>
            <a:pPr algn="just" eaLnBrk="1" hangingPunct="1">
              <a:lnSpc>
                <a:spcPct val="110000"/>
              </a:lnSpc>
              <a:buFont typeface="Wingdings" panose="05000000000000000000" pitchFamily="2" charset="2"/>
              <a:buNone/>
              <a:defRPr/>
            </a:pPr>
            <a:r>
              <a:rPr lang="zh-CN" altLang="en-US" sz="2800" b="1" dirty="0" smtClean="0">
                <a:latin typeface="仿宋_GB2312" pitchFamily="49" charset="-122"/>
                <a:ea typeface="仿宋_GB2312" pitchFamily="49" charset="-122"/>
              </a:rPr>
              <a:t>（</a:t>
            </a:r>
            <a:r>
              <a:rPr lang="en-US" altLang="zh-CN" sz="2800" b="1" dirty="0" smtClean="0">
                <a:latin typeface="仿宋_GB2312" pitchFamily="49" charset="-122"/>
                <a:ea typeface="仿宋_GB2312" pitchFamily="49" charset="-122"/>
              </a:rPr>
              <a:t>4</a:t>
            </a:r>
            <a:r>
              <a:rPr lang="zh-CN" altLang="en-US" sz="2800" b="1" dirty="0" smtClean="0">
                <a:latin typeface="仿宋_GB2312" pitchFamily="49" charset="-122"/>
                <a:ea typeface="仿宋_GB2312" pitchFamily="49" charset="-122"/>
              </a:rPr>
              <a:t>）将页内偏移量送入物理地址低端，形成完整的物理地址。</a:t>
            </a:r>
            <a:endParaRPr lang="zh-CN" altLang="en-US" sz="2800" b="1" dirty="0" smtClean="0">
              <a:latin typeface="仿宋_GB2312" pitchFamily="49" charset="-122"/>
              <a:ea typeface="仿宋_GB2312" pitchFamily="49" charset="-122"/>
            </a:endParaRPr>
          </a:p>
          <a:p>
            <a:pPr eaLnBrk="1" hangingPunct="1">
              <a:lnSpc>
                <a:spcPct val="110000"/>
              </a:lnSpc>
              <a:buFont typeface="Wingdings" panose="05000000000000000000" pitchFamily="2" charset="2"/>
              <a:buNone/>
              <a:defRPr/>
            </a:pPr>
            <a:endParaRPr lang="zh-CN" altLang="en-US" sz="2800" b="1" dirty="0" smtClean="0">
              <a:latin typeface="仿宋_GB2312" pitchFamily="49" charset="-122"/>
              <a:ea typeface="仿宋_GB2312" pitchFamily="49" charset="-122"/>
            </a:endParaRPr>
          </a:p>
          <a:p>
            <a:pPr eaLnBrk="1" hangingPunct="1">
              <a:lnSpc>
                <a:spcPct val="90000"/>
              </a:lnSpc>
              <a:defRPr/>
            </a:pPr>
            <a:endParaRPr lang="en-US" altLang="zh-CN" sz="2400" dirty="0" smtClean="0"/>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8600" y="609600"/>
            <a:ext cx="8675688" cy="569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ext Box 91"/>
          <p:cNvSpPr txBox="1">
            <a:spLocks noChangeArrowheads="1"/>
          </p:cNvSpPr>
          <p:nvPr/>
        </p:nvSpPr>
        <p:spPr bwMode="auto">
          <a:xfrm>
            <a:off x="762000" y="838200"/>
            <a:ext cx="7848600"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50000"/>
              </a:lnSpc>
              <a:spcBef>
                <a:spcPct val="20000"/>
              </a:spcBef>
              <a:spcAft>
                <a:spcPts val="0"/>
              </a:spcAft>
              <a:buClrTx/>
              <a:buSzTx/>
              <a:buFontTx/>
              <a:buNone/>
              <a:defRPr/>
            </a:pP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例</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1</a:t>
            </a: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某采用分页存储管理的系统中，物理地址占</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位，逻辑地址中页号占</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6</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位，页面大小为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1KB</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，问：</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50000"/>
              </a:lnSpc>
              <a:spcBef>
                <a:spcPct val="2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⑴该系统的内存空间大小为多少？每个存储块的大小为多少？逻辑地址共几位？每个作业的最大长度为多少？</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50000"/>
              </a:lnSpc>
              <a:spcBef>
                <a:spcPct val="2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⑵若第</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页分别放在第</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3</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7</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9</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存储块中，则逻辑地址</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0420H</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对应的物理地址是多少？</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ext Box 2"/>
          <p:cNvSpPr txBox="1">
            <a:spLocks noChangeArrowheads="1"/>
          </p:cNvSpPr>
          <p:nvPr/>
        </p:nvSpPr>
        <p:spPr bwMode="auto">
          <a:xfrm>
            <a:off x="495300" y="539330"/>
            <a:ext cx="8153400" cy="5779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20000"/>
              </a:lnSpc>
              <a:spcBef>
                <a:spcPct val="50000"/>
              </a:spcBef>
              <a:spcAft>
                <a:spcPts val="0"/>
              </a:spcAft>
              <a:buClrTx/>
              <a:buSzTx/>
              <a:buFontTx/>
              <a:buNone/>
              <a:defRPr/>
            </a:pP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在分页存储管理系统中，根据题意：</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20000"/>
              </a:lnSpc>
              <a:spcBef>
                <a:spcPct val="5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⑴物理地址占</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位，所以该系统的内存空间大小为：</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2</a:t>
            </a:r>
            <a:r>
              <a:rPr kumimoji="1" lang="en-US" altLang="zh-CN" sz="2800" b="0" i="0" u="none" strike="noStrike" kern="1200" cap="none" spc="0" normalizeH="0" baseline="3000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20</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=1MB</a:t>
            </a:r>
            <a:endPar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50000"/>
              </a:spcBef>
              <a:spcAft>
                <a:spcPts val="0"/>
              </a:spcAft>
              <a:buClrTx/>
              <a:buSzTx/>
              <a:buFontTx/>
              <a:buNone/>
              <a:defRPr/>
            </a:pP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存储块的大小与页面大小相同，而页面大小为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1KB</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，因此存储块的大小为：</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1KB</a:t>
            </a:r>
            <a:endPar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50000"/>
              </a:spcBef>
              <a:spcAft>
                <a:spcPts val="0"/>
              </a:spcAft>
              <a:buClrTx/>
              <a:buSzTx/>
              <a:buFontTx/>
              <a:buNone/>
              <a:defRPr/>
            </a:pP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由于页面大小为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1KB</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，占</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位，而页号占</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6</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位，</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5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因此逻辑地址共</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16</a:t>
            </a: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位</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5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从而该系统中每个作业的最大长度为：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a:t>
            </a:r>
            <a:r>
              <a:rPr kumimoji="1" lang="en-US" altLang="zh-CN" sz="2800" b="0" i="0" u="none" strike="noStrike" kern="1200" cap="none" spc="0" normalizeH="0" baseline="3000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16</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64KB</a:t>
            </a:r>
            <a:endPar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6114">
                                            <p:txEl>
                                              <p:pRg st="1" end="1"/>
                                            </p:txEl>
                                          </p:spTgt>
                                        </p:tgtEl>
                                        <p:attrNameLst>
                                          <p:attrName>style.visibility</p:attrName>
                                        </p:attrNameLst>
                                      </p:cBhvr>
                                      <p:to>
                                        <p:strVal val="visible"/>
                                      </p:to>
                                    </p:set>
                                    <p:animEffect transition="in" filter="blinds(horizontal)">
                                      <p:cBhvr>
                                        <p:cTn id="7" dur="500"/>
                                        <p:tgtEl>
                                          <p:spTgt spid="3461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6114">
                                            <p:txEl>
                                              <p:pRg st="2" end="2"/>
                                            </p:txEl>
                                          </p:spTgt>
                                        </p:tgtEl>
                                        <p:attrNameLst>
                                          <p:attrName>style.visibility</p:attrName>
                                        </p:attrNameLst>
                                      </p:cBhvr>
                                      <p:to>
                                        <p:strVal val="visible"/>
                                      </p:to>
                                    </p:set>
                                    <p:animEffect transition="in" filter="blinds(horizontal)">
                                      <p:cBhvr>
                                        <p:cTn id="12" dur="500"/>
                                        <p:tgtEl>
                                          <p:spTgt spid="3461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6114">
                                            <p:txEl>
                                              <p:pRg st="3" end="3"/>
                                            </p:txEl>
                                          </p:spTgt>
                                        </p:tgtEl>
                                        <p:attrNameLst>
                                          <p:attrName>style.visibility</p:attrName>
                                        </p:attrNameLst>
                                      </p:cBhvr>
                                      <p:to>
                                        <p:strVal val="visible"/>
                                      </p:to>
                                    </p:set>
                                    <p:animEffect transition="in" filter="blinds(horizontal)">
                                      <p:cBhvr>
                                        <p:cTn id="17" dur="500"/>
                                        <p:tgtEl>
                                          <p:spTgt spid="34611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6114">
                                            <p:txEl>
                                              <p:pRg st="4" end="4"/>
                                            </p:txEl>
                                          </p:spTgt>
                                        </p:tgtEl>
                                        <p:attrNameLst>
                                          <p:attrName>style.visibility</p:attrName>
                                        </p:attrNameLst>
                                      </p:cBhvr>
                                      <p:to>
                                        <p:strVal val="visible"/>
                                      </p:to>
                                    </p:set>
                                    <p:animEffect transition="in" filter="blinds(horizontal)">
                                      <p:cBhvr>
                                        <p:cTn id="22" dur="500"/>
                                        <p:tgtEl>
                                          <p:spTgt spid="34611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46114">
                                            <p:txEl>
                                              <p:pRg st="5" end="5"/>
                                            </p:txEl>
                                          </p:spTgt>
                                        </p:tgtEl>
                                        <p:attrNameLst>
                                          <p:attrName>style.visibility</p:attrName>
                                        </p:attrNameLst>
                                      </p:cBhvr>
                                      <p:to>
                                        <p:strVal val="visible"/>
                                      </p:to>
                                    </p:set>
                                    <p:animEffect transition="in" filter="blinds(horizontal)">
                                      <p:cBhvr>
                                        <p:cTn id="27" dur="500"/>
                                        <p:tgtEl>
                                          <p:spTgt spid="3461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4" grpId="0" autoUpdateAnimBg="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ext Box 2"/>
          <p:cNvSpPr txBox="1">
            <a:spLocks noChangeArrowheads="1"/>
          </p:cNvSpPr>
          <p:nvPr/>
        </p:nvSpPr>
        <p:spPr bwMode="auto">
          <a:xfrm>
            <a:off x="609600" y="685800"/>
            <a:ext cx="8229600"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20000"/>
              </a:lnSpc>
              <a:spcBef>
                <a:spcPct val="10000"/>
              </a:spcBef>
              <a:spcAft>
                <a:spcPts val="0"/>
              </a:spcAft>
              <a:buClrTx/>
              <a:buSzTx/>
              <a:buFontTx/>
              <a:buNone/>
              <a:defRPr/>
            </a:pP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⑵</a:t>
            </a: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法</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（全部转换成</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进制）：</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1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逻辑地址：</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0420H=1056</a:t>
            </a:r>
            <a:endPar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10000"/>
              </a:spcBef>
              <a:spcAft>
                <a:spcPts val="0"/>
              </a:spcAft>
              <a:buClrTx/>
              <a:buSzTx/>
              <a:buFontTx/>
              <a:buNone/>
              <a:defRPr/>
            </a:pP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因为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1K&lt;=1056&lt;2K-1</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，所以在</a:t>
            </a:r>
            <a:r>
              <a:rPr kumimoji="1"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页面内，其页内位移量为：</a:t>
            </a:r>
            <a:r>
              <a:rPr kumimoji="1" lang="en-US" altLang="zh-CN" sz="2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1056-1K=32</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而</a:t>
            </a:r>
            <a:r>
              <a:rPr kumimoji="1"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页面对应</a:t>
            </a:r>
            <a:r>
              <a:rPr kumimoji="1"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7</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物理块，所以物理地址为：</a:t>
            </a:r>
            <a:r>
              <a:rPr kumimoji="1" lang="en-US" altLang="zh-CN" sz="2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7</a:t>
            </a:r>
            <a:r>
              <a:rPr kumimoji="1" lang="en-US" altLang="zh-CN" sz="2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1K+32=7200</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1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a:t>
            </a: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法</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2</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（将页面转换成</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16</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进制表示）：</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1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     页面大小：</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1K=0400H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just" defTabSz="914400" rtl="0" eaLnBrk="1" fontAlgn="auto" latinLnBrk="0" hangingPunct="1">
              <a:lnSpc>
                <a:spcPct val="120000"/>
              </a:lnSpc>
              <a:spcBef>
                <a:spcPct val="10000"/>
              </a:spcBef>
              <a:spcAft>
                <a:spcPts val="0"/>
              </a:spcAft>
              <a:buClrTx/>
              <a:buSzTx/>
              <a:buFontTx/>
              <a:buNone/>
              <a:defRPr/>
            </a:pP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     </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因为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0400H&lt;=0420H&lt;07FFH</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，所以在</a:t>
            </a:r>
            <a:r>
              <a:rPr kumimoji="1"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页面内，其页内位移量为：</a:t>
            </a:r>
            <a:r>
              <a:rPr kumimoji="1" lang="en-US" altLang="zh-CN" sz="2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0420H-0400H=20H</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；而</a:t>
            </a:r>
            <a:r>
              <a:rPr kumimoji="1"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页面对应</a:t>
            </a:r>
            <a:r>
              <a:rPr kumimoji="1" lang="en-US" altLang="zh-CN"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7</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物理块，所以物理地址为：</a:t>
            </a:r>
            <a:r>
              <a:rPr kumimoji="1" lang="en-US" altLang="zh-CN" sz="2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7×0400H +20H=1C20H</a:t>
            </a:r>
            <a:r>
              <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endParaRPr kumimoji="1" lang="zh-CN" altLang="en-US" sz="28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8162">
                                            <p:txEl>
                                              <p:pRg st="0" end="0"/>
                                            </p:txEl>
                                          </p:spTgt>
                                        </p:tgtEl>
                                        <p:attrNameLst>
                                          <p:attrName>style.visibility</p:attrName>
                                        </p:attrNameLst>
                                      </p:cBhvr>
                                      <p:to>
                                        <p:strVal val="visible"/>
                                      </p:to>
                                    </p:set>
                                    <p:animEffect transition="in" filter="box(in)">
                                      <p:cBhvr>
                                        <p:cTn id="7" dur="500"/>
                                        <p:tgtEl>
                                          <p:spTgt spid="348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48162">
                                            <p:txEl>
                                              <p:pRg st="1" end="1"/>
                                            </p:txEl>
                                          </p:spTgt>
                                        </p:tgtEl>
                                        <p:attrNameLst>
                                          <p:attrName>style.visibility</p:attrName>
                                        </p:attrNameLst>
                                      </p:cBhvr>
                                      <p:to>
                                        <p:strVal val="visible"/>
                                      </p:to>
                                    </p:set>
                                    <p:animEffect transition="in" filter="box(in)">
                                      <p:cBhvr>
                                        <p:cTn id="12" dur="500"/>
                                        <p:tgtEl>
                                          <p:spTgt spid="3481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48162">
                                            <p:txEl>
                                              <p:pRg st="2" end="2"/>
                                            </p:txEl>
                                          </p:spTgt>
                                        </p:tgtEl>
                                        <p:attrNameLst>
                                          <p:attrName>style.visibility</p:attrName>
                                        </p:attrNameLst>
                                      </p:cBhvr>
                                      <p:to>
                                        <p:strVal val="visible"/>
                                      </p:to>
                                    </p:set>
                                    <p:animEffect transition="in" filter="box(in)">
                                      <p:cBhvr>
                                        <p:cTn id="17" dur="500"/>
                                        <p:tgtEl>
                                          <p:spTgt spid="3481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48162">
                                            <p:txEl>
                                              <p:pRg st="3" end="3"/>
                                            </p:txEl>
                                          </p:spTgt>
                                        </p:tgtEl>
                                        <p:attrNameLst>
                                          <p:attrName>style.visibility</p:attrName>
                                        </p:attrNameLst>
                                      </p:cBhvr>
                                      <p:to>
                                        <p:strVal val="visible"/>
                                      </p:to>
                                    </p:set>
                                    <p:animEffect transition="in" filter="box(in)">
                                      <p:cBhvr>
                                        <p:cTn id="22" dur="500"/>
                                        <p:tgtEl>
                                          <p:spTgt spid="3481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48162">
                                            <p:txEl>
                                              <p:pRg st="4" end="4"/>
                                            </p:txEl>
                                          </p:spTgt>
                                        </p:tgtEl>
                                        <p:attrNameLst>
                                          <p:attrName>style.visibility</p:attrName>
                                        </p:attrNameLst>
                                      </p:cBhvr>
                                      <p:to>
                                        <p:strVal val="visible"/>
                                      </p:to>
                                    </p:set>
                                    <p:animEffect transition="in" filter="box(in)">
                                      <p:cBhvr>
                                        <p:cTn id="27" dur="500"/>
                                        <p:tgtEl>
                                          <p:spTgt spid="3481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48162">
                                            <p:txEl>
                                              <p:pRg st="5" end="5"/>
                                            </p:txEl>
                                          </p:spTgt>
                                        </p:tgtEl>
                                        <p:attrNameLst>
                                          <p:attrName>style.visibility</p:attrName>
                                        </p:attrNameLst>
                                      </p:cBhvr>
                                      <p:to>
                                        <p:strVal val="visible"/>
                                      </p:to>
                                    </p:set>
                                    <p:animEffect transition="in" filter="box(in)">
                                      <p:cBhvr>
                                        <p:cTn id="32" dur="500"/>
                                        <p:tgtEl>
                                          <p:spTgt spid="34816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autoUpdateAnimBg="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
          <p:cNvSpPr txBox="1">
            <a:spLocks noChangeArrowheads="1"/>
          </p:cNvSpPr>
          <p:nvPr/>
        </p:nvSpPr>
        <p:spPr bwMode="auto">
          <a:xfrm>
            <a:off x="685800" y="1295400"/>
            <a:ext cx="784860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50000"/>
              </a:lnSpc>
              <a:spcBef>
                <a:spcPct val="0"/>
              </a:spcBef>
              <a:spcAft>
                <a:spcPts val="0"/>
              </a:spcAft>
              <a:buClrTx/>
              <a:buSzTx/>
              <a:buFontTx/>
              <a:buNone/>
              <a:defRPr/>
            </a:pP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例</a:t>
            </a:r>
            <a:r>
              <a:rPr kumimoji="1" lang="en-US" altLang="zh-CN"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2</a:t>
            </a:r>
            <a:r>
              <a:rPr kumimoji="1" lang="zh-CN" altLang="en-US" sz="28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在分页存储系统中地址结构的长度为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位，页面大小为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2K</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，作业地址空间为</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8K</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，该作业各页依次存放在</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1</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3</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6</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7</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号物理块中，相对地址</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4000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处有一条指令  </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Store  l</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2500</a:t>
            </a:r>
            <a:r>
              <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，请给出该作业的页表，并分别指出该指令所在页号和对应的物理单元及数据存放所在的页号和物理单元。 </a:t>
            </a:r>
            <a:endParaRPr kumimoji="1"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transition>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p:cNvSpPr txBox="1">
            <a:spLocks noChangeArrowheads="1"/>
          </p:cNvSpPr>
          <p:nvPr/>
        </p:nvSpPr>
        <p:spPr bwMode="auto">
          <a:xfrm>
            <a:off x="304800" y="533400"/>
            <a:ext cx="853440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30000"/>
              </a:lnSpc>
              <a:spcBef>
                <a:spcPct val="0"/>
              </a:spcBef>
              <a:spcAft>
                <a:spcPts val="0"/>
              </a:spcAft>
              <a:buClrTx/>
              <a:buSzTx/>
              <a:buFontTx/>
              <a:buNone/>
              <a:defRPr/>
            </a:pP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        </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由题意，页面大小为</a:t>
            </a: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2K</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，该作业的地址</a:t>
            </a:r>
            <a:endPar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30000"/>
              </a:lnSpc>
              <a:spcBef>
                <a:spcPct val="0"/>
              </a:spcBef>
              <a:spcAft>
                <a:spcPts val="0"/>
              </a:spcAft>
              <a:buClrTx/>
              <a:buSzTx/>
              <a:buFontTx/>
              <a:buNone/>
              <a:defRPr/>
            </a:pP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空间为</a:t>
            </a: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8K</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，因此该作业有</a:t>
            </a: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4</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页，其页表为：     </a:t>
            </a:r>
            <a:endPar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graphicFrame>
        <p:nvGraphicFramePr>
          <p:cNvPr id="349307" name="Group 123"/>
          <p:cNvGraphicFramePr>
            <a:graphicFrameLocks noGrp="1"/>
          </p:cNvGraphicFramePr>
          <p:nvPr/>
        </p:nvGraphicFramePr>
        <p:xfrm>
          <a:off x="7543800" y="304800"/>
          <a:ext cx="914400" cy="1220788"/>
        </p:xfrm>
        <a:graphic>
          <a:graphicData uri="http://schemas.openxmlformats.org/drawingml/2006/table">
            <a:tbl>
              <a:tblPr/>
              <a:tblGrid>
                <a:gridCol w="457200"/>
                <a:gridCol w="457200"/>
              </a:tblGrid>
              <a:tr h="250825">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6388">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49308" name="Text Box 124"/>
          <p:cNvSpPr txBox="1">
            <a:spLocks noChangeArrowheads="1"/>
          </p:cNvSpPr>
          <p:nvPr/>
        </p:nvSpPr>
        <p:spPr bwMode="auto">
          <a:xfrm>
            <a:off x="304800" y="1828800"/>
            <a:ext cx="853440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30000"/>
              </a:lnSpc>
              <a:spcBef>
                <a:spcPct val="0"/>
              </a:spcBef>
              <a:spcAft>
                <a:spcPts val="0"/>
              </a:spcAft>
              <a:buClrTx/>
              <a:buSzTx/>
              <a:buFontTx/>
              <a:buNone/>
              <a:defRPr/>
            </a:pP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        </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因为</a:t>
            </a: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2K&lt;=4000&lt;4K-1</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，所以指令在</a:t>
            </a:r>
            <a:r>
              <a:rPr kumimoji="1" lang="en-US" altLang="zh-CN"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页面内，其页内位移量为：</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4000-2K=1952</a:t>
            </a:r>
            <a:r>
              <a:rPr kumimoji="1" lang="zh-CN" altLang="en-US" sz="2800" b="0"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rPr>
              <a:t>；</a:t>
            </a:r>
            <a:endParaRPr kumimoji="1" lang="zh-CN" altLang="en-US" sz="2800" b="0"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endParaRPr>
          </a:p>
          <a:p>
            <a:pPr marL="0" marR="0" lvl="0" indent="0" algn="just" defTabSz="914400" rtl="0" eaLnBrk="1" fontAlgn="auto" latinLnBrk="0" hangingPunct="1">
              <a:lnSpc>
                <a:spcPct val="130000"/>
              </a:lnSpc>
              <a:spcBef>
                <a:spcPct val="0"/>
              </a:spcBef>
              <a:spcAft>
                <a:spcPts val="0"/>
              </a:spcAft>
              <a:buClrTx/>
              <a:buSzTx/>
              <a:buFontTx/>
              <a:buNone/>
              <a:defRPr/>
            </a:pP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     又</a:t>
            </a:r>
            <a:r>
              <a:rPr kumimoji="1" lang="en-US" altLang="zh-CN"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2K&lt;=2500&lt;4K-1</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，所以数据也在</a:t>
            </a:r>
            <a:r>
              <a:rPr kumimoji="1" lang="en-US" altLang="zh-CN"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页面内，其页内位移量为：</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2500-2K=452</a:t>
            </a:r>
            <a:r>
              <a:rPr kumimoji="1" lang="zh-CN" altLang="en-US" sz="2800" b="0"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rPr>
              <a:t>。</a:t>
            </a:r>
            <a:endParaRPr kumimoji="1" lang="zh-CN" altLang="en-US" sz="2800" b="0"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endParaRPr>
          </a:p>
          <a:p>
            <a:pPr marL="0" marR="0" lvl="0" indent="0" algn="just" defTabSz="914400" rtl="0" eaLnBrk="1" fontAlgn="auto" latinLnBrk="0" hangingPunct="1">
              <a:lnSpc>
                <a:spcPct val="130000"/>
              </a:lnSpc>
              <a:spcBef>
                <a:spcPct val="0"/>
              </a:spcBef>
              <a:spcAft>
                <a:spcPts val="0"/>
              </a:spcAft>
              <a:buClrTx/>
              <a:buSzTx/>
              <a:buFontTx/>
              <a:buNone/>
              <a:defRPr/>
            </a:pP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     由页表知</a:t>
            </a:r>
            <a:r>
              <a:rPr kumimoji="1" lang="en-US" altLang="zh-CN"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页面对应存储空间的</a:t>
            </a:r>
            <a:r>
              <a:rPr kumimoji="1" lang="en-US" altLang="zh-CN"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3</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物理块，故数据和指令均存放在</a:t>
            </a:r>
            <a:r>
              <a:rPr kumimoji="1" lang="en-US" altLang="zh-CN"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rPr>
              <a:t>3</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号</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物理块内，指令存放的物理单元为：</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3</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2K+1952=8096</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a:t>
            </a:r>
            <a:r>
              <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数据存放的物理单元为：</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3</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Times New Roman" panose="02020603050405020304" pitchFamily="18" charset="0"/>
              </a:rPr>
              <a:t>2K+452=6596</a:t>
            </a:r>
            <a:r>
              <a:rPr kumimoji="1" lang="zh-CN" altLang="en-US" sz="2800" b="1"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     </a:t>
            </a:r>
            <a:endParaRPr kumimoji="1" lang="zh-CN" altLang="en-US" sz="2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493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349308">
                                            <p:txEl>
                                              <p:pRg st="0" end="0"/>
                                            </p:txEl>
                                          </p:spTgt>
                                        </p:tgtEl>
                                        <p:attrNameLst>
                                          <p:attrName>style.visibility</p:attrName>
                                        </p:attrNameLst>
                                      </p:cBhvr>
                                      <p:to>
                                        <p:strVal val="visible"/>
                                      </p:to>
                                    </p:set>
                                    <p:animEffect transition="in" filter="checkerboard(across)">
                                      <p:cBhvr>
                                        <p:cTn id="11" dur="500"/>
                                        <p:tgtEl>
                                          <p:spTgt spid="34930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349308">
                                            <p:txEl>
                                              <p:pRg st="1" end="1"/>
                                            </p:txEl>
                                          </p:spTgt>
                                        </p:tgtEl>
                                        <p:attrNameLst>
                                          <p:attrName>style.visibility</p:attrName>
                                        </p:attrNameLst>
                                      </p:cBhvr>
                                      <p:to>
                                        <p:strVal val="visible"/>
                                      </p:to>
                                    </p:set>
                                    <p:animEffect transition="in" filter="checkerboard(across)">
                                      <p:cBhvr>
                                        <p:cTn id="16" dur="500"/>
                                        <p:tgtEl>
                                          <p:spTgt spid="34930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49308">
                                            <p:txEl>
                                              <p:pRg st="2" end="2"/>
                                            </p:txEl>
                                          </p:spTgt>
                                        </p:tgtEl>
                                        <p:attrNameLst>
                                          <p:attrName>style.visibility</p:attrName>
                                        </p:attrNameLst>
                                      </p:cBhvr>
                                      <p:to>
                                        <p:strVal val="visible"/>
                                      </p:to>
                                    </p:set>
                                    <p:animEffect transition="in" filter="checkerboard(across)">
                                      <p:cBhvr>
                                        <p:cTn id="21" dur="500"/>
                                        <p:tgtEl>
                                          <p:spTgt spid="34930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308" grpId="0" autoUpdateAnimBg="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a:spLocks noChangeArrowheads="1"/>
          </p:cNvSpPr>
          <p:nvPr/>
        </p:nvSpPr>
        <p:spPr bwMode="auto">
          <a:xfrm>
            <a:off x="250825" y="260350"/>
            <a:ext cx="88931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en-US" sz="3200" b="1" i="0" u="none" strike="noStrike" kern="1200" cap="none" spc="0" normalizeH="0" baseline="0" noProof="0" dirty="0">
                <a:ln>
                  <a:noFill/>
                </a:ln>
                <a:solidFill>
                  <a:srgbClr val="9454C3"/>
                </a:solidFill>
                <a:effectLst/>
                <a:uLnTx/>
                <a:uFillTx/>
                <a:latin typeface="微软雅黑" panose="020B0503020204020204" charset="-122"/>
                <a:ea typeface="微软雅黑" panose="020B0503020204020204" charset="-122"/>
                <a:cs typeface="+mn-cs"/>
              </a:rPr>
              <a:t>例</a:t>
            </a:r>
            <a:r>
              <a:rPr kumimoji="0" lang="en-US" altLang="zh-CN" sz="3200" b="1" i="0" u="none" strike="noStrike" kern="1200" cap="none" spc="0" normalizeH="0" baseline="0" noProof="0" dirty="0">
                <a:ln>
                  <a:noFill/>
                </a:ln>
                <a:solidFill>
                  <a:srgbClr val="9454C3"/>
                </a:solidFill>
                <a:effectLst/>
                <a:uLnTx/>
                <a:uFillTx/>
                <a:latin typeface="微软雅黑" panose="020B0503020204020204" charset="-122"/>
                <a:ea typeface="微软雅黑" panose="020B0503020204020204" charset="-122"/>
                <a:cs typeface="+mn-cs"/>
              </a:rPr>
              <a:t>3</a:t>
            </a:r>
            <a:r>
              <a:rPr kumimoji="0" lang="zh-CN" altLang="en-US" sz="3200" b="1" i="0" u="none" strike="noStrike" kern="1200" cap="none" spc="0" normalizeH="0" baseline="0" noProof="0" dirty="0">
                <a:ln>
                  <a:noFill/>
                </a:ln>
                <a:solidFill>
                  <a:srgbClr val="9454C3"/>
                </a:solidFill>
                <a:effectLst/>
                <a:uLnTx/>
                <a:uFillTx/>
                <a:latin typeface="微软雅黑" panose="020B0503020204020204" charset="-122"/>
                <a:ea typeface="微软雅黑" panose="020B0503020204020204" charset="-122"/>
                <a:cs typeface="+mn-cs"/>
              </a:rPr>
              <a:t>：</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在采用页式存储管理的系统中，作业</a:t>
            </a:r>
            <a:r>
              <a:rPr kumimoji="0" lang="en-US" altLang="zh-CN"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J</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的逻辑空间为</a:t>
            </a:r>
            <a:r>
              <a:rPr kumimoji="0" lang="en-US" altLang="zh-CN"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4</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页（每页</a:t>
            </a:r>
            <a:r>
              <a:rPr kumimoji="0" lang="en-US" altLang="zh-CN"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2048</a:t>
            </a: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字节），且已知该作业的页表为：</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nvGrpSpPr>
          <p:cNvPr id="198659" name="Group 3"/>
          <p:cNvGrpSpPr/>
          <p:nvPr/>
        </p:nvGrpSpPr>
        <p:grpSpPr bwMode="auto">
          <a:xfrm>
            <a:off x="539750" y="1412875"/>
            <a:ext cx="4392613" cy="2032000"/>
            <a:chOff x="476" y="935"/>
            <a:chExt cx="2767" cy="1280"/>
          </a:xfrm>
        </p:grpSpPr>
        <p:grpSp>
          <p:nvGrpSpPr>
            <p:cNvPr id="198706" name="Group 4"/>
            <p:cNvGrpSpPr/>
            <p:nvPr/>
          </p:nvGrpSpPr>
          <p:grpSpPr bwMode="auto">
            <a:xfrm>
              <a:off x="476" y="981"/>
              <a:ext cx="2767" cy="1224"/>
              <a:chOff x="476" y="981"/>
              <a:chExt cx="4944" cy="1224"/>
            </a:xfrm>
          </p:grpSpPr>
          <p:sp>
            <p:nvSpPr>
              <p:cNvPr id="198715" name="Rectangle 5"/>
              <p:cNvSpPr>
                <a:spLocks noChangeArrowheads="1"/>
              </p:cNvSpPr>
              <p:nvPr/>
            </p:nvSpPr>
            <p:spPr bwMode="auto">
              <a:xfrm>
                <a:off x="476" y="981"/>
                <a:ext cx="4899" cy="122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8716" name="Line 6"/>
              <p:cNvSpPr>
                <a:spLocks noChangeShapeType="1"/>
              </p:cNvSpPr>
              <p:nvPr/>
            </p:nvSpPr>
            <p:spPr bwMode="auto">
              <a:xfrm>
                <a:off x="476" y="1253"/>
                <a:ext cx="49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17" name="Line 7"/>
              <p:cNvSpPr>
                <a:spLocks noChangeShapeType="1"/>
              </p:cNvSpPr>
              <p:nvPr/>
            </p:nvSpPr>
            <p:spPr bwMode="auto">
              <a:xfrm>
                <a:off x="476" y="1616"/>
                <a:ext cx="49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18" name="Line 8"/>
              <p:cNvSpPr>
                <a:spLocks noChangeShapeType="1"/>
              </p:cNvSpPr>
              <p:nvPr/>
            </p:nvSpPr>
            <p:spPr bwMode="auto">
              <a:xfrm>
                <a:off x="476" y="1888"/>
                <a:ext cx="49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19" name="Line 9"/>
              <p:cNvSpPr>
                <a:spLocks noChangeShapeType="1"/>
              </p:cNvSpPr>
              <p:nvPr/>
            </p:nvSpPr>
            <p:spPr bwMode="auto">
              <a:xfrm>
                <a:off x="2880" y="981"/>
                <a:ext cx="0" cy="12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sp>
          <p:nvSpPr>
            <p:cNvPr id="198707" name="Text Box 10"/>
            <p:cNvSpPr txBox="1">
              <a:spLocks noChangeArrowheads="1"/>
            </p:cNvSpPr>
            <p:nvPr/>
          </p:nvSpPr>
          <p:spPr bwMode="auto">
            <a:xfrm>
              <a:off x="930" y="93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0</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08" name="Text Box 11"/>
            <p:cNvSpPr txBox="1">
              <a:spLocks noChangeArrowheads="1"/>
            </p:cNvSpPr>
            <p:nvPr/>
          </p:nvSpPr>
          <p:spPr bwMode="auto">
            <a:xfrm>
              <a:off x="2381" y="93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09" name="Text Box 12"/>
            <p:cNvSpPr txBox="1">
              <a:spLocks noChangeArrowheads="1"/>
            </p:cNvSpPr>
            <p:nvPr/>
          </p:nvSpPr>
          <p:spPr bwMode="auto">
            <a:xfrm>
              <a:off x="884" y="12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10" name="Text Box 13"/>
            <p:cNvSpPr txBox="1">
              <a:spLocks noChangeArrowheads="1"/>
            </p:cNvSpPr>
            <p:nvPr/>
          </p:nvSpPr>
          <p:spPr bwMode="auto">
            <a:xfrm>
              <a:off x="930" y="157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11" name="Text Box 14"/>
            <p:cNvSpPr txBox="1">
              <a:spLocks noChangeArrowheads="1"/>
            </p:cNvSpPr>
            <p:nvPr/>
          </p:nvSpPr>
          <p:spPr bwMode="auto">
            <a:xfrm>
              <a:off x="930" y="18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3</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12" name="Text Box 15"/>
            <p:cNvSpPr txBox="1">
              <a:spLocks noChangeArrowheads="1"/>
            </p:cNvSpPr>
            <p:nvPr/>
          </p:nvSpPr>
          <p:spPr bwMode="auto">
            <a:xfrm>
              <a:off x="2426" y="12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13" name="Text Box 16"/>
            <p:cNvSpPr txBox="1">
              <a:spLocks noChangeArrowheads="1"/>
            </p:cNvSpPr>
            <p:nvPr/>
          </p:nvSpPr>
          <p:spPr bwMode="auto">
            <a:xfrm>
              <a:off x="2426" y="157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6</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14" name="Text Box 17"/>
            <p:cNvSpPr txBox="1">
              <a:spLocks noChangeArrowheads="1"/>
            </p:cNvSpPr>
            <p:nvPr/>
          </p:nvSpPr>
          <p:spPr bwMode="auto">
            <a:xfrm>
              <a:off x="2426" y="18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8</a:t>
              </a:r>
              <a:endPar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198674" name="Text Box 18"/>
          <p:cNvSpPr txBox="1">
            <a:spLocks noChangeArrowheads="1"/>
          </p:cNvSpPr>
          <p:nvPr/>
        </p:nvSpPr>
        <p:spPr bwMode="auto">
          <a:xfrm>
            <a:off x="5076825" y="1412875"/>
            <a:ext cx="361473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试借助地址变换图</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要求画出</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求出有效逻辑地址</a:t>
            </a:r>
            <a:r>
              <a:rPr kumimoji="0" lang="en-US" altLang="zh-CN"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4865</a:t>
            </a:r>
            <a:r>
              <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对应的物理地址。</a:t>
            </a: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675" name="Text Box 19"/>
          <p:cNvSpPr txBox="1">
            <a:spLocks noChangeArrowheads="1"/>
          </p:cNvSpPr>
          <p:nvPr/>
        </p:nvSpPr>
        <p:spPr bwMode="auto">
          <a:xfrm>
            <a:off x="250825" y="3573463"/>
            <a:ext cx="8569325" cy="2906712"/>
          </a:xfrm>
          <a:prstGeom prst="rect">
            <a:avLst/>
          </a:prstGeom>
          <a:noFill/>
          <a:ln w="38100">
            <a:solidFill>
              <a:srgbClr val="80008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marR="0" lvl="1" indent="0" algn="l" defTabSz="914400" rtl="0" eaLnBrk="1" fontAlgn="auto" latinLnBrk="0" hangingPunct="1">
              <a:lnSpc>
                <a:spcPct val="100000"/>
              </a:lnSpc>
              <a:spcBef>
                <a:spcPct val="50000"/>
              </a:spcBef>
              <a:spcAft>
                <a:spcPts val="0"/>
              </a:spcAft>
              <a:buClrTx/>
              <a:buSzTx/>
              <a:buFontTx/>
              <a:buNone/>
              <a:defRPr/>
            </a:pPr>
            <a:r>
              <a:rPr kumimoji="0" lang="zh-CN" altLang="en-US" sz="2800" b="1" i="0" u="none" strike="noStrike" kern="1200" cap="none" spc="0" normalizeH="0" baseline="0" noProof="0">
                <a:ln>
                  <a:noFill/>
                </a:ln>
                <a:solidFill>
                  <a:srgbClr val="990099"/>
                </a:solidFill>
                <a:effectLst/>
                <a:uLnTx/>
                <a:uFillTx/>
                <a:latin typeface="楷体" panose="02010609060101010101" pitchFamily="49" charset="-122"/>
                <a:ea typeface="楷体" panose="02010609060101010101" pitchFamily="49" charset="-122"/>
                <a:cs typeface="+mn-cs"/>
              </a:rPr>
              <a:t>分析</a:t>
            </a: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：系统采用每页</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2048</a:t>
            </a: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字节，即页内地址为</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11</a:t>
            </a: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位。这样首先从逻辑地址中转换出页号和页内偏移，即</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4865</a:t>
            </a: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对应页号为：</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INT(4865/2048)=2;</a:t>
            </a: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页内偏移为：</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4865 Mod 2048=769</a:t>
            </a:r>
            <a:endPar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457200" marR="0" lvl="1" indent="0" algn="l" defTabSz="914400" rtl="0" eaLnBrk="1" fontAlgn="auto" latinLnBrk="0" hangingPunct="1">
              <a:lnSpc>
                <a:spcPct val="100000"/>
              </a:lnSpc>
              <a:spcBef>
                <a:spcPct val="50000"/>
              </a:spcBef>
              <a:spcAft>
                <a:spcPts val="0"/>
              </a:spcAft>
              <a:buClrTx/>
              <a:buSzTx/>
              <a:buFontTx/>
              <a:buNone/>
              <a:defRPr/>
            </a:pP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对应块号为</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6</a:t>
            </a:r>
            <a:r>
              <a:rPr kumimoji="0" lang="zh-CN" altLang="en-US"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，每块大小和页大小相同，则物理地址</a:t>
            </a:r>
            <a:r>
              <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=6*2048+769=13057</a:t>
            </a:r>
            <a:endParaRPr kumimoji="0" lang="en-US" altLang="zh-CN" sz="28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198676" name="Group 20"/>
          <p:cNvGrpSpPr/>
          <p:nvPr/>
        </p:nvGrpSpPr>
        <p:grpSpPr bwMode="auto">
          <a:xfrm>
            <a:off x="6350" y="1398588"/>
            <a:ext cx="9144000" cy="5445125"/>
            <a:chOff x="249" y="2251"/>
            <a:chExt cx="5760" cy="3430"/>
          </a:xfrm>
        </p:grpSpPr>
        <p:grpSp>
          <p:nvGrpSpPr>
            <p:cNvPr id="198663" name="Group 21"/>
            <p:cNvGrpSpPr/>
            <p:nvPr/>
          </p:nvGrpSpPr>
          <p:grpSpPr bwMode="auto">
            <a:xfrm>
              <a:off x="249" y="2251"/>
              <a:ext cx="5760" cy="3430"/>
              <a:chOff x="0" y="890"/>
              <a:chExt cx="5760" cy="3430"/>
            </a:xfrm>
          </p:grpSpPr>
          <p:sp>
            <p:nvSpPr>
              <p:cNvPr id="198665" name="Rectangle 22"/>
              <p:cNvSpPr>
                <a:spLocks noChangeArrowheads="1"/>
              </p:cNvSpPr>
              <p:nvPr/>
            </p:nvSpPr>
            <p:spPr bwMode="auto">
              <a:xfrm>
                <a:off x="0" y="890"/>
                <a:ext cx="5760" cy="3430"/>
              </a:xfrm>
              <a:prstGeom prst="rect">
                <a:avLst/>
              </a:prstGeom>
              <a:gradFill rotWithShape="1">
                <a:gsLst>
                  <a:gs pos="0">
                    <a:srgbClr val="FFCCFF"/>
                  </a:gs>
                  <a:gs pos="100000">
                    <a:schemeClr val="bg1"/>
                  </a:gs>
                </a:gsLst>
                <a:lin ang="27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198666" name="Group 23"/>
              <p:cNvGrpSpPr/>
              <p:nvPr/>
            </p:nvGrpSpPr>
            <p:grpSpPr bwMode="auto">
              <a:xfrm>
                <a:off x="340" y="1026"/>
                <a:ext cx="5420" cy="3130"/>
                <a:chOff x="2160" y="1284"/>
                <a:chExt cx="9720" cy="6084"/>
              </a:xfrm>
            </p:grpSpPr>
            <p:sp>
              <p:nvSpPr>
                <p:cNvPr id="198667" name="Line 24"/>
                <p:cNvSpPr>
                  <a:spLocks noChangeShapeType="1"/>
                </p:cNvSpPr>
                <p:nvPr/>
              </p:nvSpPr>
              <p:spPr bwMode="auto">
                <a:xfrm>
                  <a:off x="5040" y="5028"/>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668" name="Line 25"/>
                <p:cNvSpPr>
                  <a:spLocks noChangeShapeType="1"/>
                </p:cNvSpPr>
                <p:nvPr/>
              </p:nvSpPr>
              <p:spPr bwMode="auto">
                <a:xfrm>
                  <a:off x="7740" y="2532"/>
                  <a:ext cx="0" cy="218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nvGrpSpPr>
                <p:cNvPr id="198669" name="Group 26"/>
                <p:cNvGrpSpPr/>
                <p:nvPr/>
              </p:nvGrpSpPr>
              <p:grpSpPr bwMode="auto">
                <a:xfrm>
                  <a:off x="2160" y="1284"/>
                  <a:ext cx="9720" cy="6084"/>
                  <a:chOff x="2160" y="1284"/>
                  <a:chExt cx="9720" cy="6084"/>
                </a:xfrm>
              </p:grpSpPr>
              <p:grpSp>
                <p:nvGrpSpPr>
                  <p:cNvPr id="198670" name="Group 27"/>
                  <p:cNvGrpSpPr/>
                  <p:nvPr/>
                </p:nvGrpSpPr>
                <p:grpSpPr bwMode="auto">
                  <a:xfrm>
                    <a:off x="3780" y="3468"/>
                    <a:ext cx="1260" cy="2496"/>
                    <a:chOff x="3780" y="3468"/>
                    <a:chExt cx="1260" cy="2496"/>
                  </a:xfrm>
                </p:grpSpPr>
                <p:sp>
                  <p:nvSpPr>
                    <p:cNvPr id="198701" name="Text Box 28"/>
                    <p:cNvSpPr txBox="1">
                      <a:spLocks noChangeArrowheads="1"/>
                    </p:cNvSpPr>
                    <p:nvPr/>
                  </p:nvSpPr>
                  <p:spPr bwMode="auto">
                    <a:xfrm>
                      <a:off x="3780" y="3468"/>
                      <a:ext cx="1260" cy="2496"/>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0     2</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1     4</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1">
                        <a:lnSpc>
                          <a:spcPct val="100000"/>
                        </a:lnSpc>
                        <a:spcBef>
                          <a:spcPct val="50000"/>
                        </a:spcBef>
                        <a:spcAft>
                          <a:spcPts val="0"/>
                        </a:spcAft>
                        <a:buClrTx/>
                        <a:buSzTx/>
                        <a:buFontTx/>
                        <a:buNone/>
                        <a:defRPr/>
                      </a:pP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2     6</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3      8</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702" name="Line 29"/>
                    <p:cNvSpPr>
                      <a:spLocks noChangeShapeType="1"/>
                    </p:cNvSpPr>
                    <p:nvPr/>
                  </p:nvSpPr>
                  <p:spPr bwMode="auto">
                    <a:xfrm>
                      <a:off x="4320" y="346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03" name="Line 30"/>
                    <p:cNvSpPr>
                      <a:spLocks noChangeShapeType="1"/>
                    </p:cNvSpPr>
                    <p:nvPr/>
                  </p:nvSpPr>
                  <p:spPr bwMode="auto">
                    <a:xfrm>
                      <a:off x="3780" y="4092"/>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04" name="Line 31"/>
                    <p:cNvSpPr>
                      <a:spLocks noChangeShapeType="1"/>
                    </p:cNvSpPr>
                    <p:nvPr/>
                  </p:nvSpPr>
                  <p:spPr bwMode="auto">
                    <a:xfrm>
                      <a:off x="3780" y="4716"/>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05" name="Line 32"/>
                    <p:cNvSpPr>
                      <a:spLocks noChangeShapeType="1"/>
                    </p:cNvSpPr>
                    <p:nvPr/>
                  </p:nvSpPr>
                  <p:spPr bwMode="auto">
                    <a:xfrm>
                      <a:off x="3780" y="5340"/>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grpSp>
                <p:nvGrpSpPr>
                  <p:cNvPr id="198671" name="Group 33"/>
                  <p:cNvGrpSpPr/>
                  <p:nvPr/>
                </p:nvGrpSpPr>
                <p:grpSpPr bwMode="auto">
                  <a:xfrm>
                    <a:off x="2160" y="1908"/>
                    <a:ext cx="2340" cy="1560"/>
                    <a:chOff x="2160" y="1908"/>
                    <a:chExt cx="2340" cy="1560"/>
                  </a:xfrm>
                </p:grpSpPr>
                <p:sp>
                  <p:nvSpPr>
                    <p:cNvPr id="198697" name="Text Box 34"/>
                    <p:cNvSpPr txBox="1">
                      <a:spLocks noChangeArrowheads="1"/>
                    </p:cNvSpPr>
                    <p:nvPr/>
                  </p:nvSpPr>
                  <p:spPr bwMode="auto">
                    <a:xfrm>
                      <a:off x="2160" y="1908"/>
                      <a:ext cx="2340" cy="780"/>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页表地址</a:t>
                      </a:r>
                      <a:endPar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198698" name="Group 35"/>
                    <p:cNvGrpSpPr/>
                    <p:nvPr/>
                  </p:nvGrpSpPr>
                  <p:grpSpPr bwMode="auto">
                    <a:xfrm>
                      <a:off x="3060" y="2688"/>
                      <a:ext cx="720" cy="780"/>
                      <a:chOff x="3060" y="2688"/>
                      <a:chExt cx="720" cy="780"/>
                    </a:xfrm>
                  </p:grpSpPr>
                  <p:sp>
                    <p:nvSpPr>
                      <p:cNvPr id="198699" name="Line 36"/>
                      <p:cNvSpPr>
                        <a:spLocks noChangeShapeType="1"/>
                      </p:cNvSpPr>
                      <p:nvPr/>
                    </p:nvSpPr>
                    <p:spPr bwMode="auto">
                      <a:xfrm>
                        <a:off x="3060" y="2688"/>
                        <a:ext cx="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700" name="Line 37"/>
                      <p:cNvSpPr>
                        <a:spLocks noChangeShapeType="1"/>
                      </p:cNvSpPr>
                      <p:nvPr/>
                    </p:nvSpPr>
                    <p:spPr bwMode="auto">
                      <a:xfrm>
                        <a:off x="3060" y="3468"/>
                        <a:ext cx="72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grpSp>
              <p:grpSp>
                <p:nvGrpSpPr>
                  <p:cNvPr id="198672" name="Group 38"/>
                  <p:cNvGrpSpPr/>
                  <p:nvPr/>
                </p:nvGrpSpPr>
                <p:grpSpPr bwMode="auto">
                  <a:xfrm>
                    <a:off x="5220" y="1284"/>
                    <a:ext cx="6660" cy="1248"/>
                    <a:chOff x="5220" y="1284"/>
                    <a:chExt cx="6660" cy="1248"/>
                  </a:xfrm>
                </p:grpSpPr>
                <p:grpSp>
                  <p:nvGrpSpPr>
                    <p:cNvPr id="198691" name="Group 39"/>
                    <p:cNvGrpSpPr/>
                    <p:nvPr/>
                  </p:nvGrpSpPr>
                  <p:grpSpPr bwMode="auto">
                    <a:xfrm>
                      <a:off x="5400" y="1908"/>
                      <a:ext cx="3780" cy="624"/>
                      <a:chOff x="5400" y="1908"/>
                      <a:chExt cx="3780" cy="624"/>
                    </a:xfrm>
                  </p:grpSpPr>
                  <p:sp>
                    <p:nvSpPr>
                      <p:cNvPr id="198695" name="Text Box 40"/>
                      <p:cNvSpPr txBox="1">
                        <a:spLocks noChangeArrowheads="1"/>
                      </p:cNvSpPr>
                      <p:nvPr/>
                    </p:nvSpPr>
                    <p:spPr bwMode="auto">
                      <a:xfrm>
                        <a:off x="5400" y="1908"/>
                        <a:ext cx="3780" cy="624"/>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2             769</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696" name="Line 41"/>
                      <p:cNvSpPr>
                        <a:spLocks noChangeShapeType="1"/>
                      </p:cNvSpPr>
                      <p:nvPr/>
                    </p:nvSpPr>
                    <p:spPr bwMode="auto">
                      <a:xfrm>
                        <a:off x="6300" y="1908"/>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sp>
                  <p:nvSpPr>
                    <p:cNvPr id="198692" name="Text Box 42"/>
                    <p:cNvSpPr txBox="1">
                      <a:spLocks noChangeArrowheads="1"/>
                    </p:cNvSpPr>
                    <p:nvPr/>
                  </p:nvSpPr>
                  <p:spPr bwMode="auto">
                    <a:xfrm>
                      <a:off x="5220" y="1284"/>
                      <a:ext cx="1440" cy="62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页号</a:t>
                      </a:r>
                      <a:endPar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693" name="Text Box 43"/>
                    <p:cNvSpPr txBox="1">
                      <a:spLocks noChangeArrowheads="1"/>
                    </p:cNvSpPr>
                    <p:nvPr/>
                  </p:nvSpPr>
                  <p:spPr bwMode="auto">
                    <a:xfrm>
                      <a:off x="6840" y="1284"/>
                      <a:ext cx="234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页内偏移</a:t>
                      </a:r>
                      <a:endPar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694" name="Text Box 44"/>
                    <p:cNvSpPr txBox="1">
                      <a:spLocks noChangeArrowheads="1"/>
                    </p:cNvSpPr>
                    <p:nvPr/>
                  </p:nvSpPr>
                  <p:spPr bwMode="auto">
                    <a:xfrm>
                      <a:off x="9180" y="1908"/>
                      <a:ext cx="270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逻辑地址</a:t>
                      </a: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4865</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198673" name="Group 45"/>
                  <p:cNvGrpSpPr/>
                  <p:nvPr/>
                </p:nvGrpSpPr>
                <p:grpSpPr bwMode="auto">
                  <a:xfrm>
                    <a:off x="2700" y="2532"/>
                    <a:ext cx="3060" cy="2340"/>
                    <a:chOff x="2700" y="2532"/>
                    <a:chExt cx="3060" cy="2340"/>
                  </a:xfrm>
                </p:grpSpPr>
                <p:sp>
                  <p:nvSpPr>
                    <p:cNvPr id="198687" name="Line 46"/>
                    <p:cNvSpPr>
                      <a:spLocks noChangeShapeType="1"/>
                    </p:cNvSpPr>
                    <p:nvPr/>
                  </p:nvSpPr>
                  <p:spPr bwMode="auto">
                    <a:xfrm>
                      <a:off x="5760" y="253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688" name="Line 47"/>
                    <p:cNvSpPr>
                      <a:spLocks noChangeShapeType="1"/>
                    </p:cNvSpPr>
                    <p:nvPr/>
                  </p:nvSpPr>
                  <p:spPr bwMode="auto">
                    <a:xfrm>
                      <a:off x="2700" y="3000"/>
                      <a:ext cx="30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689" name="Line 48"/>
                    <p:cNvSpPr>
                      <a:spLocks noChangeShapeType="1"/>
                    </p:cNvSpPr>
                    <p:nvPr/>
                  </p:nvSpPr>
                  <p:spPr bwMode="auto">
                    <a:xfrm>
                      <a:off x="2700" y="3000"/>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690" name="Line 49"/>
                    <p:cNvSpPr>
                      <a:spLocks noChangeShapeType="1"/>
                    </p:cNvSpPr>
                    <p:nvPr/>
                  </p:nvSpPr>
                  <p:spPr bwMode="auto">
                    <a:xfrm>
                      <a:off x="2700" y="4872"/>
                      <a:ext cx="10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sp>
                <p:nvSpPr>
                  <p:cNvPr id="2" name="Text Box 50"/>
                  <p:cNvSpPr txBox="1">
                    <a:spLocks noChangeArrowheads="1"/>
                  </p:cNvSpPr>
                  <p:nvPr/>
                </p:nvSpPr>
                <p:spPr bwMode="auto">
                  <a:xfrm>
                    <a:off x="4500" y="5964"/>
                    <a:ext cx="270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物理地址</a:t>
                    </a: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13057</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3" name="Group 51"/>
                  <p:cNvGrpSpPr/>
                  <p:nvPr/>
                </p:nvGrpSpPr>
                <p:grpSpPr bwMode="auto">
                  <a:xfrm>
                    <a:off x="5400" y="4092"/>
                    <a:ext cx="4860" cy="3276"/>
                    <a:chOff x="5400" y="4092"/>
                    <a:chExt cx="4860" cy="3276"/>
                  </a:xfrm>
                </p:grpSpPr>
                <p:grpSp>
                  <p:nvGrpSpPr>
                    <p:cNvPr id="4" name="Group 52"/>
                    <p:cNvGrpSpPr/>
                    <p:nvPr/>
                  </p:nvGrpSpPr>
                  <p:grpSpPr bwMode="auto">
                    <a:xfrm>
                      <a:off x="5400" y="4716"/>
                      <a:ext cx="3780" cy="624"/>
                      <a:chOff x="5400" y="1908"/>
                      <a:chExt cx="3780" cy="624"/>
                    </a:xfrm>
                  </p:grpSpPr>
                  <p:sp>
                    <p:nvSpPr>
                      <p:cNvPr id="198685" name="Text Box 53"/>
                      <p:cNvSpPr txBox="1">
                        <a:spLocks noChangeArrowheads="1"/>
                      </p:cNvSpPr>
                      <p:nvPr/>
                    </p:nvSpPr>
                    <p:spPr bwMode="auto">
                      <a:xfrm>
                        <a:off x="5400" y="1908"/>
                        <a:ext cx="3780" cy="624"/>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6          769</a:t>
                        </a:r>
                        <a:endParaRPr kumimoji="0" lang="en-US" altLang="zh-CN"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686" name="Line 54"/>
                      <p:cNvSpPr>
                        <a:spLocks noChangeShapeType="1"/>
                      </p:cNvSpPr>
                      <p:nvPr/>
                    </p:nvSpPr>
                    <p:spPr bwMode="auto">
                      <a:xfrm>
                        <a:off x="6300" y="1908"/>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sp>
                  <p:nvSpPr>
                    <p:cNvPr id="198677" name="Text Box 55"/>
                    <p:cNvSpPr txBox="1">
                      <a:spLocks noChangeArrowheads="1"/>
                    </p:cNvSpPr>
                    <p:nvPr/>
                  </p:nvSpPr>
                  <p:spPr bwMode="auto">
                    <a:xfrm>
                      <a:off x="5400" y="4092"/>
                      <a:ext cx="144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块号</a:t>
                      </a:r>
                      <a:endPar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8678" name="Text Box 56"/>
                    <p:cNvSpPr txBox="1">
                      <a:spLocks noChangeArrowheads="1"/>
                    </p:cNvSpPr>
                    <p:nvPr/>
                  </p:nvSpPr>
                  <p:spPr bwMode="auto">
                    <a:xfrm>
                      <a:off x="7920" y="4092"/>
                      <a:ext cx="234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块内偏移</a:t>
                      </a:r>
                      <a:endPar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198679" name="Group 57"/>
                    <p:cNvGrpSpPr/>
                    <p:nvPr/>
                  </p:nvGrpSpPr>
                  <p:grpSpPr bwMode="auto">
                    <a:xfrm>
                      <a:off x="5400" y="5340"/>
                      <a:ext cx="3780" cy="2028"/>
                      <a:chOff x="5400" y="5340"/>
                      <a:chExt cx="3780" cy="2028"/>
                    </a:xfrm>
                  </p:grpSpPr>
                  <p:sp>
                    <p:nvSpPr>
                      <p:cNvPr id="198680" name="Text Box 58"/>
                      <p:cNvSpPr txBox="1">
                        <a:spLocks noChangeArrowheads="1"/>
                      </p:cNvSpPr>
                      <p:nvPr/>
                    </p:nvSpPr>
                    <p:spPr bwMode="auto">
                      <a:xfrm>
                        <a:off x="7740" y="6432"/>
                        <a:ext cx="1440" cy="936"/>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auto" latinLnBrk="0" hangingPunct="1">
                          <a:lnSpc>
                            <a:spcPct val="100000"/>
                          </a:lnSpc>
                          <a:spcBef>
                            <a:spcPct val="5000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主存</a:t>
                        </a:r>
                        <a:endParaRPr kumimoji="0" lang="zh-CN" altLang="en-US" sz="18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198681" name="Group 59"/>
                      <p:cNvGrpSpPr/>
                      <p:nvPr/>
                    </p:nvGrpSpPr>
                    <p:grpSpPr bwMode="auto">
                      <a:xfrm>
                        <a:off x="5400" y="5340"/>
                        <a:ext cx="3780" cy="1404"/>
                        <a:chOff x="5400" y="5340"/>
                        <a:chExt cx="3780" cy="1404"/>
                      </a:xfrm>
                    </p:grpSpPr>
                    <p:sp>
                      <p:nvSpPr>
                        <p:cNvPr id="198682" name="AutoShape 60"/>
                        <p:cNvSpPr/>
                        <p:nvPr/>
                      </p:nvSpPr>
                      <p:spPr bwMode="auto">
                        <a:xfrm rot="-5400000">
                          <a:off x="7056" y="3684"/>
                          <a:ext cx="468" cy="3780"/>
                        </a:xfrm>
                        <a:prstGeom prst="leftBrace">
                          <a:avLst>
                            <a:gd name="adj1" fmla="val 67308"/>
                            <a:gd name="adj2" fmla="val 47324"/>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8683" name="Line 61"/>
                        <p:cNvSpPr>
                          <a:spLocks noChangeShapeType="1"/>
                        </p:cNvSpPr>
                        <p:nvPr/>
                      </p:nvSpPr>
                      <p:spPr bwMode="auto">
                        <a:xfrm>
                          <a:off x="7200" y="5808"/>
                          <a:ext cx="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sp>
                      <p:nvSpPr>
                        <p:cNvPr id="198684" name="Line 62"/>
                        <p:cNvSpPr>
                          <a:spLocks noChangeShapeType="1"/>
                        </p:cNvSpPr>
                        <p:nvPr/>
                      </p:nvSpPr>
                      <p:spPr bwMode="auto">
                        <a:xfrm>
                          <a:off x="7200" y="6744"/>
                          <a:ext cx="5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2" charset="-122"/>
                            <a:cs typeface="+mn-cs"/>
                          </a:endParaRPr>
                        </a:p>
                      </p:txBody>
                    </p:sp>
                  </p:grpSp>
                </p:grpSp>
              </p:grpSp>
            </p:grpSp>
          </p:grpSp>
        </p:grpSp>
        <p:sp>
          <p:nvSpPr>
            <p:cNvPr id="198664" name="Text Box 63"/>
            <p:cNvSpPr txBox="1">
              <a:spLocks noChangeArrowheads="1"/>
            </p:cNvSpPr>
            <p:nvPr/>
          </p:nvSpPr>
          <p:spPr bwMode="auto">
            <a:xfrm>
              <a:off x="748" y="2387"/>
              <a:ext cx="9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页表寄存器</a:t>
              </a:r>
              <a:endParaRPr kumimoji="0" lang="zh-CN" altLang="en-US"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6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98674"/>
                                        </p:tgtEl>
                                        <p:attrNameLst>
                                          <p:attrName>style.visibility</p:attrName>
                                        </p:attrNameLst>
                                      </p:cBhvr>
                                      <p:to>
                                        <p:strVal val="visible"/>
                                      </p:to>
                                    </p:set>
                                    <p:animEffect transition="in" filter="dissolve">
                                      <p:cBhvr>
                                        <p:cTn id="15" dur="500"/>
                                        <p:tgtEl>
                                          <p:spTgt spid="19867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98675"/>
                                        </p:tgtEl>
                                        <p:attrNameLst>
                                          <p:attrName>style.visibility</p:attrName>
                                        </p:attrNameLst>
                                      </p:cBhvr>
                                      <p:to>
                                        <p:strVal val="visible"/>
                                      </p:to>
                                    </p:set>
                                    <p:animEffect transition="in" filter="dissolve">
                                      <p:cBhvr>
                                        <p:cTn id="20" dur="500"/>
                                        <p:tgtEl>
                                          <p:spTgt spid="19867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98676"/>
                                        </p:tgtEl>
                                        <p:attrNameLst>
                                          <p:attrName>style.visibility</p:attrName>
                                        </p:attrNameLst>
                                      </p:cBhvr>
                                      <p:to>
                                        <p:strVal val="visible"/>
                                      </p:to>
                                    </p:set>
                                    <p:animEffect transition="in" filter="dissolve">
                                      <p:cBhvr>
                                        <p:cTn id="25" dur="500"/>
                                        <p:tgtEl>
                                          <p:spTgt spid="19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bldLvl="0" animBg="1"/>
      <p:bldP spid="198674" grpId="0" bldLvl="0" animBg="1"/>
      <p:bldP spid="198675"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eaLnBrk="1" hangingPunct="1"/>
            <a:r>
              <a:rPr lang="en-US" altLang="zh-CN" b="1" dirty="0" smtClean="0">
                <a:solidFill>
                  <a:schemeClr val="folHlink"/>
                </a:solidFill>
              </a:rPr>
              <a:t>2</a:t>
            </a:r>
            <a:r>
              <a:rPr lang="zh-CN" altLang="en-US" b="1" dirty="0" smtClean="0">
                <a:solidFill>
                  <a:schemeClr val="folHlink"/>
                </a:solidFill>
              </a:rPr>
              <a:t>．具有快表的地址变换机构</a:t>
            </a:r>
            <a:endParaRPr lang="zh-CN" altLang="en-US" b="1" dirty="0" smtClean="0">
              <a:solidFill>
                <a:schemeClr val="folHlink"/>
              </a:solidFill>
            </a:endParaRPr>
          </a:p>
        </p:txBody>
      </p:sp>
      <p:sp>
        <p:nvSpPr>
          <p:cNvPr id="598019" name="Rectangle 3"/>
          <p:cNvSpPr>
            <a:spLocks noGrp="1" noRot="1" noChangeArrowheads="1"/>
          </p:cNvSpPr>
          <p:nvPr>
            <p:ph type="body" idx="4294967295"/>
          </p:nvPr>
        </p:nvSpPr>
        <p:spPr>
          <a:xfrm>
            <a:off x="301625" y="1484784"/>
            <a:ext cx="8540750" cy="4498975"/>
          </a:xfrm>
        </p:spPr>
        <p:txBody>
          <a:bodyPr/>
          <a:lstStyle/>
          <a:p>
            <a:pPr eaLnBrk="1" hangingPunct="1">
              <a:defRPr/>
            </a:pPr>
            <a:r>
              <a:rPr lang="zh-CN" altLang="en-US" sz="2800" b="1" dirty="0" smtClean="0">
                <a:ea typeface="仿宋_GB2312" pitchFamily="49" charset="-122"/>
              </a:rPr>
              <a:t>分页系统中处理机每次存取指令或数据至少需要访问两次物理内存：</a:t>
            </a:r>
            <a:endParaRPr lang="zh-CN" altLang="en-US" sz="2800" b="1" dirty="0" smtClean="0">
              <a:ea typeface="仿宋_GB2312" pitchFamily="49" charset="-122"/>
            </a:endParaRPr>
          </a:p>
          <a:p>
            <a:pPr lvl="1" eaLnBrk="1" hangingPunct="1">
              <a:buFont typeface="Wingdings" panose="05000000000000000000" pitchFamily="2" charset="2"/>
              <a:buChar char="Ø"/>
              <a:defRPr/>
            </a:pPr>
            <a:r>
              <a:rPr lang="zh-CN" altLang="en-US" b="1" dirty="0" smtClean="0">
                <a:solidFill>
                  <a:schemeClr val="folHlink"/>
                </a:solidFill>
                <a:ea typeface="仿宋_GB2312" pitchFamily="49" charset="-122"/>
              </a:rPr>
              <a:t>第一次访问页表</a:t>
            </a:r>
            <a:endParaRPr lang="zh-CN" altLang="en-US" b="1" dirty="0" smtClean="0">
              <a:solidFill>
                <a:schemeClr val="folHlink"/>
              </a:solidFill>
              <a:ea typeface="仿宋_GB2312" pitchFamily="49" charset="-122"/>
            </a:endParaRPr>
          </a:p>
          <a:p>
            <a:pPr lvl="1" eaLnBrk="1" hangingPunct="1">
              <a:buFont typeface="Wingdings" panose="05000000000000000000" pitchFamily="2" charset="2"/>
              <a:buChar char="Ø"/>
              <a:defRPr/>
            </a:pPr>
            <a:r>
              <a:rPr lang="zh-CN" altLang="en-US" b="1" dirty="0" smtClean="0">
                <a:solidFill>
                  <a:schemeClr val="folHlink"/>
                </a:solidFill>
                <a:ea typeface="仿宋_GB2312" pitchFamily="49" charset="-122"/>
              </a:rPr>
              <a:t>第二次存取指令或数据</a:t>
            </a:r>
            <a:endParaRPr lang="zh-CN" altLang="en-US" b="1" dirty="0" smtClean="0">
              <a:solidFill>
                <a:schemeClr val="folHlink"/>
              </a:solidFill>
              <a:ea typeface="仿宋_GB2312" pitchFamily="49" charset="-122"/>
            </a:endParaRPr>
          </a:p>
          <a:p>
            <a:pPr eaLnBrk="1" hangingPunct="1">
              <a:buFont typeface="Wingdings" panose="05000000000000000000" pitchFamily="2" charset="2"/>
              <a:buNone/>
              <a:defRPr/>
            </a:pPr>
            <a:endParaRPr lang="zh-CN" altLang="en-US" sz="2800" b="1" dirty="0" smtClean="0">
              <a:solidFill>
                <a:schemeClr val="folHlink"/>
              </a:solidFill>
              <a:ea typeface="仿宋_GB2312" pitchFamily="49" charset="-122"/>
            </a:endParaRPr>
          </a:p>
          <a:p>
            <a:pPr eaLnBrk="1" hangingPunct="1">
              <a:defRPr/>
            </a:pPr>
            <a:r>
              <a:rPr lang="zh-CN" altLang="en-US" sz="2800" b="1" dirty="0" smtClean="0">
                <a:ea typeface="仿宋_GB2312" pitchFamily="49" charset="-122"/>
              </a:rPr>
              <a:t>为了提高地址变换速度，为进程页表设置一个专用的</a:t>
            </a:r>
            <a:r>
              <a:rPr lang="zh-CN" altLang="en-US" sz="2800" b="1" i="1" u="sng" dirty="0" smtClean="0">
                <a:solidFill>
                  <a:srgbClr val="FF0000"/>
                </a:solidFill>
                <a:ea typeface="仿宋_GB2312" pitchFamily="49" charset="-122"/>
              </a:rPr>
              <a:t>高速缓冲寄存器</a:t>
            </a:r>
            <a:r>
              <a:rPr lang="zh-CN" altLang="en-US" sz="2800" b="1" dirty="0" smtClean="0">
                <a:ea typeface="仿宋_GB2312" pitchFamily="49" charset="-122"/>
              </a:rPr>
              <a:t>，称为</a:t>
            </a:r>
            <a:r>
              <a:rPr lang="zh-CN" altLang="en-US" sz="2800" b="1" i="1" u="sng" dirty="0" smtClean="0">
                <a:solidFill>
                  <a:srgbClr val="FF0000"/>
                </a:solidFill>
                <a:ea typeface="仿宋_GB2312" pitchFamily="49" charset="-122"/>
              </a:rPr>
              <a:t>快表</a:t>
            </a:r>
            <a:r>
              <a:rPr lang="zh-CN" altLang="en-US" sz="2800" b="1" dirty="0" smtClean="0">
                <a:ea typeface="仿宋_GB2312" pitchFamily="49" charset="-122"/>
              </a:rPr>
              <a:t>、</a:t>
            </a:r>
            <a:r>
              <a:rPr lang="en-US" altLang="zh-CN" sz="2800" b="1" dirty="0" smtClean="0">
                <a:ea typeface="仿宋_GB2312" pitchFamily="49" charset="-122"/>
              </a:rPr>
              <a:t>TLB(Translation </a:t>
            </a:r>
            <a:r>
              <a:rPr lang="en-US" altLang="zh-CN" sz="2800" b="1" dirty="0" err="1" smtClean="0">
                <a:ea typeface="仿宋_GB2312" pitchFamily="49" charset="-122"/>
              </a:rPr>
              <a:t>Lookaside</a:t>
            </a:r>
            <a:r>
              <a:rPr lang="en-US" altLang="zh-CN" sz="2800" b="1" dirty="0" smtClean="0">
                <a:ea typeface="仿宋_GB2312" pitchFamily="49" charset="-122"/>
              </a:rPr>
              <a:t> Buffer)</a:t>
            </a:r>
            <a:r>
              <a:rPr lang="zh-CN" altLang="en-US" sz="2800" b="1" dirty="0" smtClean="0">
                <a:ea typeface="仿宋_GB2312" pitchFamily="49" charset="-122"/>
              </a:rPr>
              <a:t>，或联想存储器（</a:t>
            </a:r>
            <a:r>
              <a:rPr lang="en-US" altLang="zh-CN" sz="2800" b="1" dirty="0" smtClean="0">
                <a:ea typeface="仿宋_GB2312" pitchFamily="49" charset="-122"/>
              </a:rPr>
              <a:t>Associative Memory</a:t>
            </a:r>
            <a:r>
              <a:rPr lang="zh-CN" altLang="en-US" sz="2800" b="1" dirty="0" smtClean="0">
                <a:ea typeface="仿宋_GB2312" pitchFamily="49" charset="-122"/>
              </a:rPr>
              <a:t>）</a:t>
            </a:r>
            <a:r>
              <a:rPr lang="zh-CN" altLang="en-US" sz="2800" dirty="0" smtClean="0"/>
              <a:t> </a:t>
            </a:r>
            <a:endParaRPr lang="zh-CN" altLang="en-US" sz="28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fade">
                                      <p:cBhvr>
                                        <p:cTn id="7" dur="2000"/>
                                        <p:tgtEl>
                                          <p:spTgt spid="788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98019">
                                            <p:txEl>
                                              <p:pRg st="0" end="0"/>
                                            </p:txEl>
                                          </p:spTgt>
                                        </p:tgtEl>
                                        <p:attrNameLst>
                                          <p:attrName>style.visibility</p:attrName>
                                        </p:attrNameLst>
                                      </p:cBhvr>
                                      <p:to>
                                        <p:strVal val="visible"/>
                                      </p:to>
                                    </p:set>
                                    <p:animEffect transition="in" filter="fade">
                                      <p:cBhvr>
                                        <p:cTn id="12" dur="2000"/>
                                        <p:tgtEl>
                                          <p:spTgt spid="59801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98019">
                                            <p:txEl>
                                              <p:pRg st="1" end="1"/>
                                            </p:txEl>
                                          </p:spTgt>
                                        </p:tgtEl>
                                        <p:attrNameLst>
                                          <p:attrName>style.visibility</p:attrName>
                                        </p:attrNameLst>
                                      </p:cBhvr>
                                      <p:to>
                                        <p:strVal val="visible"/>
                                      </p:to>
                                    </p:set>
                                    <p:animEffect transition="in" filter="fade">
                                      <p:cBhvr>
                                        <p:cTn id="15" dur="2000"/>
                                        <p:tgtEl>
                                          <p:spTgt spid="59801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98019">
                                            <p:txEl>
                                              <p:pRg st="2" end="2"/>
                                            </p:txEl>
                                          </p:spTgt>
                                        </p:tgtEl>
                                        <p:attrNameLst>
                                          <p:attrName>style.visibility</p:attrName>
                                        </p:attrNameLst>
                                      </p:cBhvr>
                                      <p:to>
                                        <p:strVal val="visible"/>
                                      </p:to>
                                    </p:set>
                                    <p:animEffect transition="in" filter="fade">
                                      <p:cBhvr>
                                        <p:cTn id="18" dur="2000"/>
                                        <p:tgtEl>
                                          <p:spTgt spid="59801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98019">
                                            <p:txEl>
                                              <p:pRg st="4" end="4"/>
                                            </p:txEl>
                                          </p:spTgt>
                                        </p:tgtEl>
                                        <p:attrNameLst>
                                          <p:attrName>style.visibility</p:attrName>
                                        </p:attrNameLst>
                                      </p:cBhvr>
                                      <p:to>
                                        <p:strVal val="visible"/>
                                      </p:to>
                                    </p:set>
                                    <p:animEffect transition="in" filter="fade">
                                      <p:cBhvr>
                                        <p:cTn id="23" dur="2000"/>
                                        <p:tgtEl>
                                          <p:spTgt spid="5980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p:bldP spid="598019" grpId="0" build="p"/>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9042" name="Rectangle 2"/>
          <p:cNvSpPr>
            <a:spLocks noGrp="1" noRot="1" noChangeArrowheads="1"/>
          </p:cNvSpPr>
          <p:nvPr>
            <p:ph type="title" idx="4294967295"/>
          </p:nvPr>
        </p:nvSpPr>
        <p:spPr/>
        <p:txBody>
          <a:bodyPr/>
          <a:lstStyle/>
          <a:p>
            <a:pPr eaLnBrk="1" hangingPunct="1"/>
            <a:r>
              <a:rPr lang="zh-CN" altLang="en-US" b="1" u="sng" smtClean="0">
                <a:solidFill>
                  <a:schemeClr val="folHlink"/>
                </a:solidFill>
                <a:ea typeface="仿宋_GB2312" pitchFamily="49" charset="-122"/>
              </a:rPr>
              <a:t>快表的工作原理</a:t>
            </a:r>
            <a:endParaRPr lang="zh-CN" altLang="en-US" b="1" u="sng" smtClean="0">
              <a:solidFill>
                <a:schemeClr val="folHlink"/>
              </a:solidFill>
              <a:ea typeface="仿宋_GB2312" pitchFamily="49" charset="-122"/>
            </a:endParaRPr>
          </a:p>
        </p:txBody>
      </p:sp>
      <p:sp>
        <p:nvSpPr>
          <p:cNvPr id="599043" name="Rectangle 3"/>
          <p:cNvSpPr>
            <a:spLocks noGrp="1" noRot="1" noChangeArrowheads="1"/>
          </p:cNvSpPr>
          <p:nvPr>
            <p:ph type="body" idx="4294967295"/>
          </p:nvPr>
        </p:nvSpPr>
        <p:spPr/>
        <p:txBody>
          <a:bodyPr/>
          <a:lstStyle/>
          <a:p>
            <a:pPr algn="just" eaLnBrk="1" hangingPunct="1">
              <a:lnSpc>
                <a:spcPct val="120000"/>
              </a:lnSpc>
              <a:defRPr/>
            </a:pPr>
            <a:r>
              <a:rPr lang="zh-CN" altLang="en-US" sz="2800" b="1" dirty="0" smtClean="0">
                <a:ea typeface="仿宋_GB2312" pitchFamily="49" charset="-122"/>
              </a:rPr>
              <a:t>快表的工作原理类似于系统中的数据高速缓存</a:t>
            </a:r>
            <a:r>
              <a:rPr lang="en-US" altLang="zh-CN" sz="2800" b="1" dirty="0" smtClean="0">
                <a:ea typeface="仿宋_GB2312" pitchFamily="49" charset="-122"/>
              </a:rPr>
              <a:t>(cache)</a:t>
            </a:r>
            <a:r>
              <a:rPr lang="zh-CN" altLang="en-US" sz="2800" b="1" dirty="0" smtClean="0">
                <a:ea typeface="仿宋_GB2312" pitchFamily="49" charset="-122"/>
              </a:rPr>
              <a:t>，其中</a:t>
            </a:r>
            <a:r>
              <a:rPr lang="zh-CN" altLang="en-US" sz="2800" b="1" i="1" u="sng" dirty="0" smtClean="0">
                <a:solidFill>
                  <a:schemeClr val="folHlink"/>
                </a:solidFill>
                <a:ea typeface="仿宋_GB2312" pitchFamily="49" charset="-122"/>
              </a:rPr>
              <a:t>专门保存当前进程最近访问过的一组页表项</a:t>
            </a:r>
            <a:r>
              <a:rPr lang="zh-CN" altLang="en-US" sz="2800" b="1" dirty="0" smtClean="0">
                <a:solidFill>
                  <a:schemeClr val="folHlink"/>
                </a:solidFill>
                <a:ea typeface="仿宋_GB2312" pitchFamily="49" charset="-122"/>
              </a:rPr>
              <a:t>。</a:t>
            </a:r>
            <a:endParaRPr lang="zh-CN" altLang="en-US" sz="2800" b="1" dirty="0" smtClean="0">
              <a:solidFill>
                <a:schemeClr val="folHlink"/>
              </a:solidFill>
              <a:ea typeface="仿宋_GB2312" pitchFamily="49" charset="-122"/>
            </a:endParaRPr>
          </a:p>
          <a:p>
            <a:pPr algn="just" eaLnBrk="1" hangingPunct="1">
              <a:lnSpc>
                <a:spcPct val="120000"/>
              </a:lnSpc>
              <a:defRPr/>
            </a:pPr>
            <a:endParaRPr lang="zh-CN" altLang="en-US" sz="2800" b="1" dirty="0" smtClean="0">
              <a:ea typeface="仿宋_GB2312" pitchFamily="49" charset="-122"/>
            </a:endParaRPr>
          </a:p>
          <a:p>
            <a:pPr algn="just" eaLnBrk="1" hangingPunct="1">
              <a:lnSpc>
                <a:spcPct val="120000"/>
              </a:lnSpc>
              <a:defRPr/>
            </a:pPr>
            <a:r>
              <a:rPr lang="zh-CN" altLang="en-US" sz="3600" b="1" dirty="0" smtClean="0">
                <a:ea typeface="仿宋_GB2312" pitchFamily="49" charset="-122"/>
              </a:rPr>
              <a:t>进程最近访问过的页面在不久的将来还可能被访问。</a:t>
            </a:r>
            <a:endParaRPr lang="zh-CN" altLang="en-US" sz="3600" b="1" dirty="0" smtClean="0">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99042"/>
                                        </p:tgtEl>
                                        <p:attrNameLst>
                                          <p:attrName>style.visibility</p:attrName>
                                        </p:attrNameLst>
                                      </p:cBhvr>
                                      <p:to>
                                        <p:strVal val="visible"/>
                                      </p:to>
                                    </p:set>
                                    <p:animEffect transition="in" filter="fade">
                                      <p:cBhvr>
                                        <p:cTn id="7" dur="2000"/>
                                        <p:tgtEl>
                                          <p:spTgt spid="5990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99043">
                                            <p:txEl>
                                              <p:pRg st="0" end="0"/>
                                            </p:txEl>
                                          </p:spTgt>
                                        </p:tgtEl>
                                        <p:attrNameLst>
                                          <p:attrName>style.visibility</p:attrName>
                                        </p:attrNameLst>
                                      </p:cBhvr>
                                      <p:to>
                                        <p:strVal val="visible"/>
                                      </p:to>
                                    </p:set>
                                    <p:animEffect transition="in" filter="fade">
                                      <p:cBhvr>
                                        <p:cTn id="12" dur="2000"/>
                                        <p:tgtEl>
                                          <p:spTgt spid="5990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99043">
                                            <p:txEl>
                                              <p:pRg st="2" end="2"/>
                                            </p:txEl>
                                          </p:spTgt>
                                        </p:tgtEl>
                                        <p:attrNameLst>
                                          <p:attrName>style.visibility</p:attrName>
                                        </p:attrNameLst>
                                      </p:cBhvr>
                                      <p:to>
                                        <p:strVal val="visible"/>
                                      </p:to>
                                    </p:set>
                                    <p:animEffect transition="in" filter="fade">
                                      <p:cBhvr>
                                        <p:cTn id="17" dur="2000"/>
                                        <p:tgtEl>
                                          <p:spTgt spid="5990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2" grpId="0"/>
      <p:bldP spid="599043"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0066" name="Rectangle 2"/>
          <p:cNvSpPr>
            <a:spLocks noGrp="1" noRot="1" noChangeArrowheads="1"/>
          </p:cNvSpPr>
          <p:nvPr>
            <p:ph type="title" idx="4294967295"/>
          </p:nvPr>
        </p:nvSpPr>
        <p:spPr/>
        <p:txBody>
          <a:bodyPr/>
          <a:lstStyle/>
          <a:p>
            <a:pPr eaLnBrk="1" hangingPunct="1"/>
            <a:r>
              <a:rPr lang="zh-CN" altLang="en-US" b="1" u="sng" smtClean="0">
                <a:solidFill>
                  <a:schemeClr val="folHlink"/>
                </a:solidFill>
                <a:ea typeface="仿宋_GB2312" pitchFamily="49" charset="-122"/>
              </a:rPr>
              <a:t>分页系统地址转换</a:t>
            </a:r>
            <a:endParaRPr lang="zh-CN" altLang="en-US" b="1" u="sng" smtClean="0">
              <a:solidFill>
                <a:schemeClr val="folHlink"/>
              </a:solidFill>
              <a:ea typeface="仿宋_GB2312" pitchFamily="49" charset="-122"/>
            </a:endParaRPr>
          </a:p>
        </p:txBody>
      </p:sp>
      <p:sp>
        <p:nvSpPr>
          <p:cNvPr id="600067" name="Rectangle 3"/>
          <p:cNvSpPr>
            <a:spLocks noGrp="1" noRot="1" noChangeArrowheads="1"/>
          </p:cNvSpPr>
          <p:nvPr>
            <p:ph type="body" idx="4294967295"/>
          </p:nvPr>
        </p:nvSpPr>
        <p:spPr>
          <a:xfrm>
            <a:off x="301625" y="1340768"/>
            <a:ext cx="8540750" cy="4498975"/>
          </a:xfrm>
        </p:spPr>
        <p:txBody>
          <a:bodyPr/>
          <a:lstStyle/>
          <a:p>
            <a:pPr algn="just" eaLnBrk="1" hangingPunct="1">
              <a:defRPr/>
            </a:pPr>
            <a:r>
              <a:rPr lang="zh-CN" altLang="en-US" dirty="0">
                <a:ea typeface="仿宋_GB2312" pitchFamily="49" charset="-122"/>
              </a:rPr>
              <a:t>通过根据逻辑地址中的页号，查找快表中是否存在对应的页表项。</a:t>
            </a:r>
            <a:endParaRPr lang="zh-CN" altLang="en-US" dirty="0">
              <a:ea typeface="仿宋_GB2312" pitchFamily="49" charset="-122"/>
            </a:endParaRPr>
          </a:p>
          <a:p>
            <a:pPr algn="just" eaLnBrk="1" hangingPunct="1">
              <a:defRPr/>
            </a:pPr>
            <a:r>
              <a:rPr lang="zh-CN" altLang="en-US" dirty="0">
                <a:ea typeface="仿宋_GB2312" pitchFamily="49" charset="-122"/>
              </a:rPr>
              <a:t>若快表中存在该表项，称为命中（</a:t>
            </a:r>
            <a:r>
              <a:rPr lang="en-US" altLang="zh-CN" dirty="0">
                <a:ea typeface="仿宋_GB2312" pitchFamily="49" charset="-122"/>
              </a:rPr>
              <a:t>hit</a:t>
            </a:r>
            <a:r>
              <a:rPr lang="zh-CN" altLang="en-US" dirty="0">
                <a:ea typeface="仿宋_GB2312" pitchFamily="49" charset="-122"/>
              </a:rPr>
              <a:t>），取出其中的页框号，加上页内偏移量，计算出物理地址。</a:t>
            </a:r>
            <a:endParaRPr lang="zh-CN" altLang="en-US" dirty="0">
              <a:ea typeface="仿宋_GB2312" pitchFamily="49" charset="-122"/>
            </a:endParaRPr>
          </a:p>
          <a:p>
            <a:pPr algn="just" eaLnBrk="1" hangingPunct="1">
              <a:defRPr/>
            </a:pPr>
            <a:r>
              <a:rPr lang="zh-CN" altLang="en-US" dirty="0">
                <a:ea typeface="仿宋_GB2312" pitchFamily="49" charset="-122"/>
              </a:rPr>
              <a:t>若快表中不存在该页表项，</a:t>
            </a:r>
            <a:r>
              <a:rPr lang="zh-CN" altLang="en-US" dirty="0" smtClean="0">
                <a:ea typeface="仿宋_GB2312" pitchFamily="49" charset="-122"/>
              </a:rPr>
              <a:t>称为命中</a:t>
            </a:r>
            <a:r>
              <a:rPr lang="zh-CN" altLang="en-US" dirty="0">
                <a:ea typeface="仿宋_GB2312" pitchFamily="49" charset="-122"/>
              </a:rPr>
              <a:t>失败，则再查找页表，找到逻辑地址中指定页号对应的页框号。同时，更新快表，将该表项插入快表中。并计算物理地址</a:t>
            </a:r>
            <a:r>
              <a:rPr lang="en-US" altLang="zh-CN" dirty="0">
                <a:ea typeface="仿宋_GB2312" pitchFamily="49" charset="-122"/>
              </a:rPr>
              <a:t>.</a:t>
            </a:r>
            <a:endParaRPr lang="en-US" altLang="zh-CN" dirty="0">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0066"/>
                                        </p:tgtEl>
                                        <p:attrNameLst>
                                          <p:attrName>style.visibility</p:attrName>
                                        </p:attrNameLst>
                                      </p:cBhvr>
                                      <p:to>
                                        <p:strVal val="visible"/>
                                      </p:to>
                                    </p:set>
                                    <p:animEffect transition="in" filter="fade">
                                      <p:cBhvr>
                                        <p:cTn id="7" dur="2000"/>
                                        <p:tgtEl>
                                          <p:spTgt spid="6000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0067">
                                            <p:txEl>
                                              <p:pRg st="0" end="0"/>
                                            </p:txEl>
                                          </p:spTgt>
                                        </p:tgtEl>
                                        <p:attrNameLst>
                                          <p:attrName>style.visibility</p:attrName>
                                        </p:attrNameLst>
                                      </p:cBhvr>
                                      <p:to>
                                        <p:strVal val="visible"/>
                                      </p:to>
                                    </p:set>
                                    <p:animEffect transition="in" filter="fade">
                                      <p:cBhvr>
                                        <p:cTn id="12" dur="2000"/>
                                        <p:tgtEl>
                                          <p:spTgt spid="6000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0067">
                                            <p:txEl>
                                              <p:pRg st="1" end="1"/>
                                            </p:txEl>
                                          </p:spTgt>
                                        </p:tgtEl>
                                        <p:attrNameLst>
                                          <p:attrName>style.visibility</p:attrName>
                                        </p:attrNameLst>
                                      </p:cBhvr>
                                      <p:to>
                                        <p:strVal val="visible"/>
                                      </p:to>
                                    </p:set>
                                    <p:animEffect transition="in" filter="fade">
                                      <p:cBhvr>
                                        <p:cTn id="17" dur="2000"/>
                                        <p:tgtEl>
                                          <p:spTgt spid="60006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0067">
                                            <p:txEl>
                                              <p:pRg st="2" end="2"/>
                                            </p:txEl>
                                          </p:spTgt>
                                        </p:tgtEl>
                                        <p:attrNameLst>
                                          <p:attrName>style.visibility</p:attrName>
                                        </p:attrNameLst>
                                      </p:cBhvr>
                                      <p:to>
                                        <p:strVal val="visible"/>
                                      </p:to>
                                    </p:set>
                                    <p:animEffect transition="in" filter="fade">
                                      <p:cBhvr>
                                        <p:cTn id="22" dur="2000"/>
                                        <p:tgtEl>
                                          <p:spTgt spid="600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6" grpId="0"/>
      <p:bldP spid="600067"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5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2400" y="504825"/>
            <a:ext cx="8915400" cy="589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301625" y="44624"/>
            <a:ext cx="8540750" cy="1143000"/>
          </a:xfrm>
        </p:spPr>
        <p:txBody>
          <a:bodyPr/>
          <a:lstStyle/>
          <a:p>
            <a:r>
              <a:rPr lang="zh-CN" altLang="en-US" dirty="0" smtClean="0">
                <a:solidFill>
                  <a:srgbClr val="FF0000"/>
                </a:solidFill>
              </a:rPr>
              <a:t>补充内容</a:t>
            </a:r>
            <a:r>
              <a:rPr lang="en-US" altLang="zh-CN" dirty="0" smtClean="0">
                <a:solidFill>
                  <a:srgbClr val="FF0000"/>
                </a:solidFill>
              </a:rPr>
              <a:t>-</a:t>
            </a:r>
            <a:r>
              <a:rPr lang="zh-CN" altLang="en-US" b="1" dirty="0" smtClean="0">
                <a:solidFill>
                  <a:srgbClr val="FF0000"/>
                </a:solidFill>
              </a:rPr>
              <a:t>虚拟地址</a:t>
            </a:r>
            <a:endParaRPr lang="zh-CN" altLang="en-US" dirty="0" smtClean="0">
              <a:solidFill>
                <a:srgbClr val="FF0000"/>
              </a:solidFill>
            </a:endParaRPr>
          </a:p>
        </p:txBody>
      </p:sp>
      <p:sp>
        <p:nvSpPr>
          <p:cNvPr id="87043" name="内容占位符 2"/>
          <p:cNvSpPr>
            <a:spLocks noGrp="1"/>
          </p:cNvSpPr>
          <p:nvPr>
            <p:ph idx="1"/>
          </p:nvPr>
        </p:nvSpPr>
        <p:spPr>
          <a:xfrm>
            <a:off x="533400" y="1416224"/>
            <a:ext cx="8077200" cy="4498975"/>
          </a:xfrm>
        </p:spPr>
        <p:txBody>
          <a:bodyPr/>
          <a:lstStyle/>
          <a:p>
            <a:r>
              <a:rPr lang="zh-CN" altLang="en-US" sz="2800" b="1" smtClean="0"/>
              <a:t>在</a:t>
            </a:r>
            <a:r>
              <a:rPr lang="en-US" altLang="zh-CN" sz="2800" b="1" smtClean="0"/>
              <a:t>Windows</a:t>
            </a:r>
            <a:r>
              <a:rPr lang="zh-CN" altLang="en-US" sz="2800" b="1" smtClean="0"/>
              <a:t>系统中，任何一个进程都被赋予其自己的虚拟地址空间，该虚拟地址空间覆盖了一个相当大的范围，对于</a:t>
            </a:r>
            <a:r>
              <a:rPr lang="en-US" altLang="zh-CN" sz="2800" b="1" smtClean="0"/>
              <a:t>32</a:t>
            </a:r>
            <a:r>
              <a:rPr lang="zh-CN" altLang="en-US" sz="2800" b="1" smtClean="0"/>
              <a:t>位进程，其地址空间为</a:t>
            </a:r>
            <a:r>
              <a:rPr lang="en-US" altLang="zh-CN" sz="2800" b="1" smtClean="0"/>
              <a:t>2</a:t>
            </a:r>
            <a:r>
              <a:rPr lang="en-US" altLang="zh-CN" sz="2800" b="1" baseline="30000" smtClean="0"/>
              <a:t>32</a:t>
            </a:r>
            <a:r>
              <a:rPr lang="en-US" altLang="zh-CN" sz="2800" b="1" smtClean="0"/>
              <a:t>=4,294,967,296 Byte</a:t>
            </a:r>
            <a:r>
              <a:rPr lang="zh-CN" altLang="en-US" sz="2800" b="1" smtClean="0"/>
              <a:t>，这使得一个指针可以使用从</a:t>
            </a:r>
            <a:r>
              <a:rPr lang="en-US" altLang="zh-CN" sz="2800" b="1" smtClean="0"/>
              <a:t>0x00000000</a:t>
            </a:r>
            <a:r>
              <a:rPr lang="zh-CN" altLang="en-US" sz="2800" b="1" smtClean="0"/>
              <a:t>到</a:t>
            </a:r>
            <a:r>
              <a:rPr lang="en-US" altLang="zh-CN" sz="2800" b="1" smtClean="0"/>
              <a:t>0xFFFFFFFF</a:t>
            </a:r>
            <a:r>
              <a:rPr lang="zh-CN" altLang="en-US" sz="2800" b="1" smtClean="0"/>
              <a:t>的</a:t>
            </a:r>
            <a:r>
              <a:rPr lang="en-US" altLang="zh-CN" sz="2800" b="1" smtClean="0"/>
              <a:t>4GB</a:t>
            </a:r>
            <a:r>
              <a:rPr lang="zh-CN" altLang="en-US" sz="2800" b="1" smtClean="0"/>
              <a:t>范围之内的任何一个值。</a:t>
            </a:r>
            <a:endParaRPr lang="en-US" altLang="zh-CN" sz="2800" b="1" smtClean="0"/>
          </a:p>
          <a:p>
            <a:r>
              <a:rPr lang="zh-CN" altLang="en-US" sz="2800" b="1" smtClean="0"/>
              <a:t>虽然每一个</a:t>
            </a:r>
            <a:r>
              <a:rPr lang="en-US" altLang="zh-CN" sz="2800" b="1" smtClean="0"/>
              <a:t>32</a:t>
            </a:r>
            <a:r>
              <a:rPr lang="zh-CN" altLang="en-US" sz="2800" b="1" smtClean="0"/>
              <a:t>位进程可使用</a:t>
            </a:r>
            <a:r>
              <a:rPr lang="en-US" altLang="zh-CN" sz="2800" b="1" smtClean="0"/>
              <a:t>4GB</a:t>
            </a:r>
            <a:r>
              <a:rPr lang="zh-CN" altLang="en-US" sz="2800" b="1" smtClean="0"/>
              <a:t>的地址空间，但并不意味着每一个进程实际拥有</a:t>
            </a:r>
            <a:r>
              <a:rPr lang="en-US" altLang="zh-CN" sz="2800" b="1" smtClean="0"/>
              <a:t>4GB</a:t>
            </a:r>
            <a:r>
              <a:rPr lang="zh-CN" altLang="en-US" sz="2800" b="1" smtClean="0"/>
              <a:t>的物理地址空间，</a:t>
            </a:r>
            <a:r>
              <a:rPr lang="zh-CN" altLang="en-US" sz="2800" b="1" smtClean="0">
                <a:solidFill>
                  <a:srgbClr val="FF0000"/>
                </a:solidFill>
              </a:rPr>
              <a:t>该地址空间仅仅是一个虚拟地址空间，</a:t>
            </a:r>
            <a:r>
              <a:rPr lang="zh-CN" altLang="en-US" sz="2800" b="1" smtClean="0"/>
              <a:t>此虚拟地址空间只是内存地址的一个范围。</a:t>
            </a:r>
            <a:endParaRPr lang="en-US" altLang="zh-CN" sz="2800" b="1" smtClean="0"/>
          </a:p>
          <a:p>
            <a:r>
              <a:rPr lang="zh-CN" altLang="en-US" sz="2800" b="1" smtClean="0"/>
              <a:t>推荐书籍：</a:t>
            </a:r>
            <a:r>
              <a:rPr lang="en-US" altLang="zh-CN" sz="2800" b="1" i="1" u="sng" smtClean="0">
                <a:solidFill>
                  <a:srgbClr val="FF0000"/>
                </a:solidFill>
              </a:rPr>
              <a:t>《windows</a:t>
            </a:r>
            <a:r>
              <a:rPr lang="zh-CN" altLang="en-US" sz="2800" b="1" i="1" u="sng" smtClean="0">
                <a:solidFill>
                  <a:srgbClr val="FF0000"/>
                </a:solidFill>
              </a:rPr>
              <a:t>核心编程</a:t>
            </a:r>
            <a:r>
              <a:rPr lang="en-US" altLang="zh-CN" sz="2800" b="1" i="1" u="sng" smtClean="0">
                <a:solidFill>
                  <a:srgbClr val="FF0000"/>
                </a:solidFill>
              </a:rPr>
              <a:t>》</a:t>
            </a:r>
            <a:endParaRPr lang="en-US" altLang="zh-CN" sz="2800" b="1" i="1" u="sng" smtClean="0">
              <a:solidFill>
                <a:srgbClr val="FF0000"/>
              </a:solidFill>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endParaRPr lang="zh-CN" altLang="en-US" smtClean="0"/>
          </a:p>
        </p:txBody>
      </p:sp>
      <p:sp>
        <p:nvSpPr>
          <p:cNvPr id="88067" name="内容占位符 2"/>
          <p:cNvSpPr>
            <a:spLocks noGrp="1"/>
          </p:cNvSpPr>
          <p:nvPr>
            <p:ph idx="1"/>
          </p:nvPr>
        </p:nvSpPr>
        <p:spPr/>
        <p:txBody>
          <a:bodyPr/>
          <a:lstStyle/>
          <a:p>
            <a:r>
              <a:rPr lang="zh-CN" altLang="en-US" sz="2800" b="1" smtClean="0"/>
              <a:t>进程的虚拟地址空间大致分为</a:t>
            </a:r>
            <a:r>
              <a:rPr lang="en-US" altLang="zh-CN" sz="2800" b="1" smtClean="0"/>
              <a:t>4</a:t>
            </a:r>
            <a:r>
              <a:rPr lang="zh-CN" altLang="en-US" sz="2800" b="1" smtClean="0"/>
              <a:t>块，从低地址到高地址依次是：</a:t>
            </a:r>
            <a:r>
              <a:rPr lang="en-US" altLang="zh-CN" sz="2800" b="1" smtClean="0"/>
              <a:t>NULL</a:t>
            </a:r>
            <a:r>
              <a:rPr lang="zh-CN" altLang="en-US" sz="2800" b="1" smtClean="0"/>
              <a:t>区，用户区，隔离区，核心区。用户私有的数据都在用户区。</a:t>
            </a:r>
            <a:endParaRPr lang="en-US" altLang="zh-CN" sz="2800" b="1" smtClean="0"/>
          </a:p>
          <a:p>
            <a:r>
              <a:rPr lang="zh-CN" altLang="en-US" sz="2800" b="1" smtClean="0"/>
              <a:t>通常用户区中，进程又会将</a:t>
            </a:r>
            <a:r>
              <a:rPr lang="en-US" altLang="zh-CN" sz="2800" b="1" smtClean="0"/>
              <a:t>exe</a:t>
            </a:r>
            <a:r>
              <a:rPr lang="zh-CN" altLang="en-US" sz="2800" b="1" smtClean="0"/>
              <a:t>文件中定义的代码段、堆栈段、数据段等各个段映射到用户区的特定不同部位。对于这部分区域，用户需要用</a:t>
            </a:r>
            <a:r>
              <a:rPr lang="en-US" altLang="zh-CN" sz="2800" b="1" smtClean="0"/>
              <a:t>VirtualAlloc</a:t>
            </a:r>
            <a:r>
              <a:rPr lang="zh-CN" altLang="en-US" sz="2800" b="1" smtClean="0"/>
              <a:t>先为自己预留后再提交，最后在自己的页面被</a:t>
            </a:r>
            <a:r>
              <a:rPr lang="en-US" altLang="zh-CN" sz="2800" b="1" smtClean="0"/>
              <a:t>cpu</a:t>
            </a:r>
            <a:r>
              <a:rPr lang="zh-CN" altLang="en-US" sz="2800" b="1" smtClean="0"/>
              <a:t>访问时再从</a:t>
            </a:r>
            <a:r>
              <a:rPr lang="en-US" altLang="zh-CN" sz="2800" b="1" smtClean="0"/>
              <a:t>exe</a:t>
            </a:r>
            <a:r>
              <a:rPr lang="zh-CN" altLang="en-US" sz="2800" b="1" smtClean="0"/>
              <a:t>映像中将数据加载到主存，然后将虚拟地址映射为主存的物理地址。</a:t>
            </a:r>
            <a:endParaRPr lang="zh-CN" altLang="en-US" sz="2800" b="1" smtClean="0"/>
          </a:p>
          <a:p>
            <a:endParaRPr lang="zh-CN" altLang="en-US" sz="2800" b="1" smtClean="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p:nvPr>
        </p:nvSpPr>
        <p:spPr>
          <a:noFill/>
        </p:spPr>
        <p:txBody>
          <a:bodyPr/>
          <a:lstStyle/>
          <a:p>
            <a:r>
              <a:rPr lang="en-US" altLang="zh-CN" b="1" dirty="0" smtClean="0">
                <a:solidFill>
                  <a:schemeClr val="folHlink"/>
                </a:solidFill>
              </a:rPr>
              <a:t>4.5.4 </a:t>
            </a:r>
            <a:r>
              <a:rPr lang="zh-CN" altLang="en-US" b="1" dirty="0" smtClean="0">
                <a:solidFill>
                  <a:schemeClr val="folHlink"/>
                </a:solidFill>
              </a:rPr>
              <a:t>两级和多级页表</a:t>
            </a:r>
            <a:endParaRPr lang="zh-CN" altLang="en-US" b="1" dirty="0" smtClean="0">
              <a:solidFill>
                <a:schemeClr val="folHlink"/>
              </a:solidFill>
            </a:endParaRPr>
          </a:p>
        </p:txBody>
      </p:sp>
      <p:sp>
        <p:nvSpPr>
          <p:cNvPr id="196611" name="Rectangle 3"/>
          <p:cNvSpPr>
            <a:spLocks noGrp="1" noRot="1" noChangeArrowheads="1"/>
          </p:cNvSpPr>
          <p:nvPr>
            <p:ph type="body" idx="1"/>
          </p:nvPr>
        </p:nvSpPr>
        <p:spPr/>
        <p:txBody>
          <a:bodyPr/>
          <a:lstStyle/>
          <a:p>
            <a:pPr>
              <a:defRPr/>
            </a:pPr>
            <a:r>
              <a:rPr lang="zh-CN" altLang="en-US" b="1" dirty="0" smtClean="0">
                <a:solidFill>
                  <a:schemeClr val="folHlink"/>
                </a:solidFill>
                <a:ea typeface="仿宋_GB2312" pitchFamily="49" charset="-122"/>
              </a:rPr>
              <a:t>问题引入：</a:t>
            </a:r>
            <a:endParaRPr lang="zh-CN" altLang="en-US" b="1" dirty="0" smtClean="0">
              <a:solidFill>
                <a:schemeClr val="folHlink"/>
              </a:solidFill>
              <a:ea typeface="仿宋_GB2312" pitchFamily="49" charset="-122"/>
            </a:endParaRPr>
          </a:p>
          <a:p>
            <a:pPr>
              <a:defRPr/>
            </a:pPr>
            <a:r>
              <a:rPr lang="en-US" altLang="zh-CN" sz="2800" b="1" dirty="0" smtClean="0">
                <a:latin typeface="+mn-ea"/>
              </a:rPr>
              <a:t>32</a:t>
            </a:r>
            <a:r>
              <a:rPr lang="zh-CN" altLang="en-US" sz="2800" b="1" dirty="0" smtClean="0">
                <a:latin typeface="+mn-ea"/>
              </a:rPr>
              <a:t>位逻辑地址空间，假设页面大小为</a:t>
            </a:r>
            <a:r>
              <a:rPr lang="en-US" altLang="zh-CN" sz="2800" b="1" dirty="0" smtClean="0">
                <a:latin typeface="+mn-ea"/>
              </a:rPr>
              <a:t>4KB</a:t>
            </a:r>
            <a:r>
              <a:rPr lang="zh-CN" altLang="en-US" sz="2800" b="1" dirty="0" smtClean="0">
                <a:latin typeface="+mn-ea"/>
              </a:rPr>
              <a:t>（</a:t>
            </a:r>
            <a:r>
              <a:rPr lang="en-US" altLang="zh-CN" sz="2800" b="1" dirty="0" smtClean="0">
                <a:latin typeface="+mn-ea"/>
              </a:rPr>
              <a:t>2</a:t>
            </a:r>
            <a:r>
              <a:rPr lang="en-US" altLang="zh-CN" sz="2800" b="1" baseline="30000" dirty="0" smtClean="0">
                <a:latin typeface="+mn-ea"/>
              </a:rPr>
              <a:t>12</a:t>
            </a:r>
            <a:r>
              <a:rPr lang="zh-CN" altLang="en-US" sz="2800" b="1" dirty="0" smtClean="0">
                <a:latin typeface="+mn-ea"/>
              </a:rPr>
              <a:t>），则在每个进程页表中的页表项数可达</a:t>
            </a:r>
            <a:r>
              <a:rPr lang="en-US" altLang="zh-CN" sz="2800" b="1" dirty="0" smtClean="0">
                <a:latin typeface="+mn-ea"/>
              </a:rPr>
              <a:t>1MB</a:t>
            </a:r>
            <a:r>
              <a:rPr lang="zh-CN" altLang="en-US" sz="2800" b="1" dirty="0" smtClean="0">
                <a:latin typeface="+mn-ea"/>
              </a:rPr>
              <a:t>，由于每个页表项</a:t>
            </a:r>
            <a:r>
              <a:rPr lang="zh-CN" altLang="en-US" sz="2800" b="1" dirty="0" smtClean="0">
                <a:latin typeface="+mn-ea"/>
              </a:rPr>
              <a:t>占用</a:t>
            </a:r>
            <a:r>
              <a:rPr lang="en-US" altLang="zh-CN" sz="2800" b="1" dirty="0" smtClean="0">
                <a:latin typeface="+mn-ea"/>
              </a:rPr>
              <a:t>8</a:t>
            </a:r>
            <a:r>
              <a:rPr lang="zh-CN" altLang="en-US" sz="2800" b="1" dirty="0" smtClean="0">
                <a:latin typeface="+mn-ea"/>
              </a:rPr>
              <a:t>个</a:t>
            </a:r>
            <a:r>
              <a:rPr lang="zh-CN" altLang="en-US" sz="2800" b="1" dirty="0" smtClean="0">
                <a:latin typeface="+mn-ea"/>
              </a:rPr>
              <a:t>字节，故每个进程仅仅其页表就要</a:t>
            </a:r>
            <a:r>
              <a:rPr lang="zh-CN" altLang="en-US" sz="2800" b="1" dirty="0" smtClean="0">
                <a:latin typeface="+mn-ea"/>
              </a:rPr>
              <a:t>占用</a:t>
            </a:r>
            <a:r>
              <a:rPr lang="en-US" altLang="zh-CN" sz="2800" b="1" dirty="0" smtClean="0">
                <a:latin typeface="+mn-ea"/>
              </a:rPr>
              <a:t>8MB</a:t>
            </a:r>
            <a:r>
              <a:rPr lang="zh-CN" altLang="en-US" sz="2800" b="1" dirty="0" smtClean="0">
                <a:latin typeface="+mn-ea"/>
              </a:rPr>
              <a:t>的</a:t>
            </a:r>
            <a:r>
              <a:rPr lang="zh-CN" altLang="en-US" sz="2800" b="1" i="1" u="sng" dirty="0" smtClean="0">
                <a:solidFill>
                  <a:srgbClr val="FF0000"/>
                </a:solidFill>
                <a:latin typeface="+mn-ea"/>
              </a:rPr>
              <a:t>连续</a:t>
            </a:r>
            <a:r>
              <a:rPr lang="zh-CN" altLang="en-US" sz="2800" b="1" dirty="0" smtClean="0">
                <a:latin typeface="+mn-ea"/>
              </a:rPr>
              <a:t>内存空间。</a:t>
            </a:r>
            <a:br>
              <a:rPr lang="en-US" sz="2800" dirty="0" smtClean="0"/>
            </a:br>
            <a:endParaRPr lang="en-US" sz="2800" dirty="0" smtClean="0"/>
          </a:p>
          <a:p>
            <a:pPr>
              <a:defRPr/>
            </a:pPr>
            <a:r>
              <a:rPr lang="zh-CN" altLang="en-US" sz="2800" b="1" dirty="0" smtClean="0">
                <a:ea typeface="仿宋_GB2312" pitchFamily="49" charset="-122"/>
              </a:rPr>
              <a:t>不可能</a:t>
            </a:r>
            <a:r>
              <a:rPr lang="zh-CN" altLang="en-US" sz="2800" b="1" dirty="0" smtClean="0">
                <a:ea typeface="仿宋_GB2312" pitchFamily="49" charset="-122"/>
              </a:rPr>
              <a:t>将</a:t>
            </a:r>
            <a:r>
              <a:rPr lang="en-US" altLang="zh-CN" sz="2800" b="1" dirty="0" smtClean="0">
                <a:ea typeface="仿宋_GB2312" pitchFamily="49" charset="-122"/>
              </a:rPr>
              <a:t>8MB</a:t>
            </a:r>
            <a:r>
              <a:rPr lang="zh-CN" altLang="en-US" sz="2800" b="1" dirty="0" smtClean="0">
                <a:ea typeface="仿宋_GB2312" pitchFamily="49" charset="-122"/>
              </a:rPr>
              <a:t>的页表保存在一个连续区中。</a:t>
            </a:r>
            <a:endParaRPr lang="zh-CN" altLang="en-US" sz="2800" b="1" dirty="0" smtClean="0">
              <a:ea typeface="仿宋_GB2312" pitchFamily="49" charset="-122"/>
            </a:endParaRPr>
          </a:p>
          <a:p>
            <a:pPr eaLnBrk="1" hangingPunct="1">
              <a:lnSpc>
                <a:spcPct val="110000"/>
              </a:lnSpc>
              <a:defRPr/>
            </a:pPr>
            <a:r>
              <a:rPr lang="zh-CN" altLang="en-US" sz="2800" b="1" i="1" dirty="0" smtClean="0">
                <a:solidFill>
                  <a:schemeClr val="folHlink"/>
                </a:solidFill>
                <a:ea typeface="仿宋_GB2312" pitchFamily="49" charset="-122"/>
              </a:rPr>
              <a:t>那么，如何处理大页表的存储与检索呢？</a:t>
            </a:r>
            <a:r>
              <a:rPr lang="zh-CN" altLang="en-US" sz="2800" b="1" dirty="0" smtClean="0">
                <a:ea typeface="仿宋_GB2312" pitchFamily="49" charset="-122"/>
              </a:rPr>
              <a:t> </a:t>
            </a:r>
            <a:endParaRPr lang="zh-CN" altLang="en-US" sz="2800" b="1" dirty="0" smtClean="0">
              <a:ea typeface="仿宋_GB2312" pitchFamily="49" charset="-122"/>
            </a:endParaRPr>
          </a:p>
          <a:p>
            <a:pPr>
              <a:defRPr/>
            </a:pPr>
            <a:endParaRPr lang="zh-CN" altLang="en-US" sz="2800" b="1" dirty="0" smtClean="0">
              <a:ea typeface="仿宋_GB2312" pitchFamily="49" charset="-122"/>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p:nvPr>
        </p:nvSpPr>
        <p:spPr/>
        <p:txBody>
          <a:bodyPr/>
          <a:lstStyle/>
          <a:p>
            <a:pPr eaLnBrk="1" hangingPunct="1"/>
            <a:r>
              <a:rPr lang="en-US" altLang="zh-CN" b="1" u="sng" smtClean="0">
                <a:solidFill>
                  <a:schemeClr val="folHlink"/>
                </a:solidFill>
                <a:ea typeface="仿宋_GB2312" pitchFamily="49" charset="-122"/>
              </a:rPr>
              <a:t>1.</a:t>
            </a:r>
            <a:r>
              <a:rPr lang="zh-CN" altLang="en-US" b="1" u="sng" smtClean="0">
                <a:solidFill>
                  <a:schemeClr val="folHlink"/>
                </a:solidFill>
                <a:ea typeface="仿宋_GB2312" pitchFamily="49" charset="-122"/>
              </a:rPr>
              <a:t>二级页表</a:t>
            </a:r>
            <a:endParaRPr lang="zh-CN" altLang="zh-CN" b="1" u="sng" smtClean="0">
              <a:solidFill>
                <a:schemeClr val="folHlink"/>
              </a:solidFill>
              <a:ea typeface="仿宋_GB2312" pitchFamily="49" charset="-122"/>
            </a:endParaRPr>
          </a:p>
        </p:txBody>
      </p:sp>
      <p:sp>
        <p:nvSpPr>
          <p:cNvPr id="90115" name="Rectangle 3"/>
          <p:cNvSpPr>
            <a:spLocks noGrp="1" noRot="1" noChangeArrowheads="1"/>
          </p:cNvSpPr>
          <p:nvPr>
            <p:ph type="body" idx="1"/>
          </p:nvPr>
        </p:nvSpPr>
        <p:spPr>
          <a:xfrm>
            <a:off x="533400" y="1676400"/>
            <a:ext cx="8077200" cy="4498975"/>
          </a:xfrm>
        </p:spPr>
        <p:txBody>
          <a:bodyPr/>
          <a:lstStyle/>
          <a:p>
            <a:pPr algn="just" eaLnBrk="1" hangingPunct="1">
              <a:lnSpc>
                <a:spcPct val="145000"/>
              </a:lnSpc>
              <a:spcBef>
                <a:spcPct val="50000"/>
              </a:spcBef>
              <a:buClrTx/>
              <a:buSzTx/>
              <a:buFontTx/>
              <a:buNone/>
            </a:pPr>
            <a:r>
              <a:rPr kumimoji="1" lang="zh-CN" altLang="en-US" sz="2800" b="1" dirty="0" smtClean="0"/>
              <a:t>可以采用这样两个方法来解决这一问题：</a:t>
            </a:r>
            <a:endParaRPr kumimoji="1" lang="zh-CN" altLang="en-US" sz="2800" b="1" dirty="0" smtClean="0"/>
          </a:p>
          <a:p>
            <a:pPr algn="just" eaLnBrk="1" hangingPunct="1">
              <a:lnSpc>
                <a:spcPct val="145000"/>
              </a:lnSpc>
              <a:spcBef>
                <a:spcPct val="50000"/>
              </a:spcBef>
              <a:buClrTx/>
              <a:buSzTx/>
              <a:buFontTx/>
              <a:buNone/>
            </a:pPr>
            <a:r>
              <a:rPr kumimoji="1" lang="zh-CN" altLang="en-US" sz="2800" b="1" dirty="0" smtClean="0"/>
              <a:t>① 采用离散分配方式来解决难以找到一块连续的大内存空间的问题，（即引入两级页表）；</a:t>
            </a:r>
            <a:endParaRPr kumimoji="1" lang="zh-CN" altLang="en-US" sz="2800" b="1" dirty="0" smtClean="0"/>
          </a:p>
          <a:p>
            <a:pPr algn="just" eaLnBrk="1" hangingPunct="1">
              <a:lnSpc>
                <a:spcPct val="145000"/>
              </a:lnSpc>
              <a:spcBef>
                <a:spcPct val="50000"/>
              </a:spcBef>
              <a:buClrTx/>
              <a:buSzTx/>
              <a:buFontTx/>
              <a:buNone/>
            </a:pPr>
            <a:r>
              <a:rPr kumimoji="1" lang="zh-CN" altLang="en-US" sz="2800" b="1" dirty="0" smtClean="0"/>
              <a:t>② 只</a:t>
            </a:r>
            <a:r>
              <a:rPr kumimoji="1" lang="zh-CN" altLang="en-US" sz="2800" b="1" i="1" u="sng" dirty="0" smtClean="0">
                <a:solidFill>
                  <a:srgbClr val="FF0000"/>
                </a:solidFill>
              </a:rPr>
              <a:t>将当前需要的部分页表项调入内存</a:t>
            </a:r>
            <a:r>
              <a:rPr kumimoji="1" lang="zh-CN" altLang="en-US" sz="2800" b="1" dirty="0" smtClean="0"/>
              <a:t>， 其余的页表项仍驻留在磁盘上，需要时再调入。 </a:t>
            </a:r>
            <a:endParaRPr kumimoji="1" lang="zh-CN" altLang="en-US" sz="2800" b="1" dirty="0" smtClean="0"/>
          </a:p>
          <a:p>
            <a:pPr eaLnBrk="1" hangingPunct="1"/>
            <a:endParaRPr lang="en-US" altLang="zh-CN" sz="2800" b="1" dirty="0" smtClean="0"/>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a:xfrm>
            <a:off x="301625" y="44624"/>
            <a:ext cx="8540750" cy="1143000"/>
          </a:xfrm>
        </p:spPr>
        <p:txBody>
          <a:bodyPr/>
          <a:lstStyle/>
          <a:p>
            <a:pPr eaLnBrk="1" hangingPunct="1"/>
            <a:r>
              <a:rPr lang="en-US" altLang="zh-CN" b="1" u="sng" smtClean="0">
                <a:solidFill>
                  <a:schemeClr val="folHlink"/>
                </a:solidFill>
                <a:ea typeface="仿宋_GB2312" pitchFamily="49" charset="-122"/>
              </a:rPr>
              <a:t>1.</a:t>
            </a:r>
            <a:r>
              <a:rPr lang="zh-CN" altLang="en-US" b="1" u="sng" smtClean="0">
                <a:solidFill>
                  <a:schemeClr val="folHlink"/>
                </a:solidFill>
                <a:ea typeface="仿宋_GB2312" pitchFamily="49" charset="-122"/>
              </a:rPr>
              <a:t>二级页表</a:t>
            </a:r>
            <a:endParaRPr lang="zh-CN" altLang="en-US" b="1" u="sng" smtClean="0">
              <a:solidFill>
                <a:schemeClr val="folHlink"/>
              </a:solidFill>
              <a:ea typeface="仿宋_GB2312" pitchFamily="49" charset="-122"/>
            </a:endParaRPr>
          </a:p>
        </p:txBody>
      </p:sp>
      <p:sp>
        <p:nvSpPr>
          <p:cNvPr id="605187" name="Rectangle 3"/>
          <p:cNvSpPr>
            <a:spLocks noGrp="1" noRot="1" noChangeArrowheads="1"/>
          </p:cNvSpPr>
          <p:nvPr>
            <p:ph type="body" idx="1"/>
          </p:nvPr>
        </p:nvSpPr>
        <p:spPr>
          <a:xfrm>
            <a:off x="457200" y="1413049"/>
            <a:ext cx="8077200" cy="4498975"/>
          </a:xfrm>
        </p:spPr>
        <p:txBody>
          <a:bodyPr/>
          <a:lstStyle/>
          <a:p>
            <a:pPr>
              <a:lnSpc>
                <a:spcPct val="110000"/>
              </a:lnSpc>
              <a:defRPr/>
            </a:pPr>
            <a:r>
              <a:rPr lang="zh-CN" altLang="en-US" b="1" dirty="0" smtClean="0">
                <a:solidFill>
                  <a:srgbClr val="FF0000"/>
                </a:solidFill>
              </a:rPr>
              <a:t>对于要求连续的内存空间来存放页表的问题：</a:t>
            </a:r>
            <a:endParaRPr lang="en-US" altLang="zh-CN" b="1" dirty="0" smtClean="0">
              <a:solidFill>
                <a:srgbClr val="FF0000"/>
              </a:solidFill>
            </a:endParaRPr>
          </a:p>
          <a:p>
            <a:pPr lvl="1">
              <a:lnSpc>
                <a:spcPct val="110000"/>
              </a:lnSpc>
              <a:defRPr/>
            </a:pPr>
            <a:r>
              <a:rPr lang="zh-CN" altLang="en-US" b="1" dirty="0" smtClean="0">
                <a:cs typeface="+mn-cs"/>
              </a:rPr>
              <a:t>可</a:t>
            </a:r>
            <a:r>
              <a:rPr lang="zh-CN" altLang="en-US" b="1" i="1" u="sng" dirty="0" smtClean="0">
                <a:solidFill>
                  <a:srgbClr val="FF0000"/>
                </a:solidFill>
                <a:cs typeface="+mn-cs"/>
              </a:rPr>
              <a:t>将页表进行分页</a:t>
            </a:r>
            <a:r>
              <a:rPr lang="zh-CN" altLang="en-US" b="1" dirty="0" smtClean="0">
                <a:cs typeface="+mn-cs"/>
              </a:rPr>
              <a:t>，并离散地将各个页面分别存放在不同的物理块中，</a:t>
            </a:r>
            <a:endParaRPr lang="en-US" altLang="zh-CN" b="1" dirty="0" smtClean="0">
              <a:cs typeface="+mn-cs"/>
            </a:endParaRPr>
          </a:p>
          <a:p>
            <a:pPr lvl="1">
              <a:lnSpc>
                <a:spcPct val="110000"/>
              </a:lnSpc>
              <a:defRPr/>
            </a:pPr>
            <a:r>
              <a:rPr lang="zh-CN" altLang="en-US" b="1" dirty="0" smtClean="0">
                <a:cs typeface="+mn-cs"/>
              </a:rPr>
              <a:t>同样也要为离散分配的页表再建立一张页表，称为外层页表</a:t>
            </a:r>
            <a:r>
              <a:rPr lang="en-US" altLang="zh-CN" b="1" dirty="0" smtClean="0">
                <a:cs typeface="+mn-cs"/>
              </a:rPr>
              <a:t>(Outer Page Table)</a:t>
            </a:r>
            <a:r>
              <a:rPr lang="zh-CN" altLang="en-US" b="1" dirty="0" smtClean="0">
                <a:cs typeface="+mn-cs"/>
              </a:rPr>
              <a:t>，在每个页表项中记录了页表页面的物理块号。</a:t>
            </a:r>
            <a:endParaRPr lang="en-US" altLang="zh-CN" b="1" dirty="0" smtClean="0">
              <a:cs typeface="+mn-cs"/>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95"/>
          <p:cNvSpPr>
            <a:spLocks noChangeArrowheads="1"/>
          </p:cNvSpPr>
          <p:nvPr/>
        </p:nvSpPr>
        <p:spPr bwMode="auto">
          <a:xfrm>
            <a:off x="304800" y="228600"/>
            <a:ext cx="8610600" cy="62484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92163" name="Group 96"/>
          <p:cNvGrpSpPr/>
          <p:nvPr/>
        </p:nvGrpSpPr>
        <p:grpSpPr bwMode="auto">
          <a:xfrm>
            <a:off x="827584" y="908719"/>
            <a:ext cx="7021016" cy="5203155"/>
            <a:chOff x="2080" y="9084"/>
            <a:chExt cx="7640" cy="5460"/>
          </a:xfrm>
        </p:grpSpPr>
        <p:grpSp>
          <p:nvGrpSpPr>
            <p:cNvPr id="92164" name="Group 97"/>
            <p:cNvGrpSpPr/>
            <p:nvPr/>
          </p:nvGrpSpPr>
          <p:grpSpPr bwMode="auto">
            <a:xfrm>
              <a:off x="2080" y="9084"/>
              <a:ext cx="7640" cy="5148"/>
              <a:chOff x="2080" y="9084"/>
              <a:chExt cx="7640" cy="5148"/>
            </a:xfrm>
          </p:grpSpPr>
          <p:grpSp>
            <p:nvGrpSpPr>
              <p:cNvPr id="92166" name="Group 98"/>
              <p:cNvGrpSpPr/>
              <p:nvPr/>
            </p:nvGrpSpPr>
            <p:grpSpPr bwMode="auto">
              <a:xfrm>
                <a:off x="2340" y="9084"/>
                <a:ext cx="7380" cy="4680"/>
                <a:chOff x="2340" y="9396"/>
                <a:chExt cx="7380" cy="4680"/>
              </a:xfrm>
            </p:grpSpPr>
            <p:grpSp>
              <p:nvGrpSpPr>
                <p:cNvPr id="92171" name="Group 99"/>
                <p:cNvGrpSpPr/>
                <p:nvPr/>
              </p:nvGrpSpPr>
              <p:grpSpPr bwMode="auto">
                <a:xfrm>
                  <a:off x="2340" y="10332"/>
                  <a:ext cx="1440" cy="1716"/>
                  <a:chOff x="1440" y="10332"/>
                  <a:chExt cx="1440" cy="1716"/>
                </a:xfrm>
              </p:grpSpPr>
              <p:grpSp>
                <p:nvGrpSpPr>
                  <p:cNvPr id="92241" name="Group 100"/>
                  <p:cNvGrpSpPr/>
                  <p:nvPr/>
                </p:nvGrpSpPr>
                <p:grpSpPr bwMode="auto">
                  <a:xfrm>
                    <a:off x="1440" y="10800"/>
                    <a:ext cx="1440" cy="1248"/>
                    <a:chOff x="2340" y="10800"/>
                    <a:chExt cx="1440" cy="1248"/>
                  </a:xfrm>
                </p:grpSpPr>
                <p:sp>
                  <p:nvSpPr>
                    <p:cNvPr id="92252" name="Text Box 101"/>
                    <p:cNvSpPr txBox="1">
                      <a:spLocks noChangeArrowheads="1"/>
                    </p:cNvSpPr>
                    <p:nvPr/>
                  </p:nvSpPr>
                  <p:spPr bwMode="auto">
                    <a:xfrm>
                      <a:off x="2340" y="11892"/>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53" name="Text Box 102"/>
                    <p:cNvSpPr txBox="1">
                      <a:spLocks noChangeArrowheads="1"/>
                    </p:cNvSpPr>
                    <p:nvPr/>
                  </p:nvSpPr>
                  <p:spPr bwMode="auto">
                    <a:xfrm>
                      <a:off x="2340" y="10800"/>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grpSp>
              <p:grpSp>
                <p:nvGrpSpPr>
                  <p:cNvPr id="92242" name="Group 103"/>
                  <p:cNvGrpSpPr/>
                  <p:nvPr/>
                </p:nvGrpSpPr>
                <p:grpSpPr bwMode="auto">
                  <a:xfrm>
                    <a:off x="1440" y="10332"/>
                    <a:ext cx="1440" cy="1560"/>
                    <a:chOff x="2340" y="10332"/>
                    <a:chExt cx="1440" cy="1560"/>
                  </a:xfrm>
                </p:grpSpPr>
                <p:sp>
                  <p:nvSpPr>
                    <p:cNvPr id="92243" name="Text Box 104"/>
                    <p:cNvSpPr txBox="1">
                      <a:spLocks noChangeArrowheads="1"/>
                    </p:cNvSpPr>
                    <p:nvPr/>
                  </p:nvSpPr>
                  <p:spPr bwMode="auto">
                    <a:xfrm>
                      <a:off x="2340" y="11736"/>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4" name="Text Box 105"/>
                    <p:cNvSpPr txBox="1">
                      <a:spLocks noChangeArrowheads="1"/>
                    </p:cNvSpPr>
                    <p:nvPr/>
                  </p:nvSpPr>
                  <p:spPr bwMode="auto">
                    <a:xfrm>
                      <a:off x="2340" y="11580"/>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5" name="Text Box 106"/>
                    <p:cNvSpPr txBox="1">
                      <a:spLocks noChangeArrowheads="1"/>
                    </p:cNvSpPr>
                    <p:nvPr/>
                  </p:nvSpPr>
                  <p:spPr bwMode="auto">
                    <a:xfrm>
                      <a:off x="2340" y="11424"/>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6" name="Text Box 107"/>
                    <p:cNvSpPr txBox="1">
                      <a:spLocks noChangeArrowheads="1"/>
                    </p:cNvSpPr>
                    <p:nvPr/>
                  </p:nvSpPr>
                  <p:spPr bwMode="auto">
                    <a:xfrm>
                      <a:off x="2340" y="11268"/>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7" name="Text Box 108"/>
                    <p:cNvSpPr txBox="1">
                      <a:spLocks noChangeArrowheads="1"/>
                    </p:cNvSpPr>
                    <p:nvPr/>
                  </p:nvSpPr>
                  <p:spPr bwMode="auto">
                    <a:xfrm>
                      <a:off x="2340" y="11112"/>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8" name="Text Box 109"/>
                    <p:cNvSpPr txBox="1">
                      <a:spLocks noChangeArrowheads="1"/>
                    </p:cNvSpPr>
                    <p:nvPr/>
                  </p:nvSpPr>
                  <p:spPr bwMode="auto">
                    <a:xfrm>
                      <a:off x="2340" y="10956"/>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9" name="Text Box 110"/>
                    <p:cNvSpPr txBox="1">
                      <a:spLocks noChangeArrowheads="1"/>
                    </p:cNvSpPr>
                    <p:nvPr/>
                  </p:nvSpPr>
                  <p:spPr bwMode="auto">
                    <a:xfrm>
                      <a:off x="2340" y="10644"/>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50" name="Text Box 111"/>
                    <p:cNvSpPr txBox="1">
                      <a:spLocks noChangeArrowheads="1"/>
                    </p:cNvSpPr>
                    <p:nvPr/>
                  </p:nvSpPr>
                  <p:spPr bwMode="auto">
                    <a:xfrm>
                      <a:off x="2340" y="10488"/>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51" name="Text Box 112"/>
                    <p:cNvSpPr txBox="1">
                      <a:spLocks noChangeArrowheads="1"/>
                    </p:cNvSpPr>
                    <p:nvPr/>
                  </p:nvSpPr>
                  <p:spPr bwMode="auto">
                    <a:xfrm>
                      <a:off x="2340" y="10332"/>
                      <a:ext cx="144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grpSp>
            </p:grpSp>
            <p:grpSp>
              <p:nvGrpSpPr>
                <p:cNvPr id="92172" name="Group 113"/>
                <p:cNvGrpSpPr/>
                <p:nvPr/>
              </p:nvGrpSpPr>
              <p:grpSpPr bwMode="auto">
                <a:xfrm>
                  <a:off x="3780" y="9396"/>
                  <a:ext cx="5940" cy="4680"/>
                  <a:chOff x="3780" y="9396"/>
                  <a:chExt cx="5940" cy="4680"/>
                </a:xfrm>
              </p:grpSpPr>
              <p:grpSp>
                <p:nvGrpSpPr>
                  <p:cNvPr id="92173" name="Group 114"/>
                  <p:cNvGrpSpPr/>
                  <p:nvPr/>
                </p:nvGrpSpPr>
                <p:grpSpPr bwMode="auto">
                  <a:xfrm>
                    <a:off x="6660" y="9396"/>
                    <a:ext cx="3060" cy="4680"/>
                    <a:chOff x="6660" y="9396"/>
                    <a:chExt cx="3060" cy="4680"/>
                  </a:xfrm>
                </p:grpSpPr>
                <p:grpSp>
                  <p:nvGrpSpPr>
                    <p:cNvPr id="92211" name="Group 115"/>
                    <p:cNvGrpSpPr/>
                    <p:nvPr/>
                  </p:nvGrpSpPr>
                  <p:grpSpPr bwMode="auto">
                    <a:xfrm>
                      <a:off x="7740" y="9396"/>
                      <a:ext cx="1980" cy="4680"/>
                      <a:chOff x="7740" y="9396"/>
                      <a:chExt cx="1980" cy="4680"/>
                    </a:xfrm>
                  </p:grpSpPr>
                  <p:sp>
                    <p:nvSpPr>
                      <p:cNvPr id="92226" name="Text Box 116"/>
                      <p:cNvSpPr txBox="1">
                        <a:spLocks noChangeArrowheads="1"/>
                      </p:cNvSpPr>
                      <p:nvPr/>
                    </p:nvSpPr>
                    <p:spPr bwMode="auto">
                      <a:xfrm>
                        <a:off x="7740" y="9396"/>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27" name="Text Box 117"/>
                      <p:cNvSpPr txBox="1">
                        <a:spLocks noChangeArrowheads="1"/>
                      </p:cNvSpPr>
                      <p:nvPr/>
                    </p:nvSpPr>
                    <p:spPr bwMode="auto">
                      <a:xfrm>
                        <a:off x="7740" y="9708"/>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28" name="Text Box 118"/>
                      <p:cNvSpPr txBox="1">
                        <a:spLocks noChangeArrowheads="1"/>
                      </p:cNvSpPr>
                      <p:nvPr/>
                    </p:nvSpPr>
                    <p:spPr bwMode="auto">
                      <a:xfrm>
                        <a:off x="7740" y="10020"/>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29" name="Text Box 119"/>
                      <p:cNvSpPr txBox="1">
                        <a:spLocks noChangeArrowheads="1"/>
                      </p:cNvSpPr>
                      <p:nvPr/>
                    </p:nvSpPr>
                    <p:spPr bwMode="auto">
                      <a:xfrm>
                        <a:off x="7740" y="10332"/>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0" name="Text Box 120"/>
                      <p:cNvSpPr txBox="1">
                        <a:spLocks noChangeArrowheads="1"/>
                      </p:cNvSpPr>
                      <p:nvPr/>
                    </p:nvSpPr>
                    <p:spPr bwMode="auto">
                      <a:xfrm>
                        <a:off x="7740" y="10644"/>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1" name="Text Box 121"/>
                      <p:cNvSpPr txBox="1">
                        <a:spLocks noChangeArrowheads="1"/>
                      </p:cNvSpPr>
                      <p:nvPr/>
                    </p:nvSpPr>
                    <p:spPr bwMode="auto">
                      <a:xfrm>
                        <a:off x="7740" y="10956"/>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2" name="Text Box 122"/>
                      <p:cNvSpPr txBox="1">
                        <a:spLocks noChangeArrowheads="1"/>
                      </p:cNvSpPr>
                      <p:nvPr/>
                    </p:nvSpPr>
                    <p:spPr bwMode="auto">
                      <a:xfrm>
                        <a:off x="7740" y="11268"/>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3" name="Text Box 123"/>
                      <p:cNvSpPr txBox="1">
                        <a:spLocks noChangeArrowheads="1"/>
                      </p:cNvSpPr>
                      <p:nvPr/>
                    </p:nvSpPr>
                    <p:spPr bwMode="auto">
                      <a:xfrm>
                        <a:off x="7740" y="11580"/>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4" name="Text Box 124"/>
                      <p:cNvSpPr txBox="1">
                        <a:spLocks noChangeArrowheads="1"/>
                      </p:cNvSpPr>
                      <p:nvPr/>
                    </p:nvSpPr>
                    <p:spPr bwMode="auto">
                      <a:xfrm>
                        <a:off x="7740" y="11892"/>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5" name="Text Box 125"/>
                      <p:cNvSpPr txBox="1">
                        <a:spLocks noChangeArrowheads="1"/>
                      </p:cNvSpPr>
                      <p:nvPr/>
                    </p:nvSpPr>
                    <p:spPr bwMode="auto">
                      <a:xfrm>
                        <a:off x="7740" y="12204"/>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6" name="Text Box 126"/>
                      <p:cNvSpPr txBox="1">
                        <a:spLocks noChangeArrowheads="1"/>
                      </p:cNvSpPr>
                      <p:nvPr/>
                    </p:nvSpPr>
                    <p:spPr bwMode="auto">
                      <a:xfrm>
                        <a:off x="7740" y="12516"/>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sp>
                    <p:nvSpPr>
                      <p:cNvPr id="92237" name="Text Box 127"/>
                      <p:cNvSpPr txBox="1">
                        <a:spLocks noChangeArrowheads="1"/>
                      </p:cNvSpPr>
                      <p:nvPr/>
                    </p:nvSpPr>
                    <p:spPr bwMode="auto">
                      <a:xfrm>
                        <a:off x="7740" y="12828"/>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8" name="Text Box 128"/>
                      <p:cNvSpPr txBox="1">
                        <a:spLocks noChangeArrowheads="1"/>
                      </p:cNvSpPr>
                      <p:nvPr/>
                    </p:nvSpPr>
                    <p:spPr bwMode="auto">
                      <a:xfrm>
                        <a:off x="7740" y="13140"/>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39" name="Text Box 129"/>
                      <p:cNvSpPr txBox="1">
                        <a:spLocks noChangeArrowheads="1"/>
                      </p:cNvSpPr>
                      <p:nvPr/>
                    </p:nvSpPr>
                    <p:spPr bwMode="auto">
                      <a:xfrm>
                        <a:off x="7740" y="13452"/>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40" name="Text Box 130"/>
                      <p:cNvSpPr txBox="1">
                        <a:spLocks noChangeArrowheads="1"/>
                      </p:cNvSpPr>
                      <p:nvPr/>
                    </p:nvSpPr>
                    <p:spPr bwMode="auto">
                      <a:xfrm>
                        <a:off x="7740" y="13764"/>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grpSp>
                <p:grpSp>
                  <p:nvGrpSpPr>
                    <p:cNvPr id="92212" name="Group 131"/>
                    <p:cNvGrpSpPr/>
                    <p:nvPr/>
                  </p:nvGrpSpPr>
                  <p:grpSpPr bwMode="auto">
                    <a:xfrm>
                      <a:off x="6660" y="9552"/>
                      <a:ext cx="1080" cy="4368"/>
                      <a:chOff x="6660" y="9552"/>
                      <a:chExt cx="1080" cy="4368"/>
                    </a:xfrm>
                  </p:grpSpPr>
                  <p:sp>
                    <p:nvSpPr>
                      <p:cNvPr id="92213" name="Line 132"/>
                      <p:cNvSpPr>
                        <a:spLocks noChangeShapeType="1"/>
                      </p:cNvSpPr>
                      <p:nvPr/>
                    </p:nvSpPr>
                    <p:spPr bwMode="auto">
                      <a:xfrm flipV="1">
                        <a:off x="6660" y="9552"/>
                        <a:ext cx="108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4" name="Line 133"/>
                      <p:cNvSpPr>
                        <a:spLocks noChangeShapeType="1"/>
                      </p:cNvSpPr>
                      <p:nvPr/>
                    </p:nvSpPr>
                    <p:spPr bwMode="auto">
                      <a:xfrm flipV="1">
                        <a:off x="6660" y="9864"/>
                        <a:ext cx="108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5" name="Line 134"/>
                      <p:cNvSpPr>
                        <a:spLocks noChangeShapeType="1"/>
                      </p:cNvSpPr>
                      <p:nvPr/>
                    </p:nvSpPr>
                    <p:spPr bwMode="auto">
                      <a:xfrm>
                        <a:off x="6660" y="10176"/>
                        <a:ext cx="10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6" name="Line 135"/>
                      <p:cNvSpPr>
                        <a:spLocks noChangeShapeType="1"/>
                      </p:cNvSpPr>
                      <p:nvPr/>
                    </p:nvSpPr>
                    <p:spPr bwMode="auto">
                      <a:xfrm>
                        <a:off x="6660" y="10332"/>
                        <a:ext cx="108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7" name="Line 136"/>
                      <p:cNvSpPr>
                        <a:spLocks noChangeShapeType="1"/>
                      </p:cNvSpPr>
                      <p:nvPr/>
                    </p:nvSpPr>
                    <p:spPr bwMode="auto">
                      <a:xfrm>
                        <a:off x="6660" y="10488"/>
                        <a:ext cx="108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8" name="Line 137"/>
                      <p:cNvSpPr>
                        <a:spLocks noChangeShapeType="1"/>
                      </p:cNvSpPr>
                      <p:nvPr/>
                    </p:nvSpPr>
                    <p:spPr bwMode="auto">
                      <a:xfrm>
                        <a:off x="6660" y="10644"/>
                        <a:ext cx="108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9" name="Line 138"/>
                      <p:cNvSpPr>
                        <a:spLocks noChangeShapeType="1"/>
                      </p:cNvSpPr>
                      <p:nvPr/>
                    </p:nvSpPr>
                    <p:spPr bwMode="auto">
                      <a:xfrm>
                        <a:off x="6660" y="10800"/>
                        <a:ext cx="108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20" name="Line 139"/>
                      <p:cNvSpPr>
                        <a:spLocks noChangeShapeType="1"/>
                      </p:cNvSpPr>
                      <p:nvPr/>
                    </p:nvSpPr>
                    <p:spPr bwMode="auto">
                      <a:xfrm>
                        <a:off x="6660" y="10956"/>
                        <a:ext cx="108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21" name="Line 140"/>
                      <p:cNvSpPr>
                        <a:spLocks noChangeShapeType="1"/>
                      </p:cNvSpPr>
                      <p:nvPr/>
                    </p:nvSpPr>
                    <p:spPr bwMode="auto">
                      <a:xfrm>
                        <a:off x="6660" y="11112"/>
                        <a:ext cx="108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22" name="Line 141"/>
                      <p:cNvSpPr>
                        <a:spLocks noChangeShapeType="1"/>
                      </p:cNvSpPr>
                      <p:nvPr/>
                    </p:nvSpPr>
                    <p:spPr bwMode="auto">
                      <a:xfrm>
                        <a:off x="6660" y="12828"/>
                        <a:ext cx="1080" cy="10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23" name="Line 142"/>
                      <p:cNvSpPr>
                        <a:spLocks noChangeShapeType="1"/>
                      </p:cNvSpPr>
                      <p:nvPr/>
                    </p:nvSpPr>
                    <p:spPr bwMode="auto">
                      <a:xfrm>
                        <a:off x="6660" y="12672"/>
                        <a:ext cx="108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24" name="Line 143"/>
                      <p:cNvSpPr>
                        <a:spLocks noChangeShapeType="1"/>
                      </p:cNvSpPr>
                      <p:nvPr/>
                    </p:nvSpPr>
                    <p:spPr bwMode="auto">
                      <a:xfrm>
                        <a:off x="6660" y="12516"/>
                        <a:ext cx="108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25" name="Line 144"/>
                      <p:cNvSpPr>
                        <a:spLocks noChangeShapeType="1"/>
                      </p:cNvSpPr>
                      <p:nvPr/>
                    </p:nvSpPr>
                    <p:spPr bwMode="auto">
                      <a:xfrm>
                        <a:off x="6660" y="12360"/>
                        <a:ext cx="108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2174" name="Group 145"/>
                  <p:cNvGrpSpPr/>
                  <p:nvPr/>
                </p:nvGrpSpPr>
                <p:grpSpPr bwMode="auto">
                  <a:xfrm>
                    <a:off x="3780" y="9864"/>
                    <a:ext cx="2880" cy="3120"/>
                    <a:chOff x="3780" y="9864"/>
                    <a:chExt cx="2880" cy="3120"/>
                  </a:xfrm>
                </p:grpSpPr>
                <p:grpSp>
                  <p:nvGrpSpPr>
                    <p:cNvPr id="92175" name="Group 146"/>
                    <p:cNvGrpSpPr/>
                    <p:nvPr/>
                  </p:nvGrpSpPr>
                  <p:grpSpPr bwMode="auto">
                    <a:xfrm>
                      <a:off x="3780" y="9864"/>
                      <a:ext cx="900" cy="2652"/>
                      <a:chOff x="3780" y="9864"/>
                      <a:chExt cx="900" cy="2652"/>
                    </a:xfrm>
                  </p:grpSpPr>
                  <p:sp>
                    <p:nvSpPr>
                      <p:cNvPr id="92205" name="Line 147"/>
                      <p:cNvSpPr>
                        <a:spLocks noChangeShapeType="1"/>
                      </p:cNvSpPr>
                      <p:nvPr/>
                    </p:nvSpPr>
                    <p:spPr bwMode="auto">
                      <a:xfrm flipV="1">
                        <a:off x="3780" y="9864"/>
                        <a:ext cx="90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06" name="Line 148"/>
                      <p:cNvSpPr>
                        <a:spLocks noChangeShapeType="1"/>
                      </p:cNvSpPr>
                      <p:nvPr/>
                    </p:nvSpPr>
                    <p:spPr bwMode="auto">
                      <a:xfrm flipV="1">
                        <a:off x="3780" y="10332"/>
                        <a:ext cx="90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07" name="Line 149"/>
                      <p:cNvSpPr>
                        <a:spLocks noChangeShapeType="1"/>
                      </p:cNvSpPr>
                      <p:nvPr/>
                    </p:nvSpPr>
                    <p:spPr bwMode="auto">
                      <a:xfrm>
                        <a:off x="3780" y="10644"/>
                        <a:ext cx="90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08" name="Line 150"/>
                      <p:cNvSpPr>
                        <a:spLocks noChangeShapeType="1"/>
                      </p:cNvSpPr>
                      <p:nvPr/>
                    </p:nvSpPr>
                    <p:spPr bwMode="auto">
                      <a:xfrm>
                        <a:off x="3780" y="10800"/>
                        <a:ext cx="90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09" name="Line 151"/>
                      <p:cNvSpPr>
                        <a:spLocks noChangeShapeType="1"/>
                      </p:cNvSpPr>
                      <p:nvPr/>
                    </p:nvSpPr>
                    <p:spPr bwMode="auto">
                      <a:xfrm>
                        <a:off x="3780" y="10956"/>
                        <a:ext cx="90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10" name="Line 152"/>
                      <p:cNvSpPr>
                        <a:spLocks noChangeShapeType="1"/>
                      </p:cNvSpPr>
                      <p:nvPr/>
                    </p:nvSpPr>
                    <p:spPr bwMode="auto">
                      <a:xfrm>
                        <a:off x="3780" y="12048"/>
                        <a:ext cx="90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2176" name="Group 153"/>
                    <p:cNvGrpSpPr/>
                    <p:nvPr/>
                  </p:nvGrpSpPr>
                  <p:grpSpPr bwMode="auto">
                    <a:xfrm>
                      <a:off x="4680" y="9864"/>
                      <a:ext cx="1980" cy="3120"/>
                      <a:chOff x="4680" y="9864"/>
                      <a:chExt cx="1980" cy="3120"/>
                    </a:xfrm>
                  </p:grpSpPr>
                  <p:grpSp>
                    <p:nvGrpSpPr>
                      <p:cNvPr id="92177" name="Group 154"/>
                      <p:cNvGrpSpPr/>
                      <p:nvPr/>
                    </p:nvGrpSpPr>
                    <p:grpSpPr bwMode="auto">
                      <a:xfrm>
                        <a:off x="4680" y="9864"/>
                        <a:ext cx="1980" cy="3120"/>
                        <a:chOff x="5940" y="9396"/>
                        <a:chExt cx="1980" cy="3120"/>
                      </a:xfrm>
                    </p:grpSpPr>
                    <p:grpSp>
                      <p:nvGrpSpPr>
                        <p:cNvPr id="92184" name="Group 155"/>
                        <p:cNvGrpSpPr/>
                        <p:nvPr/>
                      </p:nvGrpSpPr>
                      <p:grpSpPr bwMode="auto">
                        <a:xfrm>
                          <a:off x="5940" y="9552"/>
                          <a:ext cx="1980" cy="2964"/>
                          <a:chOff x="7920" y="9552"/>
                          <a:chExt cx="1980" cy="2964"/>
                        </a:xfrm>
                      </p:grpSpPr>
                      <p:sp>
                        <p:nvSpPr>
                          <p:cNvPr id="92196" name="Text Box 156"/>
                          <p:cNvSpPr txBox="1">
                            <a:spLocks noChangeArrowheads="1"/>
                          </p:cNvSpPr>
                          <p:nvPr/>
                        </p:nvSpPr>
                        <p:spPr bwMode="auto">
                          <a:xfrm>
                            <a:off x="7920" y="9552"/>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7" name="Text Box 157"/>
                          <p:cNvSpPr txBox="1">
                            <a:spLocks noChangeArrowheads="1"/>
                          </p:cNvSpPr>
                          <p:nvPr/>
                        </p:nvSpPr>
                        <p:spPr bwMode="auto">
                          <a:xfrm>
                            <a:off x="7920" y="9864"/>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8" name="Text Box 158"/>
                          <p:cNvSpPr txBox="1">
                            <a:spLocks noChangeArrowheads="1"/>
                          </p:cNvSpPr>
                          <p:nvPr/>
                        </p:nvSpPr>
                        <p:spPr bwMode="auto">
                          <a:xfrm>
                            <a:off x="7920" y="10176"/>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9" name="Text Box 159"/>
                          <p:cNvSpPr txBox="1">
                            <a:spLocks noChangeArrowheads="1"/>
                          </p:cNvSpPr>
                          <p:nvPr/>
                        </p:nvSpPr>
                        <p:spPr bwMode="auto">
                          <a:xfrm>
                            <a:off x="7920" y="10488"/>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00" name="Text Box 160"/>
                          <p:cNvSpPr txBox="1">
                            <a:spLocks noChangeArrowheads="1"/>
                          </p:cNvSpPr>
                          <p:nvPr/>
                        </p:nvSpPr>
                        <p:spPr bwMode="auto">
                          <a:xfrm>
                            <a:off x="7920" y="10800"/>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01" name="Text Box 161"/>
                          <p:cNvSpPr txBox="1">
                            <a:spLocks noChangeArrowheads="1"/>
                          </p:cNvSpPr>
                          <p:nvPr/>
                        </p:nvSpPr>
                        <p:spPr bwMode="auto">
                          <a:xfrm>
                            <a:off x="7920" y="11112"/>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02" name="Text Box 162"/>
                          <p:cNvSpPr txBox="1">
                            <a:spLocks noChangeArrowheads="1"/>
                          </p:cNvSpPr>
                          <p:nvPr/>
                        </p:nvSpPr>
                        <p:spPr bwMode="auto">
                          <a:xfrm>
                            <a:off x="7920" y="11736"/>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03" name="Text Box 163"/>
                          <p:cNvSpPr txBox="1">
                            <a:spLocks noChangeArrowheads="1"/>
                          </p:cNvSpPr>
                          <p:nvPr/>
                        </p:nvSpPr>
                        <p:spPr bwMode="auto">
                          <a:xfrm>
                            <a:off x="7920" y="12048"/>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204" name="Text Box 164"/>
                          <p:cNvSpPr txBox="1">
                            <a:spLocks noChangeArrowheads="1"/>
                          </p:cNvSpPr>
                          <p:nvPr/>
                        </p:nvSpPr>
                        <p:spPr bwMode="auto">
                          <a:xfrm>
                            <a:off x="7920" y="12360"/>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grpSp>
                    <p:grpSp>
                      <p:nvGrpSpPr>
                        <p:cNvPr id="92185" name="Group 165"/>
                        <p:cNvGrpSpPr/>
                        <p:nvPr/>
                      </p:nvGrpSpPr>
                      <p:grpSpPr bwMode="auto">
                        <a:xfrm>
                          <a:off x="5940" y="9396"/>
                          <a:ext cx="1980" cy="2964"/>
                          <a:chOff x="7920" y="9396"/>
                          <a:chExt cx="1980" cy="2964"/>
                        </a:xfrm>
                      </p:grpSpPr>
                      <p:sp>
                        <p:nvSpPr>
                          <p:cNvPr id="92186" name="Text Box 166"/>
                          <p:cNvSpPr txBox="1">
                            <a:spLocks noChangeArrowheads="1"/>
                          </p:cNvSpPr>
                          <p:nvPr/>
                        </p:nvSpPr>
                        <p:spPr bwMode="auto">
                          <a:xfrm>
                            <a:off x="7920" y="9396"/>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87" name="Text Box 167"/>
                          <p:cNvSpPr txBox="1">
                            <a:spLocks noChangeArrowheads="1"/>
                          </p:cNvSpPr>
                          <p:nvPr/>
                        </p:nvSpPr>
                        <p:spPr bwMode="auto">
                          <a:xfrm>
                            <a:off x="7920" y="9708"/>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88" name="Text Box 168"/>
                          <p:cNvSpPr txBox="1">
                            <a:spLocks noChangeArrowheads="1"/>
                          </p:cNvSpPr>
                          <p:nvPr/>
                        </p:nvSpPr>
                        <p:spPr bwMode="auto">
                          <a:xfrm>
                            <a:off x="7920" y="10020"/>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89" name="Text Box 169"/>
                          <p:cNvSpPr txBox="1">
                            <a:spLocks noChangeArrowheads="1"/>
                          </p:cNvSpPr>
                          <p:nvPr/>
                        </p:nvSpPr>
                        <p:spPr bwMode="auto">
                          <a:xfrm>
                            <a:off x="7920" y="10332"/>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0" name="Text Box 170"/>
                          <p:cNvSpPr txBox="1">
                            <a:spLocks noChangeArrowheads="1"/>
                          </p:cNvSpPr>
                          <p:nvPr/>
                        </p:nvSpPr>
                        <p:spPr bwMode="auto">
                          <a:xfrm>
                            <a:off x="7920" y="10644"/>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1" name="Text Box 171"/>
                          <p:cNvSpPr txBox="1">
                            <a:spLocks noChangeArrowheads="1"/>
                          </p:cNvSpPr>
                          <p:nvPr/>
                        </p:nvSpPr>
                        <p:spPr bwMode="auto">
                          <a:xfrm>
                            <a:off x="7920" y="10956"/>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2" name="Text Box 172"/>
                          <p:cNvSpPr txBox="1">
                            <a:spLocks noChangeArrowheads="1"/>
                          </p:cNvSpPr>
                          <p:nvPr/>
                        </p:nvSpPr>
                        <p:spPr bwMode="auto">
                          <a:xfrm>
                            <a:off x="7920" y="11268"/>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3" name="Text Box 173"/>
                          <p:cNvSpPr txBox="1">
                            <a:spLocks noChangeArrowheads="1"/>
                          </p:cNvSpPr>
                          <p:nvPr/>
                        </p:nvSpPr>
                        <p:spPr bwMode="auto">
                          <a:xfrm>
                            <a:off x="7920" y="11892"/>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4" name="Text Box 174"/>
                          <p:cNvSpPr txBox="1">
                            <a:spLocks noChangeArrowheads="1"/>
                          </p:cNvSpPr>
                          <p:nvPr/>
                        </p:nvSpPr>
                        <p:spPr bwMode="auto">
                          <a:xfrm>
                            <a:off x="7920" y="12204"/>
                            <a:ext cx="1980" cy="156"/>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1600" b="1">
                              <a:solidFill>
                                <a:srgbClr val="000000"/>
                              </a:solidFill>
                              <a:latin typeface="Times New Roman" panose="02020603050405020304" pitchFamily="18" charset="0"/>
                            </a:endParaRPr>
                          </a:p>
                        </p:txBody>
                      </p:sp>
                      <p:sp>
                        <p:nvSpPr>
                          <p:cNvPr id="92195" name="Text Box 175"/>
                          <p:cNvSpPr txBox="1">
                            <a:spLocks noChangeArrowheads="1"/>
                          </p:cNvSpPr>
                          <p:nvPr/>
                        </p:nvSpPr>
                        <p:spPr bwMode="auto">
                          <a:xfrm>
                            <a:off x="7920" y="11424"/>
                            <a:ext cx="1980" cy="312"/>
                          </a:xfrm>
                          <a:prstGeom prst="rect">
                            <a:avLst/>
                          </a:prstGeom>
                          <a:solidFill>
                            <a:srgbClr val="FFFFFF"/>
                          </a:solid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grpSp>
                  </p:grpSp>
                  <p:grpSp>
                    <p:nvGrpSpPr>
                      <p:cNvPr id="92178" name="Group 176"/>
                      <p:cNvGrpSpPr/>
                      <p:nvPr/>
                    </p:nvGrpSpPr>
                    <p:grpSpPr bwMode="auto">
                      <a:xfrm>
                        <a:off x="4680" y="10332"/>
                        <a:ext cx="1980" cy="2184"/>
                        <a:chOff x="4680" y="10332"/>
                        <a:chExt cx="1980" cy="2184"/>
                      </a:xfrm>
                    </p:grpSpPr>
                    <p:sp>
                      <p:nvSpPr>
                        <p:cNvPr id="92179" name="Line 177"/>
                        <p:cNvSpPr>
                          <a:spLocks noChangeShapeType="1"/>
                        </p:cNvSpPr>
                        <p:nvPr/>
                      </p:nvSpPr>
                      <p:spPr bwMode="auto">
                        <a:xfrm>
                          <a:off x="4680" y="10332"/>
                          <a:ext cx="19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180" name="Line 178"/>
                        <p:cNvSpPr>
                          <a:spLocks noChangeShapeType="1"/>
                        </p:cNvSpPr>
                        <p:nvPr/>
                      </p:nvSpPr>
                      <p:spPr bwMode="auto">
                        <a:xfrm>
                          <a:off x="4680" y="10800"/>
                          <a:ext cx="19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181" name="Line 179"/>
                        <p:cNvSpPr>
                          <a:spLocks noChangeShapeType="1"/>
                        </p:cNvSpPr>
                        <p:nvPr/>
                      </p:nvSpPr>
                      <p:spPr bwMode="auto">
                        <a:xfrm>
                          <a:off x="4680" y="11268"/>
                          <a:ext cx="19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182" name="Line 180"/>
                        <p:cNvSpPr>
                          <a:spLocks noChangeShapeType="1"/>
                        </p:cNvSpPr>
                        <p:nvPr/>
                      </p:nvSpPr>
                      <p:spPr bwMode="auto">
                        <a:xfrm>
                          <a:off x="4680" y="11736"/>
                          <a:ext cx="19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183" name="Line 181"/>
                        <p:cNvSpPr>
                          <a:spLocks noChangeShapeType="1"/>
                        </p:cNvSpPr>
                        <p:nvPr/>
                      </p:nvSpPr>
                      <p:spPr bwMode="auto">
                        <a:xfrm>
                          <a:off x="4680" y="12516"/>
                          <a:ext cx="19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grpSp>
          </p:grpSp>
          <p:grpSp>
            <p:nvGrpSpPr>
              <p:cNvPr id="92167" name="Group 182"/>
              <p:cNvGrpSpPr/>
              <p:nvPr/>
            </p:nvGrpSpPr>
            <p:grpSpPr bwMode="auto">
              <a:xfrm>
                <a:off x="2080" y="11736"/>
                <a:ext cx="7640" cy="2496"/>
                <a:chOff x="2080" y="11736"/>
                <a:chExt cx="7640" cy="2496"/>
              </a:xfrm>
            </p:grpSpPr>
            <p:sp>
              <p:nvSpPr>
                <p:cNvPr id="92168" name="Text Box 183"/>
                <p:cNvSpPr txBox="1">
                  <a:spLocks noChangeArrowheads="1"/>
                </p:cNvSpPr>
                <p:nvPr/>
              </p:nvSpPr>
              <p:spPr bwMode="auto">
                <a:xfrm>
                  <a:off x="7920" y="13764"/>
                  <a:ext cx="18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600" b="1">
                      <a:solidFill>
                        <a:srgbClr val="000000"/>
                      </a:solidFill>
                      <a:latin typeface="Times New Roman" panose="02020603050405020304" pitchFamily="18" charset="0"/>
                    </a:rPr>
                    <a:t>4GB</a:t>
                  </a:r>
                  <a:r>
                    <a:rPr lang="zh-CN" altLang="en-US" sz="1600" b="1">
                      <a:solidFill>
                        <a:srgbClr val="000000"/>
                      </a:solidFill>
                      <a:latin typeface="Times New Roman" panose="02020603050405020304" pitchFamily="18" charset="0"/>
                    </a:rPr>
                    <a:t>的用户进程</a:t>
                  </a:r>
                  <a:endParaRPr lang="zh-CN" altLang="en-US" sz="1600" b="1">
                    <a:solidFill>
                      <a:srgbClr val="000000"/>
                    </a:solidFill>
                    <a:latin typeface="Times New Roman" panose="02020603050405020304" pitchFamily="18" charset="0"/>
                  </a:endParaRPr>
                </a:p>
              </p:txBody>
            </p:sp>
            <p:sp>
              <p:nvSpPr>
                <p:cNvPr id="92169" name="Text Box 184"/>
                <p:cNvSpPr txBox="1">
                  <a:spLocks noChangeArrowheads="1"/>
                </p:cNvSpPr>
                <p:nvPr/>
              </p:nvSpPr>
              <p:spPr bwMode="auto">
                <a:xfrm>
                  <a:off x="4653" y="12672"/>
                  <a:ext cx="200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600" b="1">
                      <a:solidFill>
                        <a:srgbClr val="000000"/>
                      </a:solidFill>
                      <a:latin typeface="Times New Roman" panose="02020603050405020304" pitchFamily="18" charset="0"/>
                    </a:rPr>
                    <a:t>4MB</a:t>
                  </a:r>
                  <a:r>
                    <a:rPr lang="zh-CN" altLang="en-US" sz="1600" b="1">
                      <a:solidFill>
                        <a:srgbClr val="000000"/>
                      </a:solidFill>
                      <a:latin typeface="Times New Roman" panose="02020603050405020304" pitchFamily="18" charset="0"/>
                    </a:rPr>
                    <a:t>的第一级页表</a:t>
                  </a:r>
                  <a:endParaRPr lang="zh-CN" altLang="en-US" sz="1600" b="1">
                    <a:solidFill>
                      <a:srgbClr val="000000"/>
                    </a:solidFill>
                    <a:latin typeface="Times New Roman" panose="02020603050405020304" pitchFamily="18" charset="0"/>
                  </a:endParaRPr>
                </a:p>
              </p:txBody>
            </p:sp>
            <p:sp>
              <p:nvSpPr>
                <p:cNvPr id="92170" name="Text Box 185"/>
                <p:cNvSpPr txBox="1">
                  <a:spLocks noChangeArrowheads="1"/>
                </p:cNvSpPr>
                <p:nvPr/>
              </p:nvSpPr>
              <p:spPr bwMode="auto">
                <a:xfrm>
                  <a:off x="2080" y="11736"/>
                  <a:ext cx="2011"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600" b="1">
                      <a:solidFill>
                        <a:srgbClr val="000000"/>
                      </a:solidFill>
                      <a:latin typeface="Times New Roman" panose="02020603050405020304" pitchFamily="18" charset="0"/>
                    </a:rPr>
                    <a:t>4KB</a:t>
                  </a:r>
                  <a:r>
                    <a:rPr lang="zh-CN" altLang="en-US" sz="1600" b="1">
                      <a:solidFill>
                        <a:srgbClr val="000000"/>
                      </a:solidFill>
                      <a:latin typeface="Times New Roman" panose="02020603050405020304" pitchFamily="18" charset="0"/>
                    </a:rPr>
                    <a:t>的第二级页表</a:t>
                  </a:r>
                  <a:endParaRPr lang="zh-CN" altLang="en-US" sz="1600" b="1">
                    <a:solidFill>
                      <a:srgbClr val="000000"/>
                    </a:solidFill>
                    <a:latin typeface="Times New Roman" panose="02020603050405020304" pitchFamily="18" charset="0"/>
                  </a:endParaRPr>
                </a:p>
              </p:txBody>
            </p:sp>
          </p:grpSp>
        </p:grpSp>
        <p:sp>
          <p:nvSpPr>
            <p:cNvPr id="92165" name="Text Box 186"/>
            <p:cNvSpPr txBox="1">
              <a:spLocks noChangeArrowheads="1"/>
            </p:cNvSpPr>
            <p:nvPr/>
          </p:nvSpPr>
          <p:spPr bwMode="auto">
            <a:xfrm>
              <a:off x="2520" y="14076"/>
              <a:ext cx="72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图</a:t>
              </a:r>
              <a:r>
                <a:rPr lang="en-US" altLang="zh-CN" sz="2400" b="1">
                  <a:solidFill>
                    <a:srgbClr val="000000"/>
                  </a:solidFill>
                  <a:latin typeface="Times New Roman" panose="02020603050405020304" pitchFamily="18" charset="0"/>
                </a:rPr>
                <a:t>3.19  4GB</a:t>
              </a:r>
              <a:r>
                <a:rPr lang="zh-CN" altLang="en-US" sz="2400" b="1">
                  <a:solidFill>
                    <a:srgbClr val="000000"/>
                  </a:solidFill>
                  <a:latin typeface="Times New Roman" panose="02020603050405020304" pitchFamily="18" charset="0"/>
                </a:rPr>
                <a:t>进程的二级页表结构</a:t>
              </a:r>
              <a:endParaRPr lang="zh-CN" altLang="en-US" sz="2400" b="1">
                <a:solidFill>
                  <a:srgbClr val="000000"/>
                </a:solidFill>
                <a:latin typeface="Times New Roman" panose="02020603050405020304" pitchFamily="18" charset="0"/>
              </a:endParaRPr>
            </a:p>
          </p:txBody>
        </p:sp>
      </p:grpSp>
      <p:sp>
        <p:nvSpPr>
          <p:cNvPr id="2" name="矩形 1"/>
          <p:cNvSpPr/>
          <p:nvPr/>
        </p:nvSpPr>
        <p:spPr>
          <a:xfrm>
            <a:off x="587314" y="333817"/>
            <a:ext cx="8017133" cy="904863"/>
          </a:xfrm>
          <a:prstGeom prst="rect">
            <a:avLst/>
          </a:prstGeom>
        </p:spPr>
        <p:txBody>
          <a:bodyPr wrap="square">
            <a:spAutoFit/>
          </a:bodyPr>
          <a:lstStyle/>
          <a:p>
            <a:pPr eaLnBrk="1" hangingPunct="1">
              <a:lnSpc>
                <a:spcPct val="110000"/>
              </a:lnSpc>
              <a:defRPr/>
            </a:pPr>
            <a:r>
              <a:rPr lang="zh-CN" altLang="en-US" sz="2400" b="1" dirty="0">
                <a:solidFill>
                  <a:srgbClr val="FF0000"/>
                </a:solidFill>
                <a:ea typeface="仿宋_GB2312" pitchFamily="49" charset="-122"/>
              </a:rPr>
              <a:t>对于</a:t>
            </a:r>
            <a:r>
              <a:rPr lang="en-US" altLang="zh-CN" sz="2400" b="1" dirty="0">
                <a:solidFill>
                  <a:srgbClr val="FF0000"/>
                </a:solidFill>
                <a:ea typeface="仿宋_GB2312" pitchFamily="49" charset="-122"/>
              </a:rPr>
              <a:t>4GB</a:t>
            </a:r>
            <a:r>
              <a:rPr lang="zh-CN" altLang="en-US" sz="2400" b="1" dirty="0">
                <a:solidFill>
                  <a:srgbClr val="FF0000"/>
                </a:solidFill>
                <a:ea typeface="仿宋_GB2312" pitchFamily="49" charset="-122"/>
              </a:rPr>
              <a:t>的进程，若采用二级页表，则对应的二级页表结构如图： </a:t>
            </a:r>
            <a:endParaRPr lang="zh-CN" altLang="en-US" sz="2400" b="1" dirty="0">
              <a:solidFill>
                <a:srgbClr val="FF0000"/>
              </a:solidFill>
              <a:ea typeface="仿宋_GB2312" pitchFamily="49" charset="-122"/>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5"/>
          <p:cNvSpPr txBox="1">
            <a:spLocks noChangeArrowheads="1"/>
          </p:cNvSpPr>
          <p:nvPr/>
        </p:nvSpPr>
        <p:spPr bwMode="auto">
          <a:xfrm>
            <a:off x="914400" y="2159000"/>
            <a:ext cx="4540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逻辑地址结构可描述如下： </a:t>
            </a:r>
            <a:endParaRPr kumimoji="1" lang="zh-CN" altLang="en-US" sz="2800" b="1">
              <a:latin typeface="Times New Roman" panose="02020603050405020304" pitchFamily="18" charset="0"/>
            </a:endParaRPr>
          </a:p>
        </p:txBody>
      </p:sp>
      <p:pic>
        <p:nvPicPr>
          <p:cNvPr id="93187" name="Picture 6" descr="未标题-1 拷贝"/>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7200" y="3048000"/>
            <a:ext cx="829627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ChangeArrowheads="1"/>
          </p:cNvSpPr>
          <p:nvPr/>
        </p:nvSpPr>
        <p:spPr bwMode="auto">
          <a:xfrm>
            <a:off x="1871663" y="2876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8" name="Rectangle 4"/>
          <p:cNvSpPr>
            <a:spLocks noChangeArrowheads="1"/>
          </p:cNvSpPr>
          <p:nvPr/>
        </p:nvSpPr>
        <p:spPr bwMode="auto">
          <a:xfrm>
            <a:off x="1871663" y="1528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9" name="Rectangle 10"/>
          <p:cNvSpPr>
            <a:spLocks noChangeArrowheads="1"/>
          </p:cNvSpPr>
          <p:nvPr/>
        </p:nvSpPr>
        <p:spPr bwMode="auto">
          <a:xfrm>
            <a:off x="0" y="228600"/>
            <a:ext cx="8991600" cy="6019800"/>
          </a:xfrm>
          <a:prstGeom prst="rect">
            <a:avLst/>
          </a:prstGeom>
          <a:solidFill>
            <a:schemeClr val="tx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0" name="Text Box 11"/>
          <p:cNvSpPr txBox="1">
            <a:spLocks noChangeArrowheads="1"/>
          </p:cNvSpPr>
          <p:nvPr/>
        </p:nvSpPr>
        <p:spPr bwMode="auto">
          <a:xfrm>
            <a:off x="3003550" y="6324600"/>
            <a:ext cx="247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latin typeface="Times New Roman" panose="02020603050405020304" pitchFamily="18" charset="0"/>
              </a:rPr>
              <a:t>图 两级页表结构 </a:t>
            </a:r>
            <a:endParaRPr kumimoji="1" lang="zh-CN" altLang="en-US" sz="2400" b="1">
              <a:latin typeface="Times New Roman" panose="02020603050405020304" pitchFamily="18" charset="0"/>
            </a:endParaRPr>
          </a:p>
        </p:txBody>
      </p:sp>
      <p:graphicFrame>
        <p:nvGraphicFramePr>
          <p:cNvPr id="6146" name="Object 12"/>
          <p:cNvGraphicFramePr>
            <a:graphicFrameLocks noChangeAspect="1"/>
          </p:cNvGraphicFramePr>
          <p:nvPr/>
        </p:nvGraphicFramePr>
        <p:xfrm>
          <a:off x="0" y="381000"/>
          <a:ext cx="9144000" cy="5992813"/>
        </p:xfrm>
        <a:graphic>
          <a:graphicData uri="http://schemas.openxmlformats.org/presentationml/2006/ole">
            <mc:AlternateContent xmlns:mc="http://schemas.openxmlformats.org/markup-compatibility/2006">
              <mc:Choice xmlns:v="urn:schemas-microsoft-com:vml" Requires="v">
                <p:oleObj spid="_x0000_s6145" name="Visio" r:id="rId1" imgW="4381500" imgH="3048000" progId="">
                  <p:embed/>
                </p:oleObj>
              </mc:Choice>
              <mc:Fallback>
                <p:oleObj name="Visio" r:id="rId1" imgW="4381500" imgH="3048000" progId="">
                  <p:embed/>
                  <p:pic>
                    <p:nvPicPr>
                      <p:cNvPr id="0" name="图片 6144"/>
                      <p:cNvPicPr>
                        <a:picLocks noChangeAspect="1"/>
                      </p:cNvPicPr>
                      <p:nvPr/>
                    </p:nvPicPr>
                    <p:blipFill>
                      <a:blip r:embed="rId2"/>
                      <a:stretch>
                        <a:fillRect/>
                      </a:stretch>
                    </p:blipFill>
                    <p:spPr>
                      <a:xfrm>
                        <a:off x="0" y="381000"/>
                        <a:ext cx="9144000" cy="5992813"/>
                      </a:xfrm>
                      <a:prstGeom prst="rect">
                        <a:avLst/>
                      </a:prstGeom>
                      <a:solidFill>
                        <a:srgbClr val="BBD2FF"/>
                      </a:solidFill>
                      <a:ln w="9525">
                        <a:noFill/>
                      </a:ln>
                    </p:spPr>
                  </p:pic>
                </p:oleObj>
              </mc:Fallback>
            </mc:AlternateContent>
          </a:graphicData>
        </a:graphic>
      </p:graphicFrame>
      <p:sp>
        <p:nvSpPr>
          <p:cNvPr id="6151" name="TextBox 8"/>
          <p:cNvSpPr txBox="1">
            <a:spLocks noChangeArrowheads="1"/>
          </p:cNvSpPr>
          <p:nvPr/>
        </p:nvSpPr>
        <p:spPr bwMode="auto">
          <a:xfrm>
            <a:off x="304800" y="4267200"/>
            <a:ext cx="27432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r>
              <a:rPr lang="zh-CN" altLang="en-US" b="1" dirty="0">
                <a:solidFill>
                  <a:srgbClr val="FF0000"/>
                </a:solidFill>
              </a:rPr>
              <a:t>也要为离散分配的页表建立外层页表</a:t>
            </a:r>
            <a:r>
              <a:rPr lang="en-US" altLang="zh-CN" b="1" dirty="0">
                <a:solidFill>
                  <a:srgbClr val="FF0000"/>
                </a:solidFill>
              </a:rPr>
              <a:t>(Outer Page Table)</a:t>
            </a:r>
            <a:r>
              <a:rPr lang="zh-CN" altLang="en-US" b="1" dirty="0">
                <a:solidFill>
                  <a:srgbClr val="FF0000"/>
                </a:solidFill>
              </a:rPr>
              <a:t>，在每个页表项中记录了页表页面的物理块号。</a:t>
            </a:r>
            <a:endParaRPr lang="en-US" altLang="zh-CN" b="1" dirty="0">
              <a:solidFill>
                <a:srgbClr val="FF0000"/>
              </a:solidFill>
            </a:endParaRPr>
          </a:p>
          <a:p>
            <a:pPr eaLnBrk="1" hangingPunct="1"/>
            <a:endParaRPr lang="zh-CN" altLang="en-US" dirty="0">
              <a:solidFill>
                <a:srgbClr val="FF0000"/>
              </a:solidFill>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rrowheads="1"/>
          </p:cNvSpPr>
          <p:nvPr>
            <p:ph/>
          </p:nvPr>
        </p:nvSpPr>
        <p:spPr>
          <a:xfrm>
            <a:off x="395536" y="548680"/>
            <a:ext cx="8305800" cy="5410200"/>
          </a:xfrm>
        </p:spPr>
        <p:txBody>
          <a:bodyPr/>
          <a:lstStyle/>
          <a:p>
            <a:pPr eaLnBrk="1" hangingPunct="1">
              <a:lnSpc>
                <a:spcPct val="110000"/>
              </a:lnSpc>
            </a:pPr>
            <a:endParaRPr lang="en-US" altLang="zh-CN" sz="2800" b="1" dirty="0" smtClean="0"/>
          </a:p>
          <a:p>
            <a:pPr eaLnBrk="1" hangingPunct="1">
              <a:lnSpc>
                <a:spcPct val="110000"/>
              </a:lnSpc>
            </a:pPr>
            <a:r>
              <a:rPr lang="zh-CN" altLang="en-US" sz="2800" b="1" dirty="0" smtClean="0"/>
              <a:t>地址变换机构中</a:t>
            </a:r>
            <a:r>
              <a:rPr lang="zh-CN" altLang="en-US" sz="2800" b="1" i="1" u="sng" dirty="0" smtClean="0">
                <a:solidFill>
                  <a:schemeClr val="folHlink"/>
                </a:solidFill>
              </a:rPr>
              <a:t>增设外层页表寄存器</a:t>
            </a:r>
            <a:r>
              <a:rPr lang="zh-CN" altLang="en-US" sz="2800" b="1" dirty="0" smtClean="0"/>
              <a:t>，用于存放外层页表的始址。地址映射步骤：</a:t>
            </a:r>
            <a:endParaRPr lang="en-US" altLang="zh-CN" sz="2800" b="1" dirty="0" smtClean="0"/>
          </a:p>
          <a:p>
            <a:pPr eaLnBrk="1" hangingPunct="1">
              <a:lnSpc>
                <a:spcPct val="110000"/>
              </a:lnSpc>
            </a:pPr>
            <a:endParaRPr lang="zh-CN" altLang="en-US" sz="2800" b="1" dirty="0" smtClean="0"/>
          </a:p>
          <a:p>
            <a:pPr lvl="1" eaLnBrk="1" hangingPunct="1">
              <a:lnSpc>
                <a:spcPct val="110000"/>
              </a:lnSpc>
            </a:pPr>
            <a:r>
              <a:rPr lang="zh-CN" altLang="en-US" b="1" dirty="0" smtClean="0"/>
              <a:t>利用逻辑地址中的外层页号，作为外层页表的索引，从中</a:t>
            </a:r>
            <a:r>
              <a:rPr lang="zh-CN" altLang="en-US" b="1" i="1" u="sng" dirty="0" smtClean="0">
                <a:solidFill>
                  <a:srgbClr val="FF0000"/>
                </a:solidFill>
              </a:rPr>
              <a:t>找到指定页表分页的始址</a:t>
            </a:r>
            <a:r>
              <a:rPr lang="zh-CN" altLang="en-US" b="1" dirty="0" smtClean="0"/>
              <a:t>，</a:t>
            </a:r>
            <a:endParaRPr lang="en-US" altLang="zh-CN" b="1" dirty="0" smtClean="0"/>
          </a:p>
          <a:p>
            <a:pPr lvl="1" eaLnBrk="1" hangingPunct="1">
              <a:lnSpc>
                <a:spcPct val="110000"/>
              </a:lnSpc>
            </a:pPr>
            <a:r>
              <a:rPr lang="zh-CN" altLang="en-US" b="1" dirty="0" smtClean="0"/>
              <a:t>再利用指定页表分页的索引，找到指定的页表项，即</a:t>
            </a:r>
            <a:r>
              <a:rPr lang="zh-CN" altLang="en-US" b="1" i="1" u="sng" dirty="0" smtClean="0">
                <a:solidFill>
                  <a:srgbClr val="FF0000"/>
                </a:solidFill>
              </a:rPr>
              <a:t>该页在内存的物理块号</a:t>
            </a:r>
            <a:r>
              <a:rPr lang="zh-CN" altLang="en-US" b="1" dirty="0" smtClean="0"/>
              <a:t>。</a:t>
            </a:r>
            <a:endParaRPr lang="zh-CN" altLang="en-US" b="1" dirty="0" smtClean="0"/>
          </a:p>
          <a:p>
            <a:pPr lvl="1" eaLnBrk="1" hangingPunct="1">
              <a:lnSpc>
                <a:spcPct val="110000"/>
              </a:lnSpc>
            </a:pPr>
            <a:r>
              <a:rPr lang="zh-CN" altLang="en-US" b="1" dirty="0" smtClean="0"/>
              <a:t>用该块号和页内地址即</a:t>
            </a:r>
            <a:r>
              <a:rPr lang="zh-CN" altLang="en-US" b="1" i="1" u="sng" dirty="0" smtClean="0">
                <a:solidFill>
                  <a:srgbClr val="FF0000"/>
                </a:solidFill>
              </a:rPr>
              <a:t>可构成访问的内存物理地址。   </a:t>
            </a:r>
            <a:endParaRPr lang="zh-CN" altLang="en-US" b="1" i="1" u="sng" dirty="0" smtClean="0">
              <a:solidFill>
                <a:srgbClr val="FF0000"/>
              </a:solidFill>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1871663" y="2490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95235"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9550" y="1755775"/>
            <a:ext cx="878205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rrowheads="1"/>
          </p:cNvSpPr>
          <p:nvPr>
            <p:ph type="title"/>
          </p:nvPr>
        </p:nvSpPr>
        <p:spPr/>
        <p:txBody>
          <a:bodyPr/>
          <a:lstStyle/>
          <a:p>
            <a:pPr eaLnBrk="1" hangingPunct="1"/>
            <a:r>
              <a:rPr lang="zh-CN" altLang="en-US" b="1" smtClean="0">
                <a:solidFill>
                  <a:schemeClr val="folHlink"/>
                </a:solidFill>
              </a:rPr>
              <a:t>（</a:t>
            </a:r>
            <a:r>
              <a:rPr lang="en-US" altLang="zh-CN" b="1" smtClean="0">
                <a:solidFill>
                  <a:schemeClr val="folHlink"/>
                </a:solidFill>
              </a:rPr>
              <a:t>2</a:t>
            </a:r>
            <a:r>
              <a:rPr lang="zh-CN" altLang="en-US" b="1" smtClean="0">
                <a:solidFill>
                  <a:schemeClr val="folHlink"/>
                </a:solidFill>
              </a:rPr>
              <a:t>）多级页表 </a:t>
            </a:r>
            <a:endParaRPr lang="zh-CN" altLang="en-US" b="1" smtClean="0">
              <a:solidFill>
                <a:schemeClr val="folHlink"/>
              </a:solidFill>
            </a:endParaRPr>
          </a:p>
        </p:txBody>
      </p:sp>
      <p:sp>
        <p:nvSpPr>
          <p:cNvPr id="96259" name="Rectangle 3"/>
          <p:cNvSpPr>
            <a:spLocks noGrp="1" noRot="1" noChangeArrowheads="1"/>
          </p:cNvSpPr>
          <p:nvPr>
            <p:ph type="body" idx="1"/>
          </p:nvPr>
        </p:nvSpPr>
        <p:spPr/>
        <p:txBody>
          <a:bodyPr/>
          <a:lstStyle/>
          <a:p>
            <a:pPr eaLnBrk="1" hangingPunct="1">
              <a:lnSpc>
                <a:spcPct val="120000"/>
              </a:lnSpc>
            </a:pPr>
            <a:r>
              <a:rPr lang="zh-CN" altLang="en-US" b="1" dirty="0" smtClean="0"/>
              <a:t>对于</a:t>
            </a:r>
            <a:r>
              <a:rPr lang="en-US" altLang="zh-CN" b="1" dirty="0" smtClean="0"/>
              <a:t>64</a:t>
            </a:r>
            <a:r>
              <a:rPr lang="zh-CN" altLang="en-US" b="1" dirty="0" smtClean="0"/>
              <a:t>位的机器，采用两级页表仍然有困难，必须采用多级页表。</a:t>
            </a:r>
            <a:endParaRPr lang="zh-CN" altLang="en-US" b="1" dirty="0" smtClean="0"/>
          </a:p>
          <a:p>
            <a:pPr eaLnBrk="1" hangingPunct="1">
              <a:lnSpc>
                <a:spcPct val="120000"/>
              </a:lnSpc>
            </a:pPr>
            <a:r>
              <a:rPr lang="zh-CN" altLang="en-US" b="1" dirty="0" smtClean="0"/>
              <a:t>将外层页表再进行分页，也就是将各分页离散地装入到不相邻接的物理块中，再利用第</a:t>
            </a:r>
            <a:r>
              <a:rPr lang="en-US" altLang="zh-CN" b="1" dirty="0" smtClean="0"/>
              <a:t>2</a:t>
            </a:r>
            <a:r>
              <a:rPr lang="zh-CN" altLang="en-US" b="1" dirty="0" smtClean="0"/>
              <a:t>级的外层页表来映射它们之间的关系 ，来实现分页存储管理。 </a:t>
            </a:r>
            <a:endParaRPr lang="zh-CN" altLang="en-US" b="1" dirty="0" smtClean="0"/>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rrowheads="1"/>
          </p:cNvSpPr>
          <p:nvPr>
            <p:ph type="title"/>
          </p:nvPr>
        </p:nvSpPr>
        <p:spPr>
          <a:noFill/>
        </p:spPr>
        <p:txBody>
          <a:bodyPr/>
          <a:lstStyle/>
          <a:p>
            <a:r>
              <a:rPr lang="en-US" altLang="zh-CN" b="1" dirty="0" smtClean="0">
                <a:solidFill>
                  <a:schemeClr val="folHlink"/>
                </a:solidFill>
              </a:rPr>
              <a:t>4.6 </a:t>
            </a:r>
            <a:r>
              <a:rPr lang="zh-CN" altLang="en-US" b="1" dirty="0" smtClean="0">
                <a:solidFill>
                  <a:schemeClr val="folHlink"/>
                </a:solidFill>
              </a:rPr>
              <a:t>分段存储管理方式</a:t>
            </a:r>
            <a:endParaRPr lang="zh-CN" altLang="en-US" b="1" dirty="0" smtClean="0">
              <a:solidFill>
                <a:schemeClr val="folHlink"/>
              </a:solidFill>
            </a:endParaRPr>
          </a:p>
        </p:txBody>
      </p:sp>
      <p:sp>
        <p:nvSpPr>
          <p:cNvPr id="169987" name="Rectangle 3"/>
          <p:cNvSpPr>
            <a:spLocks noGrp="1" noRot="1" noChangeArrowheads="1"/>
          </p:cNvSpPr>
          <p:nvPr>
            <p:ph type="body" idx="1"/>
          </p:nvPr>
        </p:nvSpPr>
        <p:spPr>
          <a:xfrm>
            <a:off x="533400" y="1484784"/>
            <a:ext cx="8077200" cy="4956175"/>
          </a:xfrm>
        </p:spPr>
        <p:txBody>
          <a:bodyPr/>
          <a:lstStyle/>
          <a:p>
            <a:pPr>
              <a:lnSpc>
                <a:spcPct val="90000"/>
              </a:lnSpc>
              <a:defRPr/>
            </a:pPr>
            <a:r>
              <a:rPr lang="en-US" altLang="zh-CN" b="1" dirty="0" smtClean="0">
                <a:solidFill>
                  <a:schemeClr val="folHlink"/>
                </a:solidFill>
              </a:rPr>
              <a:t>4.6.1.</a:t>
            </a:r>
            <a:r>
              <a:rPr lang="zh-CN" altLang="en-US" b="1" dirty="0" smtClean="0">
                <a:solidFill>
                  <a:schemeClr val="folHlink"/>
                </a:solidFill>
              </a:rPr>
              <a:t>引入分段的原因</a:t>
            </a:r>
            <a:endParaRPr lang="zh-CN" altLang="en-US" b="1" dirty="0" smtClean="0">
              <a:solidFill>
                <a:schemeClr val="folHlink"/>
              </a:solidFill>
            </a:endParaRPr>
          </a:p>
          <a:p>
            <a:pPr lvl="1">
              <a:lnSpc>
                <a:spcPct val="90000"/>
              </a:lnSpc>
              <a:defRPr/>
            </a:pPr>
            <a:r>
              <a:rPr lang="zh-CN" altLang="en-US" b="1" dirty="0" smtClean="0">
                <a:solidFill>
                  <a:schemeClr val="folHlink"/>
                </a:solidFill>
              </a:rPr>
              <a:t>（</a:t>
            </a:r>
            <a:r>
              <a:rPr lang="en-US" altLang="zh-CN" b="1" dirty="0" smtClean="0">
                <a:solidFill>
                  <a:schemeClr val="folHlink"/>
                </a:solidFill>
              </a:rPr>
              <a:t>1</a:t>
            </a:r>
            <a:r>
              <a:rPr lang="zh-CN" altLang="en-US" b="1" dirty="0" smtClean="0">
                <a:solidFill>
                  <a:schemeClr val="folHlink"/>
                </a:solidFill>
              </a:rPr>
              <a:t>）方便编程</a:t>
            </a:r>
            <a:endParaRPr lang="zh-CN" altLang="en-US" b="1" dirty="0" smtClean="0">
              <a:solidFill>
                <a:schemeClr val="folHlink"/>
              </a:solidFill>
            </a:endParaRPr>
          </a:p>
          <a:p>
            <a:pPr lvl="1">
              <a:lnSpc>
                <a:spcPct val="90000"/>
              </a:lnSpc>
              <a:buFont typeface="Wingdings" panose="05000000000000000000" pitchFamily="2" charset="2"/>
              <a:buNone/>
              <a:defRPr/>
            </a:pPr>
            <a:r>
              <a:rPr lang="zh-CN" altLang="en-US" b="1" dirty="0" smtClean="0"/>
              <a:t>根据编程人员的需要将程序分成代码段、数据</a:t>
            </a:r>
            <a:endParaRPr lang="zh-CN" altLang="en-US" b="1" dirty="0" smtClean="0"/>
          </a:p>
          <a:p>
            <a:pPr lvl="1">
              <a:lnSpc>
                <a:spcPct val="90000"/>
              </a:lnSpc>
              <a:buFont typeface="Wingdings" panose="05000000000000000000" pitchFamily="2" charset="2"/>
              <a:buNone/>
              <a:defRPr/>
            </a:pPr>
            <a:r>
              <a:rPr lang="zh-CN" altLang="en-US" b="1" dirty="0" smtClean="0"/>
              <a:t>段等独立信息段。</a:t>
            </a:r>
            <a:endParaRPr lang="zh-CN" altLang="en-US" b="1" dirty="0" smtClean="0"/>
          </a:p>
          <a:p>
            <a:pPr lvl="1">
              <a:lnSpc>
                <a:spcPct val="90000"/>
              </a:lnSpc>
              <a:defRPr/>
            </a:pPr>
            <a:r>
              <a:rPr lang="zh-CN" altLang="en-US" b="1" dirty="0" smtClean="0">
                <a:solidFill>
                  <a:schemeClr val="folHlink"/>
                </a:solidFill>
                <a:effectLst>
                  <a:outerShdw blurRad="38100" dist="38100" dir="2700000" algn="tl">
                    <a:srgbClr val="000000"/>
                  </a:outerShdw>
                </a:effectLst>
              </a:rPr>
              <a:t>（</a:t>
            </a:r>
            <a:r>
              <a:rPr lang="en-US" altLang="zh-CN" b="1" dirty="0" smtClean="0">
                <a:solidFill>
                  <a:schemeClr val="folHlink"/>
                </a:solidFill>
                <a:effectLst>
                  <a:outerShdw blurRad="38100" dist="38100" dir="2700000" algn="tl">
                    <a:srgbClr val="000000"/>
                  </a:outerShdw>
                </a:effectLst>
              </a:rPr>
              <a:t>2</a:t>
            </a:r>
            <a:r>
              <a:rPr lang="zh-CN" altLang="en-US" b="1" dirty="0" smtClean="0">
                <a:solidFill>
                  <a:schemeClr val="folHlink"/>
                </a:solidFill>
                <a:effectLst>
                  <a:outerShdw blurRad="38100" dist="38100" dir="2700000" algn="tl">
                    <a:srgbClr val="000000"/>
                  </a:outerShdw>
                </a:effectLst>
              </a:rPr>
              <a:t>）信息共享</a:t>
            </a:r>
            <a:endParaRPr lang="zh-CN" altLang="en-US" dirty="0" smtClean="0">
              <a:solidFill>
                <a:schemeClr val="folHlink"/>
              </a:solidFill>
            </a:endParaRPr>
          </a:p>
          <a:p>
            <a:pPr lvl="1">
              <a:lnSpc>
                <a:spcPct val="90000"/>
              </a:lnSpc>
              <a:buFont typeface="Wingdings" panose="05000000000000000000" pitchFamily="2" charset="2"/>
              <a:buNone/>
              <a:defRPr/>
            </a:pPr>
            <a:r>
              <a:rPr lang="zh-CN" altLang="en-US" b="1" dirty="0" smtClean="0"/>
              <a:t>根据编程人员的需要对这些段进行更有效的信</a:t>
            </a:r>
            <a:endParaRPr lang="zh-CN" altLang="en-US" b="1" dirty="0" smtClean="0"/>
          </a:p>
          <a:p>
            <a:pPr lvl="1">
              <a:lnSpc>
                <a:spcPct val="90000"/>
              </a:lnSpc>
              <a:buFont typeface="Wingdings" panose="05000000000000000000" pitchFamily="2" charset="2"/>
              <a:buNone/>
              <a:defRPr/>
            </a:pPr>
            <a:r>
              <a:rPr lang="zh-CN" altLang="en-US" b="1" dirty="0" smtClean="0"/>
              <a:t>息共享和保护。</a:t>
            </a:r>
            <a:endParaRPr lang="zh-CN" altLang="en-US" b="1" dirty="0" smtClean="0"/>
          </a:p>
          <a:p>
            <a:pPr lvl="1">
              <a:lnSpc>
                <a:spcPct val="90000"/>
              </a:lnSpc>
              <a:buFont typeface="Wingdings" panose="05000000000000000000" pitchFamily="2" charset="2"/>
              <a:buNone/>
              <a:defRPr/>
            </a:pPr>
            <a:r>
              <a:rPr lang="zh-CN" altLang="en-US" b="1" dirty="0" smtClean="0">
                <a:solidFill>
                  <a:schemeClr val="folHlink"/>
                </a:solidFill>
              </a:rPr>
              <a:t>（</a:t>
            </a:r>
            <a:r>
              <a:rPr lang="en-US" altLang="zh-CN" b="1" dirty="0" smtClean="0">
                <a:solidFill>
                  <a:schemeClr val="folHlink"/>
                </a:solidFill>
              </a:rPr>
              <a:t>3</a:t>
            </a:r>
            <a:r>
              <a:rPr lang="zh-CN" altLang="en-US" b="1" dirty="0" smtClean="0">
                <a:solidFill>
                  <a:schemeClr val="folHlink"/>
                </a:solidFill>
              </a:rPr>
              <a:t>）信息保护</a:t>
            </a:r>
            <a:endParaRPr lang="zh-CN" altLang="en-US" b="1" dirty="0" smtClean="0">
              <a:solidFill>
                <a:schemeClr val="folHlink"/>
              </a:solidFill>
            </a:endParaRPr>
          </a:p>
          <a:p>
            <a:pPr lvl="1">
              <a:lnSpc>
                <a:spcPct val="90000"/>
              </a:lnSpc>
              <a:buFont typeface="Wingdings" panose="05000000000000000000" pitchFamily="2" charset="2"/>
              <a:buNone/>
              <a:defRPr/>
            </a:pPr>
            <a:r>
              <a:rPr lang="zh-CN" altLang="en-US" b="1" dirty="0" smtClean="0"/>
              <a:t>分段管理方式能更有效和方便地实现信息保护</a:t>
            </a:r>
            <a:endParaRPr lang="zh-CN" altLang="en-US" b="1" dirty="0" smtClean="0"/>
          </a:p>
          <a:p>
            <a:pPr lvl="1">
              <a:lnSpc>
                <a:spcPct val="90000"/>
              </a:lnSpc>
              <a:buFont typeface="Wingdings" panose="05000000000000000000" pitchFamily="2" charset="2"/>
              <a:buNone/>
              <a:defRPr/>
            </a:pPr>
            <a:r>
              <a:rPr lang="zh-CN" altLang="en-US" b="1" dirty="0" smtClean="0"/>
              <a:t>功能。 </a:t>
            </a:r>
            <a:endParaRPr lang="zh-CN" altLang="en-US" b="1" dirty="0" smtClean="0"/>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rrowheads="1"/>
          </p:cNvSpPr>
          <p:nvPr>
            <p:ph type="title"/>
          </p:nvPr>
        </p:nvSpPr>
        <p:spPr>
          <a:noFill/>
        </p:spPr>
        <p:txBody>
          <a:bodyPr/>
          <a:lstStyle/>
          <a:p>
            <a:r>
              <a:rPr lang="en-US" altLang="zh-CN" b="1" smtClean="0">
                <a:solidFill>
                  <a:schemeClr val="folHlink"/>
                </a:solidFill>
              </a:rPr>
              <a:t>4.5.1</a:t>
            </a:r>
            <a:r>
              <a:rPr lang="zh-CN" altLang="en-US" b="1" smtClean="0">
                <a:solidFill>
                  <a:schemeClr val="folHlink"/>
                </a:solidFill>
              </a:rPr>
              <a:t>引入分段的原因</a:t>
            </a:r>
            <a:endParaRPr lang="zh-CN" altLang="en-US" b="1" smtClean="0">
              <a:solidFill>
                <a:schemeClr val="folHlink"/>
              </a:solidFill>
            </a:endParaRPr>
          </a:p>
        </p:txBody>
      </p:sp>
      <p:sp>
        <p:nvSpPr>
          <p:cNvPr id="171011" name="Rectangle 3"/>
          <p:cNvSpPr>
            <a:spLocks noGrp="1" noRot="1" noChangeArrowheads="1"/>
          </p:cNvSpPr>
          <p:nvPr>
            <p:ph type="body" idx="1"/>
          </p:nvPr>
        </p:nvSpPr>
        <p:spPr/>
        <p:txBody>
          <a:bodyPr/>
          <a:lstStyle/>
          <a:p>
            <a:pPr>
              <a:buFont typeface="Wingdings" panose="05000000000000000000" pitchFamily="2" charset="2"/>
              <a:buNone/>
              <a:defRPr/>
            </a:pPr>
            <a:r>
              <a:rPr lang="zh-CN" altLang="en-US" sz="3600" b="1" smtClean="0">
                <a:solidFill>
                  <a:schemeClr val="folHlink"/>
                </a:solidFill>
                <a:effectLst>
                  <a:outerShdw blurRad="38100" dist="38100" dir="2700000" algn="tl">
                    <a:srgbClr val="000000"/>
                  </a:outerShdw>
                </a:effectLst>
              </a:rPr>
              <a:t>（</a:t>
            </a:r>
            <a:r>
              <a:rPr lang="en-US" altLang="zh-CN" sz="3600" b="1" smtClean="0">
                <a:solidFill>
                  <a:schemeClr val="folHlink"/>
                </a:solidFill>
                <a:effectLst>
                  <a:outerShdw blurRad="38100" dist="38100" dir="2700000" algn="tl">
                    <a:srgbClr val="000000"/>
                  </a:outerShdw>
                </a:effectLst>
              </a:rPr>
              <a:t>4</a:t>
            </a:r>
            <a:r>
              <a:rPr lang="zh-CN" altLang="en-US" sz="3600" b="1" smtClean="0">
                <a:solidFill>
                  <a:schemeClr val="folHlink"/>
                </a:solidFill>
                <a:effectLst>
                  <a:outerShdw blurRad="38100" dist="38100" dir="2700000" algn="tl">
                    <a:srgbClr val="000000"/>
                  </a:outerShdw>
                </a:effectLst>
              </a:rPr>
              <a:t>）动态增长</a:t>
            </a:r>
            <a:endParaRPr lang="zh-CN" altLang="en-US" sz="3600" b="1" smtClean="0">
              <a:solidFill>
                <a:schemeClr val="folHlink"/>
              </a:solidFill>
              <a:effectLst>
                <a:outerShdw blurRad="38100" dist="38100" dir="2700000" algn="tl">
                  <a:srgbClr val="000000"/>
                </a:outerShdw>
              </a:effectLst>
            </a:endParaRPr>
          </a:p>
          <a:p>
            <a:pPr>
              <a:buFont typeface="Wingdings" panose="05000000000000000000" pitchFamily="2" charset="2"/>
              <a:buNone/>
              <a:defRPr/>
            </a:pPr>
            <a:r>
              <a:rPr lang="zh-CN" altLang="en-US" b="1" smtClean="0"/>
              <a:t>分段存储管理方式却能较好地解决数据段增</a:t>
            </a:r>
            <a:endParaRPr lang="zh-CN" altLang="en-US" b="1" smtClean="0"/>
          </a:p>
          <a:p>
            <a:pPr>
              <a:buFont typeface="Wingdings" panose="05000000000000000000" pitchFamily="2" charset="2"/>
              <a:buNone/>
              <a:defRPr/>
            </a:pPr>
            <a:r>
              <a:rPr lang="zh-CN" altLang="en-US" b="1" smtClean="0"/>
              <a:t>长 。</a:t>
            </a:r>
            <a:endParaRPr lang="zh-CN" altLang="en-US" b="1" smtClean="0"/>
          </a:p>
          <a:p>
            <a:pPr>
              <a:buFont typeface="Wingdings" panose="05000000000000000000" pitchFamily="2" charset="2"/>
              <a:buNone/>
              <a:defRPr/>
            </a:pPr>
            <a:r>
              <a:rPr lang="zh-CN" altLang="en-US" b="1" smtClean="0">
                <a:solidFill>
                  <a:schemeClr val="folHlink"/>
                </a:solidFill>
                <a:effectLst>
                  <a:outerShdw blurRad="38100" dist="38100" dir="2700000" algn="tl">
                    <a:srgbClr val="000000"/>
                  </a:outerShdw>
                </a:effectLst>
              </a:rPr>
              <a:t>（</a:t>
            </a:r>
            <a:r>
              <a:rPr lang="en-US" altLang="zh-CN" b="1" smtClean="0">
                <a:solidFill>
                  <a:schemeClr val="folHlink"/>
                </a:solidFill>
                <a:effectLst>
                  <a:outerShdw blurRad="38100" dist="38100" dir="2700000" algn="tl">
                    <a:srgbClr val="000000"/>
                  </a:outerShdw>
                </a:effectLst>
              </a:rPr>
              <a:t>5</a:t>
            </a:r>
            <a:r>
              <a:rPr lang="zh-CN" altLang="en-US" b="1" smtClean="0">
                <a:solidFill>
                  <a:schemeClr val="folHlink"/>
                </a:solidFill>
                <a:effectLst>
                  <a:outerShdw blurRad="38100" dist="38100" dir="2700000" algn="tl">
                    <a:srgbClr val="000000"/>
                  </a:outerShdw>
                </a:effectLst>
              </a:rPr>
              <a:t>）动态链接</a:t>
            </a:r>
            <a:endParaRPr lang="zh-CN" altLang="en-US" b="1" smtClean="0">
              <a:solidFill>
                <a:schemeClr val="folHlink"/>
              </a:solidFill>
            </a:endParaRPr>
          </a:p>
          <a:p>
            <a:pPr>
              <a:defRPr/>
            </a:pPr>
            <a:r>
              <a:rPr lang="zh-CN" altLang="en-US" b="1" smtClean="0"/>
              <a:t>程序运行时，先将主程序所对应的目标程序装入内存并启动运行，当运行过程中又需要调用某段时，才将该段调入内存并进行链接。</a:t>
            </a:r>
            <a:endParaRPr lang="zh-CN" altLang="en-US" b="1" smtClean="0"/>
          </a:p>
          <a:p>
            <a:pPr>
              <a:defRPr/>
            </a:pPr>
            <a:endParaRPr lang="zh-CN" altLang="en-US" b="1" smtClean="0"/>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rrowheads="1"/>
          </p:cNvSpPr>
          <p:nvPr>
            <p:ph type="title"/>
          </p:nvPr>
        </p:nvSpPr>
        <p:spPr>
          <a:xfrm>
            <a:off x="301625" y="-99392"/>
            <a:ext cx="8540750" cy="1143000"/>
          </a:xfrm>
        </p:spPr>
        <p:txBody>
          <a:bodyPr/>
          <a:lstStyle/>
          <a:p>
            <a:r>
              <a:rPr lang="en-US" altLang="zh-CN" b="1" u="sng" dirty="0" smtClean="0">
                <a:solidFill>
                  <a:schemeClr val="folHlink"/>
                </a:solidFill>
                <a:ea typeface="仿宋_GB2312" pitchFamily="49" charset="-122"/>
              </a:rPr>
              <a:t>4.6.2  </a:t>
            </a:r>
            <a:r>
              <a:rPr lang="zh-CN" altLang="en-US" b="1" u="sng" dirty="0" smtClean="0">
                <a:solidFill>
                  <a:schemeClr val="folHlink"/>
                </a:solidFill>
                <a:ea typeface="仿宋_GB2312" pitchFamily="49" charset="-122"/>
              </a:rPr>
              <a:t>分段存储基本原理</a:t>
            </a:r>
            <a:endParaRPr lang="zh-CN" altLang="en-US" u="sng" dirty="0" smtClean="0">
              <a:solidFill>
                <a:schemeClr val="folHlink"/>
              </a:solidFill>
              <a:ea typeface="仿宋_GB2312" pitchFamily="49" charset="-122"/>
            </a:endParaRPr>
          </a:p>
        </p:txBody>
      </p:sp>
      <p:sp>
        <p:nvSpPr>
          <p:cNvPr id="160771" name="Rectangle 3"/>
          <p:cNvSpPr>
            <a:spLocks noGrp="1" noRot="1" noChangeArrowheads="1"/>
          </p:cNvSpPr>
          <p:nvPr>
            <p:ph type="body" idx="1"/>
          </p:nvPr>
        </p:nvSpPr>
        <p:spPr>
          <a:xfrm>
            <a:off x="381000" y="980728"/>
            <a:ext cx="8229600" cy="4498975"/>
          </a:xfrm>
        </p:spPr>
        <p:txBody>
          <a:bodyPr/>
          <a:lstStyle/>
          <a:p>
            <a:pPr>
              <a:defRPr/>
            </a:pPr>
            <a:r>
              <a:rPr lang="en-US" altLang="zh-CN" sz="2800" b="1" dirty="0" smtClean="0">
                <a:solidFill>
                  <a:srgbClr val="FF0000"/>
                </a:solidFill>
              </a:rPr>
              <a:t>1. </a:t>
            </a:r>
            <a:r>
              <a:rPr lang="zh-CN" altLang="en-US" sz="2800" b="1" dirty="0" smtClean="0">
                <a:solidFill>
                  <a:srgbClr val="FF0000"/>
                </a:solidFill>
              </a:rPr>
              <a:t>分段</a:t>
            </a:r>
            <a:endParaRPr lang="zh-CN" altLang="en-US" sz="2800" b="1" dirty="0" smtClean="0">
              <a:solidFill>
                <a:srgbClr val="FF0000"/>
              </a:solidFill>
            </a:endParaRPr>
          </a:p>
          <a:p>
            <a:pPr>
              <a:defRPr/>
            </a:pPr>
            <a:r>
              <a:rPr lang="zh-CN" altLang="en-US" sz="2800" b="1" dirty="0" smtClean="0"/>
              <a:t>在分段存储管理方式中，作业的地址空间被划分为若干个段，每个段定义了一组逻辑信息。例如，有</a:t>
            </a:r>
            <a:r>
              <a:rPr lang="zh-CN" altLang="en-US" sz="2800" b="1" i="1" u="sng" dirty="0" smtClean="0">
                <a:solidFill>
                  <a:srgbClr val="FF0000"/>
                </a:solidFill>
              </a:rPr>
              <a:t>主程序段</a:t>
            </a:r>
            <a:r>
              <a:rPr lang="en-US" altLang="zh-CN" sz="2800" b="1" i="1" u="sng" dirty="0" smtClean="0">
                <a:solidFill>
                  <a:srgbClr val="FF0000"/>
                </a:solidFill>
              </a:rPr>
              <a:t>MAIN</a:t>
            </a:r>
            <a:r>
              <a:rPr lang="zh-CN" altLang="en-US" sz="2800" b="1" i="1" u="sng" dirty="0" smtClean="0">
                <a:solidFill>
                  <a:srgbClr val="FF0000"/>
                </a:solidFill>
              </a:rPr>
              <a:t>、子程序段</a:t>
            </a:r>
            <a:r>
              <a:rPr lang="en-US" altLang="zh-CN" sz="2800" b="1" i="1" u="sng" dirty="0" smtClean="0">
                <a:solidFill>
                  <a:srgbClr val="FF0000"/>
                </a:solidFill>
              </a:rPr>
              <a:t>X</a:t>
            </a:r>
            <a:r>
              <a:rPr lang="zh-CN" altLang="en-US" sz="2800" b="1" i="1" u="sng" dirty="0" smtClean="0">
                <a:solidFill>
                  <a:srgbClr val="FF0000"/>
                </a:solidFill>
              </a:rPr>
              <a:t>、数据段</a:t>
            </a:r>
            <a:r>
              <a:rPr lang="en-US" altLang="zh-CN" sz="2800" b="1" i="1" u="sng" dirty="0" smtClean="0">
                <a:solidFill>
                  <a:srgbClr val="FF0000"/>
                </a:solidFill>
              </a:rPr>
              <a:t>D </a:t>
            </a:r>
            <a:r>
              <a:rPr lang="zh-CN" altLang="en-US" sz="2800" b="1" i="1" u="sng" dirty="0" smtClean="0">
                <a:solidFill>
                  <a:srgbClr val="FF0000"/>
                </a:solidFill>
              </a:rPr>
              <a:t>及栈段</a:t>
            </a:r>
            <a:r>
              <a:rPr lang="en-US" altLang="zh-CN" sz="2800" b="1" i="1" u="sng" dirty="0" smtClean="0">
                <a:solidFill>
                  <a:srgbClr val="FF0000"/>
                </a:solidFill>
              </a:rPr>
              <a:t>S</a:t>
            </a:r>
            <a:r>
              <a:rPr lang="zh-CN" altLang="en-US" sz="2800" b="1" dirty="0" smtClean="0"/>
              <a:t>等。</a:t>
            </a:r>
            <a:endParaRPr lang="en-US" altLang="zh-CN" sz="2800" b="1" dirty="0" smtClean="0"/>
          </a:p>
          <a:p>
            <a:pPr>
              <a:defRPr/>
            </a:pPr>
            <a:r>
              <a:rPr lang="zh-CN" altLang="en-US" sz="2800" b="1" dirty="0" smtClean="0">
                <a:effectLst>
                  <a:outerShdw blurRad="38100" dist="38100" dir="2700000" algn="tl">
                    <a:srgbClr val="000000"/>
                  </a:outerShdw>
                </a:effectLst>
                <a:latin typeface="仿宋_GB2312" pitchFamily="49" charset="-122"/>
                <a:ea typeface="仿宋_GB2312" pitchFamily="49" charset="-122"/>
              </a:rPr>
              <a:t>每个段有自己的名字和长度。程序的逻辑地址是由段名（段号）和段内偏移量决定。每个段的逻辑地址从</a:t>
            </a:r>
            <a:r>
              <a:rPr lang="en-US" altLang="zh-CN" sz="2800" b="1" dirty="0" smtClean="0">
                <a:effectLst>
                  <a:outerShdw blurRad="38100" dist="38100" dir="2700000" algn="tl">
                    <a:srgbClr val="000000"/>
                  </a:outerShdw>
                </a:effectLst>
                <a:latin typeface="仿宋_GB2312" pitchFamily="49" charset="-122"/>
                <a:ea typeface="仿宋_GB2312" pitchFamily="49" charset="-122"/>
              </a:rPr>
              <a:t>0</a:t>
            </a:r>
            <a:r>
              <a:rPr lang="zh-CN" altLang="en-US" sz="2800" b="1" dirty="0" smtClean="0">
                <a:effectLst>
                  <a:outerShdw blurRad="38100" dist="38100" dir="2700000" algn="tl">
                    <a:srgbClr val="000000"/>
                  </a:outerShdw>
                </a:effectLst>
                <a:latin typeface="仿宋_GB2312" pitchFamily="49" charset="-122"/>
                <a:ea typeface="仿宋_GB2312" pitchFamily="49" charset="-122"/>
              </a:rPr>
              <a:t>开始编址</a:t>
            </a:r>
            <a:r>
              <a:rPr lang="en-US" altLang="zh-CN" sz="2800" b="1" dirty="0" smtClean="0">
                <a:effectLst>
                  <a:outerShdw blurRad="38100" dist="38100" dir="2700000" algn="tl">
                    <a:srgbClr val="000000"/>
                  </a:outerShdw>
                </a:effectLst>
                <a:latin typeface="仿宋_GB2312" pitchFamily="49" charset="-122"/>
                <a:ea typeface="仿宋_GB2312" pitchFamily="49" charset="-122"/>
              </a:rPr>
              <a:t>.</a:t>
            </a:r>
            <a:endParaRPr lang="en-US" altLang="zh-CN" sz="2800" b="1" dirty="0" smtClean="0">
              <a:effectLst>
                <a:outerShdw blurRad="38100" dist="38100" dir="2700000" algn="tl">
                  <a:srgbClr val="000000"/>
                </a:outerShdw>
              </a:effectLst>
              <a:latin typeface="仿宋_GB2312" pitchFamily="49" charset="-122"/>
              <a:ea typeface="仿宋_GB2312" pitchFamily="49" charset="-122"/>
            </a:endParaRPr>
          </a:p>
        </p:txBody>
      </p:sp>
      <p:grpSp>
        <p:nvGrpSpPr>
          <p:cNvPr id="13" name="Group 12"/>
          <p:cNvGrpSpPr/>
          <p:nvPr/>
        </p:nvGrpSpPr>
        <p:grpSpPr bwMode="auto">
          <a:xfrm>
            <a:off x="990600" y="4738254"/>
            <a:ext cx="7239000" cy="1859223"/>
            <a:chOff x="2700" y="6185"/>
            <a:chExt cx="4680" cy="1370"/>
          </a:xfrm>
          <a:solidFill>
            <a:schemeClr val="tx2">
              <a:lumMod val="20000"/>
              <a:lumOff val="80000"/>
            </a:schemeClr>
          </a:solidFill>
        </p:grpSpPr>
        <p:grpSp>
          <p:nvGrpSpPr>
            <p:cNvPr id="14" name="Group 13"/>
            <p:cNvGrpSpPr/>
            <p:nvPr/>
          </p:nvGrpSpPr>
          <p:grpSpPr bwMode="auto">
            <a:xfrm>
              <a:off x="2700" y="6185"/>
              <a:ext cx="4680" cy="945"/>
              <a:chOff x="2700" y="6497"/>
              <a:chExt cx="4680" cy="945"/>
            </a:xfrm>
            <a:grpFill/>
          </p:grpSpPr>
          <p:grpSp>
            <p:nvGrpSpPr>
              <p:cNvPr id="16" name="Group 14"/>
              <p:cNvGrpSpPr/>
              <p:nvPr/>
            </p:nvGrpSpPr>
            <p:grpSpPr bwMode="auto">
              <a:xfrm>
                <a:off x="2700" y="6974"/>
                <a:ext cx="4680" cy="468"/>
                <a:chOff x="2700" y="6506"/>
                <a:chExt cx="4680" cy="468"/>
              </a:xfrm>
              <a:grpFill/>
            </p:grpSpPr>
            <p:sp>
              <p:nvSpPr>
                <p:cNvPr id="18" name="Text Box 15"/>
                <p:cNvSpPr txBox="1">
                  <a:spLocks noChangeArrowheads="1"/>
                </p:cNvSpPr>
                <p:nvPr/>
              </p:nvSpPr>
              <p:spPr bwMode="auto">
                <a:xfrm>
                  <a:off x="2700" y="6506"/>
                  <a:ext cx="1440" cy="468"/>
                </a:xfrm>
                <a:prstGeom prst="rect">
                  <a:avLst/>
                </a:prstGeom>
                <a:grp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000000"/>
                      </a:solidFill>
                      <a:latin typeface="Times New Roman" panose="02020603050405020304" pitchFamily="18" charset="0"/>
                    </a:rPr>
                    <a:t>段号</a:t>
                  </a:r>
                  <a:endParaRPr lang="zh-CN" altLang="en-US" sz="2400" b="1" dirty="0">
                    <a:solidFill>
                      <a:srgbClr val="000000"/>
                    </a:solidFill>
                    <a:latin typeface="Times New Roman" panose="02020603050405020304" pitchFamily="18" charset="0"/>
                  </a:endParaRPr>
                </a:p>
              </p:txBody>
            </p:sp>
            <p:sp>
              <p:nvSpPr>
                <p:cNvPr id="19" name="Text Box 16"/>
                <p:cNvSpPr txBox="1">
                  <a:spLocks noChangeArrowheads="1"/>
                </p:cNvSpPr>
                <p:nvPr/>
              </p:nvSpPr>
              <p:spPr bwMode="auto">
                <a:xfrm>
                  <a:off x="4140" y="6506"/>
                  <a:ext cx="3240" cy="468"/>
                </a:xfrm>
                <a:prstGeom prst="rect">
                  <a:avLst/>
                </a:prstGeom>
                <a:grp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000000"/>
                      </a:solidFill>
                      <a:latin typeface="Times New Roman" panose="02020603050405020304" pitchFamily="18" charset="0"/>
                    </a:rPr>
                    <a:t>段内偏移量</a:t>
                  </a:r>
                  <a:endParaRPr lang="zh-CN" altLang="en-US" sz="2400" b="1" dirty="0">
                    <a:solidFill>
                      <a:srgbClr val="000000"/>
                    </a:solidFill>
                    <a:latin typeface="Times New Roman" panose="02020603050405020304" pitchFamily="18" charset="0"/>
                  </a:endParaRPr>
                </a:p>
              </p:txBody>
            </p:sp>
          </p:grpSp>
          <p:sp>
            <p:nvSpPr>
              <p:cNvPr id="17" name="Text Box 17"/>
              <p:cNvSpPr txBox="1">
                <a:spLocks noChangeArrowheads="1"/>
              </p:cNvSpPr>
              <p:nvPr/>
            </p:nvSpPr>
            <p:spPr bwMode="auto">
              <a:xfrm>
                <a:off x="2700" y="6497"/>
                <a:ext cx="4680" cy="46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dirty="0">
                    <a:solidFill>
                      <a:srgbClr val="000000"/>
                    </a:solidFill>
                    <a:latin typeface="Times New Roman" panose="02020603050405020304" pitchFamily="18" charset="0"/>
                  </a:rPr>
                  <a:t>31                    16 15                                                            0</a:t>
                </a:r>
                <a:endParaRPr lang="en-US" altLang="zh-CN" sz="2400" b="1" dirty="0">
                  <a:solidFill>
                    <a:srgbClr val="000000"/>
                  </a:solidFill>
                  <a:latin typeface="Times New Roman" panose="02020603050405020304" pitchFamily="18" charset="0"/>
                </a:endParaRPr>
              </a:p>
            </p:txBody>
          </p:sp>
        </p:grpSp>
        <p:sp>
          <p:nvSpPr>
            <p:cNvPr id="15" name="Text Box 18"/>
            <p:cNvSpPr txBox="1">
              <a:spLocks noChangeArrowheads="1"/>
            </p:cNvSpPr>
            <p:nvPr/>
          </p:nvSpPr>
          <p:spPr bwMode="auto">
            <a:xfrm>
              <a:off x="2700" y="7161"/>
              <a:ext cx="4680" cy="3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dirty="0" smtClean="0">
                  <a:solidFill>
                    <a:srgbClr val="000000"/>
                  </a:solidFill>
                  <a:latin typeface="Times New Roman" panose="02020603050405020304" pitchFamily="18" charset="0"/>
                </a:rPr>
                <a:t>图</a:t>
              </a:r>
              <a:r>
                <a:rPr lang="en-US" altLang="zh-CN" sz="2400" b="1" dirty="0" smtClean="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分段管理的逻辑地址表示</a:t>
              </a:r>
              <a:endParaRPr lang="zh-CN" altLang="en-US" sz="2400" b="1" dirty="0">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en-US" altLang="zh-CN" b="1" dirty="0" smtClean="0">
                <a:solidFill>
                  <a:srgbClr val="FF0000"/>
                </a:solidFill>
              </a:rPr>
              <a:t>2.</a:t>
            </a:r>
            <a:r>
              <a:rPr lang="zh-CN" altLang="en-US" b="1" dirty="0" smtClean="0">
                <a:solidFill>
                  <a:srgbClr val="FF0000"/>
                </a:solidFill>
              </a:rPr>
              <a:t>段表</a:t>
            </a:r>
            <a:endParaRPr lang="zh-CN" altLang="en-US" b="1" dirty="0" smtClean="0">
              <a:solidFill>
                <a:srgbClr val="FF0000"/>
              </a:solidFill>
            </a:endParaRPr>
          </a:p>
        </p:txBody>
      </p:sp>
      <p:sp>
        <p:nvSpPr>
          <p:cNvPr id="101379" name="内容占位符 2"/>
          <p:cNvSpPr>
            <a:spLocks noGrp="1"/>
          </p:cNvSpPr>
          <p:nvPr>
            <p:ph idx="1"/>
          </p:nvPr>
        </p:nvSpPr>
        <p:spPr>
          <a:xfrm>
            <a:off x="228600" y="1600200"/>
            <a:ext cx="8458200" cy="4498975"/>
          </a:xfrm>
        </p:spPr>
        <p:txBody>
          <a:bodyPr/>
          <a:lstStyle/>
          <a:p>
            <a:r>
              <a:rPr lang="zh-CN" altLang="en-US" sz="2800" b="1" dirty="0" smtClean="0"/>
              <a:t>为每个分段分配一个连续的分区，而进程中的各个段可以离散地移入内存中不同的分区中。</a:t>
            </a:r>
            <a:endParaRPr lang="en-US" altLang="zh-CN" sz="2800" b="1" dirty="0" smtClean="0"/>
          </a:p>
          <a:p>
            <a:r>
              <a:rPr lang="zh-CN" altLang="en-US" sz="2800" b="1" dirty="0" smtClean="0"/>
              <a:t>应像分页系统那样，在系统中为每个进程建立一张段映射表，简称</a:t>
            </a:r>
            <a:r>
              <a:rPr lang="zh-CN" altLang="en-US" sz="2800" b="1" i="1" u="sng" dirty="0" smtClean="0">
                <a:solidFill>
                  <a:srgbClr val="FF0000"/>
                </a:solidFill>
              </a:rPr>
              <a:t>“段表”</a:t>
            </a:r>
            <a:r>
              <a:rPr lang="zh-CN" altLang="en-US" sz="2800" b="1" dirty="0" smtClean="0"/>
              <a:t>。每个段在表中占有一个表项，其中记录了该段在内存中的起始地址</a:t>
            </a:r>
            <a:r>
              <a:rPr lang="en-US" altLang="zh-CN" sz="2800" b="1" dirty="0" smtClean="0"/>
              <a:t>(</a:t>
            </a:r>
            <a:r>
              <a:rPr lang="zh-CN" altLang="en-US" sz="2800" b="1" dirty="0" smtClean="0"/>
              <a:t>又称为“基址”</a:t>
            </a:r>
            <a:r>
              <a:rPr lang="en-US" altLang="zh-CN" sz="2800" b="1" dirty="0" smtClean="0"/>
              <a:t>)</a:t>
            </a:r>
            <a:r>
              <a:rPr lang="zh-CN" altLang="en-US" sz="2800" b="1" dirty="0" smtClean="0"/>
              <a:t>和段的长度。</a:t>
            </a:r>
            <a:endParaRPr lang="en-US" altLang="zh-CN" sz="2800" b="1" dirty="0" smtClean="0"/>
          </a:p>
          <a:p>
            <a:r>
              <a:rPr lang="zh-CN" altLang="en-US" sz="2800" b="1" dirty="0" smtClean="0"/>
              <a:t>通常将段表放在内存中，执行中的进程可通过查找段表找到每个段所对应的内存区。</a:t>
            </a:r>
            <a:endParaRPr lang="zh-CN" altLang="en-US" sz="2800" b="1" dirty="0" smtClean="0"/>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ChangeArrowheads="1"/>
          </p:cNvSpPr>
          <p:nvPr/>
        </p:nvSpPr>
        <p:spPr bwMode="auto">
          <a:xfrm>
            <a:off x="304800" y="228600"/>
            <a:ext cx="8610600" cy="64008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2" name="Text Box 3"/>
          <p:cNvSpPr txBox="1">
            <a:spLocks noChangeArrowheads="1"/>
          </p:cNvSpPr>
          <p:nvPr/>
        </p:nvSpPr>
        <p:spPr bwMode="auto">
          <a:xfrm>
            <a:off x="2590800" y="6172200"/>
            <a:ext cx="376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rgbClr val="000000"/>
                </a:solidFill>
                <a:latin typeface="Times New Roman" panose="02020603050405020304" pitchFamily="18" charset="0"/>
              </a:rPr>
              <a:t>图  利用段表实现地址映射 </a:t>
            </a:r>
            <a:endParaRPr kumimoji="1" lang="zh-CN" altLang="en-US" sz="2400">
              <a:solidFill>
                <a:srgbClr val="000000"/>
              </a:solidFill>
              <a:latin typeface="Times New Roman" panose="02020603050405020304" pitchFamily="18" charset="0"/>
            </a:endParaRPr>
          </a:p>
        </p:txBody>
      </p:sp>
      <p:graphicFrame>
        <p:nvGraphicFramePr>
          <p:cNvPr id="7170" name="Object 4"/>
          <p:cNvGraphicFramePr>
            <a:graphicFrameLocks noChangeAspect="1"/>
          </p:cNvGraphicFramePr>
          <p:nvPr/>
        </p:nvGraphicFramePr>
        <p:xfrm>
          <a:off x="304800" y="457200"/>
          <a:ext cx="8686800" cy="5419725"/>
        </p:xfrm>
        <a:graphic>
          <a:graphicData uri="http://schemas.openxmlformats.org/presentationml/2006/ole">
            <mc:AlternateContent xmlns:mc="http://schemas.openxmlformats.org/markup-compatibility/2006">
              <mc:Choice xmlns:v="urn:schemas-microsoft-com:vml" Requires="v">
                <p:oleObj spid="_x0000_s7169" name="Visio" r:id="rId1" imgW="4314825" imgH="2695575" progId="">
                  <p:embed/>
                </p:oleObj>
              </mc:Choice>
              <mc:Fallback>
                <p:oleObj name="Visio" r:id="rId1" imgW="4314825" imgH="2695575" progId="">
                  <p:embed/>
                  <p:pic>
                    <p:nvPicPr>
                      <p:cNvPr id="0" name="图片 7168"/>
                      <p:cNvPicPr>
                        <a:picLocks noChangeAspect="1"/>
                      </p:cNvPicPr>
                      <p:nvPr/>
                    </p:nvPicPr>
                    <p:blipFill>
                      <a:blip r:embed="rId2"/>
                      <a:stretch>
                        <a:fillRect/>
                      </a:stretch>
                    </p:blipFill>
                    <p:spPr>
                      <a:xfrm>
                        <a:off x="304800" y="457200"/>
                        <a:ext cx="8686800" cy="541972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332656"/>
            <a:ext cx="8077200" cy="1066800"/>
          </a:xfrm>
        </p:spPr>
        <p:txBody>
          <a:bodyPr/>
          <a:lstStyle/>
          <a:p>
            <a:pPr>
              <a:defRPr/>
            </a:pPr>
            <a:r>
              <a:rPr lang="en-US" altLang="zh-CN" b="1" dirty="0" smtClean="0">
                <a:solidFill>
                  <a:srgbClr val="FF0000"/>
                </a:solidFill>
                <a:latin typeface="+mn-lt"/>
                <a:ea typeface="+mn-ea"/>
                <a:cs typeface="+mn-cs"/>
              </a:rPr>
              <a:t>3</a:t>
            </a:r>
            <a:r>
              <a:rPr lang="zh-CN" altLang="en-US" b="1" dirty="0" smtClean="0">
                <a:solidFill>
                  <a:srgbClr val="FF0000"/>
                </a:solidFill>
                <a:latin typeface="+mn-lt"/>
                <a:ea typeface="+mn-ea"/>
                <a:cs typeface="+mn-cs"/>
              </a:rPr>
              <a:t>．地址变换机构</a:t>
            </a:r>
            <a:br>
              <a:rPr lang="zh-CN" altLang="en-US" b="1" dirty="0" smtClean="0">
                <a:solidFill>
                  <a:srgbClr val="FF0000"/>
                </a:solidFill>
                <a:latin typeface="+mn-lt"/>
                <a:ea typeface="+mn-ea"/>
                <a:cs typeface="+mn-cs"/>
              </a:rPr>
            </a:br>
            <a:endParaRPr lang="zh-CN" altLang="en-US" b="1" dirty="0">
              <a:solidFill>
                <a:srgbClr val="FF0000"/>
              </a:solidFill>
            </a:endParaRPr>
          </a:p>
        </p:txBody>
      </p:sp>
      <p:sp>
        <p:nvSpPr>
          <p:cNvPr id="3" name="内容占位符 2"/>
          <p:cNvSpPr>
            <a:spLocks noGrp="1"/>
          </p:cNvSpPr>
          <p:nvPr>
            <p:ph idx="1"/>
          </p:nvPr>
        </p:nvSpPr>
        <p:spPr>
          <a:xfrm>
            <a:off x="179512" y="1268760"/>
            <a:ext cx="8583488" cy="5112568"/>
          </a:xfrm>
        </p:spPr>
        <p:txBody>
          <a:bodyPr/>
          <a:lstStyle/>
          <a:p>
            <a:pPr>
              <a:defRPr/>
            </a:pPr>
            <a:r>
              <a:rPr lang="zh-CN" altLang="en-US" sz="2400" b="1" dirty="0" smtClean="0"/>
              <a:t>为了实现从进程的逻辑地址到物理地址的变换功能，设置段表寄存器，存放</a:t>
            </a:r>
            <a:r>
              <a:rPr lang="zh-CN" altLang="en-US" sz="2400" b="1" i="1" u="sng" dirty="0" smtClean="0">
                <a:solidFill>
                  <a:srgbClr val="FF0000"/>
                </a:solidFill>
                <a:latin typeface="仿宋_GB2312" pitchFamily="49" charset="-122"/>
                <a:ea typeface="仿宋_GB2312" pitchFamily="49" charset="-122"/>
              </a:rPr>
              <a:t>当前执行进程的</a:t>
            </a:r>
            <a:r>
              <a:rPr lang="zh-CN" altLang="en-US" sz="2400" b="1" dirty="0" smtClean="0"/>
              <a:t>段表始址和段表长度</a:t>
            </a:r>
            <a:r>
              <a:rPr lang="en-US" altLang="zh-CN" sz="2400" b="1" dirty="0" smtClean="0"/>
              <a:t>TL</a:t>
            </a:r>
            <a:r>
              <a:rPr lang="zh-CN" altLang="en-US" sz="2400" b="1" dirty="0" smtClean="0"/>
              <a:t>。</a:t>
            </a:r>
            <a:endParaRPr lang="en-US" altLang="zh-CN" sz="2400" b="1" dirty="0" smtClean="0"/>
          </a:p>
          <a:p>
            <a:pPr>
              <a:defRPr/>
            </a:pPr>
            <a:r>
              <a:rPr lang="zh-CN" altLang="en-US" sz="2400" b="1" dirty="0" smtClean="0"/>
              <a:t>在进行地址变换时，系统将逻辑地址中的段号与段表长度</a:t>
            </a:r>
            <a:r>
              <a:rPr lang="en-US" altLang="zh-CN" sz="2400" b="1" dirty="0" smtClean="0"/>
              <a:t>TL</a:t>
            </a:r>
            <a:r>
              <a:rPr lang="zh-CN" altLang="en-US" sz="2400" b="1" dirty="0" smtClean="0"/>
              <a:t>进行比较。若</a:t>
            </a:r>
            <a:r>
              <a:rPr lang="en-US" altLang="zh-CN" sz="2400" b="1" dirty="0" smtClean="0"/>
              <a:t>S&gt;TL</a:t>
            </a:r>
            <a:r>
              <a:rPr lang="zh-CN" altLang="en-US" sz="2400" b="1" dirty="0" smtClean="0"/>
              <a:t>，表示段号太大，是访问越界，于是产生越界中断信号；</a:t>
            </a:r>
            <a:endParaRPr lang="en-US" altLang="zh-CN" sz="2400" b="1" dirty="0" smtClean="0"/>
          </a:p>
          <a:p>
            <a:pPr>
              <a:defRPr/>
            </a:pPr>
            <a:r>
              <a:rPr lang="zh-CN" altLang="en-US" sz="2400" b="1" dirty="0" smtClean="0"/>
              <a:t>若未越界，则根据段表的始址和该段的段号，计算出该段对应段表项的位置，从中读出该段在内存的起始地址，</a:t>
            </a:r>
            <a:endParaRPr lang="en-US" altLang="zh-CN" sz="2400" b="1" dirty="0" smtClean="0"/>
          </a:p>
          <a:p>
            <a:pPr>
              <a:defRPr/>
            </a:pPr>
            <a:r>
              <a:rPr lang="zh-CN" altLang="en-US" sz="2400" b="1" dirty="0" smtClean="0"/>
              <a:t>然后，再检查段内地址</a:t>
            </a:r>
            <a:r>
              <a:rPr lang="en-US" altLang="zh-CN" sz="2400" b="1" dirty="0" smtClean="0"/>
              <a:t>d</a:t>
            </a:r>
            <a:r>
              <a:rPr lang="zh-CN" altLang="en-US" sz="2400" b="1" dirty="0" smtClean="0"/>
              <a:t>是否超过该段的段长</a:t>
            </a:r>
            <a:r>
              <a:rPr lang="en-US" altLang="zh-CN" sz="2400" b="1" dirty="0" smtClean="0"/>
              <a:t>SL</a:t>
            </a:r>
            <a:r>
              <a:rPr lang="zh-CN" altLang="en-US" sz="2400" b="1" dirty="0" smtClean="0"/>
              <a:t>。若超过，即</a:t>
            </a:r>
            <a:r>
              <a:rPr lang="en-US" altLang="zh-CN" sz="2400" b="1" dirty="0" smtClean="0"/>
              <a:t>d&gt;SL</a:t>
            </a:r>
            <a:r>
              <a:rPr lang="zh-CN" altLang="en-US" sz="2400" b="1" dirty="0" smtClean="0"/>
              <a:t>，同样发出越界中断信号；</a:t>
            </a:r>
            <a:endParaRPr lang="en-US" altLang="zh-CN" sz="2400" b="1" dirty="0" smtClean="0"/>
          </a:p>
          <a:p>
            <a:pPr>
              <a:defRPr/>
            </a:pPr>
            <a:r>
              <a:rPr lang="zh-CN" altLang="en-US" sz="2400" b="1" dirty="0" smtClean="0"/>
              <a:t>若未越界，则将该段的基址</a:t>
            </a:r>
            <a:r>
              <a:rPr lang="en-US" altLang="zh-CN" sz="2400" b="1" dirty="0" smtClean="0"/>
              <a:t>d </a:t>
            </a:r>
            <a:r>
              <a:rPr lang="zh-CN" altLang="en-US" sz="2400" b="1" dirty="0" smtClean="0"/>
              <a:t>与段内地址相加，即可得到要访问的内存物理地址。</a:t>
            </a:r>
            <a:endParaRPr lang="zh-CN" altLang="en-US" sz="2400" b="1" dirty="0"/>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ChangeArrowheads="1"/>
          </p:cNvSpPr>
          <p:nvPr/>
        </p:nvSpPr>
        <p:spPr bwMode="auto">
          <a:xfrm>
            <a:off x="304800" y="228600"/>
            <a:ext cx="8610600" cy="66294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6" name="Text Box 3"/>
          <p:cNvSpPr txBox="1">
            <a:spLocks noChangeArrowheads="1"/>
          </p:cNvSpPr>
          <p:nvPr/>
        </p:nvSpPr>
        <p:spPr bwMode="auto">
          <a:xfrm>
            <a:off x="1143000" y="6264275"/>
            <a:ext cx="60325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latin typeface="Times New Roman" panose="02020603050405020304" pitchFamily="18" charset="0"/>
              </a:rPr>
              <a:t>图</a:t>
            </a:r>
            <a:r>
              <a:rPr lang="en-US" altLang="zh-CN" sz="1600" b="1">
                <a:solidFill>
                  <a:srgbClr val="000000"/>
                </a:solidFill>
                <a:latin typeface="Times New Roman" panose="02020603050405020304" pitchFamily="18" charset="0"/>
              </a:rPr>
              <a:t>   </a:t>
            </a:r>
            <a:r>
              <a:rPr lang="zh-CN" altLang="en-US" sz="1600" b="1">
                <a:solidFill>
                  <a:srgbClr val="000000"/>
                </a:solidFill>
                <a:latin typeface="Times New Roman" panose="02020603050405020304" pitchFamily="18" charset="0"/>
              </a:rPr>
              <a:t>分段系统的地址变换详细过程</a:t>
            </a:r>
            <a:endParaRPr lang="zh-CN" altLang="en-US" sz="1600" b="1">
              <a:solidFill>
                <a:srgbClr val="000000"/>
              </a:solidFill>
              <a:latin typeface="Times New Roman" panose="02020603050405020304" pitchFamily="18" charset="0"/>
            </a:endParaRPr>
          </a:p>
        </p:txBody>
      </p:sp>
      <p:graphicFrame>
        <p:nvGraphicFramePr>
          <p:cNvPr id="8194" name="Object 4"/>
          <p:cNvGraphicFramePr>
            <a:graphicFrameLocks noChangeAspect="1"/>
          </p:cNvGraphicFramePr>
          <p:nvPr/>
        </p:nvGraphicFramePr>
        <p:xfrm>
          <a:off x="457200" y="0"/>
          <a:ext cx="8458200" cy="6481763"/>
        </p:xfrm>
        <a:graphic>
          <a:graphicData uri="http://schemas.openxmlformats.org/presentationml/2006/ole">
            <mc:AlternateContent xmlns:mc="http://schemas.openxmlformats.org/markup-compatibility/2006">
              <mc:Choice xmlns:v="urn:schemas-microsoft-com:vml" Requires="v">
                <p:oleObj spid="_x0000_s8193" name="Visio" r:id="rId1" imgW="4470400" imgH="3175000" progId="">
                  <p:embed/>
                </p:oleObj>
              </mc:Choice>
              <mc:Fallback>
                <p:oleObj name="Visio" r:id="rId1" imgW="4470400" imgH="3175000" progId="">
                  <p:embed/>
                  <p:pic>
                    <p:nvPicPr>
                      <p:cNvPr id="0" name="图片 8192"/>
                      <p:cNvPicPr>
                        <a:picLocks noChangeAspect="1"/>
                      </p:cNvPicPr>
                      <p:nvPr/>
                    </p:nvPicPr>
                    <p:blipFill>
                      <a:blip r:embed="rId2"/>
                      <a:stretch>
                        <a:fillRect/>
                      </a:stretch>
                    </p:blipFill>
                    <p:spPr>
                      <a:xfrm>
                        <a:off x="457200" y="0"/>
                        <a:ext cx="8458200" cy="6481763"/>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rrowheads="1"/>
          </p:cNvSpPr>
          <p:nvPr>
            <p:ph type="title"/>
          </p:nvPr>
        </p:nvSpPr>
        <p:spPr/>
        <p:txBody>
          <a:bodyPr/>
          <a:lstStyle/>
          <a:p>
            <a:r>
              <a:rPr lang="zh-CN" altLang="en-US" b="1" u="sng" smtClean="0">
                <a:solidFill>
                  <a:schemeClr val="folHlink"/>
                </a:solidFill>
                <a:ea typeface="仿宋_GB2312" pitchFamily="49" charset="-122"/>
              </a:rPr>
              <a:t>段表寄存器</a:t>
            </a:r>
            <a:endParaRPr lang="zh-CN" altLang="en-US" b="1" u="sng" smtClean="0">
              <a:solidFill>
                <a:schemeClr val="folHlink"/>
              </a:solidFill>
              <a:ea typeface="仿宋_GB2312" pitchFamily="49" charset="-122"/>
            </a:endParaRPr>
          </a:p>
        </p:txBody>
      </p:sp>
      <p:sp>
        <p:nvSpPr>
          <p:cNvPr id="165891" name="Rectangle 3"/>
          <p:cNvSpPr>
            <a:spLocks noGrp="1" noRot="1" noChangeArrowheads="1"/>
          </p:cNvSpPr>
          <p:nvPr>
            <p:ph type="body" idx="1"/>
          </p:nvPr>
        </p:nvSpPr>
        <p:spPr/>
        <p:txBody>
          <a:bodyPr/>
          <a:lstStyle/>
          <a:p>
            <a:pPr>
              <a:lnSpc>
                <a:spcPct val="110000"/>
              </a:lnSpc>
              <a:defRPr/>
            </a:pPr>
            <a:r>
              <a:rPr lang="zh-CN" altLang="en-US" sz="2800" b="1" dirty="0" smtClean="0">
                <a:latin typeface="仿宋_GB2312" pitchFamily="49" charset="-122"/>
                <a:ea typeface="仿宋_GB2312" pitchFamily="49" charset="-122"/>
              </a:rPr>
              <a:t>段表同样被保存在物理内存中。</a:t>
            </a:r>
            <a:endParaRPr lang="zh-CN" altLang="en-US" sz="2800" b="1" dirty="0" smtClean="0">
              <a:latin typeface="仿宋_GB2312" pitchFamily="49" charset="-122"/>
              <a:ea typeface="仿宋_GB2312" pitchFamily="49" charset="-122"/>
            </a:endParaRPr>
          </a:p>
          <a:p>
            <a:pPr>
              <a:lnSpc>
                <a:spcPct val="110000"/>
              </a:lnSpc>
              <a:defRPr/>
            </a:pPr>
            <a:r>
              <a:rPr lang="zh-CN" altLang="en-US" sz="2800" b="1" i="1" dirty="0" smtClean="0">
                <a:solidFill>
                  <a:schemeClr val="folHlink"/>
                </a:solidFill>
                <a:latin typeface="仿宋_GB2312" pitchFamily="49" charset="-122"/>
                <a:ea typeface="仿宋_GB2312" pitchFamily="49" charset="-122"/>
              </a:rPr>
              <a:t>段表寄存器 ：</a:t>
            </a:r>
            <a:r>
              <a:rPr lang="zh-CN" altLang="en-US" sz="2800" b="1" dirty="0" smtClean="0">
                <a:latin typeface="仿宋_GB2312" pitchFamily="49" charset="-122"/>
                <a:ea typeface="仿宋_GB2312" pitchFamily="49" charset="-122"/>
              </a:rPr>
              <a:t>实现快速地址变换，用来存放当前执行进程的段表在物理内存中的起始地址（即基址）。</a:t>
            </a:r>
            <a:endParaRPr lang="zh-CN" altLang="en-US" sz="2800" b="1" dirty="0" smtClean="0">
              <a:latin typeface="仿宋_GB2312" pitchFamily="49" charset="-122"/>
              <a:ea typeface="仿宋_GB2312" pitchFamily="49" charset="-122"/>
            </a:endParaRPr>
          </a:p>
          <a:p>
            <a:pPr>
              <a:lnSpc>
                <a:spcPct val="110000"/>
              </a:lnSpc>
              <a:defRPr/>
            </a:pPr>
            <a:r>
              <a:rPr lang="zh-CN" altLang="en-US" sz="2800" b="1" dirty="0" smtClean="0">
                <a:latin typeface="仿宋_GB2312" pitchFamily="49" charset="-122"/>
                <a:ea typeface="仿宋_GB2312" pitchFamily="49" charset="-122"/>
              </a:rPr>
              <a:t>当创建进程，将进程的程序和数据装入内存时，系统为之建立段表，并将段表的起始地址填入进程的</a:t>
            </a:r>
            <a:r>
              <a:rPr lang="en-US" altLang="zh-CN" sz="2800" b="1" dirty="0" smtClean="0">
                <a:latin typeface="仿宋_GB2312" pitchFamily="49" charset="-122"/>
                <a:ea typeface="仿宋_GB2312" pitchFamily="49" charset="-122"/>
              </a:rPr>
              <a:t>PCB</a:t>
            </a:r>
            <a:r>
              <a:rPr lang="zh-CN" altLang="en-US" sz="2800" b="1" dirty="0" smtClean="0">
                <a:latin typeface="仿宋_GB2312" pitchFamily="49" charset="-122"/>
                <a:ea typeface="仿宋_GB2312" pitchFamily="49" charset="-122"/>
              </a:rPr>
              <a:t>中。</a:t>
            </a:r>
            <a:endParaRPr lang="zh-CN" altLang="en-US" sz="2800" b="1" dirty="0" smtClean="0">
              <a:latin typeface="仿宋_GB2312" pitchFamily="49" charset="-122"/>
              <a:ea typeface="仿宋_GB2312" pitchFamily="49" charset="-122"/>
            </a:endParaRPr>
          </a:p>
          <a:p>
            <a:pPr>
              <a:lnSpc>
                <a:spcPct val="110000"/>
              </a:lnSpc>
              <a:defRPr/>
            </a:pPr>
            <a:r>
              <a:rPr lang="zh-CN" altLang="en-US" sz="2800" b="1" dirty="0" smtClean="0">
                <a:latin typeface="仿宋_GB2312" pitchFamily="49" charset="-122"/>
                <a:ea typeface="仿宋_GB2312" pitchFamily="49" charset="-122"/>
              </a:rPr>
              <a:t>当进程被调度执行时，取出其</a:t>
            </a:r>
            <a:r>
              <a:rPr lang="en-US" altLang="zh-CN" sz="2800" b="1" dirty="0" smtClean="0">
                <a:latin typeface="仿宋_GB2312" pitchFamily="49" charset="-122"/>
                <a:ea typeface="仿宋_GB2312" pitchFamily="49" charset="-122"/>
              </a:rPr>
              <a:t>PCB</a:t>
            </a:r>
            <a:r>
              <a:rPr lang="zh-CN" altLang="en-US" sz="2800" b="1" dirty="0" smtClean="0">
                <a:latin typeface="仿宋_GB2312" pitchFamily="49" charset="-122"/>
                <a:ea typeface="仿宋_GB2312" pitchFamily="49" charset="-122"/>
              </a:rPr>
              <a:t>中的段表首址，填入段表寄存器中。 </a:t>
            </a:r>
            <a:endParaRPr lang="zh-CN" altLang="en-US" sz="2800" b="1" dirty="0" smtClean="0">
              <a:latin typeface="仿宋_GB2312" pitchFamily="49" charset="-122"/>
              <a:ea typeface="仿宋_GB2312" pitchFamily="49" charset="-122"/>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a:xfrm>
            <a:off x="228600" y="533400"/>
            <a:ext cx="7772400" cy="685800"/>
          </a:xfrm>
        </p:spPr>
        <p:txBody>
          <a:bodyPr/>
          <a:lstStyle/>
          <a:p>
            <a:r>
              <a:rPr lang="zh-CN" altLang="en-US" b="1" u="sng" smtClean="0">
                <a:solidFill>
                  <a:schemeClr val="folHlink"/>
                </a:solidFill>
                <a:ea typeface="仿宋_GB2312" pitchFamily="49" charset="-122"/>
              </a:rPr>
              <a:t>对分段系统的评价</a:t>
            </a:r>
            <a:r>
              <a:rPr lang="zh-CN" altLang="en-US" smtClean="0">
                <a:solidFill>
                  <a:schemeClr val="folHlink"/>
                </a:solidFill>
              </a:rPr>
              <a:t> </a:t>
            </a:r>
            <a:endParaRPr lang="zh-CN" altLang="en-US" smtClean="0">
              <a:solidFill>
                <a:schemeClr val="folHlink"/>
              </a:solidFill>
            </a:endParaRPr>
          </a:p>
        </p:txBody>
      </p:sp>
      <p:sp>
        <p:nvSpPr>
          <p:cNvPr id="168963" name="Rectangle 3"/>
          <p:cNvSpPr>
            <a:spLocks noGrp="1" noRot="1" noChangeArrowheads="1"/>
          </p:cNvSpPr>
          <p:nvPr>
            <p:ph type="body" idx="1"/>
          </p:nvPr>
        </p:nvSpPr>
        <p:spPr>
          <a:xfrm>
            <a:off x="685800" y="1752600"/>
            <a:ext cx="8077200" cy="4800600"/>
          </a:xfrm>
        </p:spPr>
        <p:txBody>
          <a:bodyPr/>
          <a:lstStyle/>
          <a:p>
            <a:pPr>
              <a:defRPr/>
            </a:pPr>
            <a:r>
              <a:rPr lang="zh-CN" altLang="en-US" b="1" dirty="0" smtClean="0">
                <a:latin typeface="仿宋_GB2312" pitchFamily="49" charset="-122"/>
                <a:ea typeface="仿宋_GB2312" pitchFamily="49" charset="-122"/>
              </a:rPr>
              <a:t>有效消除了内零头，提高了存储利用率。</a:t>
            </a:r>
            <a:endParaRPr lang="zh-CN" altLang="en-US" b="1" dirty="0" smtClean="0">
              <a:latin typeface="仿宋_GB2312" pitchFamily="49" charset="-122"/>
              <a:ea typeface="仿宋_GB2312" pitchFamily="49" charset="-122"/>
            </a:endParaRPr>
          </a:p>
          <a:p>
            <a:pPr>
              <a:defRPr/>
            </a:pPr>
            <a:r>
              <a:rPr lang="zh-CN" altLang="en-US" b="1" dirty="0" smtClean="0">
                <a:latin typeface="仿宋_GB2312" pitchFamily="49" charset="-122"/>
                <a:ea typeface="仿宋_GB2312" pitchFamily="49" charset="-122"/>
              </a:rPr>
              <a:t>允许子程序独立编译和修改，而不需要重新编译或链接其它相关子程序。</a:t>
            </a:r>
            <a:endParaRPr lang="zh-CN" altLang="en-US" b="1" dirty="0" smtClean="0">
              <a:latin typeface="仿宋_GB2312" pitchFamily="49" charset="-122"/>
              <a:ea typeface="仿宋_GB2312" pitchFamily="49" charset="-122"/>
            </a:endParaRPr>
          </a:p>
          <a:p>
            <a:pPr>
              <a:defRPr/>
            </a:pPr>
            <a:r>
              <a:rPr lang="zh-CN" altLang="en-US" b="1" dirty="0" smtClean="0">
                <a:latin typeface="仿宋_GB2312" pitchFamily="49" charset="-122"/>
                <a:ea typeface="仿宋_GB2312" pitchFamily="49" charset="-122"/>
              </a:rPr>
              <a:t>容易实现存储共享。</a:t>
            </a:r>
            <a:endParaRPr lang="zh-CN" altLang="en-US" b="1" dirty="0" smtClean="0">
              <a:latin typeface="仿宋_GB2312" pitchFamily="49" charset="-122"/>
              <a:ea typeface="仿宋_GB2312" pitchFamily="49" charset="-122"/>
            </a:endParaRPr>
          </a:p>
          <a:p>
            <a:pPr>
              <a:defRPr/>
            </a:pPr>
            <a:r>
              <a:rPr lang="zh-CN" altLang="en-US" b="1" dirty="0" smtClean="0">
                <a:latin typeface="仿宋_GB2312" pitchFamily="49" charset="-122"/>
                <a:ea typeface="仿宋_GB2312" pitchFamily="49" charset="-122"/>
              </a:rPr>
              <a:t>具有较高的安全保障。</a:t>
            </a:r>
            <a:endParaRPr lang="zh-CN" altLang="en-US" b="1" dirty="0" smtClean="0">
              <a:latin typeface="仿宋_GB2312" pitchFamily="49" charset="-122"/>
              <a:ea typeface="仿宋_GB2312" pitchFamily="49" charset="-122"/>
            </a:endParaRPr>
          </a:p>
          <a:p>
            <a:pPr>
              <a:defRPr/>
            </a:pPr>
            <a:r>
              <a:rPr lang="zh-CN" altLang="en-US" b="1" dirty="0" smtClean="0">
                <a:latin typeface="仿宋_GB2312" pitchFamily="49" charset="-122"/>
                <a:ea typeface="仿宋_GB2312" pitchFamily="49" charset="-122"/>
              </a:rPr>
              <a:t>很容易满足程序段的动态增长需要 。</a:t>
            </a:r>
            <a:endParaRPr lang="zh-CN" altLang="en-US" b="1" dirty="0" smtClean="0">
              <a:latin typeface="仿宋_GB2312" pitchFamily="49" charset="-122"/>
              <a:ea typeface="仿宋_GB2312" pitchFamily="49" charset="-122"/>
            </a:endParaRPr>
          </a:p>
          <a:p>
            <a:pPr>
              <a:defRPr/>
            </a:pPr>
            <a:r>
              <a:rPr lang="zh-CN" altLang="en-US" b="1" dirty="0" smtClean="0">
                <a:latin typeface="仿宋_GB2312" pitchFamily="49" charset="-122"/>
                <a:ea typeface="仿宋_GB2312" pitchFamily="49" charset="-122"/>
              </a:rPr>
              <a:t>通常需要编译器的支持。</a:t>
            </a:r>
            <a:endParaRPr lang="zh-CN" altLang="en-US" b="1" dirty="0" smtClean="0">
              <a:latin typeface="仿宋_GB2312" pitchFamily="49" charset="-122"/>
              <a:ea typeface="仿宋_GB2312" pitchFamily="49"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rrowheads="1"/>
          </p:cNvSpPr>
          <p:nvPr>
            <p:ph type="title"/>
          </p:nvPr>
        </p:nvSpPr>
        <p:spPr/>
        <p:txBody>
          <a:bodyPr/>
          <a:lstStyle/>
          <a:p>
            <a:pPr eaLnBrk="1" hangingPunct="1"/>
            <a:r>
              <a:rPr lang="en-US" altLang="zh-CN" sz="3600" b="1" smtClean="0">
                <a:solidFill>
                  <a:schemeClr val="folHlink"/>
                </a:solidFill>
              </a:rPr>
              <a:t>4</a:t>
            </a:r>
            <a:r>
              <a:rPr lang="zh-CN" altLang="en-US" sz="3600" b="1" smtClean="0">
                <a:solidFill>
                  <a:schemeClr val="folHlink"/>
                </a:solidFill>
              </a:rPr>
              <a:t>．分页和分段的比较（主要区别 ）：</a:t>
            </a:r>
            <a:endParaRPr lang="zh-CN" altLang="en-US" sz="3600" b="1" smtClean="0">
              <a:solidFill>
                <a:schemeClr val="folHlink"/>
              </a:solidFill>
            </a:endParaRPr>
          </a:p>
        </p:txBody>
      </p:sp>
      <p:sp>
        <p:nvSpPr>
          <p:cNvPr id="105475" name="Rectangle 3"/>
          <p:cNvSpPr>
            <a:spLocks noGrp="1" noRot="1" noChangeArrowheads="1"/>
          </p:cNvSpPr>
          <p:nvPr>
            <p:ph type="body" idx="1"/>
          </p:nvPr>
        </p:nvSpPr>
        <p:spPr>
          <a:xfrm>
            <a:off x="304800" y="1676400"/>
            <a:ext cx="8305800" cy="4724400"/>
          </a:xfrm>
        </p:spPr>
        <p:txBody>
          <a:bodyPr/>
          <a:lstStyle/>
          <a:p>
            <a:pPr eaLnBrk="1" hangingPunct="1">
              <a:lnSpc>
                <a:spcPct val="120000"/>
              </a:lnSpc>
              <a:buFont typeface="Wingdings" panose="05000000000000000000" pitchFamily="2" charset="2"/>
              <a:buNone/>
            </a:pPr>
            <a:r>
              <a:rPr lang="zh-CN" altLang="en-US" b="1" smtClean="0"/>
              <a:t>（</a:t>
            </a:r>
            <a:r>
              <a:rPr lang="en-US" altLang="zh-CN" b="1" smtClean="0"/>
              <a:t>1</a:t>
            </a:r>
            <a:r>
              <a:rPr lang="zh-CN" altLang="en-US" b="1" smtClean="0"/>
              <a:t>）页是信息的物理单位，分页是为实现离散分配方式，以消减内存的外零头，提高内存的利用率。</a:t>
            </a:r>
            <a:endParaRPr lang="zh-CN" altLang="en-US" b="1" smtClean="0"/>
          </a:p>
          <a:p>
            <a:pPr eaLnBrk="1" hangingPunct="1">
              <a:lnSpc>
                <a:spcPct val="120000"/>
              </a:lnSpc>
              <a:buFont typeface="Wingdings" panose="05000000000000000000" pitchFamily="2" charset="2"/>
              <a:buNone/>
            </a:pPr>
            <a:r>
              <a:rPr lang="zh-CN" altLang="en-US" b="1" smtClean="0"/>
              <a:t>	段则是信息的逻辑单位，它含有一组意义相对完整的信息。分段的目的是为了能更好地满足用户的需要。 </a:t>
            </a:r>
            <a:endParaRPr lang="zh-CN" altLang="en-US" b="1" smtClean="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rrowheads="1"/>
          </p:cNvSpPr>
          <p:nvPr>
            <p:ph type="title"/>
          </p:nvPr>
        </p:nvSpPr>
        <p:spPr/>
        <p:txBody>
          <a:bodyPr/>
          <a:lstStyle/>
          <a:p>
            <a:r>
              <a:rPr lang="en-US" altLang="zh-CN" sz="3600" b="1" smtClean="0">
                <a:solidFill>
                  <a:schemeClr val="folHlink"/>
                </a:solidFill>
              </a:rPr>
              <a:t>4</a:t>
            </a:r>
            <a:r>
              <a:rPr lang="zh-CN" altLang="en-US" sz="3600" b="1" smtClean="0">
                <a:solidFill>
                  <a:schemeClr val="folHlink"/>
                </a:solidFill>
              </a:rPr>
              <a:t>．分页和分段的比较（主要区别 ）：</a:t>
            </a:r>
            <a:endParaRPr lang="zh-CN" altLang="en-US" sz="3600" b="1" smtClean="0">
              <a:solidFill>
                <a:schemeClr val="folHlink"/>
              </a:solidFill>
            </a:endParaRPr>
          </a:p>
        </p:txBody>
      </p:sp>
      <p:sp>
        <p:nvSpPr>
          <p:cNvPr id="106499" name="Rectangle 3"/>
          <p:cNvSpPr>
            <a:spLocks noGrp="1" noRot="1" noChangeArrowheads="1"/>
          </p:cNvSpPr>
          <p:nvPr>
            <p:ph type="body" idx="1"/>
          </p:nvPr>
        </p:nvSpPr>
        <p:spPr/>
        <p:txBody>
          <a:bodyPr/>
          <a:lstStyle/>
          <a:p>
            <a:pPr eaLnBrk="1" hangingPunct="1">
              <a:lnSpc>
                <a:spcPct val="120000"/>
              </a:lnSpc>
              <a:buClrTx/>
              <a:buSzTx/>
              <a:buFontTx/>
              <a:buNone/>
            </a:pPr>
            <a:r>
              <a:rPr lang="zh-CN" altLang="en-US" b="1" smtClean="0"/>
              <a:t>（</a:t>
            </a:r>
            <a:r>
              <a:rPr lang="en-US" altLang="zh-CN" b="1" smtClean="0"/>
              <a:t>2</a:t>
            </a:r>
            <a:r>
              <a:rPr lang="zh-CN" altLang="en-US" b="1" smtClean="0"/>
              <a:t>）页的大小固定且由系统决定，因而在系统中只能有一种大小的页面，而段的长度却不固定，决定于用户所编写的程序，通常由编译程序在对源程序进行编译时，根据信息的性质来划分。</a:t>
            </a:r>
            <a:endParaRPr lang="zh-CN" altLang="en-US" b="1" smtClean="0"/>
          </a:p>
          <a:p>
            <a:pPr>
              <a:lnSpc>
                <a:spcPct val="120000"/>
              </a:lnSpc>
            </a:pPr>
            <a:endParaRPr lang="zh-CN" altLang="en-US" smtClean="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rrowheads="1"/>
          </p:cNvSpPr>
          <p:nvPr>
            <p:ph/>
          </p:nvPr>
        </p:nvSpPr>
        <p:spPr>
          <a:xfrm>
            <a:off x="304800" y="1268760"/>
            <a:ext cx="8515672" cy="3672408"/>
          </a:xfrm>
        </p:spPr>
        <p:txBody>
          <a:bodyPr/>
          <a:lstStyle/>
          <a:p>
            <a:pPr eaLnBrk="1" hangingPunct="1">
              <a:lnSpc>
                <a:spcPct val="120000"/>
              </a:lnSpc>
              <a:buFont typeface="Wingdings" panose="05000000000000000000" pitchFamily="2" charset="2"/>
              <a:buNone/>
            </a:pPr>
            <a:r>
              <a:rPr lang="zh-CN" altLang="en-US" b="1" dirty="0" smtClean="0"/>
              <a:t>（</a:t>
            </a:r>
            <a:r>
              <a:rPr lang="en-US" altLang="zh-CN" b="1" dirty="0" smtClean="0"/>
              <a:t>3</a:t>
            </a:r>
            <a:r>
              <a:rPr lang="zh-CN" altLang="en-US" b="1" dirty="0" smtClean="0"/>
              <a:t>）分页的作业地址空间是一维的，即单一的线性地址空间，程序员只需利用一个记忆符，即可表示一个地址；而分段的作业地址空间则是二维的，程序员在标识一个地址时，既需给出段名，又需给出段内地址。  </a:t>
            </a:r>
            <a:endParaRPr lang="zh-CN" altLang="en-US" b="1" dirty="0" smtClean="0"/>
          </a:p>
          <a:p>
            <a:pPr eaLnBrk="1" hangingPunct="1">
              <a:lnSpc>
                <a:spcPct val="120000"/>
              </a:lnSpc>
              <a:buFont typeface="Wingdings" panose="05000000000000000000" pitchFamily="2" charset="2"/>
              <a:buNone/>
            </a:pPr>
            <a:endParaRPr lang="en-US" altLang="zh-CN" b="1" dirty="0" smtClean="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Rot="1" noChangeArrowheads="1"/>
          </p:cNvSpPr>
          <p:nvPr>
            <p:ph type="body" idx="1"/>
          </p:nvPr>
        </p:nvSpPr>
        <p:spPr>
          <a:xfrm>
            <a:off x="533400" y="1520825"/>
            <a:ext cx="8077200" cy="4956175"/>
          </a:xfrm>
        </p:spPr>
        <p:txBody>
          <a:bodyPr/>
          <a:lstStyle/>
          <a:p>
            <a:pPr eaLnBrk="1" hangingPunct="1">
              <a:lnSpc>
                <a:spcPct val="120000"/>
              </a:lnSpc>
              <a:defRPr/>
            </a:pPr>
            <a:r>
              <a:rPr lang="zh-CN" altLang="en-US" sz="2800" b="1" dirty="0" smtClean="0"/>
              <a:t>分页和分段存储管理方式都各有其优缺点。</a:t>
            </a:r>
            <a:r>
              <a:rPr lang="zh-CN" altLang="en-US" sz="2800" b="1" i="1" u="sng" dirty="0" smtClean="0">
                <a:solidFill>
                  <a:srgbClr val="FF0000"/>
                </a:solidFill>
              </a:rPr>
              <a:t>分页系统能有效地提高内存利用率</a:t>
            </a:r>
            <a:r>
              <a:rPr lang="zh-CN" altLang="en-US" sz="2800" b="1" dirty="0" smtClean="0"/>
              <a:t>，而</a:t>
            </a:r>
            <a:r>
              <a:rPr lang="zh-CN" altLang="en-US" sz="2800" b="1" i="1" u="sng" dirty="0" smtClean="0">
                <a:solidFill>
                  <a:srgbClr val="FF0000"/>
                </a:solidFill>
              </a:rPr>
              <a:t>分段系统则能很好地满足用户需要</a:t>
            </a:r>
            <a:r>
              <a:rPr lang="zh-CN" altLang="en-US" sz="2800" b="1" dirty="0" smtClean="0"/>
              <a:t>，将两者结合成一种新的存储管理方式系统，称为</a:t>
            </a:r>
            <a:r>
              <a:rPr lang="zh-CN" altLang="en-US" sz="2800" b="1" dirty="0" smtClean="0">
                <a:latin typeface="Courier New" panose="02070309020205020404" pitchFamily="49" charset="0"/>
              </a:rPr>
              <a:t>“</a:t>
            </a:r>
            <a:r>
              <a:rPr lang="zh-CN" altLang="en-US" sz="2800" b="1" u="sng" dirty="0" smtClean="0">
                <a:solidFill>
                  <a:srgbClr val="FF0000"/>
                </a:solidFill>
              </a:rPr>
              <a:t>段页式系统</a:t>
            </a:r>
            <a:r>
              <a:rPr lang="zh-CN" altLang="en-US" sz="2800" b="1" dirty="0" smtClean="0">
                <a:latin typeface="Courier New" panose="02070309020205020404" pitchFamily="49" charset="0"/>
              </a:rPr>
              <a:t>”</a:t>
            </a:r>
            <a:r>
              <a:rPr lang="zh-CN" altLang="en-US" sz="2800" b="1" dirty="0" smtClean="0"/>
              <a:t>。</a:t>
            </a:r>
            <a:endParaRPr lang="zh-CN" altLang="en-US" sz="2800" b="1" dirty="0" smtClean="0"/>
          </a:p>
          <a:p>
            <a:pPr eaLnBrk="1" hangingPunct="1">
              <a:lnSpc>
                <a:spcPct val="120000"/>
              </a:lnSpc>
              <a:buFont typeface="Wingdings" panose="05000000000000000000" pitchFamily="2" charset="2"/>
              <a:buNone/>
              <a:defRPr/>
            </a:pPr>
            <a:r>
              <a:rPr lang="zh-CN" altLang="en-US" sz="2800" b="1" dirty="0" smtClean="0">
                <a:solidFill>
                  <a:schemeClr val="folHlink"/>
                </a:solidFill>
              </a:rPr>
              <a:t> </a:t>
            </a:r>
            <a:r>
              <a:rPr lang="en-US" altLang="zh-CN" sz="2800" b="1" dirty="0" smtClean="0">
                <a:solidFill>
                  <a:schemeClr val="folHlink"/>
                </a:solidFill>
              </a:rPr>
              <a:t>1</a:t>
            </a:r>
            <a:r>
              <a:rPr lang="zh-CN" altLang="en-US" sz="2800" b="1" dirty="0" smtClean="0">
                <a:solidFill>
                  <a:schemeClr val="folHlink"/>
                </a:solidFill>
              </a:rPr>
              <a:t>．基本原理 </a:t>
            </a:r>
            <a:endParaRPr lang="zh-CN" altLang="en-US" sz="2800" b="1" dirty="0" smtClean="0">
              <a:solidFill>
                <a:schemeClr val="folHlink"/>
              </a:solidFill>
            </a:endParaRPr>
          </a:p>
          <a:p>
            <a:pPr eaLnBrk="1" hangingPunct="1">
              <a:lnSpc>
                <a:spcPct val="120000"/>
              </a:lnSpc>
              <a:buFont typeface="Wingdings" panose="05000000000000000000" pitchFamily="2" charset="2"/>
              <a:buNone/>
              <a:defRPr/>
            </a:pPr>
            <a:r>
              <a:rPr lang="zh-CN" altLang="en-US" sz="2800" b="1" dirty="0" smtClean="0"/>
              <a:t>    段页式系统的基本原理：</a:t>
            </a:r>
            <a:r>
              <a:rPr lang="zh-CN" altLang="en-US" sz="2800" b="1" i="1" u="sng" dirty="0" smtClean="0">
                <a:solidFill>
                  <a:schemeClr val="folHlink"/>
                </a:solidFill>
                <a:effectLst>
                  <a:outerShdw blurRad="38100" dist="38100" dir="2700000" algn="tl">
                    <a:srgbClr val="000000"/>
                  </a:outerShdw>
                </a:effectLst>
                <a:ea typeface="仿宋_GB2312" pitchFamily="49" charset="-122"/>
              </a:rPr>
              <a:t>采用分段方法组织用户程序，采用分页方法分配和管理内存。</a:t>
            </a:r>
            <a:endParaRPr lang="zh-CN" altLang="en-US" sz="2800" b="1" i="1" u="sng" dirty="0" smtClean="0">
              <a:solidFill>
                <a:schemeClr val="folHlink"/>
              </a:solidFill>
              <a:effectLst>
                <a:outerShdw blurRad="38100" dist="38100" dir="2700000" algn="tl">
                  <a:srgbClr val="000000"/>
                </a:outerShdw>
              </a:effectLst>
              <a:ea typeface="仿宋_GB2312" pitchFamily="49" charset="-122"/>
            </a:endParaRPr>
          </a:p>
          <a:p>
            <a:pPr eaLnBrk="1" hangingPunct="1">
              <a:lnSpc>
                <a:spcPct val="120000"/>
              </a:lnSpc>
              <a:buFont typeface="Wingdings" panose="05000000000000000000" pitchFamily="2" charset="2"/>
              <a:buNone/>
              <a:defRPr/>
            </a:pPr>
            <a:r>
              <a:rPr lang="zh-CN" altLang="en-US" sz="2800" b="1" dirty="0" smtClean="0"/>
              <a:t>	先将用户程序分成若干个段，再把每个段分成若干个页，并为每一个段赋予一个段名。  </a:t>
            </a:r>
            <a:endParaRPr lang="zh-CN" altLang="en-US" sz="2800" b="1" dirty="0" smtClean="0"/>
          </a:p>
        </p:txBody>
      </p:sp>
      <p:sp>
        <p:nvSpPr>
          <p:cNvPr id="108547" name="Rectangle 4"/>
          <p:cNvSpPr>
            <a:spLocks noGrp="1" noRot="1" noChangeArrowheads="1"/>
          </p:cNvSpPr>
          <p:nvPr>
            <p:ph type="title"/>
          </p:nvPr>
        </p:nvSpPr>
        <p:spPr/>
        <p:txBody>
          <a:bodyPr/>
          <a:lstStyle/>
          <a:p>
            <a:pPr eaLnBrk="1" hangingPunct="1"/>
            <a:r>
              <a:rPr lang="en-US" altLang="zh-CN" b="1" smtClean="0">
                <a:solidFill>
                  <a:schemeClr val="folHlink"/>
                </a:solidFill>
              </a:rPr>
              <a:t>4.6.4 </a:t>
            </a:r>
            <a:r>
              <a:rPr lang="zh-CN" altLang="en-US" b="1" dirty="0" smtClean="0">
                <a:solidFill>
                  <a:schemeClr val="folHlink"/>
                </a:solidFill>
              </a:rPr>
              <a:t>段页式存储管理方式</a:t>
            </a:r>
            <a:endParaRPr lang="zh-CN" altLang="en-US" b="1" dirty="0" smtClean="0">
              <a:solidFill>
                <a:schemeClr val="folHlink"/>
              </a:solidFill>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rrowheads="1"/>
          </p:cNvSpPr>
          <p:nvPr>
            <p:ph type="title"/>
          </p:nvPr>
        </p:nvSpPr>
        <p:spPr>
          <a:xfrm>
            <a:off x="533400" y="576263"/>
            <a:ext cx="6424613" cy="889000"/>
          </a:xfrm>
        </p:spPr>
        <p:txBody>
          <a:bodyPr/>
          <a:lstStyle/>
          <a:p>
            <a:pPr eaLnBrk="1" hangingPunct="1"/>
            <a:r>
              <a:rPr lang="zh-CN" altLang="en-US" sz="4000" b="1" smtClean="0">
                <a:latin typeface="Times New Roman" panose="02020603050405020304" pitchFamily="18" charset="0"/>
              </a:rPr>
              <a:t>作业地址空间和地址结构 </a:t>
            </a:r>
            <a:endParaRPr lang="zh-CN" altLang="en-US" sz="4000" b="1" smtClean="0">
              <a:latin typeface="Times New Roman" panose="02020603050405020304" pitchFamily="18" charset="0"/>
            </a:endParaRPr>
          </a:p>
        </p:txBody>
      </p:sp>
      <p:pic>
        <p:nvPicPr>
          <p:cNvPr id="109571" name="Picture 3"/>
          <p:cNvPicPr>
            <a:picLocks noGrp="1" noChangeAspect="1" noChangeArrowheads="1"/>
          </p:cNvPicPr>
          <p:nvPr>
            <p:ph type="dgm" idx="1"/>
          </p:nvPr>
        </p:nvPicPr>
        <p:blipFill>
          <a:blip r:embed="rId1" cstate="print">
            <a:extLst>
              <a:ext uri="{28A0092B-C50C-407E-A947-70E740481C1C}">
                <a14:useLocalDpi xmlns:a14="http://schemas.microsoft.com/office/drawing/2010/main" val="0"/>
              </a:ext>
            </a:extLst>
          </a:blip>
          <a:srcRect/>
          <a:stretch>
            <a:fillRect/>
          </a:stretch>
        </p:blipFill>
        <p:spPr>
          <a:xfrm>
            <a:off x="838200" y="1752600"/>
            <a:ext cx="7162800" cy="4281488"/>
          </a:xfrm>
          <a:noFill/>
        </p:spPr>
      </p:pic>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rrowheads="1"/>
          </p:cNvSpPr>
          <p:nvPr>
            <p:ph type="title"/>
          </p:nvPr>
        </p:nvSpPr>
        <p:spPr/>
        <p:txBody>
          <a:bodyPr/>
          <a:lstStyle/>
          <a:p>
            <a:r>
              <a:rPr lang="zh-CN" altLang="en-US" b="1" u="sng" smtClean="0">
                <a:solidFill>
                  <a:schemeClr val="folHlink"/>
                </a:solidFill>
                <a:ea typeface="仿宋_GB2312" pitchFamily="49" charset="-122"/>
              </a:rPr>
              <a:t>逻辑地址</a:t>
            </a:r>
            <a:endParaRPr lang="zh-CN" altLang="en-US" b="1" u="sng" smtClean="0">
              <a:solidFill>
                <a:schemeClr val="folHlink"/>
              </a:solidFill>
              <a:ea typeface="仿宋_GB2312" pitchFamily="49" charset="-122"/>
            </a:endParaRPr>
          </a:p>
        </p:txBody>
      </p:sp>
      <p:sp>
        <p:nvSpPr>
          <p:cNvPr id="179203" name="Rectangle 3"/>
          <p:cNvSpPr>
            <a:spLocks noGrp="1" noRot="1" noChangeArrowheads="1"/>
          </p:cNvSpPr>
          <p:nvPr>
            <p:ph type="body" idx="1"/>
          </p:nvPr>
        </p:nvSpPr>
        <p:spPr>
          <a:xfrm>
            <a:off x="533400" y="1978025"/>
            <a:ext cx="8077200" cy="4498975"/>
          </a:xfrm>
        </p:spPr>
        <p:txBody>
          <a:bodyPr/>
          <a:lstStyle/>
          <a:p>
            <a:pPr>
              <a:defRPr/>
            </a:pPr>
            <a:r>
              <a:rPr lang="zh-CN" altLang="en-US" b="1" dirty="0" smtClean="0">
                <a:ea typeface="仿宋_GB2312" pitchFamily="49" charset="-122"/>
              </a:rPr>
              <a:t>逻辑地址由</a:t>
            </a:r>
            <a:r>
              <a:rPr lang="en-US" altLang="zh-CN" b="1" dirty="0" smtClean="0">
                <a:ea typeface="仿宋_GB2312" pitchFamily="49" charset="-122"/>
              </a:rPr>
              <a:t>3</a:t>
            </a:r>
            <a:r>
              <a:rPr lang="zh-CN" altLang="en-US" b="1" dirty="0" smtClean="0">
                <a:ea typeface="仿宋_GB2312" pitchFamily="49" charset="-122"/>
              </a:rPr>
              <a:t>部分组成：段号、段内页号、页内偏移量，如图</a:t>
            </a:r>
            <a:endParaRPr lang="zh-CN" altLang="en-US" b="1" dirty="0" smtClean="0">
              <a:ea typeface="仿宋_GB2312" pitchFamily="49" charset="-122"/>
            </a:endParaRPr>
          </a:p>
        </p:txBody>
      </p:sp>
      <p:sp>
        <p:nvSpPr>
          <p:cNvPr id="110596" name="Rectangle 10"/>
          <p:cNvSpPr>
            <a:spLocks noChangeArrowheads="1"/>
          </p:cNvSpPr>
          <p:nvPr/>
        </p:nvSpPr>
        <p:spPr bwMode="auto">
          <a:xfrm>
            <a:off x="533400" y="3352800"/>
            <a:ext cx="8077200" cy="20574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0597" name="Group 11"/>
          <p:cNvGrpSpPr/>
          <p:nvPr/>
        </p:nvGrpSpPr>
        <p:grpSpPr bwMode="auto">
          <a:xfrm>
            <a:off x="1066800" y="4114800"/>
            <a:ext cx="6705600" cy="1295400"/>
            <a:chOff x="3060" y="9084"/>
            <a:chExt cx="3783" cy="780"/>
          </a:xfrm>
        </p:grpSpPr>
        <p:grpSp>
          <p:nvGrpSpPr>
            <p:cNvPr id="110598" name="Group 12"/>
            <p:cNvGrpSpPr/>
            <p:nvPr/>
          </p:nvGrpSpPr>
          <p:grpSpPr bwMode="auto">
            <a:xfrm>
              <a:off x="3240" y="9084"/>
              <a:ext cx="3240" cy="312"/>
              <a:chOff x="3060" y="9084"/>
              <a:chExt cx="3240" cy="312"/>
            </a:xfrm>
          </p:grpSpPr>
          <p:sp>
            <p:nvSpPr>
              <p:cNvPr id="110600" name="Text Box 13"/>
              <p:cNvSpPr txBox="1">
                <a:spLocks noChangeArrowheads="1"/>
              </p:cNvSpPr>
              <p:nvPr/>
            </p:nvSpPr>
            <p:spPr bwMode="auto">
              <a:xfrm>
                <a:off x="3060" y="9084"/>
                <a:ext cx="90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段号</a:t>
                </a:r>
                <a:endParaRPr lang="zh-CN" altLang="en-US" sz="2400" b="1">
                  <a:solidFill>
                    <a:srgbClr val="000000"/>
                  </a:solidFill>
                  <a:latin typeface="Times New Roman" panose="02020603050405020304" pitchFamily="18" charset="0"/>
                </a:endParaRPr>
              </a:p>
            </p:txBody>
          </p:sp>
          <p:sp>
            <p:nvSpPr>
              <p:cNvPr id="110601" name="Text Box 14"/>
              <p:cNvSpPr txBox="1">
                <a:spLocks noChangeArrowheads="1"/>
              </p:cNvSpPr>
              <p:nvPr/>
            </p:nvSpPr>
            <p:spPr bwMode="auto">
              <a:xfrm>
                <a:off x="3960" y="9084"/>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段内页号</a:t>
                </a:r>
                <a:endParaRPr lang="zh-CN" altLang="en-US" sz="2400" b="1">
                  <a:solidFill>
                    <a:srgbClr val="000000"/>
                  </a:solidFill>
                  <a:latin typeface="Times New Roman" panose="02020603050405020304" pitchFamily="18" charset="0"/>
                </a:endParaRPr>
              </a:p>
            </p:txBody>
          </p:sp>
          <p:sp>
            <p:nvSpPr>
              <p:cNvPr id="110602" name="Text Box 15"/>
              <p:cNvSpPr txBox="1">
                <a:spLocks noChangeArrowheads="1"/>
              </p:cNvSpPr>
              <p:nvPr/>
            </p:nvSpPr>
            <p:spPr bwMode="auto">
              <a:xfrm>
                <a:off x="5040" y="9084"/>
                <a:ext cx="126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页内偏移量</a:t>
                </a:r>
                <a:endParaRPr lang="zh-CN" altLang="en-US" sz="2400" b="1">
                  <a:solidFill>
                    <a:srgbClr val="000000"/>
                  </a:solidFill>
                  <a:latin typeface="Times New Roman" panose="02020603050405020304" pitchFamily="18" charset="0"/>
                </a:endParaRPr>
              </a:p>
            </p:txBody>
          </p:sp>
        </p:grpSp>
        <p:sp>
          <p:nvSpPr>
            <p:cNvPr id="110599" name="Text Box 16"/>
            <p:cNvSpPr txBox="1">
              <a:spLocks noChangeArrowheads="1"/>
            </p:cNvSpPr>
            <p:nvPr/>
          </p:nvSpPr>
          <p:spPr bwMode="auto">
            <a:xfrm>
              <a:off x="3060" y="9552"/>
              <a:ext cx="378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rgbClr val="000000"/>
                  </a:solidFill>
                  <a:latin typeface="Times New Roman" panose="02020603050405020304" pitchFamily="18" charset="0"/>
                </a:rPr>
                <a:t>图  段页式系统的逻辑地址结构</a:t>
              </a:r>
              <a:endParaRPr lang="zh-CN" altLang="en-US" sz="2400" b="1">
                <a:solidFill>
                  <a:srgbClr val="000000"/>
                </a:solidFill>
                <a:latin typeface="Times New Roman" panose="02020603050405020304" pitchFamily="18" charset="0"/>
              </a:endParaRPr>
            </a:p>
          </p:txBody>
        </p:sp>
      </p:gr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rrowheads="1"/>
          </p:cNvSpPr>
          <p:nvPr>
            <p:ph type="title"/>
          </p:nvPr>
        </p:nvSpPr>
        <p:spPr/>
        <p:txBody>
          <a:bodyPr/>
          <a:lstStyle/>
          <a:p>
            <a:r>
              <a:rPr lang="zh-CN" altLang="en-US" b="1" u="sng" smtClean="0">
                <a:solidFill>
                  <a:schemeClr val="folHlink"/>
                </a:solidFill>
                <a:ea typeface="仿宋_GB2312" pitchFamily="49" charset="-122"/>
              </a:rPr>
              <a:t>数据结构</a:t>
            </a:r>
            <a:endParaRPr lang="zh-CN" altLang="en-US" b="1" u="sng" smtClean="0">
              <a:solidFill>
                <a:schemeClr val="folHlink"/>
              </a:solidFill>
              <a:ea typeface="仿宋_GB2312" pitchFamily="49" charset="-122"/>
            </a:endParaRPr>
          </a:p>
        </p:txBody>
      </p:sp>
      <p:sp>
        <p:nvSpPr>
          <p:cNvPr id="180227" name="Rectangle 3"/>
          <p:cNvSpPr>
            <a:spLocks noGrp="1" noRot="1" noChangeArrowheads="1"/>
          </p:cNvSpPr>
          <p:nvPr>
            <p:ph type="body" idx="1"/>
          </p:nvPr>
        </p:nvSpPr>
        <p:spPr>
          <a:xfrm>
            <a:off x="533400" y="1524000"/>
            <a:ext cx="8077200" cy="4498975"/>
          </a:xfrm>
        </p:spPr>
        <p:txBody>
          <a:bodyPr/>
          <a:lstStyle/>
          <a:p>
            <a:pPr>
              <a:defRPr/>
            </a:pPr>
            <a:r>
              <a:rPr lang="zh-CN" altLang="en-US" sz="2800" b="1" smtClean="0">
                <a:effectLst>
                  <a:outerShdw blurRad="38100" dist="38100" dir="2700000" algn="tl">
                    <a:srgbClr val="000000"/>
                  </a:outerShdw>
                </a:effectLst>
                <a:ea typeface="仿宋_GB2312" pitchFamily="49" charset="-122"/>
              </a:rPr>
              <a:t>用于管理的数据结构：段表、页表，如图</a:t>
            </a:r>
            <a:endParaRPr lang="zh-CN" altLang="en-US" sz="2800" b="1" smtClean="0">
              <a:effectLst>
                <a:outerShdw blurRad="38100" dist="38100" dir="2700000" algn="tl">
                  <a:srgbClr val="000000"/>
                </a:outerShdw>
              </a:effectLst>
              <a:ea typeface="仿宋_GB2312" pitchFamily="49" charset="-122"/>
            </a:endParaRPr>
          </a:p>
        </p:txBody>
      </p:sp>
      <p:sp>
        <p:nvSpPr>
          <p:cNvPr id="111620" name="Rectangle 111"/>
          <p:cNvSpPr>
            <a:spLocks noChangeArrowheads="1"/>
          </p:cNvSpPr>
          <p:nvPr/>
        </p:nvSpPr>
        <p:spPr bwMode="auto">
          <a:xfrm>
            <a:off x="304800" y="2133600"/>
            <a:ext cx="8534400" cy="44958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11621" name="Group 112"/>
          <p:cNvGrpSpPr/>
          <p:nvPr/>
        </p:nvGrpSpPr>
        <p:grpSpPr bwMode="auto">
          <a:xfrm>
            <a:off x="533400" y="2201863"/>
            <a:ext cx="8001000" cy="4656137"/>
            <a:chOff x="2160" y="9552"/>
            <a:chExt cx="7740" cy="4056"/>
          </a:xfrm>
        </p:grpSpPr>
        <p:sp>
          <p:nvSpPr>
            <p:cNvPr id="111622" name="Text Box 113"/>
            <p:cNvSpPr txBox="1">
              <a:spLocks noChangeArrowheads="1"/>
            </p:cNvSpPr>
            <p:nvPr/>
          </p:nvSpPr>
          <p:spPr bwMode="auto">
            <a:xfrm>
              <a:off x="2520" y="13119"/>
              <a:ext cx="720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图</a:t>
              </a:r>
              <a:r>
                <a:rPr lang="en-US" altLang="zh-CN" b="1">
                  <a:solidFill>
                    <a:srgbClr val="000000"/>
                  </a:solidFill>
                  <a:latin typeface="Times New Roman" panose="02020603050405020304" pitchFamily="18" charset="0"/>
                </a:rPr>
                <a:t>3.26   </a:t>
              </a:r>
              <a:r>
                <a:rPr lang="zh-CN" altLang="en-US" b="1">
                  <a:solidFill>
                    <a:srgbClr val="000000"/>
                  </a:solidFill>
                  <a:latin typeface="Times New Roman" panose="02020603050405020304" pitchFamily="18" charset="0"/>
                </a:rPr>
                <a:t>段页式系统的数据结构</a:t>
              </a:r>
              <a:endParaRPr lang="zh-CN" altLang="en-US" b="1">
                <a:solidFill>
                  <a:srgbClr val="000000"/>
                </a:solidFill>
                <a:latin typeface="Times New Roman" panose="02020603050405020304" pitchFamily="18" charset="0"/>
              </a:endParaRPr>
            </a:p>
          </p:txBody>
        </p:sp>
        <p:grpSp>
          <p:nvGrpSpPr>
            <p:cNvPr id="111623" name="Group 114"/>
            <p:cNvGrpSpPr/>
            <p:nvPr/>
          </p:nvGrpSpPr>
          <p:grpSpPr bwMode="auto">
            <a:xfrm>
              <a:off x="2160" y="9552"/>
              <a:ext cx="7740" cy="3588"/>
              <a:chOff x="2160" y="9552"/>
              <a:chExt cx="7740" cy="3588"/>
            </a:xfrm>
          </p:grpSpPr>
          <p:grpSp>
            <p:nvGrpSpPr>
              <p:cNvPr id="111624" name="Group 115"/>
              <p:cNvGrpSpPr/>
              <p:nvPr/>
            </p:nvGrpSpPr>
            <p:grpSpPr bwMode="auto">
              <a:xfrm>
                <a:off x="2160" y="10020"/>
                <a:ext cx="1080" cy="2964"/>
                <a:chOff x="2160" y="10020"/>
                <a:chExt cx="1080" cy="2964"/>
              </a:xfrm>
            </p:grpSpPr>
            <p:grpSp>
              <p:nvGrpSpPr>
                <p:cNvPr id="111723" name="Group 116"/>
                <p:cNvGrpSpPr/>
                <p:nvPr/>
              </p:nvGrpSpPr>
              <p:grpSpPr bwMode="auto">
                <a:xfrm>
                  <a:off x="2160" y="10020"/>
                  <a:ext cx="1080" cy="2496"/>
                  <a:chOff x="2160" y="10020"/>
                  <a:chExt cx="1080" cy="2496"/>
                </a:xfrm>
              </p:grpSpPr>
              <p:sp>
                <p:nvSpPr>
                  <p:cNvPr id="111725" name="Text Box 117"/>
                  <p:cNvSpPr txBox="1">
                    <a:spLocks noChangeArrowheads="1"/>
                  </p:cNvSpPr>
                  <p:nvPr/>
                </p:nvSpPr>
                <p:spPr bwMode="auto">
                  <a:xfrm>
                    <a:off x="2160" y="10020"/>
                    <a:ext cx="1080" cy="78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a:p>
                    <a:pPr algn="ctr"/>
                    <a:r>
                      <a:rPr lang="zh-CN" altLang="en-US" b="1">
                        <a:solidFill>
                          <a:srgbClr val="000000"/>
                        </a:solidFill>
                        <a:latin typeface="Times New Roman" panose="02020603050405020304" pitchFamily="18" charset="0"/>
                      </a:rPr>
                      <a:t>段</a:t>
                    </a: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111726" name="Text Box 118"/>
                  <p:cNvSpPr txBox="1">
                    <a:spLocks noChangeArrowheads="1"/>
                  </p:cNvSpPr>
                  <p:nvPr/>
                </p:nvSpPr>
                <p:spPr bwMode="auto">
                  <a:xfrm>
                    <a:off x="2160" y="10800"/>
                    <a:ext cx="1080" cy="46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段</a:t>
                    </a: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111727" name="Text Box 119"/>
                  <p:cNvSpPr txBox="1">
                    <a:spLocks noChangeArrowheads="1"/>
                  </p:cNvSpPr>
                  <p:nvPr/>
                </p:nvSpPr>
                <p:spPr bwMode="auto">
                  <a:xfrm>
                    <a:off x="2160" y="11268"/>
                    <a:ext cx="1080" cy="124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a:p>
                    <a:pPr algn="ctr"/>
                    <a:r>
                      <a:rPr lang="zh-CN" altLang="en-US" b="1">
                        <a:solidFill>
                          <a:srgbClr val="000000"/>
                        </a:solidFill>
                        <a:latin typeface="Times New Roman" panose="02020603050405020304" pitchFamily="18" charset="0"/>
                      </a:rPr>
                      <a:t>段</a:t>
                    </a: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grpSp>
            <p:sp>
              <p:nvSpPr>
                <p:cNvPr id="111724" name="Text Box 120"/>
                <p:cNvSpPr txBox="1">
                  <a:spLocks noChangeArrowheads="1"/>
                </p:cNvSpPr>
                <p:nvPr/>
              </p:nvSpPr>
              <p:spPr bwMode="auto">
                <a:xfrm>
                  <a:off x="2160" y="12672"/>
                  <a:ext cx="10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用户程序</a:t>
                  </a:r>
                  <a:endParaRPr lang="zh-CN" altLang="en-US" b="1">
                    <a:solidFill>
                      <a:srgbClr val="000000"/>
                    </a:solidFill>
                    <a:latin typeface="Times New Roman" panose="02020603050405020304" pitchFamily="18" charset="0"/>
                  </a:endParaRPr>
                </a:p>
              </p:txBody>
            </p:sp>
          </p:grpSp>
          <p:grpSp>
            <p:nvGrpSpPr>
              <p:cNvPr id="111625" name="Group 121"/>
              <p:cNvGrpSpPr/>
              <p:nvPr/>
            </p:nvGrpSpPr>
            <p:grpSpPr bwMode="auto">
              <a:xfrm>
                <a:off x="3240" y="10332"/>
                <a:ext cx="3240" cy="1716"/>
                <a:chOff x="3240" y="10332"/>
                <a:chExt cx="3240" cy="1716"/>
              </a:xfrm>
            </p:grpSpPr>
            <p:grpSp>
              <p:nvGrpSpPr>
                <p:cNvPr id="111701" name="Group 122"/>
                <p:cNvGrpSpPr/>
                <p:nvPr/>
              </p:nvGrpSpPr>
              <p:grpSpPr bwMode="auto">
                <a:xfrm>
                  <a:off x="3780" y="10332"/>
                  <a:ext cx="2700" cy="1716"/>
                  <a:chOff x="3600" y="9396"/>
                  <a:chExt cx="2700" cy="1716"/>
                </a:xfrm>
              </p:grpSpPr>
              <p:sp>
                <p:nvSpPr>
                  <p:cNvPr id="111705" name="Text Box 123"/>
                  <p:cNvSpPr txBox="1">
                    <a:spLocks noChangeArrowheads="1"/>
                  </p:cNvSpPr>
                  <p:nvPr/>
                </p:nvSpPr>
                <p:spPr bwMode="auto">
                  <a:xfrm>
                    <a:off x="3960" y="10800"/>
                    <a:ext cx="216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段表</a:t>
                    </a:r>
                    <a:endParaRPr lang="zh-CN" altLang="en-US" b="1">
                      <a:solidFill>
                        <a:srgbClr val="000000"/>
                      </a:solidFill>
                      <a:latin typeface="Times New Roman" panose="02020603050405020304" pitchFamily="18" charset="0"/>
                    </a:endParaRPr>
                  </a:p>
                </p:txBody>
              </p:sp>
              <p:grpSp>
                <p:nvGrpSpPr>
                  <p:cNvPr id="111706" name="Group 124"/>
                  <p:cNvGrpSpPr/>
                  <p:nvPr/>
                </p:nvGrpSpPr>
                <p:grpSpPr bwMode="auto">
                  <a:xfrm>
                    <a:off x="3600" y="9396"/>
                    <a:ext cx="2700" cy="1248"/>
                    <a:chOff x="3600" y="9396"/>
                    <a:chExt cx="2700" cy="1248"/>
                  </a:xfrm>
                </p:grpSpPr>
                <p:grpSp>
                  <p:nvGrpSpPr>
                    <p:cNvPr id="111707" name="Group 125"/>
                    <p:cNvGrpSpPr/>
                    <p:nvPr/>
                  </p:nvGrpSpPr>
                  <p:grpSpPr bwMode="auto">
                    <a:xfrm>
                      <a:off x="3600" y="9708"/>
                      <a:ext cx="2700" cy="312"/>
                      <a:chOff x="3600" y="9708"/>
                      <a:chExt cx="2700" cy="312"/>
                    </a:xfrm>
                  </p:grpSpPr>
                  <p:sp>
                    <p:nvSpPr>
                      <p:cNvPr id="111720" name="Text Box 126"/>
                      <p:cNvSpPr txBox="1">
                        <a:spLocks noChangeArrowheads="1"/>
                      </p:cNvSpPr>
                      <p:nvPr/>
                    </p:nvSpPr>
                    <p:spPr bwMode="auto">
                      <a:xfrm>
                        <a:off x="360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111721" name="Text Box 127"/>
                      <p:cNvSpPr txBox="1">
                        <a:spLocks noChangeArrowheads="1"/>
                      </p:cNvSpPr>
                      <p:nvPr/>
                    </p:nvSpPr>
                    <p:spPr bwMode="auto">
                      <a:xfrm>
                        <a:off x="4140" y="9708"/>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3</a:t>
                        </a:r>
                        <a:endParaRPr lang="en-US" altLang="zh-CN" b="1">
                          <a:solidFill>
                            <a:srgbClr val="000000"/>
                          </a:solidFill>
                          <a:latin typeface="Times New Roman" panose="02020603050405020304" pitchFamily="18" charset="0"/>
                        </a:endParaRPr>
                      </a:p>
                    </p:txBody>
                  </p:sp>
                  <p:sp>
                    <p:nvSpPr>
                      <p:cNvPr id="111722" name="Text Box 128"/>
                      <p:cNvSpPr txBox="1">
                        <a:spLocks noChangeArrowheads="1"/>
                      </p:cNvSpPr>
                      <p:nvPr/>
                    </p:nvSpPr>
                    <p:spPr bwMode="auto">
                      <a:xfrm>
                        <a:off x="5220" y="9708"/>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endParaRPr lang="zh-CN" altLang="en-US" b="1">
                          <a:solidFill>
                            <a:srgbClr val="000000"/>
                          </a:solidFill>
                          <a:latin typeface="Times New Roman" panose="02020603050405020304" pitchFamily="18" charset="0"/>
                        </a:endParaRPr>
                      </a:p>
                    </p:txBody>
                  </p:sp>
                </p:grpSp>
                <p:grpSp>
                  <p:nvGrpSpPr>
                    <p:cNvPr id="111708" name="Group 129"/>
                    <p:cNvGrpSpPr/>
                    <p:nvPr/>
                  </p:nvGrpSpPr>
                  <p:grpSpPr bwMode="auto">
                    <a:xfrm>
                      <a:off x="3600" y="9396"/>
                      <a:ext cx="2700" cy="312"/>
                      <a:chOff x="3600" y="9396"/>
                      <a:chExt cx="2700" cy="312"/>
                    </a:xfrm>
                  </p:grpSpPr>
                  <p:sp>
                    <p:nvSpPr>
                      <p:cNvPr id="111717" name="Text Box 130"/>
                      <p:cNvSpPr txBox="1">
                        <a:spLocks noChangeArrowheads="1"/>
                      </p:cNvSpPr>
                      <p:nvPr/>
                    </p:nvSpPr>
                    <p:spPr bwMode="auto">
                      <a:xfrm>
                        <a:off x="5220" y="9396"/>
                        <a:ext cx="10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页表首址</a:t>
                        </a:r>
                        <a:endParaRPr lang="zh-CN" altLang="en-US" b="1">
                          <a:solidFill>
                            <a:srgbClr val="000000"/>
                          </a:solidFill>
                          <a:latin typeface="Times New Roman" panose="02020603050405020304" pitchFamily="18" charset="0"/>
                        </a:endParaRPr>
                      </a:p>
                    </p:txBody>
                  </p:sp>
                  <p:sp>
                    <p:nvSpPr>
                      <p:cNvPr id="111718" name="Text Box 131"/>
                      <p:cNvSpPr txBox="1">
                        <a:spLocks noChangeArrowheads="1"/>
                      </p:cNvSpPr>
                      <p:nvPr/>
                    </p:nvSpPr>
                    <p:spPr bwMode="auto">
                      <a:xfrm>
                        <a:off x="4140" y="9396"/>
                        <a:ext cx="10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页表长度</a:t>
                        </a:r>
                        <a:endParaRPr lang="zh-CN" altLang="en-US" b="1">
                          <a:solidFill>
                            <a:srgbClr val="000000"/>
                          </a:solidFill>
                          <a:latin typeface="Times New Roman" panose="02020603050405020304" pitchFamily="18" charset="0"/>
                        </a:endParaRPr>
                      </a:p>
                    </p:txBody>
                  </p:sp>
                  <p:sp>
                    <p:nvSpPr>
                      <p:cNvPr id="111719" name="Text Box 132"/>
                      <p:cNvSpPr txBox="1">
                        <a:spLocks noChangeArrowheads="1"/>
                      </p:cNvSpPr>
                      <p:nvPr/>
                    </p:nvSpPr>
                    <p:spPr bwMode="auto">
                      <a:xfrm>
                        <a:off x="3600" y="939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段号</a:t>
                        </a:r>
                        <a:endParaRPr lang="zh-CN" altLang="en-US" b="1">
                          <a:solidFill>
                            <a:srgbClr val="000000"/>
                          </a:solidFill>
                          <a:latin typeface="Times New Roman" panose="02020603050405020304" pitchFamily="18" charset="0"/>
                        </a:endParaRPr>
                      </a:p>
                    </p:txBody>
                  </p:sp>
                </p:grpSp>
                <p:grpSp>
                  <p:nvGrpSpPr>
                    <p:cNvPr id="111709" name="Group 133"/>
                    <p:cNvGrpSpPr/>
                    <p:nvPr/>
                  </p:nvGrpSpPr>
                  <p:grpSpPr bwMode="auto">
                    <a:xfrm>
                      <a:off x="3600" y="10020"/>
                      <a:ext cx="2700" cy="312"/>
                      <a:chOff x="3600" y="9708"/>
                      <a:chExt cx="2700" cy="312"/>
                    </a:xfrm>
                  </p:grpSpPr>
                  <p:sp>
                    <p:nvSpPr>
                      <p:cNvPr id="111714" name="Text Box 134"/>
                      <p:cNvSpPr txBox="1">
                        <a:spLocks noChangeArrowheads="1"/>
                      </p:cNvSpPr>
                      <p:nvPr/>
                    </p:nvSpPr>
                    <p:spPr bwMode="auto">
                      <a:xfrm>
                        <a:off x="360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111715" name="Text Box 135"/>
                      <p:cNvSpPr txBox="1">
                        <a:spLocks noChangeArrowheads="1"/>
                      </p:cNvSpPr>
                      <p:nvPr/>
                    </p:nvSpPr>
                    <p:spPr bwMode="auto">
                      <a:xfrm>
                        <a:off x="4140" y="9708"/>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716" name="Text Box 136"/>
                      <p:cNvSpPr txBox="1">
                        <a:spLocks noChangeArrowheads="1"/>
                      </p:cNvSpPr>
                      <p:nvPr/>
                    </p:nvSpPr>
                    <p:spPr bwMode="auto">
                      <a:xfrm>
                        <a:off x="5220" y="9708"/>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endParaRPr lang="zh-CN" altLang="en-US" b="1">
                          <a:solidFill>
                            <a:srgbClr val="000000"/>
                          </a:solidFill>
                          <a:latin typeface="Times New Roman" panose="02020603050405020304" pitchFamily="18" charset="0"/>
                        </a:endParaRPr>
                      </a:p>
                    </p:txBody>
                  </p:sp>
                </p:grpSp>
                <p:grpSp>
                  <p:nvGrpSpPr>
                    <p:cNvPr id="111710" name="Group 137"/>
                    <p:cNvGrpSpPr/>
                    <p:nvPr/>
                  </p:nvGrpSpPr>
                  <p:grpSpPr bwMode="auto">
                    <a:xfrm>
                      <a:off x="3600" y="10332"/>
                      <a:ext cx="2700" cy="312"/>
                      <a:chOff x="3600" y="9708"/>
                      <a:chExt cx="2700" cy="312"/>
                    </a:xfrm>
                  </p:grpSpPr>
                  <p:sp>
                    <p:nvSpPr>
                      <p:cNvPr id="111711" name="Text Box 138"/>
                      <p:cNvSpPr txBox="1">
                        <a:spLocks noChangeArrowheads="1"/>
                      </p:cNvSpPr>
                      <p:nvPr/>
                    </p:nvSpPr>
                    <p:spPr bwMode="auto">
                      <a:xfrm>
                        <a:off x="360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sp>
                    <p:nvSpPr>
                      <p:cNvPr id="111712" name="Text Box 139"/>
                      <p:cNvSpPr txBox="1">
                        <a:spLocks noChangeArrowheads="1"/>
                      </p:cNvSpPr>
                      <p:nvPr/>
                    </p:nvSpPr>
                    <p:spPr bwMode="auto">
                      <a:xfrm>
                        <a:off x="4140" y="9708"/>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713" name="Text Box 140"/>
                      <p:cNvSpPr txBox="1">
                        <a:spLocks noChangeArrowheads="1"/>
                      </p:cNvSpPr>
                      <p:nvPr/>
                    </p:nvSpPr>
                    <p:spPr bwMode="auto">
                      <a:xfrm>
                        <a:off x="5220" y="9708"/>
                        <a:ext cx="108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endParaRPr lang="zh-CN" altLang="en-US" b="1">
                          <a:solidFill>
                            <a:srgbClr val="000000"/>
                          </a:solidFill>
                          <a:latin typeface="Times New Roman" panose="02020603050405020304" pitchFamily="18" charset="0"/>
                        </a:endParaRPr>
                      </a:p>
                    </p:txBody>
                  </p:sp>
                </p:grpSp>
              </p:grpSp>
            </p:grpSp>
            <p:sp>
              <p:nvSpPr>
                <p:cNvPr id="111702" name="Line 141"/>
                <p:cNvSpPr>
                  <a:spLocks noChangeShapeType="1"/>
                </p:cNvSpPr>
                <p:nvPr/>
              </p:nvSpPr>
              <p:spPr bwMode="auto">
                <a:xfrm>
                  <a:off x="3240" y="10488"/>
                  <a:ext cx="54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703" name="Line 142"/>
                <p:cNvSpPr>
                  <a:spLocks noChangeShapeType="1"/>
                </p:cNvSpPr>
                <p:nvPr/>
              </p:nvSpPr>
              <p:spPr bwMode="auto">
                <a:xfrm>
                  <a:off x="3240" y="11112"/>
                  <a:ext cx="5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704" name="Line 143"/>
                <p:cNvSpPr>
                  <a:spLocks noChangeShapeType="1"/>
                </p:cNvSpPr>
                <p:nvPr/>
              </p:nvSpPr>
              <p:spPr bwMode="auto">
                <a:xfrm flipV="1">
                  <a:off x="3240" y="11424"/>
                  <a:ext cx="54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1626" name="Group 144"/>
              <p:cNvGrpSpPr/>
              <p:nvPr/>
            </p:nvGrpSpPr>
            <p:grpSpPr bwMode="auto">
              <a:xfrm>
                <a:off x="7920" y="9552"/>
                <a:ext cx="1980" cy="3432"/>
                <a:chOff x="7920" y="9552"/>
                <a:chExt cx="1980" cy="3432"/>
              </a:xfrm>
            </p:grpSpPr>
            <p:grpSp>
              <p:nvGrpSpPr>
                <p:cNvPr id="111668" name="Group 145"/>
                <p:cNvGrpSpPr/>
                <p:nvPr/>
              </p:nvGrpSpPr>
              <p:grpSpPr bwMode="auto">
                <a:xfrm>
                  <a:off x="8745" y="9552"/>
                  <a:ext cx="1155" cy="3432"/>
                  <a:chOff x="8280" y="9240"/>
                  <a:chExt cx="1155" cy="3432"/>
                </a:xfrm>
              </p:grpSpPr>
              <p:sp>
                <p:nvSpPr>
                  <p:cNvPr id="111678" name="Text Box 146"/>
                  <p:cNvSpPr txBox="1">
                    <a:spLocks noChangeArrowheads="1"/>
                  </p:cNvSpPr>
                  <p:nvPr/>
                </p:nvSpPr>
                <p:spPr bwMode="auto">
                  <a:xfrm>
                    <a:off x="8280" y="12360"/>
                    <a:ext cx="10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内存</a:t>
                    </a:r>
                    <a:endParaRPr lang="zh-CN" altLang="en-US" b="1">
                      <a:solidFill>
                        <a:srgbClr val="000000"/>
                      </a:solidFill>
                      <a:latin typeface="Times New Roman" panose="02020603050405020304" pitchFamily="18" charset="0"/>
                    </a:endParaRPr>
                  </a:p>
                </p:txBody>
              </p:sp>
              <p:grpSp>
                <p:nvGrpSpPr>
                  <p:cNvPr id="111679" name="Group 147"/>
                  <p:cNvGrpSpPr/>
                  <p:nvPr/>
                </p:nvGrpSpPr>
                <p:grpSpPr bwMode="auto">
                  <a:xfrm>
                    <a:off x="8280" y="9240"/>
                    <a:ext cx="1155" cy="3120"/>
                    <a:chOff x="8925" y="9240"/>
                    <a:chExt cx="1155" cy="3120"/>
                  </a:xfrm>
                </p:grpSpPr>
                <p:grpSp>
                  <p:nvGrpSpPr>
                    <p:cNvPr id="111680" name="Group 148"/>
                    <p:cNvGrpSpPr/>
                    <p:nvPr/>
                  </p:nvGrpSpPr>
                  <p:grpSpPr bwMode="auto">
                    <a:xfrm>
                      <a:off x="8925" y="9552"/>
                      <a:ext cx="1155" cy="2028"/>
                      <a:chOff x="8100" y="9552"/>
                      <a:chExt cx="1155" cy="2028"/>
                    </a:xfrm>
                  </p:grpSpPr>
                  <p:sp>
                    <p:nvSpPr>
                      <p:cNvPr id="111696" name="Text Box 149"/>
                      <p:cNvSpPr txBox="1">
                        <a:spLocks noChangeArrowheads="1"/>
                      </p:cNvSpPr>
                      <p:nvPr/>
                    </p:nvSpPr>
                    <p:spPr bwMode="auto">
                      <a:xfrm>
                        <a:off x="8100" y="9552"/>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111697" name="Text Box 150"/>
                      <p:cNvSpPr txBox="1">
                        <a:spLocks noChangeArrowheads="1"/>
                      </p:cNvSpPr>
                      <p:nvPr/>
                    </p:nvSpPr>
                    <p:spPr bwMode="auto">
                      <a:xfrm>
                        <a:off x="8100" y="10332"/>
                        <a:ext cx="1155" cy="17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8" name="Text Box 151"/>
                      <p:cNvSpPr txBox="1">
                        <a:spLocks noChangeArrowheads="1"/>
                      </p:cNvSpPr>
                      <p:nvPr/>
                    </p:nvSpPr>
                    <p:spPr bwMode="auto">
                      <a:xfrm>
                        <a:off x="8100" y="11424"/>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9" name="Text Box 152"/>
                      <p:cNvSpPr txBox="1">
                        <a:spLocks noChangeArrowheads="1"/>
                      </p:cNvSpPr>
                      <p:nvPr/>
                    </p:nvSpPr>
                    <p:spPr bwMode="auto">
                      <a:xfrm>
                        <a:off x="8100" y="9864"/>
                        <a:ext cx="1155" cy="17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700" name="Text Box 153"/>
                      <p:cNvSpPr txBox="1">
                        <a:spLocks noChangeArrowheads="1"/>
                      </p:cNvSpPr>
                      <p:nvPr/>
                    </p:nvSpPr>
                    <p:spPr bwMode="auto">
                      <a:xfrm>
                        <a:off x="8100" y="10956"/>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81" name="Group 154"/>
                    <p:cNvGrpSpPr/>
                    <p:nvPr/>
                  </p:nvGrpSpPr>
                  <p:grpSpPr bwMode="auto">
                    <a:xfrm>
                      <a:off x="8925" y="9240"/>
                      <a:ext cx="1155" cy="3120"/>
                      <a:chOff x="8100" y="9240"/>
                      <a:chExt cx="1155" cy="3120"/>
                    </a:xfrm>
                  </p:grpSpPr>
                  <p:sp>
                    <p:nvSpPr>
                      <p:cNvPr id="111682" name="Text Box 155"/>
                      <p:cNvSpPr txBox="1">
                        <a:spLocks noChangeArrowheads="1"/>
                      </p:cNvSpPr>
                      <p:nvPr/>
                    </p:nvSpPr>
                    <p:spPr bwMode="auto">
                      <a:xfrm>
                        <a:off x="8100" y="9240"/>
                        <a:ext cx="1155" cy="32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OS </a:t>
                        </a:r>
                        <a:endParaRPr lang="en-US" altLang="zh-CN" b="1">
                          <a:solidFill>
                            <a:srgbClr val="000000"/>
                          </a:solidFill>
                          <a:latin typeface="Times New Roman" panose="02020603050405020304" pitchFamily="18" charset="0"/>
                        </a:endParaRPr>
                      </a:p>
                    </p:txBody>
                  </p:sp>
                  <p:sp>
                    <p:nvSpPr>
                      <p:cNvPr id="111683" name="Text Box 156"/>
                      <p:cNvSpPr txBox="1">
                        <a:spLocks noChangeArrowheads="1"/>
                      </p:cNvSpPr>
                      <p:nvPr/>
                    </p:nvSpPr>
                    <p:spPr bwMode="auto">
                      <a:xfrm>
                        <a:off x="8100" y="10020"/>
                        <a:ext cx="1155" cy="17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84" name="Text Box 157"/>
                      <p:cNvSpPr txBox="1">
                        <a:spLocks noChangeArrowheads="1"/>
                      </p:cNvSpPr>
                      <p:nvPr/>
                    </p:nvSpPr>
                    <p:spPr bwMode="auto">
                      <a:xfrm>
                        <a:off x="8100" y="10488"/>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85" name="Text Box 158"/>
                      <p:cNvSpPr txBox="1">
                        <a:spLocks noChangeArrowheads="1"/>
                      </p:cNvSpPr>
                      <p:nvPr/>
                    </p:nvSpPr>
                    <p:spPr bwMode="auto">
                      <a:xfrm>
                        <a:off x="8100" y="10800"/>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86" name="Text Box 159"/>
                      <p:cNvSpPr txBox="1">
                        <a:spLocks noChangeArrowheads="1"/>
                      </p:cNvSpPr>
                      <p:nvPr/>
                    </p:nvSpPr>
                    <p:spPr bwMode="auto">
                      <a:xfrm>
                        <a:off x="8100" y="11112"/>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87" name="Text Box 160"/>
                      <p:cNvSpPr txBox="1">
                        <a:spLocks noChangeArrowheads="1"/>
                      </p:cNvSpPr>
                      <p:nvPr/>
                    </p:nvSpPr>
                    <p:spPr bwMode="auto">
                      <a:xfrm>
                        <a:off x="8100" y="11736"/>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88" name="Text Box 161"/>
                      <p:cNvSpPr txBox="1">
                        <a:spLocks noChangeArrowheads="1"/>
                      </p:cNvSpPr>
                      <p:nvPr/>
                    </p:nvSpPr>
                    <p:spPr bwMode="auto">
                      <a:xfrm>
                        <a:off x="8100" y="12048"/>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89" name="Text Box 162"/>
                      <p:cNvSpPr txBox="1">
                        <a:spLocks noChangeArrowheads="1"/>
                      </p:cNvSpPr>
                      <p:nvPr/>
                    </p:nvSpPr>
                    <p:spPr bwMode="auto">
                      <a:xfrm>
                        <a:off x="8100" y="9708"/>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111690" name="Text Box 163"/>
                      <p:cNvSpPr txBox="1">
                        <a:spLocks noChangeArrowheads="1"/>
                      </p:cNvSpPr>
                      <p:nvPr/>
                    </p:nvSpPr>
                    <p:spPr bwMode="auto">
                      <a:xfrm>
                        <a:off x="8100" y="10176"/>
                        <a:ext cx="1155" cy="17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1" name="Text Box 164"/>
                      <p:cNvSpPr txBox="1">
                        <a:spLocks noChangeArrowheads="1"/>
                      </p:cNvSpPr>
                      <p:nvPr/>
                    </p:nvSpPr>
                    <p:spPr bwMode="auto">
                      <a:xfrm>
                        <a:off x="8100" y="10644"/>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2" name="Text Box 165"/>
                      <p:cNvSpPr txBox="1">
                        <a:spLocks noChangeArrowheads="1"/>
                      </p:cNvSpPr>
                      <p:nvPr/>
                    </p:nvSpPr>
                    <p:spPr bwMode="auto">
                      <a:xfrm>
                        <a:off x="8100" y="11268"/>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3" name="Text Box 166"/>
                      <p:cNvSpPr txBox="1">
                        <a:spLocks noChangeArrowheads="1"/>
                      </p:cNvSpPr>
                      <p:nvPr/>
                    </p:nvSpPr>
                    <p:spPr bwMode="auto">
                      <a:xfrm>
                        <a:off x="8100" y="11580"/>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4" name="Text Box 167"/>
                      <p:cNvSpPr txBox="1">
                        <a:spLocks noChangeArrowheads="1"/>
                      </p:cNvSpPr>
                      <p:nvPr/>
                    </p:nvSpPr>
                    <p:spPr bwMode="auto">
                      <a:xfrm>
                        <a:off x="8100" y="11892"/>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95" name="Text Box 168"/>
                      <p:cNvSpPr txBox="1">
                        <a:spLocks noChangeArrowheads="1"/>
                      </p:cNvSpPr>
                      <p:nvPr/>
                    </p:nvSpPr>
                    <p:spPr bwMode="auto">
                      <a:xfrm>
                        <a:off x="8100" y="12204"/>
                        <a:ext cx="1155" cy="15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grpSp>
            <p:grpSp>
              <p:nvGrpSpPr>
                <p:cNvPr id="111669" name="Group 169"/>
                <p:cNvGrpSpPr/>
                <p:nvPr/>
              </p:nvGrpSpPr>
              <p:grpSpPr bwMode="auto">
                <a:xfrm>
                  <a:off x="7920" y="10020"/>
                  <a:ext cx="900" cy="2496"/>
                  <a:chOff x="7920" y="10020"/>
                  <a:chExt cx="900" cy="2496"/>
                </a:xfrm>
              </p:grpSpPr>
              <p:sp>
                <p:nvSpPr>
                  <p:cNvPr id="111670" name="Line 170"/>
                  <p:cNvSpPr>
                    <a:spLocks noChangeShapeType="1"/>
                  </p:cNvSpPr>
                  <p:nvPr/>
                </p:nvSpPr>
                <p:spPr bwMode="auto">
                  <a:xfrm flipV="1">
                    <a:off x="7920" y="10020"/>
                    <a:ext cx="90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1" name="Line 171"/>
                  <p:cNvSpPr>
                    <a:spLocks noChangeShapeType="1"/>
                  </p:cNvSpPr>
                  <p:nvPr/>
                </p:nvSpPr>
                <p:spPr bwMode="auto">
                  <a:xfrm>
                    <a:off x="7920" y="10488"/>
                    <a:ext cx="9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2" name="Line 172"/>
                  <p:cNvSpPr>
                    <a:spLocks noChangeShapeType="1"/>
                  </p:cNvSpPr>
                  <p:nvPr/>
                </p:nvSpPr>
                <p:spPr bwMode="auto">
                  <a:xfrm>
                    <a:off x="7920" y="10800"/>
                    <a:ext cx="900" cy="1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3" name="Line 173"/>
                  <p:cNvSpPr>
                    <a:spLocks noChangeShapeType="1"/>
                  </p:cNvSpPr>
                  <p:nvPr/>
                </p:nvSpPr>
                <p:spPr bwMode="auto">
                  <a:xfrm>
                    <a:off x="8280" y="11736"/>
                    <a:ext cx="5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4" name="Line 174"/>
                  <p:cNvSpPr>
                    <a:spLocks noChangeShapeType="1"/>
                  </p:cNvSpPr>
                  <p:nvPr/>
                </p:nvSpPr>
                <p:spPr bwMode="auto">
                  <a:xfrm>
                    <a:off x="8280" y="11892"/>
                    <a:ext cx="54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5" name="Line 175"/>
                  <p:cNvSpPr>
                    <a:spLocks noChangeShapeType="1"/>
                  </p:cNvSpPr>
                  <p:nvPr/>
                </p:nvSpPr>
                <p:spPr bwMode="auto">
                  <a:xfrm>
                    <a:off x="8280" y="12048"/>
                    <a:ext cx="54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6" name="Line 176"/>
                  <p:cNvSpPr>
                    <a:spLocks noChangeShapeType="1"/>
                  </p:cNvSpPr>
                  <p:nvPr/>
                </p:nvSpPr>
                <p:spPr bwMode="auto">
                  <a:xfrm flipV="1">
                    <a:off x="8280" y="11424"/>
                    <a:ext cx="54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77" name="Line 177"/>
                  <p:cNvSpPr>
                    <a:spLocks noChangeShapeType="1"/>
                  </p:cNvSpPr>
                  <p:nvPr/>
                </p:nvSpPr>
                <p:spPr bwMode="auto">
                  <a:xfrm flipV="1">
                    <a:off x="8280" y="11892"/>
                    <a:ext cx="54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11627" name="Group 178"/>
              <p:cNvGrpSpPr/>
              <p:nvPr/>
            </p:nvGrpSpPr>
            <p:grpSpPr bwMode="auto">
              <a:xfrm>
                <a:off x="6120" y="9708"/>
                <a:ext cx="2160" cy="3432"/>
                <a:chOff x="6120" y="9708"/>
                <a:chExt cx="2160" cy="3432"/>
              </a:xfrm>
            </p:grpSpPr>
            <p:sp>
              <p:nvSpPr>
                <p:cNvPr id="111628" name="Line 179"/>
                <p:cNvSpPr>
                  <a:spLocks noChangeShapeType="1"/>
                </p:cNvSpPr>
                <p:nvPr/>
              </p:nvSpPr>
              <p:spPr bwMode="auto">
                <a:xfrm flipV="1">
                  <a:off x="6120" y="10020"/>
                  <a:ext cx="90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9" name="Line 180"/>
                <p:cNvSpPr>
                  <a:spLocks noChangeShapeType="1"/>
                </p:cNvSpPr>
                <p:nvPr/>
              </p:nvSpPr>
              <p:spPr bwMode="auto">
                <a:xfrm>
                  <a:off x="6300" y="11112"/>
                  <a:ext cx="72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1630" name="Group 181"/>
                <p:cNvGrpSpPr/>
                <p:nvPr/>
              </p:nvGrpSpPr>
              <p:grpSpPr bwMode="auto">
                <a:xfrm>
                  <a:off x="7020" y="9708"/>
                  <a:ext cx="1260" cy="3432"/>
                  <a:chOff x="7020" y="9708"/>
                  <a:chExt cx="1260" cy="3432"/>
                </a:xfrm>
              </p:grpSpPr>
              <p:grpSp>
                <p:nvGrpSpPr>
                  <p:cNvPr id="111631" name="Group 182"/>
                  <p:cNvGrpSpPr/>
                  <p:nvPr/>
                </p:nvGrpSpPr>
                <p:grpSpPr bwMode="auto">
                  <a:xfrm>
                    <a:off x="7020" y="9708"/>
                    <a:ext cx="1260" cy="2964"/>
                    <a:chOff x="6480" y="9396"/>
                    <a:chExt cx="1260" cy="2964"/>
                  </a:xfrm>
                </p:grpSpPr>
                <p:grpSp>
                  <p:nvGrpSpPr>
                    <p:cNvPr id="111633" name="Group 183"/>
                    <p:cNvGrpSpPr/>
                    <p:nvPr/>
                  </p:nvGrpSpPr>
                  <p:grpSpPr bwMode="auto">
                    <a:xfrm>
                      <a:off x="6480" y="9396"/>
                      <a:ext cx="1260" cy="1248"/>
                      <a:chOff x="6480" y="9396"/>
                      <a:chExt cx="1260" cy="1248"/>
                    </a:xfrm>
                  </p:grpSpPr>
                  <p:grpSp>
                    <p:nvGrpSpPr>
                      <p:cNvPr id="111656" name="Group 184"/>
                      <p:cNvGrpSpPr/>
                      <p:nvPr/>
                    </p:nvGrpSpPr>
                    <p:grpSpPr bwMode="auto">
                      <a:xfrm>
                        <a:off x="6480" y="9708"/>
                        <a:ext cx="1260" cy="312"/>
                        <a:chOff x="6480" y="9708"/>
                        <a:chExt cx="1260" cy="312"/>
                      </a:xfrm>
                    </p:grpSpPr>
                    <p:sp>
                      <p:nvSpPr>
                        <p:cNvPr id="111666" name="Text Box 185"/>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0</a:t>
                          </a:r>
                          <a:endParaRPr lang="en-US" altLang="zh-CN" b="1">
                            <a:solidFill>
                              <a:srgbClr val="000000"/>
                            </a:solidFill>
                            <a:latin typeface="Times New Roman" panose="02020603050405020304" pitchFamily="18" charset="0"/>
                          </a:endParaRPr>
                        </a:p>
                      </p:txBody>
                    </p:sp>
                    <p:sp>
                      <p:nvSpPr>
                        <p:cNvPr id="111667" name="Text Box 186"/>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57" name="Group 187"/>
                      <p:cNvGrpSpPr/>
                      <p:nvPr/>
                    </p:nvGrpSpPr>
                    <p:grpSpPr bwMode="auto">
                      <a:xfrm>
                        <a:off x="6480" y="9396"/>
                        <a:ext cx="1260" cy="312"/>
                        <a:chOff x="6480" y="9396"/>
                        <a:chExt cx="1260" cy="312"/>
                      </a:xfrm>
                    </p:grpSpPr>
                    <p:sp>
                      <p:nvSpPr>
                        <p:cNvPr id="111664" name="Text Box 188"/>
                        <p:cNvSpPr txBox="1">
                          <a:spLocks noChangeArrowheads="1"/>
                        </p:cNvSpPr>
                        <p:nvPr/>
                      </p:nvSpPr>
                      <p:spPr bwMode="auto">
                        <a:xfrm>
                          <a:off x="6480" y="939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页号</a:t>
                          </a:r>
                          <a:endParaRPr lang="zh-CN" altLang="en-US" b="1">
                            <a:solidFill>
                              <a:srgbClr val="000000"/>
                            </a:solidFill>
                            <a:latin typeface="Times New Roman" panose="02020603050405020304" pitchFamily="18" charset="0"/>
                          </a:endParaRPr>
                        </a:p>
                      </p:txBody>
                    </p:sp>
                    <p:sp>
                      <p:nvSpPr>
                        <p:cNvPr id="111665" name="Text Box 189"/>
                        <p:cNvSpPr txBox="1">
                          <a:spLocks noChangeArrowheads="1"/>
                        </p:cNvSpPr>
                        <p:nvPr/>
                      </p:nvSpPr>
                      <p:spPr bwMode="auto">
                        <a:xfrm>
                          <a:off x="7020" y="9396"/>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页框号</a:t>
                          </a:r>
                          <a:endParaRPr lang="zh-CN" altLang="en-US" b="1">
                            <a:solidFill>
                              <a:srgbClr val="000000"/>
                            </a:solidFill>
                            <a:latin typeface="Times New Roman" panose="02020603050405020304" pitchFamily="18" charset="0"/>
                          </a:endParaRPr>
                        </a:p>
                      </p:txBody>
                    </p:sp>
                  </p:grpSp>
                  <p:grpSp>
                    <p:nvGrpSpPr>
                      <p:cNvPr id="111658" name="Group 190"/>
                      <p:cNvGrpSpPr/>
                      <p:nvPr/>
                    </p:nvGrpSpPr>
                    <p:grpSpPr bwMode="auto">
                      <a:xfrm>
                        <a:off x="6480" y="10020"/>
                        <a:ext cx="1260" cy="312"/>
                        <a:chOff x="6480" y="9708"/>
                        <a:chExt cx="1260" cy="312"/>
                      </a:xfrm>
                    </p:grpSpPr>
                    <p:sp>
                      <p:nvSpPr>
                        <p:cNvPr id="111662" name="Text Box 191"/>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1</a:t>
                          </a:r>
                          <a:endParaRPr lang="en-US" altLang="zh-CN" b="1">
                            <a:solidFill>
                              <a:srgbClr val="000000"/>
                            </a:solidFill>
                            <a:latin typeface="Times New Roman" panose="02020603050405020304" pitchFamily="18" charset="0"/>
                          </a:endParaRPr>
                        </a:p>
                      </p:txBody>
                    </p:sp>
                    <p:sp>
                      <p:nvSpPr>
                        <p:cNvPr id="111663" name="Text Box 192"/>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59" name="Group 193"/>
                      <p:cNvGrpSpPr/>
                      <p:nvPr/>
                    </p:nvGrpSpPr>
                    <p:grpSpPr bwMode="auto">
                      <a:xfrm>
                        <a:off x="6480" y="10332"/>
                        <a:ext cx="1260" cy="312"/>
                        <a:chOff x="6480" y="9708"/>
                        <a:chExt cx="1260" cy="312"/>
                      </a:xfrm>
                    </p:grpSpPr>
                    <p:sp>
                      <p:nvSpPr>
                        <p:cNvPr id="111660" name="Text Box 194"/>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b="1">
                              <a:solidFill>
                                <a:srgbClr val="000000"/>
                              </a:solidFill>
                              <a:latin typeface="Times New Roman" panose="02020603050405020304" pitchFamily="18" charset="0"/>
                            </a:rPr>
                            <a:t>2</a:t>
                          </a:r>
                          <a:endParaRPr lang="en-US" altLang="zh-CN" b="1">
                            <a:solidFill>
                              <a:srgbClr val="000000"/>
                            </a:solidFill>
                            <a:latin typeface="Times New Roman" panose="02020603050405020304" pitchFamily="18" charset="0"/>
                          </a:endParaRPr>
                        </a:p>
                      </p:txBody>
                    </p:sp>
                    <p:sp>
                      <p:nvSpPr>
                        <p:cNvPr id="111661" name="Text Box 195"/>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grpSp>
                  <p:nvGrpSpPr>
                    <p:cNvPr id="111634" name="Group 196"/>
                    <p:cNvGrpSpPr/>
                    <p:nvPr/>
                  </p:nvGrpSpPr>
                  <p:grpSpPr bwMode="auto">
                    <a:xfrm>
                      <a:off x="6480" y="11112"/>
                      <a:ext cx="1260" cy="1248"/>
                      <a:chOff x="6480" y="11112"/>
                      <a:chExt cx="1260" cy="1248"/>
                    </a:xfrm>
                  </p:grpSpPr>
                  <p:grpSp>
                    <p:nvGrpSpPr>
                      <p:cNvPr id="111635" name="Group 197"/>
                      <p:cNvGrpSpPr/>
                      <p:nvPr/>
                    </p:nvGrpSpPr>
                    <p:grpSpPr bwMode="auto">
                      <a:xfrm>
                        <a:off x="6480" y="11424"/>
                        <a:ext cx="1260" cy="156"/>
                        <a:chOff x="6480" y="9708"/>
                        <a:chExt cx="1260" cy="312"/>
                      </a:xfrm>
                    </p:grpSpPr>
                    <p:sp>
                      <p:nvSpPr>
                        <p:cNvPr id="111654" name="Text Box 198"/>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55" name="Text Box 199"/>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36" name="Group 200"/>
                      <p:cNvGrpSpPr/>
                      <p:nvPr/>
                    </p:nvGrpSpPr>
                    <p:grpSpPr bwMode="auto">
                      <a:xfrm>
                        <a:off x="6480" y="11112"/>
                        <a:ext cx="1260" cy="312"/>
                        <a:chOff x="6480" y="9396"/>
                        <a:chExt cx="1260" cy="312"/>
                      </a:xfrm>
                    </p:grpSpPr>
                    <p:sp>
                      <p:nvSpPr>
                        <p:cNvPr id="111652" name="Text Box 201"/>
                        <p:cNvSpPr txBox="1">
                          <a:spLocks noChangeArrowheads="1"/>
                        </p:cNvSpPr>
                        <p:nvPr/>
                      </p:nvSpPr>
                      <p:spPr bwMode="auto">
                        <a:xfrm>
                          <a:off x="6480" y="939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页号</a:t>
                          </a:r>
                          <a:endParaRPr lang="zh-CN" altLang="en-US" b="1">
                            <a:solidFill>
                              <a:srgbClr val="000000"/>
                            </a:solidFill>
                            <a:latin typeface="Times New Roman" panose="02020603050405020304" pitchFamily="18" charset="0"/>
                          </a:endParaRPr>
                        </a:p>
                      </p:txBody>
                    </p:sp>
                    <p:sp>
                      <p:nvSpPr>
                        <p:cNvPr id="111653" name="Text Box 202"/>
                        <p:cNvSpPr txBox="1">
                          <a:spLocks noChangeArrowheads="1"/>
                        </p:cNvSpPr>
                        <p:nvPr/>
                      </p:nvSpPr>
                      <p:spPr bwMode="auto">
                        <a:xfrm>
                          <a:off x="7020" y="9396"/>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页框号</a:t>
                          </a:r>
                          <a:endParaRPr lang="zh-CN" altLang="en-US" b="1">
                            <a:solidFill>
                              <a:srgbClr val="000000"/>
                            </a:solidFill>
                            <a:latin typeface="Times New Roman" panose="02020603050405020304" pitchFamily="18" charset="0"/>
                          </a:endParaRPr>
                        </a:p>
                      </p:txBody>
                    </p:sp>
                  </p:grpSp>
                  <p:grpSp>
                    <p:nvGrpSpPr>
                      <p:cNvPr id="111637" name="Group 203"/>
                      <p:cNvGrpSpPr/>
                      <p:nvPr/>
                    </p:nvGrpSpPr>
                    <p:grpSpPr bwMode="auto">
                      <a:xfrm>
                        <a:off x="6480" y="11736"/>
                        <a:ext cx="1260" cy="156"/>
                        <a:chOff x="6480" y="9708"/>
                        <a:chExt cx="1260" cy="312"/>
                      </a:xfrm>
                    </p:grpSpPr>
                    <p:sp>
                      <p:nvSpPr>
                        <p:cNvPr id="111650" name="Text Box 204"/>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51" name="Text Box 205"/>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38" name="Group 206"/>
                      <p:cNvGrpSpPr/>
                      <p:nvPr/>
                    </p:nvGrpSpPr>
                    <p:grpSpPr bwMode="auto">
                      <a:xfrm>
                        <a:off x="6480" y="11892"/>
                        <a:ext cx="1260" cy="156"/>
                        <a:chOff x="6480" y="9708"/>
                        <a:chExt cx="1260" cy="312"/>
                      </a:xfrm>
                    </p:grpSpPr>
                    <p:sp>
                      <p:nvSpPr>
                        <p:cNvPr id="111648" name="Text Box 207"/>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49" name="Text Box 208"/>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39" name="Group 209"/>
                      <p:cNvGrpSpPr/>
                      <p:nvPr/>
                    </p:nvGrpSpPr>
                    <p:grpSpPr bwMode="auto">
                      <a:xfrm>
                        <a:off x="6480" y="11580"/>
                        <a:ext cx="1260" cy="156"/>
                        <a:chOff x="6480" y="9708"/>
                        <a:chExt cx="1260" cy="312"/>
                      </a:xfrm>
                    </p:grpSpPr>
                    <p:sp>
                      <p:nvSpPr>
                        <p:cNvPr id="111646" name="Text Box 210"/>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47" name="Text Box 211"/>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40" name="Group 212"/>
                      <p:cNvGrpSpPr/>
                      <p:nvPr/>
                    </p:nvGrpSpPr>
                    <p:grpSpPr bwMode="auto">
                      <a:xfrm>
                        <a:off x="6480" y="12048"/>
                        <a:ext cx="1260" cy="156"/>
                        <a:chOff x="6480" y="9708"/>
                        <a:chExt cx="1260" cy="312"/>
                      </a:xfrm>
                    </p:grpSpPr>
                    <p:sp>
                      <p:nvSpPr>
                        <p:cNvPr id="111644" name="Text Box 213"/>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45" name="Text Box 214"/>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nvGrpSpPr>
                      <p:cNvPr id="111641" name="Group 215"/>
                      <p:cNvGrpSpPr/>
                      <p:nvPr/>
                    </p:nvGrpSpPr>
                    <p:grpSpPr bwMode="auto">
                      <a:xfrm>
                        <a:off x="6480" y="12204"/>
                        <a:ext cx="1260" cy="156"/>
                        <a:chOff x="6480" y="9708"/>
                        <a:chExt cx="1260" cy="312"/>
                      </a:xfrm>
                    </p:grpSpPr>
                    <p:sp>
                      <p:nvSpPr>
                        <p:cNvPr id="111642" name="Text Box 216"/>
                        <p:cNvSpPr txBox="1">
                          <a:spLocks noChangeArrowheads="1"/>
                        </p:cNvSpPr>
                        <p:nvPr/>
                      </p:nvSpPr>
                      <p:spPr bwMode="auto">
                        <a:xfrm>
                          <a:off x="6480" y="9708"/>
                          <a:ext cx="54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sp>
                      <p:nvSpPr>
                        <p:cNvPr id="111643" name="Text Box 217"/>
                        <p:cNvSpPr txBox="1">
                          <a:spLocks noChangeArrowheads="1"/>
                        </p:cNvSpPr>
                        <p:nvPr/>
                      </p:nvSpPr>
                      <p:spPr bwMode="auto">
                        <a:xfrm>
                          <a:off x="7020" y="9708"/>
                          <a:ext cx="720" cy="3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b="1">
                            <a:solidFill>
                              <a:srgbClr val="000000"/>
                            </a:solidFill>
                            <a:latin typeface="Times New Roman" panose="02020603050405020304" pitchFamily="18" charset="0"/>
                          </a:endParaRPr>
                        </a:p>
                      </p:txBody>
                    </p:sp>
                  </p:grpSp>
                </p:grpSp>
              </p:grpSp>
              <p:sp>
                <p:nvSpPr>
                  <p:cNvPr id="111632" name="Text Box 218"/>
                  <p:cNvSpPr txBox="1">
                    <a:spLocks noChangeArrowheads="1"/>
                  </p:cNvSpPr>
                  <p:nvPr/>
                </p:nvSpPr>
                <p:spPr bwMode="auto">
                  <a:xfrm>
                    <a:off x="7200" y="12672"/>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rgbClr val="000000"/>
                        </a:solidFill>
                        <a:latin typeface="Times New Roman" panose="02020603050405020304" pitchFamily="18" charset="0"/>
                      </a:rPr>
                      <a:t>页表</a:t>
                    </a:r>
                    <a:endParaRPr lang="zh-CN" altLang="en-US" b="1">
                      <a:solidFill>
                        <a:srgbClr val="000000"/>
                      </a:solidFill>
                      <a:latin typeface="Times New Roman" panose="02020603050405020304" pitchFamily="18" charset="0"/>
                    </a:endParaRPr>
                  </a:p>
                </p:txBody>
              </p:sp>
            </p:grpSp>
          </p:grpSp>
        </p:grpSp>
      </p:gr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rrowheads="1"/>
          </p:cNvSpPr>
          <p:nvPr>
            <p:ph type="title"/>
          </p:nvPr>
        </p:nvSpPr>
        <p:spPr/>
        <p:txBody>
          <a:bodyPr/>
          <a:lstStyle/>
          <a:p>
            <a:r>
              <a:rPr lang="zh-CN" altLang="en-US" b="1" u="sng" smtClean="0">
                <a:solidFill>
                  <a:schemeClr val="folHlink"/>
                </a:solidFill>
                <a:ea typeface="仿宋_GB2312" pitchFamily="49" charset="-122"/>
              </a:rPr>
              <a:t>段表寄存器</a:t>
            </a:r>
            <a:endParaRPr lang="zh-CN" altLang="en-US" b="1" u="sng" smtClean="0">
              <a:solidFill>
                <a:schemeClr val="folHlink"/>
              </a:solidFill>
              <a:ea typeface="仿宋_GB2312" pitchFamily="49" charset="-122"/>
            </a:endParaRPr>
          </a:p>
        </p:txBody>
      </p:sp>
      <p:sp>
        <p:nvSpPr>
          <p:cNvPr id="181251" name="Rectangle 3"/>
          <p:cNvSpPr>
            <a:spLocks noGrp="1" noRot="1" noChangeArrowheads="1"/>
          </p:cNvSpPr>
          <p:nvPr>
            <p:ph type="body" idx="1"/>
          </p:nvPr>
        </p:nvSpPr>
        <p:spPr>
          <a:xfrm>
            <a:off x="533400" y="1066800"/>
            <a:ext cx="8077200" cy="4498975"/>
          </a:xfrm>
        </p:spPr>
        <p:txBody>
          <a:bodyPr/>
          <a:lstStyle/>
          <a:p>
            <a:pPr>
              <a:defRPr/>
            </a:pPr>
            <a:endParaRPr lang="zh-CN" altLang="en-US" b="1" smtClean="0">
              <a:effectLst>
                <a:outerShdw blurRad="38100" dist="38100" dir="2700000" algn="tl">
                  <a:srgbClr val="000000"/>
                </a:outerShdw>
              </a:effectLst>
              <a:latin typeface="仿宋_GB2312" pitchFamily="49" charset="-122"/>
              <a:ea typeface="仿宋_GB2312" pitchFamily="49" charset="-122"/>
            </a:endParaRPr>
          </a:p>
          <a:p>
            <a:pPr>
              <a:defRPr/>
            </a:pPr>
            <a:endParaRPr lang="zh-CN" altLang="en-US" b="1" smtClean="0">
              <a:effectLst>
                <a:outerShdw blurRad="38100" dist="38100" dir="2700000" algn="tl">
                  <a:srgbClr val="000000"/>
                </a:outerShdw>
              </a:effectLst>
              <a:latin typeface="仿宋_GB2312" pitchFamily="49" charset="-122"/>
              <a:ea typeface="仿宋_GB2312" pitchFamily="49" charset="-122"/>
            </a:endParaRPr>
          </a:p>
          <a:p>
            <a:pPr>
              <a:lnSpc>
                <a:spcPct val="130000"/>
              </a:lnSpc>
              <a:defRPr/>
            </a:pPr>
            <a:r>
              <a:rPr lang="zh-CN" altLang="en-US" b="1" i="1" smtClean="0">
                <a:solidFill>
                  <a:schemeClr val="folHlink"/>
                </a:solidFill>
                <a:effectLst>
                  <a:outerShdw blurRad="38100" dist="38100" dir="2700000" algn="tl">
                    <a:srgbClr val="000000"/>
                  </a:outerShdw>
                </a:effectLst>
                <a:latin typeface="仿宋_GB2312" pitchFamily="49" charset="-122"/>
                <a:ea typeface="仿宋_GB2312" pitchFamily="49" charset="-122"/>
              </a:rPr>
              <a:t>段表寄存器</a:t>
            </a:r>
            <a:r>
              <a:rPr lang="zh-CN" altLang="en-US" b="1" smtClean="0">
                <a:effectLst>
                  <a:outerShdw blurRad="38100" dist="38100" dir="2700000" algn="tl">
                    <a:srgbClr val="000000"/>
                  </a:outerShdw>
                </a:effectLst>
                <a:latin typeface="仿宋_GB2312" pitchFamily="49" charset="-122"/>
                <a:ea typeface="仿宋_GB2312" pitchFamily="49" charset="-122"/>
              </a:rPr>
              <a:t>：加速地址变换，用于存放执行进程段表的起始地址。</a:t>
            </a:r>
            <a:endParaRPr lang="zh-CN" altLang="en-US" b="1" smtClean="0">
              <a:effectLst>
                <a:outerShdw blurRad="38100" dist="38100" dir="2700000" algn="tl">
                  <a:srgbClr val="000000"/>
                </a:outerShdw>
              </a:effectLst>
              <a:latin typeface="仿宋_GB2312" pitchFamily="49" charset="-122"/>
              <a:ea typeface="仿宋_GB2312" pitchFamily="49"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rrowheads="1"/>
          </p:cNvSpPr>
          <p:nvPr>
            <p:ph type="title"/>
          </p:nvPr>
        </p:nvSpPr>
        <p:spPr/>
        <p:txBody>
          <a:bodyPr/>
          <a:lstStyle/>
          <a:p>
            <a:r>
              <a:rPr lang="zh-CN" altLang="en-US" b="1" u="sng" smtClean="0">
                <a:solidFill>
                  <a:schemeClr val="folHlink"/>
                </a:solidFill>
                <a:latin typeface="仿宋_GB2312" pitchFamily="49" charset="-122"/>
                <a:ea typeface="仿宋_GB2312" pitchFamily="49" charset="-122"/>
              </a:rPr>
              <a:t>地址变换</a:t>
            </a:r>
            <a:endParaRPr lang="zh-CN" altLang="en-US" b="1" u="sng" smtClean="0">
              <a:solidFill>
                <a:schemeClr val="folHlink"/>
              </a:solidFill>
              <a:ea typeface="仿宋_GB2312" pitchFamily="49" charset="-122"/>
            </a:endParaRPr>
          </a:p>
        </p:txBody>
      </p:sp>
      <p:sp>
        <p:nvSpPr>
          <p:cNvPr id="182275" name="Rectangle 3"/>
          <p:cNvSpPr>
            <a:spLocks noGrp="1" noRot="1" noChangeArrowheads="1"/>
          </p:cNvSpPr>
          <p:nvPr>
            <p:ph type="body" idx="1"/>
          </p:nvPr>
        </p:nvSpPr>
        <p:spPr/>
        <p:txBody>
          <a:bodyPr/>
          <a:lstStyle/>
          <a:p>
            <a:pPr marL="609600" indent="-609600">
              <a:buFont typeface="Wingdings" panose="05000000000000000000" pitchFamily="2" charset="2"/>
              <a:buAutoNum type="circleNumDbPlain"/>
              <a:defRPr/>
            </a:pPr>
            <a:r>
              <a:rPr lang="zh-CN" altLang="en-US" sz="2800" b="1" dirty="0" smtClean="0">
                <a:latin typeface="仿宋_GB2312" pitchFamily="49" charset="-122"/>
                <a:ea typeface="仿宋_GB2312" pitchFamily="49" charset="-122"/>
              </a:rPr>
              <a:t>首先，从段表寄存器从获得进程</a:t>
            </a:r>
            <a:r>
              <a:rPr lang="zh-CN" altLang="en-US" sz="2800" b="1" i="1" u="sng" dirty="0" smtClean="0">
                <a:solidFill>
                  <a:schemeClr val="folHlink"/>
                </a:solidFill>
                <a:latin typeface="仿宋_GB2312" pitchFamily="49" charset="-122"/>
                <a:ea typeface="仿宋_GB2312" pitchFamily="49" charset="-122"/>
              </a:rPr>
              <a:t>段表的起始地址</a:t>
            </a:r>
            <a:r>
              <a:rPr lang="zh-CN" altLang="en-US" sz="2800" b="1" dirty="0" smtClean="0">
                <a:latin typeface="仿宋_GB2312" pitchFamily="49" charset="-122"/>
                <a:ea typeface="仿宋_GB2312" pitchFamily="49" charset="-122"/>
              </a:rPr>
              <a:t>，根据该地址，查找进程的段表。</a:t>
            </a:r>
            <a:endParaRPr lang="zh-CN" altLang="en-US" sz="2800" b="1" dirty="0" smtClean="0">
              <a:latin typeface="仿宋_GB2312" pitchFamily="49" charset="-122"/>
              <a:ea typeface="仿宋_GB2312" pitchFamily="49" charset="-122"/>
            </a:endParaRPr>
          </a:p>
          <a:p>
            <a:pPr marL="609600" indent="-609600">
              <a:buFont typeface="Wingdings" panose="05000000000000000000" pitchFamily="2" charset="2"/>
              <a:buAutoNum type="circleNumDbPlain"/>
              <a:defRPr/>
            </a:pPr>
            <a:r>
              <a:rPr lang="zh-CN" altLang="en-US" sz="2800" b="1" dirty="0" smtClean="0">
                <a:latin typeface="仿宋_GB2312" pitchFamily="49" charset="-122"/>
                <a:ea typeface="仿宋_GB2312" pitchFamily="49" charset="-122"/>
              </a:rPr>
              <a:t>然后，根据逻辑地址指定的段号检索段表，找到对应段的</a:t>
            </a:r>
            <a:r>
              <a:rPr lang="zh-CN" altLang="en-US" sz="2800" b="1" i="1" u="sng" dirty="0" smtClean="0">
                <a:solidFill>
                  <a:schemeClr val="folHlink"/>
                </a:solidFill>
                <a:latin typeface="仿宋_GB2312" pitchFamily="49" charset="-122"/>
                <a:ea typeface="仿宋_GB2312" pitchFamily="49" charset="-122"/>
              </a:rPr>
              <a:t>页表起始地址</a:t>
            </a:r>
            <a:r>
              <a:rPr lang="zh-CN" altLang="en-US" sz="2800" b="1" dirty="0" smtClean="0">
                <a:latin typeface="仿宋_GB2312" pitchFamily="49" charset="-122"/>
                <a:ea typeface="仿宋_GB2312" pitchFamily="49" charset="-122"/>
              </a:rPr>
              <a:t>。</a:t>
            </a:r>
            <a:endParaRPr lang="zh-CN" altLang="en-US" sz="2800" b="1" dirty="0" smtClean="0">
              <a:latin typeface="仿宋_GB2312" pitchFamily="49" charset="-122"/>
              <a:ea typeface="仿宋_GB2312" pitchFamily="49" charset="-122"/>
            </a:endParaRPr>
          </a:p>
          <a:p>
            <a:pPr marL="609600" indent="-609600">
              <a:buFont typeface="Wingdings" panose="05000000000000000000" pitchFamily="2" charset="2"/>
              <a:buAutoNum type="circleNumDbPlain"/>
              <a:defRPr/>
            </a:pPr>
            <a:r>
              <a:rPr lang="zh-CN" altLang="en-US" sz="2800" b="1" dirty="0" smtClean="0">
                <a:latin typeface="仿宋_GB2312" pitchFamily="49" charset="-122"/>
                <a:ea typeface="仿宋_GB2312" pitchFamily="49" charset="-122"/>
              </a:rPr>
              <a:t>再根据逻辑地址中指定的页号检索该页表，找到对应</a:t>
            </a:r>
            <a:r>
              <a:rPr lang="zh-CN" altLang="en-US" sz="2800" b="1" i="1" u="sng" dirty="0" smtClean="0">
                <a:solidFill>
                  <a:schemeClr val="folHlink"/>
                </a:solidFill>
                <a:latin typeface="仿宋_GB2312" pitchFamily="49" charset="-122"/>
                <a:ea typeface="仿宋_GB2312" pitchFamily="49" charset="-122"/>
              </a:rPr>
              <a:t>页所在的页框号</a:t>
            </a:r>
            <a:r>
              <a:rPr lang="zh-CN" altLang="en-US" sz="2800" b="1" dirty="0" smtClean="0">
                <a:latin typeface="仿宋_GB2312" pitchFamily="49" charset="-122"/>
                <a:ea typeface="仿宋_GB2312" pitchFamily="49" charset="-122"/>
              </a:rPr>
              <a:t>。</a:t>
            </a:r>
            <a:endParaRPr lang="zh-CN" altLang="en-US" sz="2800" b="1" dirty="0" smtClean="0">
              <a:latin typeface="仿宋_GB2312" pitchFamily="49" charset="-122"/>
              <a:ea typeface="仿宋_GB2312" pitchFamily="49" charset="-122"/>
            </a:endParaRPr>
          </a:p>
          <a:p>
            <a:pPr marL="609600" indent="-609600">
              <a:buFont typeface="Wingdings" panose="05000000000000000000" pitchFamily="2" charset="2"/>
              <a:buAutoNum type="circleNumDbPlain"/>
              <a:defRPr/>
            </a:pPr>
            <a:r>
              <a:rPr lang="zh-CN" altLang="en-US" sz="2800" b="1" dirty="0" smtClean="0">
                <a:latin typeface="仿宋_GB2312" pitchFamily="49" charset="-122"/>
                <a:ea typeface="仿宋_GB2312" pitchFamily="49" charset="-122"/>
              </a:rPr>
              <a:t>最后，用页框号加上逻辑地址中指定的页内偏移量，形成物理地址。 </a:t>
            </a:r>
            <a:endParaRPr lang="zh-CN" altLang="en-US" sz="2800" b="1" dirty="0" smtClean="0">
              <a:latin typeface="仿宋_GB2312" pitchFamily="49" charset="-122"/>
              <a:ea typeface="仿宋_GB2312" pitchFamily="49"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ChangeArrowheads="1"/>
          </p:cNvSpPr>
          <p:nvPr/>
        </p:nvSpPr>
        <p:spPr bwMode="auto">
          <a:xfrm>
            <a:off x="228600" y="228600"/>
            <a:ext cx="8610600" cy="5181600"/>
          </a:xfrm>
          <a:prstGeom prst="rect">
            <a:avLst/>
          </a:prstGeom>
          <a:solidFill>
            <a:schemeClr val="tx2">
              <a:lumMod val="20000"/>
              <a:lumOff val="80000"/>
            </a:schemeClr>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9218" name="Object 5"/>
          <p:cNvGraphicFramePr>
            <a:graphicFrameLocks noGrp="1" noChangeAspect="1"/>
          </p:cNvGraphicFramePr>
          <p:nvPr>
            <p:ph/>
          </p:nvPr>
        </p:nvGraphicFramePr>
        <p:xfrm>
          <a:off x="381000" y="914400"/>
          <a:ext cx="8229600" cy="3957638"/>
        </p:xfrm>
        <a:graphic>
          <a:graphicData uri="http://schemas.openxmlformats.org/presentationml/2006/ole">
            <mc:AlternateContent xmlns:mc="http://schemas.openxmlformats.org/markup-compatibility/2006">
              <mc:Choice xmlns:v="urn:schemas-microsoft-com:vml" Requires="v">
                <p:oleObj spid="_x0000_s9217" name="VISIO" r:id="rId1" imgW="5029200" imgH="2419350" progId="">
                  <p:embed/>
                </p:oleObj>
              </mc:Choice>
              <mc:Fallback>
                <p:oleObj name="VISIO" r:id="rId1" imgW="5029200" imgH="2419350" progId="">
                  <p:embed/>
                  <p:pic>
                    <p:nvPicPr>
                      <p:cNvPr id="0" name="图片 9216"/>
                      <p:cNvPicPr>
                        <a:picLocks noGrp="1" noChangeAspect="1"/>
                      </p:cNvPicPr>
                      <p:nvPr/>
                    </p:nvPicPr>
                    <p:blipFill>
                      <a:blip r:embed="rId2"/>
                      <a:stretch>
                        <a:fillRect/>
                      </a:stretch>
                    </p:blipFill>
                    <p:spPr>
                      <a:xfrm>
                        <a:off x="381000" y="914400"/>
                        <a:ext cx="8229600" cy="3957638"/>
                      </a:xfrm>
                      <a:prstGeom prst="rect">
                        <a:avLst/>
                      </a:prstGeom>
                      <a:noFill/>
                      <a:ln w="9525">
                        <a:noFill/>
                      </a:ln>
                    </p:spPr>
                  </p:pic>
                </p:oleObj>
              </mc:Fallback>
            </mc:AlternateContent>
          </a:graphicData>
        </a:graphic>
      </p:graphicFrame>
      <p:sp>
        <p:nvSpPr>
          <p:cNvPr id="9220" name="Text Box 7"/>
          <p:cNvSpPr txBox="1">
            <a:spLocks noChangeArrowheads="1"/>
          </p:cNvSpPr>
          <p:nvPr/>
        </p:nvSpPr>
        <p:spPr bwMode="auto">
          <a:xfrm>
            <a:off x="2209800" y="5715000"/>
            <a:ext cx="467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Times New Roman" panose="02020603050405020304" pitchFamily="18" charset="0"/>
              </a:rPr>
              <a:t>图  段页式系统中的地址变换机构 </a:t>
            </a:r>
            <a:endParaRPr kumimoji="1" lang="zh-CN" altLang="en-US" sz="2400" b="1">
              <a:latin typeface="Times New Roman" panose="02020603050405020304" pitchFamily="18" charset="0"/>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000" y="454025"/>
            <a:ext cx="8077200" cy="4498975"/>
          </a:xfrm>
        </p:spPr>
        <p:txBody>
          <a:bodyPr/>
          <a:lstStyle/>
          <a:p>
            <a:pPr>
              <a:defRPr/>
            </a:pPr>
            <a:r>
              <a:rPr lang="zh-CN" altLang="en-US" b="1" dirty="0" smtClean="0">
                <a:solidFill>
                  <a:srgbClr val="FF0000"/>
                </a:solidFill>
              </a:rPr>
              <a:t>在段页式系统中，为了获得一条指令或数据，须三次访问内存：</a:t>
            </a:r>
            <a:endParaRPr lang="en-US" altLang="zh-CN" b="1" dirty="0" smtClean="0">
              <a:solidFill>
                <a:srgbClr val="FF0000"/>
              </a:solidFill>
            </a:endParaRPr>
          </a:p>
          <a:p>
            <a:pPr>
              <a:defRPr/>
            </a:pPr>
            <a:endParaRPr lang="en-US" altLang="zh-CN" b="1" dirty="0" smtClean="0">
              <a:solidFill>
                <a:srgbClr val="FF0000"/>
              </a:solidFill>
            </a:endParaRPr>
          </a:p>
          <a:p>
            <a:pPr lvl="1">
              <a:defRPr/>
            </a:pPr>
            <a:r>
              <a:rPr lang="zh-CN" altLang="en-US" b="1" dirty="0" smtClean="0">
                <a:cs typeface="+mn-cs"/>
              </a:rPr>
              <a:t>第一次访问是</a:t>
            </a:r>
            <a:r>
              <a:rPr lang="zh-CN" altLang="en-US" b="1" dirty="0" smtClean="0">
                <a:solidFill>
                  <a:srgbClr val="FF0000"/>
                </a:solidFill>
                <a:cs typeface="+mn-cs"/>
              </a:rPr>
              <a:t>访问内存中的段表</a:t>
            </a:r>
            <a:r>
              <a:rPr lang="zh-CN" altLang="en-US" b="1" dirty="0" smtClean="0">
                <a:cs typeface="+mn-cs"/>
              </a:rPr>
              <a:t>，从中取得页表始址；</a:t>
            </a:r>
            <a:endParaRPr lang="en-US" altLang="zh-CN" b="1" dirty="0" smtClean="0">
              <a:cs typeface="+mn-cs"/>
            </a:endParaRPr>
          </a:p>
          <a:p>
            <a:pPr lvl="1">
              <a:defRPr/>
            </a:pPr>
            <a:r>
              <a:rPr lang="zh-CN" altLang="en-US" b="1" dirty="0" smtClean="0">
                <a:cs typeface="+mn-cs"/>
              </a:rPr>
              <a:t>第二次访问是</a:t>
            </a:r>
            <a:r>
              <a:rPr lang="zh-CN" altLang="en-US" b="1" dirty="0" smtClean="0">
                <a:solidFill>
                  <a:srgbClr val="FF0000"/>
                </a:solidFill>
                <a:cs typeface="+mn-cs"/>
              </a:rPr>
              <a:t>访问内存中的页表</a:t>
            </a:r>
            <a:r>
              <a:rPr lang="zh-CN" altLang="en-US" b="1" dirty="0" smtClean="0">
                <a:cs typeface="+mn-cs"/>
              </a:rPr>
              <a:t>，从中取出该页所在的物理块号，并将该块号与页内地址一起形成指令或数据的物理地址；</a:t>
            </a:r>
            <a:endParaRPr lang="en-US" altLang="zh-CN" b="1" dirty="0" smtClean="0">
              <a:cs typeface="+mn-cs"/>
            </a:endParaRPr>
          </a:p>
          <a:p>
            <a:pPr lvl="1">
              <a:defRPr/>
            </a:pPr>
            <a:r>
              <a:rPr lang="zh-CN" altLang="en-US" b="1" dirty="0" smtClean="0">
                <a:cs typeface="+mn-cs"/>
              </a:rPr>
              <a:t>第三次访问才是真正从第二次访问所得的地址中，</a:t>
            </a:r>
            <a:r>
              <a:rPr lang="zh-CN" altLang="en-US" b="1" dirty="0" smtClean="0">
                <a:solidFill>
                  <a:srgbClr val="FF0000"/>
                </a:solidFill>
                <a:cs typeface="+mn-cs"/>
              </a:rPr>
              <a:t>取出指令或数据</a:t>
            </a:r>
            <a:r>
              <a:rPr lang="zh-CN" altLang="en-US" b="1" dirty="0" smtClean="0">
                <a:cs typeface="+mn-cs"/>
              </a:rPr>
              <a:t>。</a:t>
            </a:r>
            <a:endParaRPr lang="zh-CN" altLang="en-US" b="1" dirty="0" smtClean="0">
              <a:cs typeface="+mn-cs"/>
            </a:endParaRPr>
          </a:p>
          <a:p>
            <a:pPr>
              <a:defRPr/>
            </a:pPr>
            <a:r>
              <a:rPr lang="zh-CN" altLang="en-US" sz="2800" b="1" dirty="0" smtClean="0"/>
              <a:t>显然，这使访问内存的次数增加了近两倍。</a:t>
            </a:r>
            <a:endParaRPr lang="zh-CN" altLang="en-US" sz="2800" b="1" dirty="0"/>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rrowheads="1"/>
          </p:cNvSpPr>
          <p:nvPr>
            <p:ph type="title"/>
          </p:nvPr>
        </p:nvSpPr>
        <p:spPr/>
        <p:txBody>
          <a:bodyPr/>
          <a:lstStyle/>
          <a:p>
            <a:r>
              <a:rPr lang="zh-CN" altLang="en-US" b="1" u="sng" smtClean="0">
                <a:solidFill>
                  <a:schemeClr val="folHlink"/>
                </a:solidFill>
                <a:ea typeface="仿宋_GB2312" pitchFamily="49" charset="-122"/>
              </a:rPr>
              <a:t>对段页式存储管理方式的评价</a:t>
            </a:r>
            <a:r>
              <a:rPr lang="zh-CN" altLang="en-US" smtClean="0">
                <a:solidFill>
                  <a:schemeClr val="folHlink"/>
                </a:solidFill>
              </a:rPr>
              <a:t> </a:t>
            </a:r>
            <a:endParaRPr lang="zh-CN" altLang="en-US" smtClean="0">
              <a:solidFill>
                <a:schemeClr val="folHlink"/>
              </a:solidFill>
            </a:endParaRPr>
          </a:p>
        </p:txBody>
      </p:sp>
      <p:sp>
        <p:nvSpPr>
          <p:cNvPr id="184323" name="Rectangle 3"/>
          <p:cNvSpPr>
            <a:spLocks noGrp="1" noRot="1" noChangeArrowheads="1"/>
          </p:cNvSpPr>
          <p:nvPr>
            <p:ph type="body" idx="1"/>
          </p:nvPr>
        </p:nvSpPr>
        <p:spPr/>
        <p:txBody>
          <a:bodyPr/>
          <a:lstStyle/>
          <a:p>
            <a:pPr>
              <a:lnSpc>
                <a:spcPct val="110000"/>
              </a:lnSpc>
              <a:defRPr/>
            </a:pPr>
            <a:r>
              <a:rPr lang="zh-CN" altLang="en-US" sz="2800" b="1" dirty="0" smtClean="0">
                <a:ea typeface="仿宋_GB2312" pitchFamily="49" charset="-122"/>
              </a:rPr>
              <a:t>综合了分段和分页技术的优点，既能有效地利用存储空间，又能方便用户进行程序设计。</a:t>
            </a:r>
            <a:endParaRPr lang="zh-CN" altLang="en-US" sz="2800" b="1" dirty="0" smtClean="0">
              <a:ea typeface="仿宋_GB2312" pitchFamily="49" charset="-122"/>
            </a:endParaRPr>
          </a:p>
          <a:p>
            <a:pPr>
              <a:lnSpc>
                <a:spcPct val="110000"/>
              </a:lnSpc>
              <a:defRPr/>
            </a:pPr>
            <a:endParaRPr lang="zh-CN" altLang="en-US" sz="2800" b="1" dirty="0" smtClean="0">
              <a:ea typeface="仿宋_GB2312" pitchFamily="49" charset="-122"/>
            </a:endParaRPr>
          </a:p>
          <a:p>
            <a:pPr>
              <a:lnSpc>
                <a:spcPct val="110000"/>
              </a:lnSpc>
              <a:defRPr/>
            </a:pPr>
            <a:r>
              <a:rPr lang="zh-CN" altLang="en-US" sz="2800" b="1" dirty="0" smtClean="0">
                <a:ea typeface="仿宋_GB2312" pitchFamily="49" charset="-122"/>
              </a:rPr>
              <a:t>但是，实现段页式存储管理系统需要增加硬件成本，系统的复杂度和管理开销也大大增加。</a:t>
            </a:r>
            <a:endParaRPr lang="zh-CN" altLang="en-US" sz="2800" b="1" dirty="0" smtClean="0">
              <a:ea typeface="仿宋_GB2312" pitchFamily="49" charset="-122"/>
            </a:endParaRPr>
          </a:p>
          <a:p>
            <a:pPr>
              <a:lnSpc>
                <a:spcPct val="110000"/>
              </a:lnSpc>
              <a:defRPr/>
            </a:pPr>
            <a:endParaRPr lang="zh-CN" altLang="en-US" sz="2800" b="1" dirty="0" smtClean="0">
              <a:ea typeface="仿宋_GB2312" pitchFamily="49" charset="-122"/>
            </a:endParaRPr>
          </a:p>
          <a:p>
            <a:pPr>
              <a:lnSpc>
                <a:spcPct val="110000"/>
              </a:lnSpc>
              <a:defRPr/>
            </a:pPr>
            <a:r>
              <a:rPr lang="zh-CN" altLang="en-US" sz="2800" b="1" dirty="0" smtClean="0">
                <a:ea typeface="仿宋_GB2312" pitchFamily="49" charset="-122"/>
              </a:rPr>
              <a:t>因此，段页式存储管理技术适合于大、中型计算机系统，不太适合小型、微型计算机系统。</a:t>
            </a:r>
            <a:endParaRPr lang="zh-CN" altLang="en-US" sz="2800" b="1" dirty="0" smtClean="0">
              <a:ea typeface="仿宋_GB2312" pitchFamily="49" charset="-122"/>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US" smtClean="0"/>
              <a:t>作业</a:t>
            </a:r>
            <a:endParaRPr lang="zh-CN" altLang="en-US" smtClean="0"/>
          </a:p>
        </p:txBody>
      </p:sp>
      <p:sp>
        <p:nvSpPr>
          <p:cNvPr id="116739" name="内容占位符 2"/>
          <p:cNvSpPr>
            <a:spLocks noGrp="1"/>
          </p:cNvSpPr>
          <p:nvPr>
            <p:ph idx="1"/>
          </p:nvPr>
        </p:nvSpPr>
        <p:spPr/>
        <p:txBody>
          <a:bodyPr/>
          <a:lstStyle/>
          <a:p>
            <a:r>
              <a:rPr lang="zh-CN" altLang="en-US" dirty="0" smtClean="0"/>
              <a:t>第四章：</a:t>
            </a:r>
            <a:endParaRPr lang="zh-CN" altLang="en-US" dirty="0" smtClean="0"/>
          </a:p>
          <a:p>
            <a:r>
              <a:rPr lang="zh-CN" altLang="en-US" dirty="0" smtClean="0"/>
              <a:t>P170:  3、7、8、12、13、14、15、16、17、18、19、20；</a:t>
            </a:r>
            <a:endParaRPr lang="zh-CN" altLang="en-US" dirty="0" smtClean="0"/>
          </a:p>
          <a:p>
            <a:r>
              <a:rPr lang="zh-CN" altLang="en-US" dirty="0" smtClean="0"/>
              <a:t>        </a:t>
            </a:r>
            <a:endParaRPr lang="zh-CN" altLang="en-US" dirty="0" smtClean="0"/>
          </a:p>
        </p:txBody>
      </p:sp>
    </p:spTree>
  </p:cSld>
  <p:clrMapOvr>
    <a:masterClrMapping/>
  </p:clrMapOvr>
  <p:transition/>
</p:sld>
</file>

<file path=ppt/tags/tag1.xml><?xml version="1.0" encoding="utf-8"?>
<p:tagLst xmlns:p="http://schemas.openxmlformats.org/presentationml/2006/main">
  <p:tag name="commondata" val="eyJoZGlkIjoiOWJkY2VmZjY5MjJkNjJkODRiYmIxZjc4Mjk2MjJmOWYifQ=="/>
</p:tagLst>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CDESIGNJ</Template>
  <TotalTime>0</TotalTime>
  <Words>13176</Words>
  <Application>WPS 演示</Application>
  <PresentationFormat>全屏显示(4:3)</PresentationFormat>
  <Paragraphs>1122</Paragraphs>
  <Slides>115</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0</vt:i4>
      </vt:variant>
      <vt:variant>
        <vt:lpstr>幻灯片标题</vt:lpstr>
      </vt:variant>
      <vt:variant>
        <vt:i4>115</vt:i4>
      </vt:variant>
    </vt:vector>
  </HeadingPairs>
  <TitlesOfParts>
    <vt:vector size="132" baseType="lpstr">
      <vt:lpstr>Arial</vt:lpstr>
      <vt:lpstr>宋体</vt:lpstr>
      <vt:lpstr>Wingdings</vt:lpstr>
      <vt:lpstr>Wingdings 2</vt:lpstr>
      <vt:lpstr>华文新魏</vt:lpstr>
      <vt:lpstr>Times New Roman</vt:lpstr>
      <vt:lpstr>微软雅黑</vt:lpstr>
      <vt:lpstr>Arial Unicode MS</vt:lpstr>
      <vt:lpstr>Calibri</vt:lpstr>
      <vt:lpstr>Courier New</vt:lpstr>
      <vt:lpstr>仿宋_GB2312</vt:lpstr>
      <vt:lpstr>仿宋</vt:lpstr>
      <vt:lpstr>Courier New</vt:lpstr>
      <vt:lpstr>Arial</vt:lpstr>
      <vt:lpstr>黑体</vt:lpstr>
      <vt:lpstr>楷体</vt:lpstr>
      <vt:lpstr>砖雕艺术</vt:lpstr>
      <vt:lpstr>第四章  存储器管理</vt:lpstr>
      <vt:lpstr>PowerPoint 演示文稿</vt:lpstr>
      <vt:lpstr>4.1.1 多级存储器结构</vt:lpstr>
      <vt:lpstr>4.2  程序的装入和链接</vt:lpstr>
      <vt:lpstr>PowerPoint 演示文稿</vt:lpstr>
      <vt:lpstr>1.  程序的装入 </vt:lpstr>
      <vt:lpstr>PowerPoint 演示文稿</vt:lpstr>
      <vt:lpstr>PowerPoint 演示文稿</vt:lpstr>
      <vt:lpstr>PowerPoint 演示文稿</vt:lpstr>
      <vt:lpstr>PowerPoint 演示文稿</vt:lpstr>
      <vt:lpstr>2.   程序的链接 </vt:lpstr>
      <vt:lpstr>PowerPoint 演示文稿</vt:lpstr>
      <vt:lpstr>PowerPoint 演示文稿</vt:lpstr>
      <vt:lpstr>PowerPoint 演示文稿</vt:lpstr>
      <vt:lpstr>PowerPoint 演示文稿</vt:lpstr>
      <vt:lpstr>PowerPoint 演示文稿</vt:lpstr>
      <vt:lpstr>4.3 连续分配方式</vt:lpstr>
      <vt:lpstr>4.3.1 单一连续分配</vt:lpstr>
      <vt:lpstr>4.3.1 单一连续分配</vt:lpstr>
      <vt:lpstr>4.3.2 固定分区分配</vt:lpstr>
      <vt:lpstr>PowerPoint 演示文稿</vt:lpstr>
      <vt:lpstr>PowerPoint 演示文稿</vt:lpstr>
      <vt:lpstr>PowerPoint 演示文稿</vt:lpstr>
      <vt:lpstr>4.3.3 动态分区分配</vt:lpstr>
      <vt:lpstr>空闲分区链表</vt:lpstr>
      <vt:lpstr>2．分区分配操作</vt:lpstr>
      <vt:lpstr>PowerPoint 演示文稿</vt:lpstr>
      <vt:lpstr>（2）分区回收 </vt:lpstr>
      <vt:lpstr>4.3.4  顺序搜索的动态分区分配算法</vt:lpstr>
      <vt:lpstr>PowerPoint 演示文稿</vt:lpstr>
      <vt:lpstr>PowerPoint 演示文稿</vt:lpstr>
      <vt:lpstr>PowerPoint 演示文稿</vt:lpstr>
      <vt:lpstr>PowerPoint 演示文稿</vt:lpstr>
      <vt:lpstr>PowerPoint 演示文稿</vt:lpstr>
      <vt:lpstr>基于顺序搜索的分区分配算法小结</vt:lpstr>
      <vt:lpstr>4.3.5 基于索引搜索的动态分区分配算法</vt:lpstr>
      <vt:lpstr>PowerPoint 演示文稿</vt:lpstr>
      <vt:lpstr>PowerPoint 演示文稿</vt:lpstr>
      <vt:lpstr>PowerPoint 演示文稿</vt:lpstr>
      <vt:lpstr>2. 伙伴系统</vt:lpstr>
      <vt:lpstr>Linux内存管理</vt:lpstr>
      <vt:lpstr>Linux内存管理结构</vt:lpstr>
      <vt:lpstr>PowerPoint 演示文稿</vt:lpstr>
      <vt:lpstr>PowerPoint 演示文稿</vt:lpstr>
      <vt:lpstr>PowerPoint 演示文稿</vt:lpstr>
      <vt:lpstr>PowerPoint 演示文稿</vt:lpstr>
      <vt:lpstr>4.3.6 可重定位分区分配</vt:lpstr>
      <vt:lpstr>PowerPoint 演示文稿</vt:lpstr>
      <vt:lpstr>PowerPoint 演示文稿</vt:lpstr>
      <vt:lpstr>PowerPoint 演示文稿</vt:lpstr>
      <vt:lpstr>3. 动态重定位分区分配算法 </vt:lpstr>
      <vt:lpstr>4.3.7 对换 </vt:lpstr>
      <vt:lpstr>PowerPoint 演示文稿</vt:lpstr>
      <vt:lpstr>PowerPoint 演示文稿</vt:lpstr>
      <vt:lpstr>PowerPoint 演示文稿</vt:lpstr>
      <vt:lpstr>PowerPoint 演示文稿</vt:lpstr>
      <vt:lpstr>PowerPoint 演示文稿</vt:lpstr>
      <vt:lpstr>思考：</vt:lpstr>
      <vt:lpstr>4.5 分页存储管理方式</vt:lpstr>
      <vt:lpstr>4.5.1 分页存储管理的基本方法</vt:lpstr>
      <vt:lpstr>PowerPoint 演示文稿</vt:lpstr>
      <vt:lpstr>PowerPoint 演示文稿</vt:lpstr>
      <vt:lpstr>2.地址结构</vt:lpstr>
      <vt:lpstr>2.地址结构</vt:lpstr>
      <vt:lpstr>3. 页表 </vt:lpstr>
      <vt:lpstr>PowerPoint 演示文稿</vt:lpstr>
      <vt:lpstr>例如</vt:lpstr>
      <vt:lpstr>PowerPoint 演示文稿</vt:lpstr>
      <vt:lpstr>PowerPoint 演示文稿</vt:lpstr>
      <vt:lpstr>4.5.2 地址变换机构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2．具有快表的地址变换机构</vt:lpstr>
      <vt:lpstr>快表的工作原理</vt:lpstr>
      <vt:lpstr>分页系统地址转换</vt:lpstr>
      <vt:lpstr>PowerPoint 演示文稿</vt:lpstr>
      <vt:lpstr>补充内容-虚拟地址</vt:lpstr>
      <vt:lpstr>PowerPoint 演示文稿</vt:lpstr>
      <vt:lpstr>4.5.4 两级和多级页表</vt:lpstr>
      <vt:lpstr>1.二级页表</vt:lpstr>
      <vt:lpstr>1.二级页表</vt:lpstr>
      <vt:lpstr>PowerPoint 演示文稿</vt:lpstr>
      <vt:lpstr>PowerPoint 演示文稿</vt:lpstr>
      <vt:lpstr>PowerPoint 演示文稿</vt:lpstr>
      <vt:lpstr>PowerPoint 演示文稿</vt:lpstr>
      <vt:lpstr>PowerPoint 演示文稿</vt:lpstr>
      <vt:lpstr>（2）多级页表 </vt:lpstr>
      <vt:lpstr>4.6 分段存储管理方式</vt:lpstr>
      <vt:lpstr>4.5.1引入分段的原因</vt:lpstr>
      <vt:lpstr>4.6.2  分段存储基本原理</vt:lpstr>
      <vt:lpstr>2.段表</vt:lpstr>
      <vt:lpstr>PowerPoint 演示文稿</vt:lpstr>
      <vt:lpstr>3．地址变换机构 </vt:lpstr>
      <vt:lpstr>PowerPoint 演示文稿</vt:lpstr>
      <vt:lpstr>段表寄存器</vt:lpstr>
      <vt:lpstr>对分段系统的评价 </vt:lpstr>
      <vt:lpstr>4．分页和分段的比较（主要区别 ）：</vt:lpstr>
      <vt:lpstr>4．分页和分段的比较（主要区别 ）：</vt:lpstr>
      <vt:lpstr>PowerPoint 演示文稿</vt:lpstr>
      <vt:lpstr>4.6.4 段页式存储管理方式</vt:lpstr>
      <vt:lpstr>作业地址空间和地址结构 </vt:lpstr>
      <vt:lpstr>逻辑地址</vt:lpstr>
      <vt:lpstr>数据结构</vt:lpstr>
      <vt:lpstr>段表寄存器</vt:lpstr>
      <vt:lpstr>地址变换</vt:lpstr>
      <vt:lpstr>PowerPoint 演示文稿</vt:lpstr>
      <vt:lpstr>PowerPoint 演示文稿</vt:lpstr>
      <vt:lpstr>对段页式存储管理方式的评价 </vt:lpstr>
      <vt:lpstr>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紫霞</cp:lastModifiedBy>
  <cp:revision>92</cp:revision>
  <dcterms:created xsi:type="dcterms:W3CDTF">2012-09-20T02:42:00Z</dcterms:created>
  <dcterms:modified xsi:type="dcterms:W3CDTF">2024-04-08T10:35:26Z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690F05AA4BBC4E439ECE249BBAC3F32D_12</vt:lpwstr>
  </property>
  <property fmtid="{D5CDD505-2E9C-101B-9397-08002B2CF9AE}" pid="3" name="KSOProductBuildVer">
    <vt:lpwstr>2052-12.1.0.16388</vt:lpwstr>
  </property>
</Properties>
</file>