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22" r:id="rId13"/>
    <p:sldId id="323" r:id="rId14"/>
    <p:sldId id="267" r:id="rId15"/>
    <p:sldId id="268" r:id="rId16"/>
    <p:sldId id="269" r:id="rId17"/>
    <p:sldId id="270" r:id="rId18"/>
    <p:sldId id="271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329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30" r:id="rId58"/>
    <p:sldId id="331" r:id="rId59"/>
    <p:sldId id="332" r:id="rId60"/>
    <p:sldId id="333" r:id="rId61"/>
    <p:sldId id="334" r:id="rId62"/>
    <p:sldId id="313" r:id="rId63"/>
    <p:sldId id="314" r:id="rId64"/>
    <p:sldId id="316" r:id="rId65"/>
    <p:sldId id="315" r:id="rId66"/>
    <p:sldId id="317" r:id="rId67"/>
    <p:sldId id="318" r:id="rId68"/>
    <p:sldId id="319" r:id="rId69"/>
    <p:sldId id="326" r:id="rId70"/>
    <p:sldId id="327" r:id="rId71"/>
    <p:sldId id="328" r:id="rId72"/>
    <p:sldId id="324" r:id="rId7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0A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64" d="100"/>
          <a:sy n="64" d="100"/>
        </p:scale>
        <p:origin x="-133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6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1355D-CAF1-4DF5-B92A-772D6B09D6EF}" type="datetimeFigureOut">
              <a:rPr lang="zh-CN" altLang="en-US" smtClean="0"/>
              <a:pPr/>
              <a:t>2019/5/10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A698F9-7806-4D67-9FB2-85C79D655A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814216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A698F9-7806-4D67-9FB2-85C79D655AC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634779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</a:endParaRPr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 b="1">
                <a:solidFill>
                  <a:srgbClr val="0000FF"/>
                </a:solidFill>
                <a:latin typeface="Arial" charset="0"/>
                <a:ea typeface="宋体" charset="0"/>
              </a:defRPr>
            </a:lvl1pPr>
            <a:lvl2pPr marL="742950" indent="-285750">
              <a:defRPr sz="3600" b="1">
                <a:solidFill>
                  <a:srgbClr val="0000FF"/>
                </a:solidFill>
                <a:latin typeface="Arial" charset="0"/>
                <a:ea typeface="宋体" charset="0"/>
              </a:defRPr>
            </a:lvl2pPr>
            <a:lvl3pPr marL="1143000" indent="-228600">
              <a:defRPr sz="3600" b="1">
                <a:solidFill>
                  <a:srgbClr val="0000FF"/>
                </a:solidFill>
                <a:latin typeface="Arial" charset="0"/>
                <a:ea typeface="宋体" charset="0"/>
              </a:defRPr>
            </a:lvl3pPr>
            <a:lvl4pPr marL="1600200" indent="-228600">
              <a:defRPr sz="3600" b="1">
                <a:solidFill>
                  <a:srgbClr val="0000FF"/>
                </a:solidFill>
                <a:latin typeface="Arial" charset="0"/>
                <a:ea typeface="宋体" charset="0"/>
              </a:defRPr>
            </a:lvl4pPr>
            <a:lvl5pPr marL="2057400" indent="-228600">
              <a:defRPr sz="3600" b="1">
                <a:solidFill>
                  <a:srgbClr val="0000FF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latin typeface="Arial" charset="0"/>
                <a:ea typeface="宋体" charset="0"/>
              </a:defRPr>
            </a:lvl9pPr>
          </a:lstStyle>
          <a:p>
            <a:pPr>
              <a:defRPr/>
            </a:pPr>
            <a:fld id="{DB943ED4-C461-4C80-A833-EDEA02D8D3AF}" type="slidenum">
              <a:rPr lang="en-US" altLang="zh-CN" sz="1200" b="0">
                <a:solidFill>
                  <a:schemeClr val="tx1"/>
                </a:solidFill>
              </a:rPr>
              <a:pPr>
                <a:defRPr/>
              </a:pPr>
              <a:t>60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7871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2800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mtClean="0"/>
              <a:t>L=S</a:t>
            </a:r>
            <a:r>
              <a:rPr kumimoji="1" lang="zh-CN" altLang="en-US" smtClean="0"/>
              <a:t>：</a:t>
            </a:r>
            <a:r>
              <a:rPr kumimoji="1" lang="en-US" altLang="zh-CN" smtClean="0"/>
              <a:t>1980</a:t>
            </a:r>
            <a:r>
              <a:rPr kumimoji="1" lang="zh-CN" altLang="en-US" smtClean="0"/>
              <a:t>年</a:t>
            </a:r>
            <a:r>
              <a:rPr kumimoji="1" lang="en-US" altLang="zh-CN" smtClean="0"/>
              <a:t>Denning</a:t>
            </a:r>
            <a:r>
              <a:rPr kumimoji="1" lang="zh-CN" altLang="en-US" smtClean="0"/>
              <a:t>提出，</a:t>
            </a:r>
            <a:r>
              <a:rPr kumimoji="1" lang="en-US" altLang="zh-CN" smtClean="0"/>
              <a:t>L</a:t>
            </a:r>
            <a:r>
              <a:rPr kumimoji="1" lang="zh-CN" altLang="en-US" smtClean="0"/>
              <a:t>是发生缺页之间的平均时间，</a:t>
            </a:r>
            <a:r>
              <a:rPr kumimoji="1" lang="en-US" altLang="zh-CN" smtClean="0"/>
              <a:t>S</a:t>
            </a:r>
            <a:r>
              <a:rPr kumimoji="1" lang="zh-CN" altLang="en-US" smtClean="0"/>
              <a:t>是平均缺页服务时间</a:t>
            </a:r>
          </a:p>
        </p:txBody>
      </p:sp>
      <p:sp>
        <p:nvSpPr>
          <p:cNvPr id="128003" name="幻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6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6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8F8588-C9D3-4480-8DE2-0D809D9C411D}" type="slidenum">
              <a:rPr lang="en-US" altLang="zh-CN" sz="1200" b="0" smtClean="0">
                <a:solidFill>
                  <a:schemeClr val="tx1"/>
                </a:solidFill>
              </a:rPr>
              <a:pPr/>
              <a:t>61</a:t>
            </a:fld>
            <a:endParaRPr lang="en-US" altLang="zh-CN" sz="1200" b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39359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4848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CABF8-F1F4-4951-8356-A16A503C4D6A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2EF7E5-BD7E-40F3-B29B-9011192ED2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37094320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B5106-5CA7-475F-B4B0-FB1BA80CA341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7F5A0-D390-447D-A4F9-6E540201F49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8857744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A9123-494C-4A01-9A33-14629B9DD6F8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422B7C-C743-41E7-82D2-77F80DB123F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55174725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7D794-DBD9-4757-AF0B-B100F767356A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3DE5C-8EF1-4F45-9AAE-AE41460B68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4524628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784C0-5AC7-4274-AC72-16ADA4782B78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9C1028-4A54-4030-9CF0-7552AF94BAD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61957692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722C8-7CE0-44CF-AEDD-AE5526C5DF7D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6D119-D2F8-47BB-BFDC-BAAA74D11C3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5965592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E7487-4548-4DC7-B9EC-B166033FB717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BD823-CA31-452D-84A3-D92BED5ECA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65937561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472980-3C3C-497C-8B52-6E0261D31563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28492-DFC8-4D48-BD62-3BDB990EB2C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97154034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B5534-B555-4C25-875F-3DB4DC1D8291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3567E-77F4-446C-A998-E5916EAB33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88024035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36846-49F6-4488-8C00-6EA5FCBB8232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D1504-0F90-4E41-A2E0-FD70C6AF2BF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415468630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BDEF19-C257-4F40-9BC2-7AB98418C2B6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F7CAE-E896-40B8-8DB0-D6B7F5EEFA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10161286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33400" y="457200"/>
            <a:ext cx="8077200" cy="571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126481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077200" cy="1066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673225"/>
            <a:ext cx="8077200" cy="2173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400" y="3998913"/>
            <a:ext cx="8077200" cy="21732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083965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077200" cy="1066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533400" y="1673225"/>
            <a:ext cx="8077200" cy="4498975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  <p:extLst>
      <p:ext uri="{BB962C8B-B14F-4D97-AF65-F5344CB8AC3E}">
        <p14:creationId xmlns="" xmlns:p14="http://schemas.microsoft.com/office/powerpoint/2010/main" val="275497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47459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7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790DA303-6035-4975-AC22-0D41ADD4275F}" type="datetimeFigureOut">
              <a:rPr lang="zh-CN" altLang="en-US"/>
              <a:pPr>
                <a:defRPr/>
              </a:pPr>
              <a:t>2019/5/10</a:t>
            </a:fld>
            <a:endParaRPr lang="en-US" altLang="zh-CN"/>
          </a:p>
        </p:txBody>
      </p:sp>
      <p:sp>
        <p:nvSpPr>
          <p:cNvPr id="147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7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462D9237-58E1-4CE0-9734-B216950D84B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1" r:id="rId12"/>
    <p:sldLayoutId id="2147483842" r:id="rId13"/>
    <p:sldLayoutId id="2147483843" r:id="rId14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8" grpId="0"/>
      <p:bldP spid="14745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4745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4745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4745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4745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4745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itchFamily="18" charset="2"/>
        <a:buChar char="¡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第五章 虚拟存储器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51777370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1124744"/>
            <a:ext cx="8077200" cy="4162127"/>
          </a:xfrm>
        </p:spPr>
        <p:txBody>
          <a:bodyPr/>
          <a:lstStyle/>
          <a:p>
            <a:pPr>
              <a:defRPr/>
            </a:pPr>
            <a:r>
              <a:rPr lang="en-US" altLang="zh-CN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5.1 </a:t>
            </a:r>
            <a:r>
              <a:rPr lang="zh-CN" altLang="en-US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虚拟存储器概述</a:t>
            </a:r>
            <a:endParaRPr lang="en-US" altLang="zh-CN" sz="4400" b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r>
              <a:rPr lang="en-US" altLang="zh-CN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5.2 </a:t>
            </a:r>
            <a:r>
              <a:rPr lang="zh-CN" altLang="en-US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请求分页存储管理方式</a:t>
            </a:r>
            <a:endParaRPr lang="en-US" altLang="zh-CN" sz="4400" b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r>
              <a:rPr lang="en-US" altLang="zh-CN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5.3 </a:t>
            </a:r>
            <a:r>
              <a:rPr lang="zh-CN" altLang="en-US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页面置换算法</a:t>
            </a:r>
            <a:endParaRPr lang="en-US" altLang="zh-CN" sz="4400" b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r>
              <a:rPr lang="en-US" altLang="zh-CN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5.4</a:t>
            </a:r>
            <a:r>
              <a:rPr lang="zh-CN" altLang="en-US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“抖动”与工作集</a:t>
            </a:r>
            <a:endParaRPr lang="en-US" altLang="zh-CN" sz="4400" b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r>
              <a:rPr lang="en-US" altLang="zh-CN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5.5 </a:t>
            </a:r>
            <a:r>
              <a:rPr lang="zh-CN" altLang="en-US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请求分段存储管理方式</a:t>
            </a:r>
            <a:endParaRPr lang="en-US" altLang="zh-CN" sz="4400" b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277930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1340024"/>
            <a:ext cx="8077200" cy="5181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dirty="0" smtClean="0"/>
              <a:t>前面所介绍的各种存储器管理方式，出现了下面这样两种情况：</a:t>
            </a: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）有的作业很大，其所要求的内存空间超过了内存总容量，作业不能全部被装入内存，致使该作业无法运行。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2</a:t>
            </a:r>
            <a:r>
              <a:rPr lang="zh-CN" altLang="en-US" sz="2800" b="1" dirty="0" smtClean="0"/>
              <a:t>）有大量作业要求运行，但由于内存容量不足以容纳所有这些作业，只能将少数作业装入内存让它们先运行，而将其它大量的作业留在外存上等待。 </a:t>
            </a:r>
          </a:p>
        </p:txBody>
      </p:sp>
      <p:sp>
        <p:nvSpPr>
          <p:cNvPr id="497668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301625" y="44624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 dirty="0" smtClean="0">
                <a:solidFill>
                  <a:schemeClr val="folHlink"/>
                </a:solidFill>
              </a:rPr>
              <a:t>5.1.1 </a:t>
            </a:r>
            <a:r>
              <a:rPr lang="zh-CN" altLang="en-US" b="1" dirty="0" smtClean="0">
                <a:solidFill>
                  <a:schemeClr val="folHlink"/>
                </a:solidFill>
              </a:rPr>
              <a:t>虚拟存储器的引入</a:t>
            </a:r>
          </a:p>
        </p:txBody>
      </p:sp>
    </p:spTree>
    <p:extLst>
      <p:ext uri="{BB962C8B-B14F-4D97-AF65-F5344CB8AC3E}">
        <p14:creationId xmlns="" xmlns:p14="http://schemas.microsoft.com/office/powerpoint/2010/main" val="26259898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Rot="1" noChangeArrowheads="1"/>
          </p:cNvSpPr>
          <p:nvPr>
            <p:ph/>
          </p:nvPr>
        </p:nvSpPr>
        <p:spPr>
          <a:xfrm>
            <a:off x="152400" y="762000"/>
            <a:ext cx="8458200" cy="54102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4000" b="1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4000" b="1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．常规存储器管理方式的特征</a:t>
            </a:r>
            <a:endParaRPr lang="zh-CN" altLang="en-US" sz="4000" b="1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smtClean="0">
                <a:solidFill>
                  <a:schemeClr val="folHlink"/>
                </a:solidFill>
              </a:rPr>
              <a:t>（</a:t>
            </a:r>
            <a:r>
              <a:rPr lang="en-US" altLang="zh-CN" b="1" smtClean="0">
                <a:solidFill>
                  <a:schemeClr val="folHlink"/>
                </a:solidFill>
              </a:rPr>
              <a:t>1</a:t>
            </a:r>
            <a:r>
              <a:rPr lang="zh-CN" altLang="en-US" b="1" smtClean="0">
                <a:solidFill>
                  <a:schemeClr val="folHlink"/>
                </a:solidFill>
              </a:rPr>
              <a:t>）一次性。</a:t>
            </a:r>
            <a:r>
              <a:rPr lang="zh-CN" altLang="en-US" b="1" smtClean="0"/>
              <a:t>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smtClean="0"/>
              <a:t>    作业在运行前需一次性地全部装入内存，如果一次性地装入其全部程序，也是一种对内存空间的浪费。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smtClean="0">
                <a:solidFill>
                  <a:schemeClr val="folHlink"/>
                </a:solidFill>
              </a:rPr>
              <a:t>（</a:t>
            </a:r>
            <a:r>
              <a:rPr lang="en-US" altLang="zh-CN" b="1" smtClean="0">
                <a:solidFill>
                  <a:schemeClr val="folHlink"/>
                </a:solidFill>
              </a:rPr>
              <a:t>2</a:t>
            </a:r>
            <a:r>
              <a:rPr lang="zh-CN" altLang="en-US" b="1" smtClean="0">
                <a:solidFill>
                  <a:schemeClr val="folHlink"/>
                </a:solidFill>
              </a:rPr>
              <a:t>）驻留性。</a:t>
            </a:r>
            <a:r>
              <a:rPr lang="zh-CN" altLang="en-US" b="1" smtClean="0"/>
              <a:t>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smtClean="0"/>
              <a:t>    作业装入内存后，便一直驻留在内存中，直至作业运行结束。尽管运行中的进程会因</a:t>
            </a:r>
            <a:r>
              <a:rPr lang="en-US" altLang="zh-CN" b="1" smtClean="0"/>
              <a:t>I</a:t>
            </a:r>
            <a:r>
              <a:rPr lang="zh-CN" altLang="en-US" b="1" smtClean="0"/>
              <a:t>／</a:t>
            </a:r>
            <a:r>
              <a:rPr lang="en-US" altLang="zh-CN" b="1" smtClean="0"/>
              <a:t>O</a:t>
            </a:r>
            <a:r>
              <a:rPr lang="zh-CN" altLang="en-US" b="1" smtClean="0"/>
              <a:t>而长期等待，仍将继续占用宝贵的内存资源。 </a:t>
            </a:r>
          </a:p>
        </p:txBody>
      </p:sp>
    </p:spTree>
    <p:extLst>
      <p:ext uri="{BB962C8B-B14F-4D97-AF65-F5344CB8AC3E}">
        <p14:creationId xmlns="" xmlns:p14="http://schemas.microsoft.com/office/powerpoint/2010/main" val="427901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000" b="1" smtClean="0">
                <a:solidFill>
                  <a:schemeClr val="folHlink"/>
                </a:solidFill>
                <a:ea typeface="仿宋_GB2312" pitchFamily="49" charset="-122"/>
              </a:rPr>
              <a:t>2.</a:t>
            </a:r>
            <a:r>
              <a:rPr lang="zh-CN" altLang="en-US" sz="4000" b="1" smtClean="0">
                <a:solidFill>
                  <a:schemeClr val="folHlink"/>
                </a:solidFill>
                <a:ea typeface="仿宋_GB2312" pitchFamily="49" charset="-122"/>
              </a:rPr>
              <a:t>局部性原理</a:t>
            </a:r>
          </a:p>
        </p:txBody>
      </p:sp>
      <p:sp>
        <p:nvSpPr>
          <p:cNvPr id="18739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defRPr/>
            </a:pPr>
            <a:r>
              <a:rPr lang="zh-CN" altLang="en-US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程序执行的局部性原理：</a:t>
            </a:r>
            <a:r>
              <a:rPr lang="zh-CN" alt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程序的执行总是呈现局部性。即，</a:t>
            </a:r>
            <a:r>
              <a:rPr lang="zh-CN" alt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在一个较短的时间段内，程序的执行仅限于某个部分</a:t>
            </a:r>
            <a:r>
              <a:rPr lang="zh-CN" alt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；相应的，它所访问的存储空间也局限于某个区域。</a:t>
            </a:r>
          </a:p>
          <a:p>
            <a:pPr algn="just">
              <a:defRPr/>
            </a:pPr>
            <a:endParaRPr lang="zh-CN" altLang="en-US" b="1" dirty="0" smtClean="0">
              <a:effectLst>
                <a:outerShdw blurRad="38100" dist="38100" dir="2700000" algn="tl">
                  <a:srgbClr val="000000"/>
                </a:outerShdw>
              </a:effectLst>
              <a:ea typeface="仿宋_GB2312" pitchFamily="49" charset="-122"/>
            </a:endParaRPr>
          </a:p>
          <a:p>
            <a:pPr algn="just">
              <a:defRPr/>
            </a:pPr>
            <a:r>
              <a:rPr lang="zh-CN" alt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因此，</a:t>
            </a:r>
            <a:r>
              <a:rPr lang="zh-CN" alt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只要保证进程执行所需的部分程序和数据驻留在内存，一段时间内进程都能顺利执行。</a:t>
            </a:r>
          </a:p>
          <a:p>
            <a:pPr>
              <a:defRPr/>
            </a:pPr>
            <a:endParaRPr lang="zh-CN" alt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21999831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rrowheads="1"/>
          </p:cNvSpPr>
          <p:nvPr>
            <p:ph/>
          </p:nvPr>
        </p:nvSpPr>
        <p:spPr>
          <a:xfrm>
            <a:off x="290264" y="594320"/>
            <a:ext cx="8458200" cy="57150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000" b="1" dirty="0" smtClean="0">
                <a:solidFill>
                  <a:schemeClr val="folHlink"/>
                </a:solidFill>
              </a:rPr>
              <a:t>局限性又表现在下述两个方面：</a:t>
            </a:r>
            <a:endParaRPr kumimoji="1" lang="en-US" altLang="zh-CN" sz="4000" b="1" dirty="0" smtClean="0">
              <a:solidFill>
                <a:schemeClr val="folHlink"/>
              </a:solidFill>
            </a:endParaRPr>
          </a:p>
          <a:p>
            <a:pPr>
              <a:lnSpc>
                <a:spcPct val="110000"/>
              </a:lnSpc>
            </a:pPr>
            <a:r>
              <a:rPr kumimoji="1" lang="zh-CN" altLang="en-US" b="1" dirty="0" smtClean="0">
                <a:solidFill>
                  <a:schemeClr val="folHlink"/>
                </a:solidFill>
              </a:rPr>
              <a:t>       </a:t>
            </a:r>
            <a:r>
              <a:rPr kumimoji="1" lang="en-US" altLang="zh-CN" b="1" dirty="0" smtClean="0">
                <a:solidFill>
                  <a:schemeClr val="folHlink"/>
                </a:solidFill>
              </a:rPr>
              <a:t>(1) </a:t>
            </a:r>
            <a:r>
              <a:rPr kumimoji="1" lang="zh-CN" altLang="en-US" b="1" dirty="0" smtClean="0">
                <a:solidFill>
                  <a:schemeClr val="folHlink"/>
                </a:solidFill>
              </a:rPr>
              <a:t>时间局限性。</a:t>
            </a:r>
          </a:p>
          <a:p>
            <a:pPr lvl="1">
              <a:lnSpc>
                <a:spcPct val="110000"/>
              </a:lnSpc>
            </a:pPr>
            <a:r>
              <a:rPr kumimoji="1" lang="zh-CN" altLang="en-US" sz="3200" b="1" dirty="0" smtClean="0"/>
              <a:t>如果程序中的某条指令一旦执行， 则不久以后该指令可能再次执行；如果某数据被访问过， 则不久以后该数据可能再次被访问。</a:t>
            </a:r>
          </a:p>
          <a:p>
            <a:pPr lvl="1">
              <a:lnSpc>
                <a:spcPct val="110000"/>
              </a:lnSpc>
            </a:pPr>
            <a:r>
              <a:rPr kumimoji="1" lang="zh-CN" altLang="en-US" sz="3200" b="1" dirty="0" smtClean="0"/>
              <a:t>产生时间局限性的典型原因，是由于在程序中存在着大量的循环操作。</a:t>
            </a:r>
          </a:p>
          <a:p>
            <a:pPr>
              <a:lnSpc>
                <a:spcPct val="110000"/>
              </a:lnSpc>
            </a:pPr>
            <a:r>
              <a:rPr kumimoji="1" lang="zh-CN" altLang="en-US" b="1" dirty="0" smtClean="0"/>
              <a:t>        </a:t>
            </a:r>
          </a:p>
        </p:txBody>
      </p:sp>
    </p:spTree>
    <p:extLst>
      <p:ext uri="{BB962C8B-B14F-4D97-AF65-F5344CB8AC3E}">
        <p14:creationId xmlns="" xmlns:p14="http://schemas.microsoft.com/office/powerpoint/2010/main" val="269545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endParaRPr lang="zh-CN" altLang="en-US" smtClean="0">
              <a:effectLst/>
            </a:endParaRPr>
          </a:p>
        </p:txBody>
      </p:sp>
      <p:sp>
        <p:nvSpPr>
          <p:cNvPr id="12083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kumimoji="1" lang="en-US" altLang="zh-CN" b="1" dirty="0" smtClean="0">
                <a:solidFill>
                  <a:srgbClr val="FF0000"/>
                </a:solidFill>
              </a:rPr>
              <a:t>(2) </a:t>
            </a:r>
            <a:r>
              <a:rPr kumimoji="1" lang="zh-CN" altLang="en-US" b="1" dirty="0" smtClean="0">
                <a:solidFill>
                  <a:srgbClr val="FF0000"/>
                </a:solidFill>
              </a:rPr>
              <a:t>空间局限性。</a:t>
            </a:r>
          </a:p>
          <a:p>
            <a:pPr lvl="1">
              <a:lnSpc>
                <a:spcPct val="110000"/>
              </a:lnSpc>
            </a:pPr>
            <a:r>
              <a:rPr kumimoji="1" lang="zh-CN" altLang="en-US" sz="3200" b="1" dirty="0" smtClean="0"/>
              <a:t>一旦程序访问了某个存储单元，在不久之后，其附近的存储单元也将被访问</a:t>
            </a:r>
            <a:r>
              <a:rPr kumimoji="1" lang="en-US" altLang="zh-CN" sz="3200" b="1" dirty="0" smtClean="0"/>
              <a:t>;</a:t>
            </a:r>
          </a:p>
          <a:p>
            <a:pPr lvl="1">
              <a:lnSpc>
                <a:spcPct val="110000"/>
              </a:lnSpc>
            </a:pPr>
            <a:r>
              <a:rPr kumimoji="1" lang="zh-CN" altLang="en-US" sz="3200" b="1" dirty="0" smtClean="0"/>
              <a:t>程序在一段时间内所访问的地址，可能集中在一定的范围之内</a:t>
            </a:r>
            <a:r>
              <a:rPr kumimoji="1" lang="en-US" altLang="zh-CN" sz="3200" b="1" dirty="0" smtClean="0"/>
              <a:t>.</a:t>
            </a:r>
            <a:endParaRPr kumimoji="1" lang="zh-CN" altLang="en-US" sz="3200" b="1" dirty="0" smtClean="0"/>
          </a:p>
          <a:p>
            <a:pPr>
              <a:lnSpc>
                <a:spcPct val="110000"/>
              </a:lnSpc>
            </a:pPr>
            <a:endParaRPr lang="zh-CN" alt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10116143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685800"/>
            <a:ext cx="77724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 u="sng" dirty="0" smtClean="0">
                <a:solidFill>
                  <a:schemeClr val="folHlink"/>
                </a:solidFill>
                <a:ea typeface="仿宋_GB2312" pitchFamily="49" charset="-122"/>
              </a:rPr>
              <a:t>3.</a:t>
            </a:r>
            <a:r>
              <a:rPr lang="zh-CN" altLang="en-US" b="1" u="sng" dirty="0" smtClean="0">
                <a:solidFill>
                  <a:schemeClr val="folHlink"/>
                </a:solidFill>
                <a:ea typeface="仿宋_GB2312" pitchFamily="49" charset="-122"/>
              </a:rPr>
              <a:t>虚拟存储的定义</a:t>
            </a:r>
            <a:endParaRPr lang="zh-CN" altLang="en-US" dirty="0" smtClean="0">
              <a:solidFill>
                <a:schemeClr val="folHlink"/>
              </a:solidFill>
              <a:effectLst/>
            </a:endParaRPr>
          </a:p>
        </p:txBody>
      </p:sp>
      <p:sp>
        <p:nvSpPr>
          <p:cNvPr id="1894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4800" y="1676400"/>
            <a:ext cx="8458200" cy="47244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>
                <a:latin typeface="仿宋_GB2312" pitchFamily="49" charset="-122"/>
                <a:ea typeface="仿宋_GB2312" pitchFamily="49" charset="-122"/>
              </a:rPr>
              <a:t>基于局部性原理，应用程序在运行之前，没有必要全部装入内存，</a:t>
            </a:r>
            <a:r>
              <a:rPr lang="zh-CN" altLang="en-US" sz="2800" b="1" i="1" u="sng" dirty="0" smtClean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仅需要将一部分页面或段装入内存，便可启动运行，其余部分暂时保留在磁盘上。</a:t>
            </a:r>
          </a:p>
          <a:p>
            <a:pPr lvl="1">
              <a:lnSpc>
                <a:spcPct val="110000"/>
              </a:lnSpc>
              <a:defRPr/>
            </a:pPr>
            <a:r>
              <a:rPr lang="zh-CN" altLang="en-US" sz="2400" b="1" dirty="0" smtClean="0">
                <a:latin typeface="仿宋_GB2312" pitchFamily="49" charset="-122"/>
                <a:ea typeface="仿宋_GB2312" pitchFamily="49" charset="-122"/>
              </a:rPr>
              <a:t>进程运行时，如果它所需要访问的页面（段）已经装入内存，则可以继续执行下去；</a:t>
            </a:r>
          </a:p>
          <a:p>
            <a:pPr lvl="1">
              <a:lnSpc>
                <a:spcPct val="110000"/>
              </a:lnSpc>
              <a:defRPr/>
            </a:pPr>
            <a:r>
              <a:rPr lang="zh-CN" altLang="en-US" sz="2400" b="1" dirty="0" smtClean="0">
                <a:latin typeface="仿宋_GB2312" pitchFamily="49" charset="-122"/>
                <a:ea typeface="仿宋_GB2312" pitchFamily="49" charset="-122"/>
              </a:rPr>
              <a:t>如果其所需要访问的页面（段）尚未装入内存，则发生缺页（段）中断，进程阻塞。</a:t>
            </a:r>
          </a:p>
          <a:p>
            <a:pPr lvl="1">
              <a:lnSpc>
                <a:spcPct val="110000"/>
              </a:lnSpc>
              <a:defRPr/>
            </a:pPr>
            <a:r>
              <a:rPr lang="zh-CN" altLang="en-US" sz="2400" b="1" dirty="0" smtClean="0">
                <a:latin typeface="仿宋_GB2312" pitchFamily="49" charset="-122"/>
                <a:ea typeface="仿宋_GB2312" pitchFamily="49" charset="-122"/>
              </a:rPr>
              <a:t>此时，系统将启动请求调页（段）功能，将进程所需的页（段）装入内存。</a:t>
            </a:r>
          </a:p>
        </p:txBody>
      </p:sp>
    </p:spTree>
    <p:extLst>
      <p:ext uri="{BB962C8B-B14F-4D97-AF65-F5344CB8AC3E}">
        <p14:creationId xmlns="" xmlns:p14="http://schemas.microsoft.com/office/powerpoint/2010/main" val="37009142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u="sng" dirty="0" smtClean="0">
                <a:solidFill>
                  <a:schemeClr val="folHlink"/>
                </a:solidFill>
                <a:ea typeface="仿宋_GB2312" pitchFamily="49" charset="-122"/>
              </a:rPr>
              <a:t>3. </a:t>
            </a:r>
            <a:r>
              <a:rPr lang="zh-CN" altLang="en-US" b="1" u="sng" dirty="0" smtClean="0">
                <a:solidFill>
                  <a:schemeClr val="folHlink"/>
                </a:solidFill>
                <a:ea typeface="仿宋_GB2312" pitchFamily="49" charset="-122"/>
              </a:rPr>
              <a:t>虚拟存储的定义</a:t>
            </a:r>
            <a:endParaRPr lang="zh-CN" altLang="en-US" dirty="0" smtClean="0">
              <a:solidFill>
                <a:schemeClr val="folHlink"/>
              </a:solidFill>
              <a:effectLst/>
            </a:endParaRPr>
          </a:p>
        </p:txBody>
      </p:sp>
      <p:sp>
        <p:nvSpPr>
          <p:cNvPr id="1904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143000"/>
            <a:ext cx="8077200" cy="419100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endParaRPr lang="zh-CN" altLang="en-US" b="1" dirty="0" smtClean="0">
              <a:latin typeface="仿宋_GB2312" pitchFamily="49" charset="-122"/>
              <a:ea typeface="仿宋_GB2312" pitchFamily="49" charset="-122"/>
            </a:endParaRPr>
          </a:p>
          <a:p>
            <a:pPr>
              <a:lnSpc>
                <a:spcPct val="110000"/>
              </a:lnSpc>
              <a:defRPr/>
            </a:pPr>
            <a:r>
              <a:rPr lang="zh-CN" altLang="en-US" b="1" dirty="0" smtClean="0">
                <a:latin typeface="仿宋_GB2312" pitchFamily="49" charset="-122"/>
                <a:ea typeface="仿宋_GB2312" pitchFamily="49" charset="-122"/>
              </a:rPr>
              <a:t>如果当前内存已满，无法装入新的页（段），则还需要利用页（段）置换功能，将内存中暂时不用的页（段）交换到磁盘上，以腾出足够的内存空间。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b="1" dirty="0" smtClean="0">
                <a:latin typeface="仿宋_GB2312" pitchFamily="49" charset="-122"/>
                <a:ea typeface="仿宋_GB2312" pitchFamily="49" charset="-122"/>
              </a:rPr>
              <a:t>再将进程所需的页（段）装入内存，唤醒阻塞的进程，使之重新参与调度执行。 </a:t>
            </a:r>
          </a:p>
        </p:txBody>
      </p:sp>
    </p:spTree>
    <p:extLst>
      <p:ext uri="{BB962C8B-B14F-4D97-AF65-F5344CB8AC3E}">
        <p14:creationId xmlns="" xmlns:p14="http://schemas.microsoft.com/office/powerpoint/2010/main" val="1856263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57"/>
          <p:cNvSpPr>
            <a:spLocks noChangeArrowheads="1"/>
          </p:cNvSpPr>
          <p:nvPr/>
        </p:nvSpPr>
        <p:spPr bwMode="auto">
          <a:xfrm>
            <a:off x="152400" y="304800"/>
            <a:ext cx="8839200" cy="6248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1447800" y="762000"/>
            <a:ext cx="6629400" cy="5257800"/>
            <a:chOff x="3060" y="10644"/>
            <a:chExt cx="4680" cy="4368"/>
          </a:xfrm>
        </p:grpSpPr>
        <p:grpSp>
          <p:nvGrpSpPr>
            <p:cNvPr id="3" name="Group 59"/>
            <p:cNvGrpSpPr>
              <a:grpSpLocks/>
            </p:cNvGrpSpPr>
            <p:nvPr/>
          </p:nvGrpSpPr>
          <p:grpSpPr bwMode="auto">
            <a:xfrm>
              <a:off x="3060" y="10644"/>
              <a:ext cx="4680" cy="3900"/>
              <a:chOff x="3060" y="10644"/>
              <a:chExt cx="4680" cy="3900"/>
            </a:xfrm>
          </p:grpSpPr>
          <p:grpSp>
            <p:nvGrpSpPr>
              <p:cNvPr id="4" name="Group 60"/>
              <p:cNvGrpSpPr>
                <a:grpSpLocks/>
              </p:cNvGrpSpPr>
              <p:nvPr/>
            </p:nvGrpSpPr>
            <p:grpSpPr bwMode="auto">
              <a:xfrm>
                <a:off x="4320" y="11268"/>
                <a:ext cx="3420" cy="3276"/>
                <a:chOff x="4320" y="11268"/>
                <a:chExt cx="3420" cy="3276"/>
              </a:xfrm>
            </p:grpSpPr>
            <p:sp>
              <p:nvSpPr>
                <p:cNvPr id="123934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6120" y="13452"/>
                  <a:ext cx="1620" cy="312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从外存装入页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/</a:t>
                  </a:r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段</a:t>
                  </a:r>
                </a:p>
              </p:txBody>
            </p:sp>
            <p:sp>
              <p:nvSpPr>
                <p:cNvPr id="123935" name="Line 62"/>
                <p:cNvSpPr>
                  <a:spLocks noChangeShapeType="1"/>
                </p:cNvSpPr>
                <p:nvPr/>
              </p:nvSpPr>
              <p:spPr bwMode="auto">
                <a:xfrm>
                  <a:off x="6840" y="13764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936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00" y="14232"/>
                  <a:ext cx="1260" cy="312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更新页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/</a:t>
                  </a:r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段表</a:t>
                  </a:r>
                </a:p>
              </p:txBody>
            </p:sp>
            <p:grpSp>
              <p:nvGrpSpPr>
                <p:cNvPr id="5" name="Group 64"/>
                <p:cNvGrpSpPr>
                  <a:grpSpLocks/>
                </p:cNvGrpSpPr>
                <p:nvPr/>
              </p:nvGrpSpPr>
              <p:grpSpPr bwMode="auto">
                <a:xfrm>
                  <a:off x="4320" y="11268"/>
                  <a:ext cx="2520" cy="2184"/>
                  <a:chOff x="4320" y="11268"/>
                  <a:chExt cx="2520" cy="2184"/>
                </a:xfrm>
              </p:grpSpPr>
              <p:grpSp>
                <p:nvGrpSpPr>
                  <p:cNvPr id="6" name="Group 65"/>
                  <p:cNvGrpSpPr>
                    <a:grpSpLocks/>
                  </p:cNvGrpSpPr>
                  <p:nvPr/>
                </p:nvGrpSpPr>
                <p:grpSpPr bwMode="auto">
                  <a:xfrm>
                    <a:off x="4320" y="12048"/>
                    <a:ext cx="2520" cy="1404"/>
                    <a:chOff x="4320" y="12048"/>
                    <a:chExt cx="2520" cy="1404"/>
                  </a:xfrm>
                </p:grpSpPr>
                <p:sp>
                  <p:nvSpPr>
                    <p:cNvPr id="123942" name="Text Box 6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320" y="12828"/>
                      <a:ext cx="108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交换页</a:t>
                      </a: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/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段</a:t>
                      </a:r>
                    </a:p>
                  </p:txBody>
                </p:sp>
                <p:grpSp>
                  <p:nvGrpSpPr>
                    <p:cNvPr id="7" name="Group 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80" y="13140"/>
                      <a:ext cx="1980" cy="156"/>
                      <a:chOff x="4860" y="14856"/>
                      <a:chExt cx="1080" cy="156"/>
                    </a:xfrm>
                  </p:grpSpPr>
                  <p:sp>
                    <p:nvSpPr>
                      <p:cNvPr id="123960" name="Line 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860" y="14856"/>
                        <a:ext cx="0" cy="15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23961" name="Line 6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860" y="15012"/>
                        <a:ext cx="108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8" name="Group 7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60" y="12048"/>
                      <a:ext cx="1980" cy="1404"/>
                      <a:chOff x="4860" y="12048"/>
                      <a:chExt cx="1980" cy="1404"/>
                    </a:xfrm>
                  </p:grpSpPr>
                  <p:grpSp>
                    <p:nvGrpSpPr>
                      <p:cNvPr id="9" name="Group 7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400" y="12048"/>
                        <a:ext cx="1080" cy="936"/>
                        <a:chOff x="5400" y="11892"/>
                        <a:chExt cx="1440" cy="1092"/>
                      </a:xfrm>
                    </p:grpSpPr>
                    <p:sp>
                      <p:nvSpPr>
                        <p:cNvPr id="123954" name="Text Box 72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760" y="12204"/>
                          <a:ext cx="720" cy="62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lIns="0" tIns="0" rIns="0" bIns="0"/>
                        <a:lstStyle/>
                        <a:p>
                          <a:pPr algn="ctr" eaLnBrk="0" hangingPunct="0"/>
                          <a:r>
                            <a:rPr lang="zh-CN" altLang="en-US" sz="1600" b="1">
                              <a:solidFill>
                                <a:srgbClr val="000000"/>
                              </a:solidFill>
                              <a:latin typeface="Times New Roman" pitchFamily="18" charset="0"/>
                            </a:rPr>
                            <a:t>内存满？</a:t>
                          </a:r>
                        </a:p>
                      </p:txBody>
                    </p:sp>
                    <p:grpSp>
                      <p:nvGrpSpPr>
                        <p:cNvPr id="10" name="Group 7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400" y="11892"/>
                          <a:ext cx="1440" cy="1092"/>
                          <a:chOff x="5400" y="11892"/>
                          <a:chExt cx="1440" cy="1092"/>
                        </a:xfrm>
                      </p:grpSpPr>
                      <p:sp>
                        <p:nvSpPr>
                          <p:cNvPr id="123956" name="Line 7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5400" y="11892"/>
                            <a:ext cx="720" cy="62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123957" name="Line 7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6120" y="12360"/>
                            <a:ext cx="720" cy="62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123958" name="Line 7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400" y="12516"/>
                            <a:ext cx="720" cy="468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123959" name="Line 7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6120" y="11892"/>
                            <a:ext cx="720" cy="468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</p:grpSp>
                  <p:grpSp>
                    <p:nvGrpSpPr>
                      <p:cNvPr id="11" name="Group 7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860" y="12204"/>
                        <a:ext cx="540" cy="624"/>
                        <a:chOff x="4680" y="13140"/>
                        <a:chExt cx="540" cy="624"/>
                      </a:xfrm>
                    </p:grpSpPr>
                    <p:grpSp>
                      <p:nvGrpSpPr>
                        <p:cNvPr id="12" name="Group 79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680" y="13452"/>
                          <a:ext cx="540" cy="312"/>
                          <a:chOff x="4860" y="14232"/>
                          <a:chExt cx="540" cy="312"/>
                        </a:xfrm>
                      </p:grpSpPr>
                      <p:sp>
                        <p:nvSpPr>
                          <p:cNvPr id="123952" name="Line 8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4860" y="14232"/>
                            <a:ext cx="540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123953" name="Line 8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860" y="14232"/>
                            <a:ext cx="0" cy="312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 type="triangle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  <p:sp>
                      <p:nvSpPr>
                        <p:cNvPr id="123951" name="Text Box 82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860" y="13140"/>
                          <a:ext cx="360" cy="31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lIns="0" tIns="0" rIns="0" bIns="0"/>
                        <a:lstStyle/>
                        <a:p>
                          <a:pPr algn="ctr" eaLnBrk="0" hangingPunct="0"/>
                          <a:r>
                            <a:rPr lang="zh-CN" altLang="en-US" sz="1600" b="1">
                              <a:solidFill>
                                <a:srgbClr val="000000"/>
                              </a:solidFill>
                              <a:latin typeface="Times New Roman" pitchFamily="18" charset="0"/>
                            </a:rPr>
                            <a:t>是</a:t>
                          </a:r>
                        </a:p>
                      </p:txBody>
                    </p:sp>
                  </p:grpSp>
                  <p:sp>
                    <p:nvSpPr>
                      <p:cNvPr id="123947" name="Text Box 8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480" y="12204"/>
                        <a:ext cx="360" cy="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0" tIns="0" rIns="0" bIns="0"/>
                      <a:lstStyle/>
                      <a:p>
                        <a:pPr algn="ctr" eaLnBrk="0" hangingPunct="0"/>
                        <a:r>
                          <a:rPr lang="zh-CN" altLang="en-US" sz="1600" b="1">
                            <a:solidFill>
                              <a:srgbClr val="000000"/>
                            </a:solidFill>
                            <a:latin typeface="Times New Roman" pitchFamily="18" charset="0"/>
                          </a:rPr>
                          <a:t>否</a:t>
                        </a:r>
                      </a:p>
                    </p:txBody>
                  </p:sp>
                  <p:sp>
                    <p:nvSpPr>
                      <p:cNvPr id="123948" name="Line 8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480" y="12516"/>
                        <a:ext cx="36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23949" name="Line 8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840" y="12516"/>
                        <a:ext cx="0" cy="93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13" name="Group 86"/>
                  <p:cNvGrpSpPr>
                    <a:grpSpLocks/>
                  </p:cNvGrpSpPr>
                  <p:nvPr/>
                </p:nvGrpSpPr>
                <p:grpSpPr bwMode="auto">
                  <a:xfrm>
                    <a:off x="5400" y="11268"/>
                    <a:ext cx="1260" cy="780"/>
                    <a:chOff x="5400" y="11268"/>
                    <a:chExt cx="1260" cy="780"/>
                  </a:xfrm>
                </p:grpSpPr>
                <p:sp>
                  <p:nvSpPr>
                    <p:cNvPr id="123940" name="Line 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940" y="11580"/>
                      <a:ext cx="0" cy="46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941" name="Text Box 8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400" y="11268"/>
                      <a:ext cx="12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缺页</a:t>
                      </a: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/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段中断</a:t>
                      </a:r>
                    </a:p>
                  </p:txBody>
                </p:sp>
              </p:grpSp>
            </p:grpSp>
          </p:grpSp>
          <p:grpSp>
            <p:nvGrpSpPr>
              <p:cNvPr id="14" name="Group 89"/>
              <p:cNvGrpSpPr>
                <a:grpSpLocks/>
              </p:cNvGrpSpPr>
              <p:nvPr/>
            </p:nvGrpSpPr>
            <p:grpSpPr bwMode="auto">
              <a:xfrm>
                <a:off x="3060" y="10644"/>
                <a:ext cx="2880" cy="2184"/>
                <a:chOff x="3060" y="10644"/>
                <a:chExt cx="2880" cy="2184"/>
              </a:xfrm>
            </p:grpSpPr>
            <p:grpSp>
              <p:nvGrpSpPr>
                <p:cNvPr id="15" name="Group 90"/>
                <p:cNvGrpSpPr>
                  <a:grpSpLocks/>
                </p:cNvGrpSpPr>
                <p:nvPr/>
              </p:nvGrpSpPr>
              <p:grpSpPr bwMode="auto">
                <a:xfrm>
                  <a:off x="3240" y="11736"/>
                  <a:ext cx="1440" cy="1092"/>
                  <a:chOff x="5400" y="11892"/>
                  <a:chExt cx="1440" cy="1092"/>
                </a:xfrm>
              </p:grpSpPr>
              <p:sp>
                <p:nvSpPr>
                  <p:cNvPr id="123928" name="Text Box 9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60" y="12204"/>
                    <a:ext cx="720" cy="62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ctr" eaLnBrk="0" hangingPunct="0"/>
                    <a:r>
                      <a:rPr lang="zh-CN" altLang="en-US" sz="16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页</a:t>
                    </a:r>
                    <a:r>
                      <a:rPr lang="en-US" altLang="zh-CN" sz="16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/</a:t>
                    </a:r>
                    <a:r>
                      <a:rPr lang="zh-CN" altLang="en-US" sz="16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段</a:t>
                    </a:r>
                  </a:p>
                  <a:p>
                    <a:pPr algn="ctr" eaLnBrk="0" hangingPunct="0"/>
                    <a:r>
                      <a:rPr lang="zh-CN" altLang="en-US" sz="16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在内存</a:t>
                    </a:r>
                  </a:p>
                </p:txBody>
              </p:sp>
              <p:grpSp>
                <p:nvGrpSpPr>
                  <p:cNvPr id="16" name="Group 92"/>
                  <p:cNvGrpSpPr>
                    <a:grpSpLocks/>
                  </p:cNvGrpSpPr>
                  <p:nvPr/>
                </p:nvGrpSpPr>
                <p:grpSpPr bwMode="auto">
                  <a:xfrm>
                    <a:off x="5400" y="11892"/>
                    <a:ext cx="1440" cy="1092"/>
                    <a:chOff x="5400" y="11892"/>
                    <a:chExt cx="1440" cy="1092"/>
                  </a:xfrm>
                </p:grpSpPr>
                <p:sp>
                  <p:nvSpPr>
                    <p:cNvPr id="123930" name="Line 9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5400" y="11892"/>
                      <a:ext cx="720" cy="6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931" name="Line 9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120" y="12360"/>
                      <a:ext cx="720" cy="6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932" name="Line 9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400" y="12516"/>
                      <a:ext cx="720" cy="46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933" name="Line 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120" y="11892"/>
                      <a:ext cx="720" cy="46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17" name="Group 97"/>
                <p:cNvGrpSpPr>
                  <a:grpSpLocks/>
                </p:cNvGrpSpPr>
                <p:nvPr/>
              </p:nvGrpSpPr>
              <p:grpSpPr bwMode="auto">
                <a:xfrm>
                  <a:off x="3060" y="10800"/>
                  <a:ext cx="720" cy="1560"/>
                  <a:chOff x="3060" y="10800"/>
                  <a:chExt cx="720" cy="1560"/>
                </a:xfrm>
              </p:grpSpPr>
              <p:sp>
                <p:nvSpPr>
                  <p:cNvPr id="123924" name="Line 98"/>
                  <p:cNvSpPr>
                    <a:spLocks noChangeShapeType="1"/>
                  </p:cNvSpPr>
                  <p:nvPr/>
                </p:nvSpPr>
                <p:spPr bwMode="auto">
                  <a:xfrm>
                    <a:off x="3060" y="12360"/>
                    <a:ext cx="18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925" name="Line 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60" y="10800"/>
                    <a:ext cx="0" cy="156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926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3060" y="10800"/>
                    <a:ext cx="72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927" name="Text Box 1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60" y="12048"/>
                    <a:ext cx="360" cy="3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ctr" eaLnBrk="0" hangingPunct="0"/>
                    <a:r>
                      <a:rPr lang="zh-CN" altLang="en-US" sz="16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是</a:t>
                    </a:r>
                  </a:p>
                </p:txBody>
              </p:sp>
            </p:grpSp>
            <p:grpSp>
              <p:nvGrpSpPr>
                <p:cNvPr id="18" name="Group 102"/>
                <p:cNvGrpSpPr>
                  <a:grpSpLocks/>
                </p:cNvGrpSpPr>
                <p:nvPr/>
              </p:nvGrpSpPr>
              <p:grpSpPr bwMode="auto">
                <a:xfrm>
                  <a:off x="4500" y="10956"/>
                  <a:ext cx="1440" cy="1248"/>
                  <a:chOff x="4500" y="10956"/>
                  <a:chExt cx="1440" cy="1248"/>
                </a:xfrm>
              </p:grpSpPr>
              <p:sp>
                <p:nvSpPr>
                  <p:cNvPr id="123919" name="Text Box 10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00" y="11892"/>
                    <a:ext cx="360" cy="3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ctr" eaLnBrk="0" hangingPunct="0"/>
                    <a:r>
                      <a:rPr lang="zh-CN" altLang="en-US" sz="16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否</a:t>
                    </a:r>
                  </a:p>
                </p:txBody>
              </p:sp>
              <p:sp>
                <p:nvSpPr>
                  <p:cNvPr id="123920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4680" y="12204"/>
                    <a:ext cx="36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921" name="Line 10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40" y="10956"/>
                    <a:ext cx="0" cy="124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922" name="Line 106"/>
                  <p:cNvSpPr>
                    <a:spLocks noChangeShapeType="1"/>
                  </p:cNvSpPr>
                  <p:nvPr/>
                </p:nvSpPr>
                <p:spPr bwMode="auto">
                  <a:xfrm>
                    <a:off x="5040" y="10956"/>
                    <a:ext cx="90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923" name="Line 107"/>
                  <p:cNvSpPr>
                    <a:spLocks noChangeShapeType="1"/>
                  </p:cNvSpPr>
                  <p:nvPr/>
                </p:nvSpPr>
                <p:spPr bwMode="auto">
                  <a:xfrm>
                    <a:off x="5940" y="10956"/>
                    <a:ext cx="0" cy="31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9" name="Group 108"/>
                <p:cNvGrpSpPr>
                  <a:grpSpLocks/>
                </p:cNvGrpSpPr>
                <p:nvPr/>
              </p:nvGrpSpPr>
              <p:grpSpPr bwMode="auto">
                <a:xfrm>
                  <a:off x="3420" y="10644"/>
                  <a:ext cx="1080" cy="1092"/>
                  <a:chOff x="3420" y="10644"/>
                  <a:chExt cx="1080" cy="1092"/>
                </a:xfrm>
              </p:grpSpPr>
              <p:sp>
                <p:nvSpPr>
                  <p:cNvPr id="123916" name="Line 109"/>
                  <p:cNvSpPr>
                    <a:spLocks noChangeShapeType="1"/>
                  </p:cNvSpPr>
                  <p:nvPr/>
                </p:nvSpPr>
                <p:spPr bwMode="auto">
                  <a:xfrm>
                    <a:off x="3960" y="11424"/>
                    <a:ext cx="0" cy="31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917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3960" y="10644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918" name="Text Box 1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20" y="11112"/>
                    <a:ext cx="1080" cy="312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ctr" eaLnBrk="0" hangingPunct="0"/>
                    <a:r>
                      <a:rPr lang="zh-CN" altLang="en-US" sz="16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进程执行</a:t>
                    </a:r>
                  </a:p>
                </p:txBody>
              </p:sp>
            </p:grpSp>
          </p:grpSp>
        </p:grpSp>
        <p:sp>
          <p:nvSpPr>
            <p:cNvPr id="123909" name="Text Box 112"/>
            <p:cNvSpPr txBox="1">
              <a:spLocks noChangeArrowheads="1"/>
            </p:cNvSpPr>
            <p:nvPr/>
          </p:nvSpPr>
          <p:spPr bwMode="auto">
            <a:xfrm>
              <a:off x="3060" y="14700"/>
              <a:ext cx="4680" cy="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图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</a:rPr>
                <a:t>3.28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实现虚拟存储的典型过程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16862065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Rot="1" noChangeArrowheads="1"/>
          </p:cNvSpPr>
          <p:nvPr>
            <p:ph/>
          </p:nvPr>
        </p:nvSpPr>
        <p:spPr>
          <a:xfrm>
            <a:off x="381000" y="914400"/>
            <a:ext cx="8439472" cy="4648200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z="3600" b="1" dirty="0" smtClean="0">
                <a:solidFill>
                  <a:schemeClr val="folHlink"/>
                </a:solidFill>
              </a:rPr>
              <a:t>3</a:t>
            </a:r>
            <a:r>
              <a:rPr lang="zh-CN" altLang="en-US" sz="3600" b="1" dirty="0" smtClean="0">
                <a:solidFill>
                  <a:schemeClr val="folHlink"/>
                </a:solidFill>
              </a:rPr>
              <a:t>．虚拟存储器定义</a:t>
            </a:r>
            <a:r>
              <a:rPr lang="zh-CN" altLang="en-US" b="1" dirty="0" smtClean="0"/>
              <a:t> </a:t>
            </a:r>
            <a:endParaRPr lang="en-US" altLang="zh-CN" b="1" dirty="0" smtClean="0"/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zh-CN" altLang="en-US" b="1" dirty="0" smtClean="0"/>
              <a:t>   </a:t>
            </a: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/>
              <a:t>	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	</a:t>
            </a:r>
            <a:r>
              <a:rPr lang="zh-CN" altLang="en-US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所谓虚拟存储器：</a:t>
            </a:r>
            <a:endParaRPr lang="en-US" altLang="zh-CN" sz="2800" b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zh-CN" altLang="en-US" sz="2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是指具有请求调入功能和置换功能，能从逻辑上对内存容量加以扩充的一种存储器系统，其逻辑容量由内存容量和外存容量之和所决定，其运行速度接近于内存速度，而成本却又接近于外存。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 </a:t>
            </a:r>
            <a:endParaRPr lang="en-US" altLang="zh-CN" sz="2800" b="1" dirty="0" smtClean="0">
              <a:solidFill>
                <a:srgbClr val="0070C0"/>
              </a:solidFill>
            </a:endParaRP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zh-CN" altLang="en-US" sz="2800" b="1" dirty="0" smtClean="0">
              <a:solidFill>
                <a:srgbClr val="0070C0"/>
              </a:solidFill>
            </a:endParaRP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800" b="1" dirty="0" smtClean="0"/>
              <a:t>		</a:t>
            </a:r>
            <a:r>
              <a:rPr kumimoji="1" lang="zh-CN" altLang="en-US" sz="2800" b="1" dirty="0" smtClean="0"/>
              <a:t>虚拟存储技术是一种性能非常优越的存储器管理技术，故被广泛地应用于大、 中、 小型机器和微型机中。</a:t>
            </a:r>
          </a:p>
        </p:txBody>
      </p:sp>
    </p:spTree>
    <p:extLst>
      <p:ext uri="{BB962C8B-B14F-4D97-AF65-F5344CB8AC3E}">
        <p14:creationId xmlns="" xmlns:p14="http://schemas.microsoft.com/office/powerpoint/2010/main" val="2013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4800" y="1340768"/>
            <a:ext cx="8515672" cy="51054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 smtClean="0">
                <a:solidFill>
                  <a:schemeClr val="folHlink"/>
                </a:solidFill>
              </a:rPr>
              <a:t>虚拟存储器具有以下主要特征：</a:t>
            </a:r>
          </a:p>
          <a:p>
            <a:pPr lvl="1"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 smtClean="0">
                <a:solidFill>
                  <a:srgbClr val="0070C0"/>
                </a:solidFill>
              </a:rPr>
              <a:t> </a:t>
            </a:r>
            <a:r>
              <a:rPr lang="en-US" altLang="zh-CN" b="1" dirty="0" smtClean="0">
                <a:solidFill>
                  <a:srgbClr val="0070C0"/>
                </a:solidFill>
              </a:rPr>
              <a:t>1</a:t>
            </a:r>
            <a:r>
              <a:rPr lang="zh-CN" altLang="en-US" b="1" dirty="0" smtClean="0">
                <a:solidFill>
                  <a:srgbClr val="0070C0"/>
                </a:solidFill>
              </a:rPr>
              <a:t>．多次性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 smtClean="0"/>
              <a:t>    多次性是指一个作业被分成多次调入内存运行。 </a:t>
            </a:r>
          </a:p>
          <a:p>
            <a:pPr lvl="1"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 smtClean="0">
                <a:solidFill>
                  <a:srgbClr val="FFC000"/>
                </a:solidFill>
              </a:rPr>
              <a:t> </a:t>
            </a:r>
            <a:r>
              <a:rPr lang="en-US" altLang="zh-CN" b="1" dirty="0" smtClean="0">
                <a:solidFill>
                  <a:srgbClr val="0070C0"/>
                </a:solidFill>
              </a:rPr>
              <a:t>2</a:t>
            </a:r>
            <a:r>
              <a:rPr lang="zh-CN" altLang="en-US" b="1" dirty="0" smtClean="0">
                <a:solidFill>
                  <a:srgbClr val="0070C0"/>
                </a:solidFill>
              </a:rPr>
              <a:t>．对换性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 smtClean="0"/>
              <a:t>    对换性是指作业的运行过程中进行换进、换出，换进和换出能有效地提高内存利用率。 </a:t>
            </a:r>
          </a:p>
          <a:p>
            <a:pPr lvl="1"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 smtClean="0">
                <a:solidFill>
                  <a:srgbClr val="0070C0"/>
                </a:solidFill>
              </a:rPr>
              <a:t> </a:t>
            </a:r>
            <a:r>
              <a:rPr lang="en-US" altLang="zh-CN" b="1" dirty="0" smtClean="0">
                <a:solidFill>
                  <a:srgbClr val="0070C0"/>
                </a:solidFill>
              </a:rPr>
              <a:t>3</a:t>
            </a:r>
            <a:r>
              <a:rPr lang="zh-CN" altLang="en-US" b="1" dirty="0" smtClean="0">
                <a:solidFill>
                  <a:srgbClr val="0070C0"/>
                </a:solidFill>
              </a:rPr>
              <a:t>．虚拟性</a:t>
            </a:r>
          </a:p>
          <a:p>
            <a:pPr lvl="1"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 smtClean="0"/>
              <a:t>  虚拟性是指能够从逻辑上扩充内存容量，使用户所看到的内存容量远大于实际内存容量。</a:t>
            </a:r>
          </a:p>
        </p:txBody>
      </p:sp>
      <p:sp>
        <p:nvSpPr>
          <p:cNvPr id="507908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 smtClean="0">
                <a:solidFill>
                  <a:schemeClr val="folHlink"/>
                </a:solidFill>
              </a:rPr>
              <a:t>4. </a:t>
            </a:r>
            <a:r>
              <a:rPr lang="zh-CN" altLang="en-US" b="1" dirty="0" smtClean="0">
                <a:solidFill>
                  <a:schemeClr val="folHlink"/>
                </a:solidFill>
              </a:rPr>
              <a:t>虚拟存储器的特征 </a:t>
            </a:r>
          </a:p>
        </p:txBody>
      </p:sp>
    </p:spTree>
    <p:extLst>
      <p:ext uri="{BB962C8B-B14F-4D97-AF65-F5344CB8AC3E}">
        <p14:creationId xmlns="" xmlns:p14="http://schemas.microsoft.com/office/powerpoint/2010/main" val="32005093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6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153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b="1" u="sng" smtClean="0">
                <a:solidFill>
                  <a:schemeClr val="folHlink"/>
                </a:solidFill>
              </a:rPr>
              <a:t>虚拟存储的典型问题</a:t>
            </a:r>
            <a:br>
              <a:rPr lang="zh-CN" altLang="en-US" b="1" u="sng" smtClean="0">
                <a:solidFill>
                  <a:schemeClr val="folHlink"/>
                </a:solidFill>
              </a:rPr>
            </a:br>
            <a:r>
              <a:rPr lang="zh-CN" altLang="en-US" b="1" smtClean="0">
                <a:solidFill>
                  <a:schemeClr val="folHlink"/>
                </a:solidFill>
              </a:rPr>
              <a:t>抖动（</a:t>
            </a:r>
            <a:r>
              <a:rPr lang="en-US" altLang="zh-CN" b="1" smtClean="0">
                <a:solidFill>
                  <a:schemeClr val="folHlink"/>
                </a:solidFill>
              </a:rPr>
              <a:t>thrashing</a:t>
            </a:r>
            <a:r>
              <a:rPr lang="zh-CN" altLang="en-US" b="1" smtClean="0">
                <a:solidFill>
                  <a:schemeClr val="folHlink"/>
                </a:solidFill>
              </a:rPr>
              <a:t>）</a:t>
            </a:r>
          </a:p>
        </p:txBody>
      </p:sp>
      <p:sp>
        <p:nvSpPr>
          <p:cNvPr id="1976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7244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/>
              <a:t>当进程要求装入新的页面或程序段时，如果当前没有足够的空闲空间，需要交换一些页面或段到外存。如果被交换出去的页面或段很快将被进程使用，则又需要将其换入内存。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/>
              <a:t>如果系统花费大量的时间把程序和数据</a:t>
            </a:r>
            <a:r>
              <a:rPr lang="zh-CN" altLang="en-US" sz="2800" b="1" dirty="0" smtClean="0">
                <a:solidFill>
                  <a:schemeClr val="folHlink"/>
                </a:solidFill>
              </a:rPr>
              <a:t>频繁地装入和移出内存</a:t>
            </a:r>
            <a:r>
              <a:rPr lang="zh-CN" altLang="en-US" sz="2800" b="1" dirty="0" smtClean="0"/>
              <a:t>而不是执行用户指令，那么，称系统出现了“</a:t>
            </a:r>
            <a:r>
              <a:rPr lang="zh-CN" altLang="en-US" sz="2800" b="1" i="1" dirty="0" smtClean="0">
                <a:solidFill>
                  <a:schemeClr val="folHlink"/>
                </a:solidFill>
              </a:rPr>
              <a:t>抖动”</a:t>
            </a:r>
            <a:r>
              <a:rPr lang="zh-CN" altLang="en-US" sz="2800" b="1" dirty="0" smtClean="0"/>
              <a:t>。出现抖动现象时，系统显得非常繁忙，但是吞吐量很低，甚至产出为零。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/>
              <a:t>根本原因：选择的页面或段不恰当。</a:t>
            </a:r>
          </a:p>
        </p:txBody>
      </p:sp>
    </p:spTree>
    <p:extLst>
      <p:ext uri="{BB962C8B-B14F-4D97-AF65-F5344CB8AC3E}">
        <p14:creationId xmlns="" xmlns:p14="http://schemas.microsoft.com/office/powerpoint/2010/main" val="38032172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dirty="0" smtClean="0">
                <a:solidFill>
                  <a:schemeClr val="folHlink"/>
                </a:solidFill>
              </a:rPr>
              <a:t> 1</a:t>
            </a:r>
            <a:r>
              <a:rPr lang="zh-CN" altLang="en-US" b="1" dirty="0" smtClean="0">
                <a:solidFill>
                  <a:schemeClr val="folHlink"/>
                </a:solidFill>
              </a:rPr>
              <a:t>、分页请求系统</a:t>
            </a:r>
            <a:r>
              <a:rPr lang="zh-CN" altLang="en-US" sz="2800" b="1" dirty="0" smtClean="0">
                <a:solidFill>
                  <a:schemeClr val="folHlink"/>
                </a:solidFill>
              </a:rPr>
              <a:t> </a:t>
            </a:r>
          </a:p>
          <a:p>
            <a:pPr marL="0" indent="0" eaLnBrk="1" hangingPunct="1">
              <a:lnSpc>
                <a:spcPct val="110000"/>
              </a:lnSpc>
            </a:pPr>
            <a:r>
              <a:rPr lang="zh-CN" altLang="en-US" sz="2800" b="1" dirty="0" smtClean="0"/>
              <a:t> 这是在分页系统的基础上，增加了请求调页功能和页面置换功能所形成的页式虚拟存储系统。</a:t>
            </a:r>
            <a:endParaRPr lang="en-US" altLang="zh-CN" sz="2800" b="1" dirty="0" smtClean="0"/>
          </a:p>
          <a:p>
            <a:pPr marL="0" indent="0" eaLnBrk="1" hangingPunct="1">
              <a:lnSpc>
                <a:spcPct val="110000"/>
              </a:lnSpc>
            </a:pPr>
            <a:r>
              <a:rPr lang="zh-CN" altLang="en-US" sz="2800" b="1" dirty="0" smtClean="0"/>
              <a:t> 允许只装入部分页面的程序（及数据），便启动运行。</a:t>
            </a:r>
          </a:p>
          <a:p>
            <a:pPr marL="0" indent="0" eaLnBrk="1" hangingPunct="1">
              <a:lnSpc>
                <a:spcPct val="110000"/>
              </a:lnSpc>
            </a:pPr>
            <a:r>
              <a:rPr lang="zh-CN" altLang="en-US" sz="2800" b="1" dirty="0" smtClean="0"/>
              <a:t> 以后，再通过调页功能及页面置换功能，陆续地把即将要运行的页面调入内存，同时把暂不运行的页面换出到外存上。</a:t>
            </a:r>
          </a:p>
          <a:p>
            <a:pPr marL="0" indent="0" eaLnBrk="1" hangingPunct="1">
              <a:lnSpc>
                <a:spcPct val="110000"/>
              </a:lnSpc>
            </a:pPr>
            <a:r>
              <a:rPr lang="zh-CN" altLang="en-US" sz="2800" b="1" dirty="0" smtClean="0"/>
              <a:t> </a:t>
            </a:r>
            <a:r>
              <a:rPr lang="zh-CN" altLang="en-US" sz="2800" b="1" i="1" dirty="0" smtClean="0">
                <a:solidFill>
                  <a:srgbClr val="0070C0"/>
                </a:solidFill>
              </a:rPr>
              <a:t>置换时以页面为单位</a:t>
            </a:r>
            <a:r>
              <a:rPr lang="zh-CN" altLang="en-US" sz="2800" b="1" dirty="0" smtClean="0"/>
              <a:t>。 </a:t>
            </a:r>
          </a:p>
        </p:txBody>
      </p:sp>
      <p:sp>
        <p:nvSpPr>
          <p:cNvPr id="503812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 smtClean="0">
                <a:solidFill>
                  <a:schemeClr val="folHlink"/>
                </a:solidFill>
              </a:rPr>
              <a:t>5.1.3 </a:t>
            </a:r>
            <a:r>
              <a:rPr lang="zh-CN" altLang="en-US" b="1" dirty="0" smtClean="0">
                <a:solidFill>
                  <a:schemeClr val="folHlink"/>
                </a:solidFill>
              </a:rPr>
              <a:t>虚拟存储管理的实现方法 </a:t>
            </a:r>
          </a:p>
        </p:txBody>
      </p:sp>
    </p:spTree>
    <p:extLst>
      <p:ext uri="{BB962C8B-B14F-4D97-AF65-F5344CB8AC3E}">
        <p14:creationId xmlns="" xmlns:p14="http://schemas.microsoft.com/office/powerpoint/2010/main" val="28589260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Rot="1" noChangeArrowheads="1"/>
          </p:cNvSpPr>
          <p:nvPr>
            <p:ph/>
          </p:nvPr>
        </p:nvSpPr>
        <p:spPr>
          <a:xfrm>
            <a:off x="533400" y="771872"/>
            <a:ext cx="7924800" cy="5105400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110000"/>
              </a:lnSpc>
              <a:defRPr/>
            </a:pPr>
            <a:r>
              <a:rPr lang="zh-CN" altLang="en-US" b="1" dirty="0" smtClean="0"/>
              <a:t>为了能实现请求调页和置换功能，系统必须提供必要的硬件支持和相应的软件</a:t>
            </a:r>
            <a:r>
              <a:rPr lang="en-US" altLang="zh-CN" b="1" dirty="0" smtClean="0"/>
              <a:t>:</a:t>
            </a:r>
          </a:p>
          <a:p>
            <a:pPr marL="0" indent="0" algn="just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b="1" dirty="0" smtClean="0"/>
              <a:t> </a:t>
            </a:r>
            <a:r>
              <a:rPr lang="zh-CN" altLang="en-US" b="1" dirty="0" smtClean="0">
                <a:solidFill>
                  <a:schemeClr val="folHlink"/>
                </a:solidFill>
              </a:rPr>
              <a:t>（</a:t>
            </a:r>
            <a:r>
              <a:rPr lang="en-US" altLang="zh-CN" b="1" dirty="0" smtClean="0">
                <a:solidFill>
                  <a:schemeClr val="folHlink"/>
                </a:solidFill>
              </a:rPr>
              <a:t>1</a:t>
            </a:r>
            <a:r>
              <a:rPr lang="zh-CN" altLang="en-US" b="1" dirty="0" smtClean="0">
                <a:solidFill>
                  <a:schemeClr val="folHlink"/>
                </a:solidFill>
              </a:rPr>
              <a:t>）硬件支持。</a:t>
            </a:r>
          </a:p>
          <a:p>
            <a:pPr marL="0" indent="0" algn="just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/>
              <a:t>①请求分页的页表机制上增加若干项，作为请求分页的数据结构；</a:t>
            </a:r>
          </a:p>
          <a:p>
            <a:pPr marL="0" indent="0" algn="just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/>
              <a:t>②缺页中断机构</a:t>
            </a:r>
            <a:r>
              <a:rPr lang="en-US" altLang="zh-CN" b="1" dirty="0" smtClean="0"/>
              <a:t>:</a:t>
            </a:r>
            <a:r>
              <a:rPr lang="zh-CN" altLang="en-US" b="1" dirty="0" smtClean="0"/>
              <a:t>当要访问的页面尚未调入内存时，便产生缺页中断，请求调页</a:t>
            </a:r>
            <a:r>
              <a:rPr lang="en-US" altLang="zh-CN" b="1" dirty="0" smtClean="0"/>
              <a:t>;</a:t>
            </a:r>
          </a:p>
          <a:p>
            <a:pPr marL="0" indent="0" algn="just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b="1" dirty="0" smtClean="0"/>
              <a:t>③</a:t>
            </a:r>
            <a:r>
              <a:rPr lang="zh-CN" altLang="en-US" b="1" dirty="0" smtClean="0"/>
              <a:t>地址变换机构</a:t>
            </a:r>
            <a:r>
              <a:rPr lang="en-US" altLang="zh-CN" b="1" dirty="0" smtClean="0"/>
              <a:t>;</a:t>
            </a:r>
          </a:p>
          <a:p>
            <a:pPr marL="0" indent="0" algn="just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b="1" dirty="0" smtClean="0"/>
              <a:t>    </a:t>
            </a:r>
          </a:p>
        </p:txBody>
      </p:sp>
    </p:spTree>
    <p:extLst>
      <p:ext uri="{BB962C8B-B14F-4D97-AF65-F5344CB8AC3E}">
        <p14:creationId xmlns="" xmlns:p14="http://schemas.microsoft.com/office/powerpoint/2010/main" val="197022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rrowheads="1"/>
          </p:cNvSpPr>
          <p:nvPr>
            <p:ph/>
          </p:nvPr>
        </p:nvSpPr>
        <p:spPr>
          <a:xfrm>
            <a:off x="533400" y="1524000"/>
            <a:ext cx="8077200" cy="4419600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zh-CN" altLang="en-US" b="1" dirty="0" smtClean="0">
                <a:solidFill>
                  <a:schemeClr val="folHlink"/>
                </a:solidFill>
              </a:rPr>
              <a:t>（</a:t>
            </a:r>
            <a:r>
              <a:rPr lang="en-US" altLang="zh-CN" b="1" dirty="0" smtClean="0">
                <a:solidFill>
                  <a:schemeClr val="folHlink"/>
                </a:solidFill>
              </a:rPr>
              <a:t>2</a:t>
            </a:r>
            <a:r>
              <a:rPr lang="zh-CN" altLang="en-US" b="1" dirty="0" smtClean="0">
                <a:solidFill>
                  <a:schemeClr val="folHlink"/>
                </a:solidFill>
              </a:rPr>
              <a:t>）实现请求分页的软件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b="1" dirty="0" smtClean="0"/>
              <a:t>    ①实现请求调页的软件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b="1" dirty="0" smtClean="0"/>
              <a:t>    ②实现页面置换的软件</a:t>
            </a:r>
            <a:endParaRPr lang="en-US" altLang="zh-CN" b="1" dirty="0" smtClean="0"/>
          </a:p>
          <a:p>
            <a:pPr algn="just" eaLnBrk="1" hangingPunct="1">
              <a:buFont typeface="Wingdings" pitchFamily="2" charset="2"/>
              <a:buNone/>
            </a:pPr>
            <a:endParaRPr lang="en-US" altLang="zh-CN" b="1" dirty="0" smtClean="0"/>
          </a:p>
          <a:p>
            <a:r>
              <a:rPr lang="zh-CN" altLang="en-US" b="1" dirty="0" smtClean="0"/>
              <a:t>它们在硬件的支持下，将程序正在运行时所需的页面</a:t>
            </a:r>
            <a:r>
              <a:rPr lang="en-US" altLang="zh-CN" b="1" dirty="0" smtClean="0"/>
              <a:t>(</a:t>
            </a:r>
            <a:r>
              <a:rPr lang="zh-CN" altLang="en-US" b="1" dirty="0" smtClean="0"/>
              <a:t>尚未在内存中的</a:t>
            </a:r>
            <a:r>
              <a:rPr lang="en-US" altLang="zh-CN" b="1" dirty="0" smtClean="0"/>
              <a:t>)</a:t>
            </a:r>
            <a:r>
              <a:rPr lang="zh-CN" altLang="en-US" b="1" dirty="0" smtClean="0"/>
              <a:t>调入内存，再将内存中暂时不用的页面从内存置换到磁盘。</a:t>
            </a:r>
          </a:p>
          <a:p>
            <a:pPr algn="just" eaLnBrk="1" hangingPunct="1">
              <a:buFont typeface="Wingdings" pitchFamily="2" charset="2"/>
              <a:buNone/>
            </a:pPr>
            <a:endParaRPr lang="zh-CN" altLang="en-US" b="1" dirty="0" smtClean="0"/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b="1" dirty="0" smtClean="0">
                <a:solidFill>
                  <a:schemeClr val="folHlink"/>
                </a:solidFill>
              </a:rPr>
              <a:t> </a:t>
            </a:r>
            <a:endParaRPr lang="zh-CN" altLang="en-US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313415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endParaRPr lang="zh-CN" altLang="en-US" smtClean="0">
              <a:effectLst/>
            </a:endParaRPr>
          </a:p>
        </p:txBody>
      </p:sp>
      <p:sp>
        <p:nvSpPr>
          <p:cNvPr id="12902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b="1" smtClean="0">
                <a:solidFill>
                  <a:schemeClr val="folHlink"/>
                </a:solidFill>
              </a:rPr>
              <a:t>2</a:t>
            </a:r>
            <a:r>
              <a:rPr lang="zh-CN" altLang="en-US" b="1" smtClean="0">
                <a:solidFill>
                  <a:schemeClr val="folHlink"/>
                </a:solidFill>
              </a:rPr>
              <a:t>．请求分段系统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b="1" smtClean="0"/>
              <a:t>    它允许只装入若干段的用户程序和数据，即可启动运行。以后再通过调段功能和段的置换功能，将暂不运行的段调出，同时调入即将运行的段。</a:t>
            </a:r>
          </a:p>
          <a:p>
            <a:endParaRPr lang="zh-CN" altLang="en-US" smtClean="0"/>
          </a:p>
        </p:txBody>
      </p:sp>
    </p:spTree>
    <p:extLst>
      <p:ext uri="{BB962C8B-B14F-4D97-AF65-F5344CB8AC3E}">
        <p14:creationId xmlns="" xmlns:p14="http://schemas.microsoft.com/office/powerpoint/2010/main" val="35507947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Rot="1" noChangeArrowheads="1"/>
          </p:cNvSpPr>
          <p:nvPr>
            <p:ph/>
          </p:nvPr>
        </p:nvSpPr>
        <p:spPr>
          <a:xfrm>
            <a:off x="304800" y="381000"/>
            <a:ext cx="8458200" cy="58674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defRPr/>
            </a:pPr>
            <a:r>
              <a:rPr lang="zh-CN" altLang="en-US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为了实现请求分段，系统同样需要必要的硬件支持。一般需要下列支持：</a:t>
            </a:r>
            <a:r>
              <a:rPr lang="zh-CN" altLang="en-US" b="1" dirty="0" smtClean="0">
                <a:solidFill>
                  <a:srgbClr val="0070C0"/>
                </a:solidFill>
              </a:rPr>
              <a:t> 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/>
              <a:t>（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）请求分段的段表机制，这是在纯分段的段表机制基础上增加若干项而形成的。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/>
              <a:t>（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）缺段中断机构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/>
              <a:t>（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）地址变换机构。</a:t>
            </a:r>
            <a:endParaRPr lang="en-US" altLang="zh-CN" b="1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/>
              <a:t>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实现请求调段和段的置换功能也须得到相应的软件支持。</a:t>
            </a:r>
            <a:r>
              <a:rPr lang="zh-CN" altLang="en-US" b="1" dirty="0" smtClean="0">
                <a:solidFill>
                  <a:srgbClr val="0070C0"/>
                </a:solidFill>
              </a:rPr>
              <a:t>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/>
              <a:t>  </a:t>
            </a:r>
          </a:p>
        </p:txBody>
      </p:sp>
    </p:spTree>
    <p:extLst>
      <p:ext uri="{BB962C8B-B14F-4D97-AF65-F5344CB8AC3E}">
        <p14:creationId xmlns="" xmlns:p14="http://schemas.microsoft.com/office/powerpoint/2010/main" val="247572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81000" y="1340768"/>
            <a:ext cx="8367464" cy="532859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 smtClean="0">
                <a:solidFill>
                  <a:schemeClr val="folHlink"/>
                </a:solidFill>
              </a:rPr>
              <a:t> 请求分页的原理</a:t>
            </a:r>
          </a:p>
          <a:p>
            <a:pPr marL="533400" lvl="1" indent="-7620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 smtClean="0"/>
              <a:t>请求分页系统是</a:t>
            </a:r>
            <a:r>
              <a:rPr lang="zh-CN" altLang="en-US" b="1" i="1" dirty="0" smtClean="0">
                <a:solidFill>
                  <a:schemeClr val="folHlink"/>
                </a:solidFill>
              </a:rPr>
              <a:t>建立在基本分页基础上</a:t>
            </a:r>
            <a:r>
              <a:rPr lang="zh-CN" altLang="en-US" b="1" dirty="0" smtClean="0"/>
              <a:t>的，为了能支持虚拟存储器功能而增加了请求调页功能和页面置换功能。 </a:t>
            </a:r>
            <a:endParaRPr lang="en-US" altLang="zh-CN" b="1" dirty="0" smtClean="0"/>
          </a:p>
          <a:p>
            <a:pPr marL="533400" lvl="1" indent="-76200" eaLnBrk="1" hangingPunct="1">
              <a:lnSpc>
                <a:spcPct val="110000"/>
              </a:lnSpc>
              <a:buFont typeface="Wingdings" pitchFamily="2" charset="2"/>
              <a:buNone/>
            </a:pPr>
            <a:endParaRPr lang="zh-CN" altLang="en-US" b="1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smtClean="0"/>
              <a:t>5.2.1</a:t>
            </a:r>
            <a:r>
              <a:rPr lang="en-US" altLang="zh-CN" sz="2800" b="1" dirty="0" smtClean="0">
                <a:solidFill>
                  <a:schemeClr val="folHlink"/>
                </a:solidFill>
              </a:rPr>
              <a:t> </a:t>
            </a:r>
            <a:r>
              <a:rPr lang="zh-CN" altLang="en-US" sz="2800" b="1" dirty="0" smtClean="0">
                <a:solidFill>
                  <a:schemeClr val="folHlink"/>
                </a:solidFill>
              </a:rPr>
              <a:t>请求分页中的硬件支持</a:t>
            </a:r>
            <a:r>
              <a:rPr lang="zh-CN" altLang="en-US" sz="2800" b="1" dirty="0" smtClean="0"/>
              <a:t> </a:t>
            </a:r>
          </a:p>
          <a:p>
            <a:pPr marL="533400" lvl="1" indent="-76200" algn="just"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b="1" dirty="0" smtClean="0"/>
              <a:t>具有一定容量的内存及外存的计算机系统</a:t>
            </a:r>
          </a:p>
          <a:p>
            <a:pPr marL="533400" lvl="1" indent="-76200" algn="just"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b="1" dirty="0" smtClean="0"/>
              <a:t>页表机制</a:t>
            </a:r>
          </a:p>
          <a:p>
            <a:pPr marL="533400" lvl="1" indent="-76200" algn="just"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b="1" dirty="0" smtClean="0"/>
              <a:t>缺页中断机构</a:t>
            </a:r>
          </a:p>
          <a:p>
            <a:pPr marL="533400" lvl="1" indent="-76200" algn="just"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b="1" dirty="0" smtClean="0"/>
              <a:t>地址变换机构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    </a:t>
            </a:r>
          </a:p>
        </p:txBody>
      </p:sp>
      <p:sp>
        <p:nvSpPr>
          <p:cNvPr id="508932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 smtClean="0">
                <a:solidFill>
                  <a:schemeClr val="folHlink"/>
                </a:solidFill>
              </a:rPr>
              <a:t>5.2 </a:t>
            </a:r>
            <a:r>
              <a:rPr lang="zh-CN" altLang="en-US" b="1" dirty="0" smtClean="0">
                <a:solidFill>
                  <a:schemeClr val="folHlink"/>
                </a:solidFill>
              </a:rPr>
              <a:t>请求分页存储管理方式 </a:t>
            </a:r>
          </a:p>
        </p:txBody>
      </p:sp>
    </p:spTree>
    <p:extLst>
      <p:ext uri="{BB962C8B-B14F-4D97-AF65-F5344CB8AC3E}">
        <p14:creationId xmlns="" xmlns:p14="http://schemas.microsoft.com/office/powerpoint/2010/main" val="10165786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rrowheads="1"/>
          </p:cNvSpPr>
          <p:nvPr>
            <p:ph/>
          </p:nvPr>
        </p:nvSpPr>
        <p:spPr>
          <a:xfrm>
            <a:off x="609600" y="1268264"/>
            <a:ext cx="8001000" cy="965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2400" b="1" smtClean="0"/>
              <a:t>在请求分页系统中所需要的主要数据结构是页表。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400" b="1" smtClean="0"/>
              <a:t>在请求分页系统中的每个页表项如下所示：</a:t>
            </a:r>
          </a:p>
        </p:txBody>
      </p:sp>
      <p:sp>
        <p:nvSpPr>
          <p:cNvPr id="134147" name="Rectangle 25"/>
          <p:cNvSpPr>
            <a:spLocks noChangeArrowheads="1"/>
          </p:cNvSpPr>
          <p:nvPr/>
        </p:nvSpPr>
        <p:spPr bwMode="auto">
          <a:xfrm>
            <a:off x="838200" y="404664"/>
            <a:ext cx="3942105" cy="63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chemeClr val="folHlink"/>
                </a:solidFill>
                <a:latin typeface="Tahoma" pitchFamily="34" charset="0"/>
              </a:rPr>
              <a:t>(1)</a:t>
            </a:r>
            <a:r>
              <a:rPr kumimoji="1" lang="zh-CN" altLang="en-US" sz="3200" b="1" dirty="0" smtClean="0">
                <a:solidFill>
                  <a:schemeClr val="folHlink"/>
                </a:solidFill>
                <a:latin typeface="Tahoma" pitchFamily="34" charset="0"/>
              </a:rPr>
              <a:t>．请求页表</a:t>
            </a:r>
            <a:r>
              <a:rPr kumimoji="1" lang="zh-CN" altLang="en-US" sz="3200" b="1" dirty="0">
                <a:solidFill>
                  <a:schemeClr val="folHlink"/>
                </a:solidFill>
                <a:latin typeface="Tahoma" pitchFamily="34" charset="0"/>
              </a:rPr>
              <a:t>机制 </a:t>
            </a:r>
          </a:p>
        </p:txBody>
      </p:sp>
      <p:sp>
        <p:nvSpPr>
          <p:cNvPr id="110619" name="Text Box 27"/>
          <p:cNvSpPr txBox="1">
            <a:spLocks noChangeArrowheads="1"/>
          </p:cNvSpPr>
          <p:nvPr/>
        </p:nvSpPr>
        <p:spPr bwMode="auto">
          <a:xfrm>
            <a:off x="533400" y="3147864"/>
            <a:ext cx="8001000" cy="286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</a:rPr>
              <a:t>状态位：</a:t>
            </a:r>
            <a:r>
              <a:rPr lang="zh-CN" altLang="en-US" sz="2400" b="1" dirty="0"/>
              <a:t>也称存在位，标志该页是否驻留内存。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</a:rPr>
              <a:t>访问位：</a:t>
            </a:r>
            <a:r>
              <a:rPr lang="zh-CN" altLang="en-US" sz="2400" b="1" dirty="0"/>
              <a:t>记录一段时间内该页被访问的情况，如一段时间内该页被访问的次数或者多长时间未被访问。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</a:rPr>
              <a:t>修改位：</a:t>
            </a:r>
            <a:r>
              <a:rPr lang="zh-CN" altLang="en-US" sz="2400" b="1" dirty="0"/>
              <a:t>标记该页是否被修改过。注：为减少置换开销，</a:t>
            </a:r>
            <a:r>
              <a:rPr lang="zh-CN" altLang="en-US" sz="2400" b="1" i="1" dirty="0">
                <a:solidFill>
                  <a:srgbClr val="FF0000"/>
                </a:solidFill>
              </a:rPr>
              <a:t>通常选择未被修改过的页面置换</a:t>
            </a:r>
            <a:r>
              <a:rPr lang="zh-CN" altLang="en-US" sz="2400" b="1" dirty="0"/>
              <a:t>。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</a:rPr>
              <a:t>外存地址：</a:t>
            </a:r>
            <a:r>
              <a:rPr lang="zh-CN" altLang="en-US" sz="2400" b="1" dirty="0"/>
              <a:t>用于记录该页在外存上的存储地址。</a:t>
            </a:r>
          </a:p>
        </p:txBody>
      </p:sp>
      <p:sp>
        <p:nvSpPr>
          <p:cNvPr id="26" name="矩形 25"/>
          <p:cNvSpPr/>
          <p:nvPr/>
        </p:nvSpPr>
        <p:spPr>
          <a:xfrm>
            <a:off x="0" y="2233464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tx1">
                  <a:lumMod val="85000"/>
                </a:schemeClr>
              </a:solidFill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2400" y="2385864"/>
            <a:ext cx="8915400" cy="457200"/>
            <a:chOff x="-3" y="-3"/>
            <a:chExt cx="3420" cy="390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0" y="0"/>
              <a:ext cx="3414" cy="384"/>
              <a:chOff x="0" y="0"/>
              <a:chExt cx="3414" cy="384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0" y="0"/>
                <a:ext cx="422" cy="384"/>
                <a:chOff x="0" y="0"/>
                <a:chExt cx="422" cy="384"/>
              </a:xfrm>
            </p:grpSpPr>
            <p:sp>
              <p:nvSpPr>
                <p:cNvPr id="134169" name="Rectangle 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36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>
                    <a:lnSpc>
                      <a:spcPct val="110000"/>
                    </a:lnSpc>
                  </a:pPr>
                  <a:r>
                    <a:rPr kumimoji="1" lang="zh-CN" altLang="en-US" sz="2000" b="1">
                      <a:latin typeface="Times New Roman" pitchFamily="18" charset="0"/>
                    </a:rPr>
                    <a:t>页号</a:t>
                  </a:r>
                </a:p>
                <a:p>
                  <a:pPr algn="just" eaLnBrk="0" hangingPunct="0">
                    <a:lnSpc>
                      <a:spcPct val="110000"/>
                    </a:lnSpc>
                  </a:pPr>
                  <a:endParaRPr kumimoji="1" lang="en-US" altLang="zh-CN" sz="2000" b="1">
                    <a:latin typeface="Times New Roman" pitchFamily="18" charset="0"/>
                  </a:endParaRPr>
                </a:p>
              </p:txBody>
            </p:sp>
            <p:sp>
              <p:nvSpPr>
                <p:cNvPr id="134170" name="Rectangle 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2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422" y="0"/>
                <a:ext cx="575" cy="384"/>
                <a:chOff x="422" y="0"/>
                <a:chExt cx="575" cy="384"/>
              </a:xfrm>
            </p:grpSpPr>
            <p:sp>
              <p:nvSpPr>
                <p:cNvPr id="134167" name="Rectangle 9"/>
                <p:cNvSpPr>
                  <a:spLocks noChangeArrowheads="1"/>
                </p:cNvSpPr>
                <p:nvPr/>
              </p:nvSpPr>
              <p:spPr bwMode="auto">
                <a:xfrm>
                  <a:off x="465" y="0"/>
                  <a:ext cx="489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>
                    <a:lnSpc>
                      <a:spcPct val="110000"/>
                    </a:lnSpc>
                  </a:pPr>
                  <a:r>
                    <a:rPr kumimoji="1" lang="zh-CN" altLang="en-US" sz="2000" b="1">
                      <a:latin typeface="Times New Roman" pitchFamily="18" charset="0"/>
                    </a:rPr>
                    <a:t>物理块号</a:t>
                  </a:r>
                </a:p>
                <a:p>
                  <a:pPr algn="just" eaLnBrk="0" hangingPunct="0">
                    <a:lnSpc>
                      <a:spcPct val="110000"/>
                    </a:lnSpc>
                  </a:pPr>
                  <a:endParaRPr kumimoji="1" lang="en-US" altLang="zh-CN" sz="2000" b="1">
                    <a:latin typeface="Times New Roman" pitchFamily="18" charset="0"/>
                  </a:endParaRPr>
                </a:p>
              </p:txBody>
            </p:sp>
            <p:sp>
              <p:nvSpPr>
                <p:cNvPr id="134168" name="Rectangle 10"/>
                <p:cNvSpPr>
                  <a:spLocks noChangeArrowheads="1"/>
                </p:cNvSpPr>
                <p:nvPr/>
              </p:nvSpPr>
              <p:spPr bwMode="auto">
                <a:xfrm>
                  <a:off x="422" y="0"/>
                  <a:ext cx="575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6" name="Group 11"/>
              <p:cNvGrpSpPr>
                <a:grpSpLocks/>
              </p:cNvGrpSpPr>
              <p:nvPr/>
            </p:nvGrpSpPr>
            <p:grpSpPr bwMode="auto">
              <a:xfrm>
                <a:off x="997" y="0"/>
                <a:ext cx="563" cy="384"/>
                <a:chOff x="997" y="0"/>
                <a:chExt cx="563" cy="384"/>
              </a:xfrm>
            </p:grpSpPr>
            <p:sp>
              <p:nvSpPr>
                <p:cNvPr id="134165" name="Rectangle 12"/>
                <p:cNvSpPr>
                  <a:spLocks noChangeArrowheads="1"/>
                </p:cNvSpPr>
                <p:nvPr/>
              </p:nvSpPr>
              <p:spPr bwMode="auto">
                <a:xfrm>
                  <a:off x="1040" y="0"/>
                  <a:ext cx="477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>
                    <a:lnSpc>
                      <a:spcPct val="110000"/>
                    </a:lnSpc>
                  </a:pPr>
                  <a:r>
                    <a:rPr kumimoji="1" lang="zh-CN" altLang="en-US" sz="2000" b="1">
                      <a:latin typeface="Times New Roman" pitchFamily="18" charset="0"/>
                    </a:rPr>
                    <a:t>状态位</a:t>
                  </a:r>
                  <a:r>
                    <a:rPr kumimoji="1" lang="en-US" altLang="zh-CN" sz="2000" b="1">
                      <a:latin typeface="Times New Roman" pitchFamily="18" charset="0"/>
                    </a:rPr>
                    <a:t>P</a:t>
                  </a:r>
                </a:p>
                <a:p>
                  <a:pPr algn="just" eaLnBrk="0" hangingPunct="0">
                    <a:lnSpc>
                      <a:spcPct val="110000"/>
                    </a:lnSpc>
                  </a:pPr>
                  <a:endParaRPr kumimoji="1" lang="en-US" altLang="zh-CN" sz="2000" b="1">
                    <a:latin typeface="Times New Roman" pitchFamily="18" charset="0"/>
                  </a:endParaRPr>
                </a:p>
              </p:txBody>
            </p:sp>
            <p:sp>
              <p:nvSpPr>
                <p:cNvPr id="134166" name="Rectangle 13"/>
                <p:cNvSpPr>
                  <a:spLocks noChangeArrowheads="1"/>
                </p:cNvSpPr>
                <p:nvPr/>
              </p:nvSpPr>
              <p:spPr bwMode="auto">
                <a:xfrm>
                  <a:off x="997" y="0"/>
                  <a:ext cx="563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7" name="Group 14"/>
              <p:cNvGrpSpPr>
                <a:grpSpLocks/>
              </p:cNvGrpSpPr>
              <p:nvPr/>
            </p:nvGrpSpPr>
            <p:grpSpPr bwMode="auto">
              <a:xfrm>
                <a:off x="1560" y="0"/>
                <a:ext cx="674" cy="384"/>
                <a:chOff x="1560" y="0"/>
                <a:chExt cx="674" cy="384"/>
              </a:xfrm>
            </p:grpSpPr>
            <p:sp>
              <p:nvSpPr>
                <p:cNvPr id="134163" name="Rectangle 15"/>
                <p:cNvSpPr>
                  <a:spLocks noChangeArrowheads="1"/>
                </p:cNvSpPr>
                <p:nvPr/>
              </p:nvSpPr>
              <p:spPr bwMode="auto">
                <a:xfrm>
                  <a:off x="1603" y="0"/>
                  <a:ext cx="588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>
                    <a:lnSpc>
                      <a:spcPct val="110000"/>
                    </a:lnSpc>
                  </a:pPr>
                  <a:r>
                    <a:rPr kumimoji="1" lang="zh-CN" altLang="en-US" sz="2000" b="1">
                      <a:latin typeface="Times New Roman" pitchFamily="18" charset="0"/>
                    </a:rPr>
                    <a:t>访问位</a:t>
                  </a:r>
                  <a:r>
                    <a:rPr kumimoji="1" lang="en-US" altLang="zh-CN" sz="2000" b="1">
                      <a:latin typeface="Times New Roman" pitchFamily="18" charset="0"/>
                    </a:rPr>
                    <a:t>A</a:t>
                  </a:r>
                </a:p>
                <a:p>
                  <a:pPr algn="just" eaLnBrk="0" hangingPunct="0">
                    <a:lnSpc>
                      <a:spcPct val="110000"/>
                    </a:lnSpc>
                  </a:pPr>
                  <a:endParaRPr kumimoji="1" lang="en-US" altLang="zh-CN" sz="2000" b="1">
                    <a:latin typeface="Times New Roman" pitchFamily="18" charset="0"/>
                  </a:endParaRPr>
                </a:p>
              </p:txBody>
            </p:sp>
            <p:sp>
              <p:nvSpPr>
                <p:cNvPr id="134164" name="Rectangle 16"/>
                <p:cNvSpPr>
                  <a:spLocks noChangeArrowheads="1"/>
                </p:cNvSpPr>
                <p:nvPr/>
              </p:nvSpPr>
              <p:spPr bwMode="auto">
                <a:xfrm>
                  <a:off x="1560" y="0"/>
                  <a:ext cx="67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8" name="Group 17"/>
              <p:cNvGrpSpPr>
                <a:grpSpLocks/>
              </p:cNvGrpSpPr>
              <p:nvPr/>
            </p:nvGrpSpPr>
            <p:grpSpPr bwMode="auto">
              <a:xfrm>
                <a:off x="2234" y="0"/>
                <a:ext cx="590" cy="384"/>
                <a:chOff x="2234" y="0"/>
                <a:chExt cx="590" cy="384"/>
              </a:xfrm>
            </p:grpSpPr>
            <p:sp>
              <p:nvSpPr>
                <p:cNvPr id="134161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0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>
                    <a:lnSpc>
                      <a:spcPct val="110000"/>
                    </a:lnSpc>
                  </a:pPr>
                  <a:r>
                    <a:rPr kumimoji="1" lang="zh-CN" altLang="en-US" sz="2000" b="1">
                      <a:latin typeface="Times New Roman" pitchFamily="18" charset="0"/>
                    </a:rPr>
                    <a:t>修改位</a:t>
                  </a:r>
                  <a:r>
                    <a:rPr kumimoji="1" lang="en-US" altLang="zh-CN" sz="2000" b="1">
                      <a:latin typeface="Times New Roman" pitchFamily="18" charset="0"/>
                    </a:rPr>
                    <a:t>M</a:t>
                  </a:r>
                </a:p>
                <a:p>
                  <a:pPr algn="just" eaLnBrk="0" hangingPunct="0">
                    <a:lnSpc>
                      <a:spcPct val="110000"/>
                    </a:lnSpc>
                  </a:pPr>
                  <a:endParaRPr kumimoji="1" lang="en-US" altLang="zh-CN" sz="2000" b="1">
                    <a:latin typeface="Times New Roman" pitchFamily="18" charset="0"/>
                  </a:endParaRPr>
                </a:p>
              </p:txBody>
            </p:sp>
            <p:sp>
              <p:nvSpPr>
                <p:cNvPr id="134162" name="Rectangle 19"/>
                <p:cNvSpPr>
                  <a:spLocks noChangeArrowheads="1"/>
                </p:cNvSpPr>
                <p:nvPr/>
              </p:nvSpPr>
              <p:spPr bwMode="auto">
                <a:xfrm>
                  <a:off x="2234" y="0"/>
                  <a:ext cx="59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9" name="Group 20"/>
              <p:cNvGrpSpPr>
                <a:grpSpLocks/>
              </p:cNvGrpSpPr>
              <p:nvPr/>
            </p:nvGrpSpPr>
            <p:grpSpPr bwMode="auto">
              <a:xfrm>
                <a:off x="2824" y="0"/>
                <a:ext cx="590" cy="384"/>
                <a:chOff x="2824" y="0"/>
                <a:chExt cx="590" cy="384"/>
              </a:xfrm>
            </p:grpSpPr>
            <p:sp>
              <p:nvSpPr>
                <p:cNvPr id="134159" name="Rectangle 21"/>
                <p:cNvSpPr>
                  <a:spLocks noChangeArrowheads="1"/>
                </p:cNvSpPr>
                <p:nvPr/>
              </p:nvSpPr>
              <p:spPr bwMode="auto">
                <a:xfrm>
                  <a:off x="2867" y="0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>
                    <a:lnSpc>
                      <a:spcPct val="110000"/>
                    </a:lnSpc>
                  </a:pPr>
                  <a:r>
                    <a:rPr kumimoji="1" lang="zh-CN" altLang="en-US" sz="2000" b="1">
                      <a:latin typeface="Times New Roman" pitchFamily="18" charset="0"/>
                    </a:rPr>
                    <a:t>外存地址</a:t>
                  </a:r>
                </a:p>
                <a:p>
                  <a:pPr algn="just" eaLnBrk="0" hangingPunct="0">
                    <a:lnSpc>
                      <a:spcPct val="110000"/>
                    </a:lnSpc>
                  </a:pPr>
                  <a:endParaRPr kumimoji="1" lang="en-US" altLang="zh-CN" sz="2000" b="1">
                    <a:latin typeface="Times New Roman" pitchFamily="18" charset="0"/>
                  </a:endParaRPr>
                </a:p>
              </p:txBody>
            </p:sp>
            <p:sp>
              <p:nvSpPr>
                <p:cNvPr id="134160" name="Rectangle 22"/>
                <p:cNvSpPr>
                  <a:spLocks noChangeArrowheads="1"/>
                </p:cNvSpPr>
                <p:nvPr/>
              </p:nvSpPr>
              <p:spPr bwMode="auto">
                <a:xfrm>
                  <a:off x="2824" y="0"/>
                  <a:ext cx="59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</p:grpSp>
        </p:grp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-3" y="-3"/>
              <a:ext cx="3420" cy="390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000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9119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endParaRPr lang="zh-CN" altLang="en-US" smtClean="0">
              <a:effectLst/>
            </a:endParaRPr>
          </a:p>
        </p:txBody>
      </p:sp>
      <p:sp>
        <p:nvSpPr>
          <p:cNvPr id="135171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457200" y="1673225"/>
            <a:ext cx="8153400" cy="4498975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en-US" altLang="zh-CN" dirty="0" smtClean="0">
                <a:solidFill>
                  <a:schemeClr val="folHlink"/>
                </a:solidFill>
              </a:rPr>
              <a:t> </a:t>
            </a:r>
            <a:r>
              <a:rPr kumimoji="1" lang="en-US" altLang="zh-CN" b="1" dirty="0" smtClean="0">
                <a:solidFill>
                  <a:schemeClr val="folHlink"/>
                </a:solidFill>
              </a:rPr>
              <a:t>(2)</a:t>
            </a:r>
            <a:r>
              <a:rPr kumimoji="1" lang="zh-CN" altLang="en-US" b="1" dirty="0" smtClean="0">
                <a:solidFill>
                  <a:schemeClr val="folHlink"/>
                </a:solidFill>
              </a:rPr>
              <a:t>．缺页中断机构</a:t>
            </a:r>
            <a:r>
              <a:rPr kumimoji="1" lang="zh-CN" altLang="en-US" b="1" dirty="0" smtClean="0"/>
              <a:t> </a:t>
            </a:r>
          </a:p>
          <a:p>
            <a:pPr>
              <a:lnSpc>
                <a:spcPct val="120000"/>
              </a:lnSpc>
            </a:pPr>
            <a:r>
              <a:rPr kumimoji="1" lang="zh-CN" altLang="en-US" b="1" dirty="0" smtClean="0"/>
              <a:t>在请求分页系统中，每当所要访问的页面不在内存时，便产生一缺页中断，请求</a:t>
            </a:r>
            <a:r>
              <a:rPr kumimoji="1" lang="en-US" altLang="zh-CN" b="1" dirty="0" smtClean="0"/>
              <a:t>OS</a:t>
            </a:r>
            <a:r>
              <a:rPr kumimoji="1" lang="zh-CN" altLang="en-US" b="1" dirty="0" smtClean="0"/>
              <a:t>将所缺之页调入内存。</a:t>
            </a:r>
          </a:p>
          <a:p>
            <a:pPr>
              <a:lnSpc>
                <a:spcPct val="120000"/>
              </a:lnSpc>
            </a:pPr>
            <a:r>
              <a:rPr kumimoji="1" lang="zh-CN" altLang="en-US" b="1" dirty="0" smtClean="0"/>
              <a:t>地址转换时，</a:t>
            </a:r>
            <a:r>
              <a:rPr kumimoji="1" lang="en-US" altLang="zh-CN" b="1" dirty="0" smtClean="0"/>
              <a:t>MMU</a:t>
            </a:r>
            <a:r>
              <a:rPr kumimoji="1" lang="zh-CN" altLang="en-US" b="1" dirty="0" smtClean="0"/>
              <a:t>检查页面的页表项中的存在位，如果为</a:t>
            </a:r>
            <a:r>
              <a:rPr kumimoji="1" lang="en-US" altLang="zh-CN" b="1" dirty="0" smtClean="0"/>
              <a:t>0</a:t>
            </a:r>
            <a:r>
              <a:rPr kumimoji="1" lang="zh-CN" altLang="en-US" b="1" dirty="0" smtClean="0"/>
              <a:t>，则产生一个缺页中断。</a:t>
            </a:r>
          </a:p>
          <a:p>
            <a:pPr>
              <a:lnSpc>
                <a:spcPct val="120000"/>
              </a:lnSpc>
            </a:pPr>
            <a:endParaRPr kumimoji="1" lang="zh-CN" altLang="en-US" b="1" dirty="0" smtClean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800" b="1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238323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166663"/>
            <a:ext cx="7507288" cy="4540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chemeClr val="folHlink"/>
                </a:solidFill>
              </a:rPr>
              <a:t>(3)</a:t>
            </a:r>
            <a:r>
              <a:rPr lang="zh-CN" altLang="en-US" sz="3600" b="1" dirty="0" smtClean="0">
                <a:solidFill>
                  <a:schemeClr val="folHlink"/>
                </a:solidFill>
              </a:rPr>
              <a:t>．地址变换机构</a:t>
            </a:r>
            <a:r>
              <a:rPr lang="zh-CN" altLang="en-US" b="1" dirty="0" smtClean="0">
                <a:solidFill>
                  <a:schemeClr val="folHlink"/>
                </a:solidFill>
              </a:rPr>
              <a:t> </a:t>
            </a:r>
          </a:p>
        </p:txBody>
      </p:sp>
      <p:sp>
        <p:nvSpPr>
          <p:cNvPr id="137219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08992" y="1143000"/>
            <a:ext cx="2590800" cy="4343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dirty="0" smtClean="0"/>
              <a:t>请求分页系统中的地址变换机构，是在分页系统地址变换机构的基础上，再为实现虚拟存储器而增加了某些功能而形成的。</a:t>
            </a:r>
          </a:p>
        </p:txBody>
      </p:sp>
      <p:pic>
        <p:nvPicPr>
          <p:cNvPr id="13722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5406" y="836712"/>
            <a:ext cx="6114282" cy="602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8089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几个问题</a:t>
            </a:r>
            <a:endParaRPr lang="zh-CN" altLang="en-US" dirty="0"/>
          </a:p>
        </p:txBody>
      </p:sp>
      <p:sp>
        <p:nvSpPr>
          <p:cNvPr id="138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1</a:t>
            </a:r>
            <a:r>
              <a:rPr lang="zh-CN" altLang="en-US" b="1" dirty="0" smtClean="0"/>
              <a:t>。</a:t>
            </a:r>
            <a:r>
              <a:rPr lang="zh-CN" altLang="en-US" b="1" dirty="0"/>
              <a:t>为了保证进程的正常</a:t>
            </a:r>
            <a:r>
              <a:rPr lang="zh-CN" altLang="en-US" b="1" dirty="0" smtClean="0"/>
              <a:t>运行，给一个进程初始分配多少内存块？</a:t>
            </a:r>
            <a:endParaRPr lang="en-US" altLang="zh-CN" b="1" dirty="0" smtClean="0"/>
          </a:p>
          <a:p>
            <a:r>
              <a:rPr lang="en-US" altLang="zh-CN" b="1" dirty="0" smtClean="0"/>
              <a:t>2</a:t>
            </a:r>
            <a:r>
              <a:rPr lang="zh-CN" altLang="en-US" b="1" dirty="0" smtClean="0"/>
              <a:t>。按照什么方式分配给进程内存物理块？固定好，还是可变好？</a:t>
            </a:r>
            <a:endParaRPr lang="en-US" altLang="zh-CN" b="1" dirty="0" smtClean="0"/>
          </a:p>
          <a:p>
            <a:r>
              <a:rPr lang="en-US" altLang="zh-CN" b="1" dirty="0" smtClean="0"/>
              <a:t>3</a:t>
            </a:r>
            <a:r>
              <a:rPr lang="zh-CN" altLang="en-US" b="1" dirty="0" smtClean="0"/>
              <a:t>。如何将进程物理块分配给进程？平均好？还是按比例分配好？</a:t>
            </a:r>
          </a:p>
        </p:txBody>
      </p:sp>
    </p:spTree>
    <p:extLst>
      <p:ext uri="{BB962C8B-B14F-4D97-AF65-F5344CB8AC3E}">
        <p14:creationId xmlns="" xmlns:p14="http://schemas.microsoft.com/office/powerpoint/2010/main" val="9432147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81000" y="1412776"/>
            <a:ext cx="8382000" cy="5334000"/>
          </a:xfrm>
        </p:spPr>
        <p:txBody>
          <a:bodyPr/>
          <a:lstStyle/>
          <a:p>
            <a:pPr>
              <a:defRPr/>
            </a:pPr>
            <a:r>
              <a:rPr lang="zh-CN" altLang="en-US" sz="2400" b="1" dirty="0" smtClean="0"/>
              <a:t>在为进程分配内存时，将涉及到三个问题：第一，最小物理块数的确定；第二，物理块的分配策略；第三，物理块的分配算法。</a:t>
            </a:r>
            <a:endParaRPr lang="en-US" altLang="zh-CN" sz="2400" b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．最小物理块数的确定</a:t>
            </a:r>
            <a:endParaRPr lang="en-US" altLang="zh-CN" sz="2400" b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400" b="1" dirty="0" smtClean="0">
                <a:solidFill>
                  <a:schemeClr val="folHlink"/>
                </a:solidFill>
              </a:rPr>
              <a:t> </a:t>
            </a:r>
          </a:p>
          <a:p>
            <a:pPr>
              <a:defRPr/>
            </a:pPr>
            <a:r>
              <a:rPr lang="zh-CN" altLang="en-US" sz="2400" b="1" dirty="0" smtClean="0"/>
              <a:t>这里所说的最小物理块数，是指能保证进程正常运行所需的最小物理块数。当系统为进程分配的物理块数少于此值时，进程将无法运行。 </a:t>
            </a:r>
          </a:p>
          <a:p>
            <a:pPr eaLnBrk="1" hangingPunct="1">
              <a:defRPr/>
            </a:pPr>
            <a:r>
              <a:rPr lang="zh-CN" altLang="en-US" sz="2400" b="1" dirty="0" smtClean="0"/>
              <a:t>对于某些简单的机器，若是单地址指令且采用直接寻址方式，则所需的最少物理块数为</a:t>
            </a:r>
            <a:r>
              <a:rPr lang="en-US" altLang="zh-CN" sz="2400" b="1" dirty="0" smtClean="0"/>
              <a:t>2: </a:t>
            </a:r>
          </a:p>
          <a:p>
            <a:pPr lvl="1" eaLnBrk="1" hangingPunct="1">
              <a:defRPr/>
            </a:pPr>
            <a:r>
              <a:rPr lang="zh-CN" altLang="en-US" sz="2400" b="1" dirty="0" smtClean="0"/>
              <a:t>一块是用于存放指令的页面</a:t>
            </a:r>
          </a:p>
          <a:p>
            <a:pPr lvl="1" eaLnBrk="1" hangingPunct="1">
              <a:defRPr/>
            </a:pPr>
            <a:r>
              <a:rPr lang="zh-CN" altLang="en-US" sz="2400" b="1" dirty="0" smtClean="0"/>
              <a:t>另一块是用于存放数据的页面。</a:t>
            </a:r>
            <a:endParaRPr lang="en-US" altLang="zh-CN" sz="2400" b="1" dirty="0" smtClean="0"/>
          </a:p>
        </p:txBody>
      </p:sp>
      <p:sp>
        <p:nvSpPr>
          <p:cNvPr id="513028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 smtClean="0">
                <a:solidFill>
                  <a:schemeClr val="folHlink"/>
                </a:solidFill>
              </a:rPr>
              <a:t>5.2.2 </a:t>
            </a:r>
            <a:r>
              <a:rPr lang="zh-CN" altLang="en-US" b="1" dirty="0" smtClean="0">
                <a:solidFill>
                  <a:schemeClr val="folHlink"/>
                </a:solidFill>
              </a:rPr>
              <a:t> </a:t>
            </a:r>
            <a:r>
              <a:rPr lang="zh-CN" altLang="en-US" b="1" dirty="0">
                <a:solidFill>
                  <a:schemeClr val="folHlink"/>
                </a:solidFill>
              </a:rPr>
              <a:t>请求分页中的内存分配</a:t>
            </a:r>
            <a:endParaRPr lang="zh-CN" altLang="en-US" b="1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52257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Rot="1" noChangeArrowheads="1"/>
          </p:cNvSpPr>
          <p:nvPr>
            <p:ph/>
          </p:nvPr>
        </p:nvSpPr>
        <p:spPr>
          <a:xfrm>
            <a:off x="533400" y="914400"/>
            <a:ext cx="7924800" cy="4953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b="1" dirty="0" smtClean="0"/>
              <a:t> </a:t>
            </a: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．物理块的分配策略</a:t>
            </a:r>
            <a:endParaRPr lang="en-US" altLang="zh-CN" b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/>
              <a:t>在请求分页系统中，可采取两种内存分配策略，即固定和可变分配策略。在进行置换时， 也可采取两种策略，即全局置换和局部置换。于是可组合出以下三种适用的策略。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400" b="1" dirty="0" smtClean="0"/>
              <a:t> 1) </a:t>
            </a:r>
            <a:r>
              <a:rPr lang="zh-CN" altLang="en-US" sz="2400" b="1" dirty="0" smtClean="0"/>
              <a:t>固定分配局部置换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sz="2400" b="1" dirty="0" smtClean="0"/>
              <a:t> 2) </a:t>
            </a:r>
            <a:r>
              <a:rPr lang="zh-CN" altLang="en-US" sz="2400" b="1" dirty="0" smtClean="0"/>
              <a:t>可变分配全局置换</a:t>
            </a:r>
            <a:endParaRPr lang="en-US" altLang="zh-CN" sz="2400" b="1" dirty="0" smtClean="0"/>
          </a:p>
          <a:p>
            <a:pPr lvl="1">
              <a:lnSpc>
                <a:spcPct val="110000"/>
              </a:lnSpc>
              <a:defRPr/>
            </a:pPr>
            <a:r>
              <a:rPr lang="en-US" altLang="zh-CN" sz="2400" b="1" dirty="0" smtClean="0"/>
              <a:t> 3) </a:t>
            </a:r>
            <a:r>
              <a:rPr lang="zh-CN" altLang="en-US" sz="2400" b="1" dirty="0" smtClean="0"/>
              <a:t>可变分配局部置换</a:t>
            </a:r>
            <a:endParaRPr lang="zh-CN" alt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200551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692696"/>
            <a:ext cx="8077200" cy="5614119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）固定分配局部置换</a:t>
            </a:r>
            <a:r>
              <a:rPr lang="zh-CN" altLang="en-US" b="1" dirty="0" smtClean="0"/>
              <a:t> </a:t>
            </a:r>
          </a:p>
          <a:p>
            <a:pPr eaLnBrk="1" hangingPunct="1">
              <a:defRPr/>
            </a:pPr>
            <a:r>
              <a:rPr lang="zh-CN" altLang="en-US" sz="2800" b="1" dirty="0" smtClean="0">
                <a:solidFill>
                  <a:srgbClr val="FF0000"/>
                </a:solidFill>
              </a:rPr>
              <a:t>为每个进程分配一定数目的物理块，在整个运行期间都不再改变。 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zh-CN" altLang="en-US" sz="2800" b="1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zh-CN" altLang="en-US" sz="2800" b="1" dirty="0" smtClean="0"/>
              <a:t>实现这种策略的困难在于：应为每个进程分配多少个物理块难以确定。</a:t>
            </a:r>
          </a:p>
          <a:p>
            <a:pPr lvl="1" eaLnBrk="1" hangingPunct="1">
              <a:defRPr/>
            </a:pPr>
            <a:r>
              <a:rPr lang="zh-CN" altLang="en-US" b="1" dirty="0" smtClean="0"/>
              <a:t>若太少，会频繁地出现缺页中断，降低了系统的吞吐量；</a:t>
            </a:r>
          </a:p>
          <a:p>
            <a:pPr lvl="1" eaLnBrk="1" hangingPunct="1">
              <a:defRPr/>
            </a:pPr>
            <a:r>
              <a:rPr lang="zh-CN" altLang="en-US" b="1" dirty="0" smtClean="0"/>
              <a:t>若太多，又必然使内存中驻留的进程数目减少，进而可能造成</a:t>
            </a:r>
            <a:r>
              <a:rPr lang="en-US" altLang="zh-CN" b="1" dirty="0" smtClean="0"/>
              <a:t>CPU</a:t>
            </a:r>
            <a:r>
              <a:rPr lang="zh-CN" altLang="en-US" b="1" dirty="0" smtClean="0"/>
              <a:t>空闲或其它资源空闲的情况，而且在实现进程对换时，会花费更多的时间。 </a:t>
            </a:r>
          </a:p>
          <a:p>
            <a:pPr>
              <a:defRPr/>
            </a:pPr>
            <a:endParaRPr lang="zh-CN" altLang="en-US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18874557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Rot="1" noChangeArrowheads="1"/>
          </p:cNvSpPr>
          <p:nvPr>
            <p:ph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3900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3900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）可变分配全局置换</a:t>
            </a:r>
            <a:r>
              <a:rPr lang="zh-CN" altLang="en-US" sz="3900" b="1" dirty="0" smtClean="0"/>
              <a:t> </a:t>
            </a:r>
            <a:r>
              <a:rPr lang="zh-CN" altLang="en-US" sz="3900" b="1" dirty="0" smtClean="0">
                <a:solidFill>
                  <a:schemeClr val="folHlink"/>
                </a:solidFill>
              </a:rPr>
              <a:t>（常用方式）</a:t>
            </a:r>
            <a:endParaRPr lang="en-US" altLang="zh-CN" sz="3900" b="1" dirty="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zh-CN" altLang="en-US" b="1" dirty="0" smtClean="0">
              <a:solidFill>
                <a:schemeClr val="folHlink"/>
              </a:solidFill>
            </a:endParaRPr>
          </a:p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zh-CN" altLang="en-US" sz="2800" b="1" dirty="0" smtClean="0"/>
              <a:t>在采用这种策略时，先为系统中的每个进程分配一定数目的物理块，而</a:t>
            </a:r>
            <a:r>
              <a:rPr lang="en-US" altLang="zh-CN" sz="2800" b="1" i="1" u="sng" dirty="0" smtClean="0">
                <a:solidFill>
                  <a:srgbClr val="FF0000"/>
                </a:solidFill>
              </a:rPr>
              <a:t>OS</a:t>
            </a:r>
            <a:r>
              <a:rPr lang="zh-CN" altLang="en-US" sz="2800" b="1" i="1" u="sng" dirty="0" smtClean="0">
                <a:solidFill>
                  <a:srgbClr val="FF0000"/>
                </a:solidFill>
              </a:rPr>
              <a:t>自身也保持一个空闲物理块队列。</a:t>
            </a:r>
          </a:p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zh-CN" altLang="en-US" sz="2800" b="1" dirty="0" smtClean="0"/>
              <a:t>当某进程发现缺页时，由系统从空闲物理块队列中，取出一个物理块分配给该进程，并将欲调入的（缺）页装入其中。</a:t>
            </a:r>
          </a:p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zh-CN" altLang="en-US" sz="2800" b="1" dirty="0" smtClean="0"/>
              <a:t>这样，凡产生缺页（中断）的进程，都将获得新的物理块；</a:t>
            </a:r>
          </a:p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zh-CN" altLang="en-US" sz="2800" b="1" dirty="0" smtClean="0"/>
              <a:t>仅当空闲物理块队列中的物理块用完时， </a:t>
            </a:r>
            <a:r>
              <a:rPr lang="en-US" altLang="zh-CN" sz="2800" b="1" dirty="0" smtClean="0"/>
              <a:t>OS</a:t>
            </a:r>
            <a:r>
              <a:rPr lang="zh-CN" altLang="en-US" sz="2800" b="1" dirty="0" smtClean="0"/>
              <a:t>才能从内存中选择一页调出。该页可能是系统中</a:t>
            </a:r>
            <a:r>
              <a:rPr lang="zh-CN" altLang="en-US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任一进程</a:t>
            </a:r>
            <a:r>
              <a:rPr lang="zh-CN" altLang="en-US" sz="2800" b="1" dirty="0" smtClean="0"/>
              <a:t>的页，这样，自然又会使该进程的物理块减少，进而使其缺页率增加。</a:t>
            </a:r>
          </a:p>
        </p:txBody>
      </p:sp>
    </p:spTree>
    <p:extLst>
      <p:ext uri="{BB962C8B-B14F-4D97-AF65-F5344CB8AC3E}">
        <p14:creationId xmlns="" xmlns:p14="http://schemas.microsoft.com/office/powerpoint/2010/main" val="25281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Rot="1" noChangeArrowheads="1"/>
          </p:cNvSpPr>
          <p:nvPr>
            <p:ph/>
          </p:nvPr>
        </p:nvSpPr>
        <p:spPr>
          <a:xfrm>
            <a:off x="323528" y="332656"/>
            <a:ext cx="8496944" cy="5904656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）可变分配局部置换</a:t>
            </a:r>
            <a:r>
              <a:rPr lang="zh-CN" altLang="en-US" b="1" dirty="0" smtClean="0">
                <a:solidFill>
                  <a:schemeClr val="folHlink"/>
                </a:solidFill>
              </a:rPr>
              <a:t> </a:t>
            </a:r>
            <a:endParaRPr lang="en-US" altLang="zh-CN" b="1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zh-CN" altLang="en-US" b="1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b="1" dirty="0" smtClean="0"/>
              <a:t>为每个进程分配一定数目的物理块，但当某进程发现缺页时，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只允许</a:t>
            </a:r>
            <a:r>
              <a:rPr lang="zh-CN" altLang="en-US" sz="2800" b="1" i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从该进程</a:t>
            </a:r>
            <a:r>
              <a:rPr lang="zh-CN" altLang="en-US" sz="2800" b="1" i="1" u="sng" dirty="0" smtClean="0">
                <a:solidFill>
                  <a:srgbClr val="FF0000"/>
                </a:solidFill>
              </a:rPr>
              <a:t>在内存的页面中选出一页换出</a:t>
            </a:r>
            <a:r>
              <a:rPr lang="zh-CN" altLang="en-US" sz="2800" b="1" dirty="0" smtClean="0">
                <a:solidFill>
                  <a:schemeClr val="folHlink"/>
                </a:solidFill>
              </a:rPr>
              <a:t>，</a:t>
            </a:r>
            <a:r>
              <a:rPr lang="zh-CN" altLang="en-US" sz="2800" b="1" dirty="0" smtClean="0"/>
              <a:t>这样就不会影响其它进程的运行。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b="1" dirty="0" smtClean="0"/>
              <a:t>在进程运行过程中统计进程的缺页率，</a:t>
            </a:r>
            <a:r>
              <a:rPr lang="zh-CN" altLang="en-US" sz="2800" b="1" i="1" u="sng" dirty="0" smtClean="0">
                <a:solidFill>
                  <a:srgbClr val="FF0000"/>
                </a:solidFill>
              </a:rPr>
              <a:t>如果缺页率高，则为其增加一定的内存页</a:t>
            </a:r>
            <a:r>
              <a:rPr lang="zh-CN" altLang="en-US" sz="2800" b="1" dirty="0" smtClean="0"/>
              <a:t>，否则适当减少其内存的页面数。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b="1" dirty="0" smtClean="0"/>
              <a:t>当需要置换时只从本进程的内存页中选择，但此方式实现复杂，对进程的缺页情况的统计需要额外的开销。</a:t>
            </a:r>
          </a:p>
          <a:p>
            <a:pPr eaLnBrk="1" hangingPunct="1">
              <a:lnSpc>
                <a:spcPct val="110000"/>
              </a:lnSpc>
              <a:defRPr/>
            </a:pPr>
            <a:endParaRPr lang="zh-CN" altLang="en-US" sz="2800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108724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Rot="1" noChangeArrowheads="1"/>
          </p:cNvSpPr>
          <p:nvPr>
            <p:ph/>
          </p:nvPr>
        </p:nvSpPr>
        <p:spPr>
          <a:xfrm>
            <a:off x="457200" y="620688"/>
            <a:ext cx="8001000" cy="5475312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35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3. </a:t>
            </a:r>
            <a:r>
              <a:rPr lang="zh-CN" altLang="en-US" sz="35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物理块分配算法</a:t>
            </a:r>
            <a:endParaRPr lang="en-US" altLang="zh-CN" sz="3500" b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b="1" i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）平均分配算法</a:t>
            </a:r>
            <a:endParaRPr lang="en-US" altLang="zh-CN" b="1" i="1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）按比例分配算法</a:t>
            </a:r>
            <a:r>
              <a:rPr lang="zh-CN" altLang="en-US" b="1" dirty="0" smtClean="0"/>
              <a:t> 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zh-CN" altLang="en-US" b="1" dirty="0" smtClean="0"/>
              <a:t>   </a:t>
            </a:r>
            <a:r>
              <a:rPr lang="zh-CN" altLang="en-US" sz="2800" b="1" dirty="0" smtClean="0"/>
              <a:t>根据进程的大小按比例分配物理块的算法。如果系统中共有</a:t>
            </a:r>
            <a:r>
              <a:rPr lang="en-US" altLang="zh-CN" sz="2800" b="1" dirty="0" smtClean="0"/>
              <a:t>n</a:t>
            </a:r>
            <a:r>
              <a:rPr lang="zh-CN" altLang="en-US" sz="2800" b="1" dirty="0" smtClean="0"/>
              <a:t>个进程，每个进程的页面数为</a:t>
            </a:r>
            <a:r>
              <a:rPr lang="en-US" altLang="zh-CN" sz="2800" b="1" dirty="0" smtClean="0"/>
              <a:t>Si</a:t>
            </a:r>
            <a:r>
              <a:rPr lang="zh-CN" altLang="en-US" sz="2800" b="1" dirty="0" smtClean="0"/>
              <a:t>，则系统中各进程页面数的总和为：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zh-CN" altLang="en-US" sz="2800" b="1" dirty="0" smtClean="0"/>
              <a:t>                          </a:t>
            </a:r>
            <a:r>
              <a:rPr lang="en-US" altLang="zh-CN" sz="2800" b="1" dirty="0" smtClean="0"/>
              <a:t>n     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b="1" dirty="0" smtClean="0"/>
              <a:t>                S= </a:t>
            </a:r>
            <a:r>
              <a:rPr lang="en-US" altLang="zh-CN" sz="4000" b="1" dirty="0" smtClean="0"/>
              <a:t>∑</a:t>
            </a:r>
            <a:r>
              <a:rPr lang="en-US" altLang="zh-CN" b="1" dirty="0" smtClean="0"/>
              <a:t>Si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z="2800" b="1" dirty="0" smtClean="0"/>
              <a:t>                          </a:t>
            </a:r>
            <a:r>
              <a:rPr lang="en-US" altLang="zh-CN" sz="2800" b="1" dirty="0" err="1" smtClean="0"/>
              <a:t>i</a:t>
            </a:r>
            <a:r>
              <a:rPr lang="en-US" altLang="zh-CN" sz="2800" b="1" dirty="0" smtClean="0"/>
              <a:t>=1                                                                                </a:t>
            </a:r>
            <a:r>
              <a:rPr lang="zh-CN" altLang="en-US" sz="2800" b="1" dirty="0" smtClean="0"/>
              <a:t>又假定系统中可用的物理块总数为</a:t>
            </a:r>
            <a:r>
              <a:rPr lang="en-US" altLang="zh-CN" sz="2800" b="1" dirty="0" smtClean="0"/>
              <a:t>m</a:t>
            </a:r>
            <a:r>
              <a:rPr lang="zh-CN" altLang="en-US" sz="2800" b="1" dirty="0" smtClean="0"/>
              <a:t>，则每个进程所能分到的物理块数为</a:t>
            </a:r>
            <a:r>
              <a:rPr lang="en-US" altLang="zh-CN" sz="2800" b="1" dirty="0" smtClean="0"/>
              <a:t>bi</a:t>
            </a:r>
            <a:r>
              <a:rPr lang="zh-CN" altLang="en-US" sz="2800" b="1" dirty="0" smtClean="0"/>
              <a:t>，将有：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zh-CN" altLang="en-US" sz="2800" b="1" dirty="0" smtClean="0"/>
              <a:t>                         </a:t>
            </a:r>
            <a:r>
              <a:rPr lang="en-US" altLang="zh-CN" sz="2800" b="1" dirty="0" smtClean="0"/>
              <a:t>bi</a:t>
            </a:r>
            <a:r>
              <a:rPr lang="zh-CN" altLang="en-US" sz="2800" b="1" dirty="0" smtClean="0"/>
              <a:t>＝</a:t>
            </a:r>
            <a:r>
              <a:rPr lang="en-US" altLang="zh-CN" sz="2800" b="1" dirty="0" smtClean="0"/>
              <a:t>(Si</a:t>
            </a:r>
            <a:r>
              <a:rPr lang="zh-CN" altLang="en-US" sz="2800" b="1" dirty="0" smtClean="0"/>
              <a:t>／</a:t>
            </a:r>
            <a:r>
              <a:rPr lang="en-US" altLang="zh-CN" sz="2800" b="1" dirty="0" smtClean="0"/>
              <a:t>S) * m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z="2800" b="1" dirty="0" smtClean="0"/>
              <a:t>   bi</a:t>
            </a:r>
            <a:r>
              <a:rPr lang="zh-CN" altLang="en-US" sz="2800" b="1" dirty="0" smtClean="0"/>
              <a:t>应该取整，它必须大于最小物理块数。</a:t>
            </a:r>
          </a:p>
        </p:txBody>
      </p:sp>
    </p:spTree>
    <p:extLst>
      <p:ext uri="{BB962C8B-B14F-4D97-AF65-F5344CB8AC3E}">
        <p14:creationId xmlns="" xmlns:p14="http://schemas.microsoft.com/office/powerpoint/2010/main" val="257691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Rot="1" noChangeArrowheads="1"/>
          </p:cNvSpPr>
          <p:nvPr>
            <p:ph/>
          </p:nvPr>
        </p:nvSpPr>
        <p:spPr>
          <a:xfrm>
            <a:off x="323528" y="404664"/>
            <a:ext cx="8382000" cy="531872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b="1" dirty="0" smtClean="0">
                <a:solidFill>
                  <a:schemeClr val="folHlink"/>
                </a:solidFill>
              </a:rPr>
              <a:t> </a:t>
            </a:r>
            <a:r>
              <a:rPr lang="en-US" altLang="zh-CN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b="1" i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）考虑优先权的分配算法</a:t>
            </a:r>
            <a:r>
              <a:rPr lang="zh-CN" altLang="en-US" b="1" dirty="0" smtClean="0"/>
              <a:t>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/>
              <a:t>   通常采取的方法是把内存中可供分配的所有物理块分成两部分：</a:t>
            </a:r>
            <a:endParaRPr lang="en-US" altLang="zh-CN" b="1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zh-CN" altLang="en-US" b="1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/>
              <a:t>	</a:t>
            </a:r>
            <a:r>
              <a:rPr lang="zh-CN" altLang="en-US" b="1" i="1" dirty="0" smtClean="0">
                <a:solidFill>
                  <a:srgbClr val="FF0000"/>
                </a:solidFill>
              </a:rPr>
              <a:t>一部分按比例地分配给各进程；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b="1" dirty="0" smtClean="0"/>
              <a:t>	</a:t>
            </a:r>
            <a:r>
              <a:rPr lang="zh-CN" altLang="en-US" b="1" i="1" dirty="0" smtClean="0">
                <a:solidFill>
                  <a:srgbClr val="FF0000"/>
                </a:solidFill>
              </a:rPr>
              <a:t>另一部分则根据各进程的优先权，适当地增加其相应份额后，分配给各进程。 </a:t>
            </a:r>
            <a:endParaRPr lang="en-US" altLang="zh-CN" b="1" i="1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en-US" altLang="zh-CN" b="1" i="1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800" b="1" dirty="0" smtClean="0"/>
              <a:t>可以照顾重要的，紧迫的作业，使其尽快完成。</a:t>
            </a:r>
          </a:p>
        </p:txBody>
      </p:sp>
    </p:spTree>
    <p:extLst>
      <p:ext uri="{BB962C8B-B14F-4D97-AF65-F5344CB8AC3E}">
        <p14:creationId xmlns="" xmlns:p14="http://schemas.microsoft.com/office/powerpoint/2010/main" val="164729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 smtClean="0">
                <a:solidFill>
                  <a:schemeClr val="folHlink"/>
                </a:solidFill>
              </a:rPr>
              <a:t>5.2.3 </a:t>
            </a:r>
            <a:r>
              <a:rPr lang="zh-CN" altLang="en-US" b="1" dirty="0" smtClean="0">
                <a:solidFill>
                  <a:schemeClr val="folHlink"/>
                </a:solidFill>
              </a:rPr>
              <a:t>页面调入策略</a:t>
            </a:r>
          </a:p>
        </p:txBody>
      </p:sp>
      <p:sp>
        <p:nvSpPr>
          <p:cNvPr id="19968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 smtClean="0">
                <a:solidFill>
                  <a:schemeClr val="folHlink"/>
                </a:solidFill>
              </a:rPr>
              <a:t>解决的问题：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 smtClean="0"/>
              <a:t>1.</a:t>
            </a:r>
            <a:r>
              <a:rPr lang="zh-CN" altLang="en-US" b="1" dirty="0" smtClean="0"/>
              <a:t>系统应当在</a:t>
            </a:r>
            <a:r>
              <a:rPr lang="zh-CN" altLang="en-US" b="1" i="1" dirty="0" smtClean="0">
                <a:solidFill>
                  <a:schemeClr val="folHlink"/>
                </a:solidFill>
              </a:rPr>
              <a:t>何时</a:t>
            </a:r>
            <a:r>
              <a:rPr lang="zh-CN" altLang="en-US" b="1" dirty="0" smtClean="0"/>
              <a:t>把一个页面装入内存？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 smtClean="0"/>
              <a:t>2.</a:t>
            </a:r>
            <a:r>
              <a:rPr lang="zh-CN" altLang="en-US" b="1" dirty="0" smtClean="0">
                <a:solidFill>
                  <a:schemeClr val="folHlink"/>
                </a:solidFill>
              </a:rPr>
              <a:t>从何处</a:t>
            </a:r>
            <a:r>
              <a:rPr lang="zh-CN" altLang="en-US" b="1" dirty="0" smtClean="0"/>
              <a:t>调入页面？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 smtClean="0"/>
              <a:t>3.</a:t>
            </a:r>
            <a:r>
              <a:rPr lang="zh-CN" altLang="en-US" b="1" dirty="0" smtClean="0"/>
              <a:t>页面调入</a:t>
            </a:r>
            <a:r>
              <a:rPr lang="zh-CN" altLang="en-US" b="1" dirty="0" smtClean="0">
                <a:solidFill>
                  <a:schemeClr val="folHlink"/>
                </a:solidFill>
              </a:rPr>
              <a:t>过程</a:t>
            </a:r>
            <a:r>
              <a:rPr lang="zh-CN" altLang="en-US" b="1" dirty="0" smtClean="0"/>
              <a:t>？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 smtClean="0"/>
              <a:t>4.</a:t>
            </a:r>
            <a:r>
              <a:rPr lang="zh-CN" altLang="en-US" b="1" dirty="0" smtClean="0"/>
              <a:t>页面</a:t>
            </a:r>
            <a:r>
              <a:rPr lang="zh-CN" altLang="en-US" b="1" dirty="0" smtClean="0">
                <a:solidFill>
                  <a:schemeClr val="folHlink"/>
                </a:solidFill>
              </a:rPr>
              <a:t>置换算法？</a:t>
            </a:r>
          </a:p>
          <a:p>
            <a:pPr>
              <a:lnSpc>
                <a:spcPct val="120000"/>
              </a:lnSpc>
              <a:defRPr/>
            </a:pPr>
            <a:endParaRPr lang="zh-CN" altLang="en-US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28469953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609600"/>
            <a:ext cx="8077200" cy="1066800"/>
          </a:xfrm>
        </p:spPr>
        <p:txBody>
          <a:bodyPr/>
          <a:lstStyle/>
          <a:p>
            <a:pPr>
              <a:defRPr/>
            </a:pPr>
            <a:r>
              <a:rPr lang="en-US" altLang="zh-CN" sz="3200" b="1" smtClean="0"/>
              <a:t>1.</a:t>
            </a:r>
            <a:r>
              <a:rPr lang="zh-CN" altLang="en-US" sz="3200" b="1" smtClean="0"/>
              <a:t>系统应当在</a:t>
            </a:r>
            <a:r>
              <a:rPr lang="zh-CN" altLang="en-US" sz="3200" b="1" i="1" smtClean="0">
                <a:solidFill>
                  <a:schemeClr val="folHlink"/>
                </a:solidFill>
              </a:rPr>
              <a:t>何时</a:t>
            </a:r>
            <a:r>
              <a:rPr lang="zh-CN" altLang="en-US" sz="3200" b="1" smtClean="0"/>
              <a:t>把一个页面装入内存？</a:t>
            </a:r>
          </a:p>
        </p:txBody>
      </p:sp>
      <p:sp>
        <p:nvSpPr>
          <p:cNvPr id="20070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b="1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r>
              <a:rPr lang="zh-CN" altLang="en-US" b="1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预调页 </a:t>
            </a:r>
            <a:r>
              <a:rPr lang="en-US" altLang="zh-CN" b="1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(Prepaging)</a:t>
            </a:r>
          </a:p>
          <a:p>
            <a:pPr>
              <a:defRPr/>
            </a:pPr>
            <a:endParaRPr lang="zh-CN" altLang="en-US" b="1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r>
              <a:rPr lang="zh-CN" altLang="en-US" b="1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请求调页 </a:t>
            </a:r>
            <a:r>
              <a:rPr lang="en-US" altLang="zh-CN" b="1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(Demand Paging)</a:t>
            </a:r>
          </a:p>
          <a:p>
            <a:pPr>
              <a:defRPr/>
            </a:pPr>
            <a:endParaRPr lang="en-US" altLang="zh-CN" b="1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="" xmlns:p14="http://schemas.microsoft.com/office/powerpoint/2010/main" val="41517829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altLang="zh-CN" b="1" u="sng" dirty="0" smtClean="0">
                <a:solidFill>
                  <a:schemeClr val="folHlink"/>
                </a:solidFill>
              </a:rPr>
              <a:t>1</a:t>
            </a:r>
            <a:r>
              <a:rPr lang="zh-CN" altLang="en-US" b="1" u="sng" dirty="0" smtClean="0">
                <a:solidFill>
                  <a:schemeClr val="folHlink"/>
                </a:solidFill>
              </a:rPr>
              <a:t>）预调页方式</a:t>
            </a:r>
          </a:p>
        </p:txBody>
      </p:sp>
      <p:sp>
        <p:nvSpPr>
          <p:cNvPr id="2017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1148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b="1" dirty="0" smtClean="0"/>
              <a:t>可采用一种以预测为基础的预调页策略，将那些</a:t>
            </a:r>
            <a:r>
              <a:rPr lang="zh-CN" altLang="en-US" sz="2800" b="1" dirty="0" smtClean="0">
                <a:solidFill>
                  <a:schemeClr val="folHlink"/>
                </a:solidFill>
              </a:rPr>
              <a:t>预计在不久之后便会被访问的页面</a:t>
            </a:r>
            <a:r>
              <a:rPr lang="zh-CN" altLang="en-US" sz="2800" b="1" dirty="0" smtClean="0"/>
              <a:t>，预先调入内存。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b="1" dirty="0" smtClean="0"/>
              <a:t>处理过程：</a:t>
            </a:r>
          </a:p>
          <a:p>
            <a:pPr lvl="1">
              <a:lnSpc>
                <a:spcPct val="110000"/>
              </a:lnSpc>
              <a:defRPr/>
            </a:pPr>
            <a:r>
              <a:rPr lang="zh-CN" altLang="en-US" sz="2400" b="1" dirty="0" smtClean="0"/>
              <a:t>当进程创建时，预先为进程装入多个页面。</a:t>
            </a:r>
          </a:p>
          <a:p>
            <a:pPr lvl="1">
              <a:lnSpc>
                <a:spcPct val="110000"/>
              </a:lnSpc>
              <a:defRPr/>
            </a:pPr>
            <a:r>
              <a:rPr lang="zh-CN" altLang="en-US" sz="2400" b="1" dirty="0" smtClean="0"/>
              <a:t>缺页中断时，系统为进程装入指定的页面以及与之相临的多个页面。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/>
              <a:t>若局部性很差，预先装入的很多页面不会很快被引用，并会占用大量的内存空间，反而降低系统的效率。</a:t>
            </a:r>
            <a:r>
              <a:rPr lang="zh-CN" altLang="en-US" sz="2800" b="1" dirty="0" smtClean="0">
                <a:solidFill>
                  <a:schemeClr val="folHlink"/>
                </a:solidFill>
              </a:rPr>
              <a:t>预调页的成功率仅约</a:t>
            </a:r>
            <a:r>
              <a:rPr lang="en-US" altLang="zh-CN" sz="2800" b="1" dirty="0" smtClean="0">
                <a:solidFill>
                  <a:schemeClr val="folHlink"/>
                </a:solidFill>
              </a:rPr>
              <a:t>50</a:t>
            </a:r>
            <a:r>
              <a:rPr lang="zh-CN" altLang="en-US" sz="2800" b="1" dirty="0" smtClean="0">
                <a:solidFill>
                  <a:schemeClr val="folHlink"/>
                </a:solidFill>
              </a:rPr>
              <a:t>％。</a:t>
            </a:r>
            <a:endParaRPr lang="en-US" altLang="zh-CN" sz="2800" b="1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60979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zh-CN" altLang="en-US" b="1" u="sng" smtClean="0">
                <a:solidFill>
                  <a:schemeClr val="folHlink"/>
                </a:solidFill>
              </a:rPr>
              <a:t>请求调页</a:t>
            </a:r>
          </a:p>
        </p:txBody>
      </p:sp>
      <p:sp>
        <p:nvSpPr>
          <p:cNvPr id="2027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7924800" cy="41148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/>
              <a:t>仅当进程</a:t>
            </a:r>
            <a:r>
              <a:rPr lang="zh-CN" altLang="en-US" sz="2800" b="1" dirty="0" smtClean="0">
                <a:solidFill>
                  <a:schemeClr val="folHlink"/>
                </a:solidFill>
              </a:rPr>
              <a:t>执行过程中，通过检查页表发现相应页面不在内存时</a:t>
            </a:r>
            <a:r>
              <a:rPr lang="zh-CN" altLang="en-US" sz="2800" b="1" dirty="0" smtClean="0"/>
              <a:t>，才装入该页面。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/>
              <a:t>当进程刚开始执行时，由于预先未装入进程的页面，故需要频繁地申请装入页面。执行一段时间以后，进程的缺页率将下降。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/>
              <a:t>采用请求调页方式，一次装入请求的一个页面，磁盘</a:t>
            </a:r>
            <a:r>
              <a:rPr lang="en-US" altLang="zh-CN" sz="2800" b="1" dirty="0" smtClean="0"/>
              <a:t>I/O</a:t>
            </a:r>
            <a:r>
              <a:rPr lang="zh-CN" altLang="en-US" sz="2800" b="1" dirty="0" smtClean="0"/>
              <a:t>的启动频率较高，系统的开销较大。</a:t>
            </a:r>
          </a:p>
        </p:txBody>
      </p:sp>
    </p:spTree>
    <p:extLst>
      <p:ext uri="{BB962C8B-B14F-4D97-AF65-F5344CB8AC3E}">
        <p14:creationId xmlns="" xmlns:p14="http://schemas.microsoft.com/office/powerpoint/2010/main" val="24814616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81000" y="1673225"/>
            <a:ext cx="8305800" cy="4498975"/>
          </a:xfrm>
        </p:spPr>
        <p:txBody>
          <a:bodyPr/>
          <a:lstStyle/>
          <a:p>
            <a:r>
              <a:rPr lang="zh-CN" altLang="en-US" b="1" smtClean="0"/>
              <a:t>在请求分页系统中的外存分为两部分：</a:t>
            </a:r>
          </a:p>
          <a:p>
            <a:pPr lvl="1"/>
            <a:r>
              <a:rPr lang="zh-CN" altLang="en-US" b="1" smtClean="0">
                <a:solidFill>
                  <a:schemeClr val="folHlink"/>
                </a:solidFill>
              </a:rPr>
              <a:t>用于存放文件的文件区</a:t>
            </a:r>
          </a:p>
          <a:p>
            <a:pPr lvl="1"/>
            <a:r>
              <a:rPr lang="zh-CN" altLang="en-US" b="1" smtClean="0">
                <a:solidFill>
                  <a:schemeClr val="folHlink"/>
                </a:solidFill>
              </a:rPr>
              <a:t>用于存放对换页面的对换区。</a:t>
            </a:r>
            <a:r>
              <a:rPr lang="zh-CN" altLang="en-US" b="1" smtClean="0"/>
              <a:t>        </a:t>
            </a:r>
          </a:p>
          <a:p>
            <a:r>
              <a:rPr lang="zh-CN" altLang="en-US" b="1" smtClean="0"/>
              <a:t>通常，由于对换区是采用连续分配方式，而文件区是采用离散分配方式，故对换区的磁盘</a:t>
            </a:r>
            <a:r>
              <a:rPr lang="en-US" altLang="zh-CN" b="1" smtClean="0"/>
              <a:t>I/O </a:t>
            </a:r>
            <a:r>
              <a:rPr lang="zh-CN" altLang="en-US" b="1" smtClean="0"/>
              <a:t>速度比文件区的高。</a:t>
            </a:r>
            <a:endParaRPr lang="en-US" altLang="zh-CN" b="1" smtClean="0"/>
          </a:p>
          <a:p>
            <a:r>
              <a:rPr lang="zh-CN" altLang="en-US" b="1" smtClean="0"/>
              <a:t>这样，每当发生缺页请求时，系统应从何处将缺页调入内存，可分成如下三种情况。</a:t>
            </a:r>
          </a:p>
        </p:txBody>
      </p:sp>
      <p:sp>
        <p:nvSpPr>
          <p:cNvPr id="2037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CN" b="1" smtClean="0">
                <a:solidFill>
                  <a:schemeClr val="folHlink"/>
                </a:solidFill>
              </a:rPr>
              <a:t>2.</a:t>
            </a:r>
            <a:r>
              <a:rPr lang="zh-CN" altLang="en-US" b="1" smtClean="0">
                <a:solidFill>
                  <a:schemeClr val="folHlink"/>
                </a:solidFill>
              </a:rPr>
              <a:t>从何处调入页面？</a:t>
            </a:r>
          </a:p>
        </p:txBody>
      </p:sp>
    </p:spTree>
    <p:extLst>
      <p:ext uri="{BB962C8B-B14F-4D97-AF65-F5344CB8AC3E}">
        <p14:creationId xmlns="" xmlns:p14="http://schemas.microsoft.com/office/powerpoint/2010/main" val="37779005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rrowheads="1"/>
          </p:cNvSpPr>
          <p:nvPr>
            <p:ph/>
          </p:nvPr>
        </p:nvSpPr>
        <p:spPr>
          <a:xfrm>
            <a:off x="381000" y="1524000"/>
            <a:ext cx="8229600" cy="46482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）</a:t>
            </a:r>
            <a:r>
              <a:rPr lang="zh-CN" altLang="en-US" sz="2800" b="1" dirty="0" smtClean="0">
                <a:solidFill>
                  <a:schemeClr val="folHlink"/>
                </a:solidFill>
              </a:rPr>
              <a:t>系统拥有足够的对换区空间</a:t>
            </a:r>
            <a:r>
              <a:rPr lang="zh-CN" altLang="en-US" sz="2800" b="1" dirty="0" smtClean="0"/>
              <a:t>，这时可以全部从对换区调入所需页面，以提高调页的速度。 </a:t>
            </a:r>
          </a:p>
          <a:p>
            <a:pPr eaLnBrk="1" hangingPunct="1">
              <a:lnSpc>
                <a:spcPct val="40000"/>
              </a:lnSpc>
              <a:buFont typeface="Wingdings" pitchFamily="2" charset="2"/>
              <a:buNone/>
            </a:pPr>
            <a:endParaRPr lang="zh-CN" altLang="en-US" sz="2800" b="1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2</a:t>
            </a:r>
            <a:r>
              <a:rPr lang="zh-CN" altLang="en-US" sz="2800" b="1" dirty="0" smtClean="0"/>
              <a:t>）</a:t>
            </a:r>
            <a:r>
              <a:rPr kumimoji="1" lang="zh-CN" altLang="en-US" sz="2800" b="1" dirty="0" smtClean="0">
                <a:solidFill>
                  <a:schemeClr val="folHlink"/>
                </a:solidFill>
              </a:rPr>
              <a:t>系统缺少足够的对换区空间</a:t>
            </a:r>
            <a:r>
              <a:rPr kumimoji="1" lang="zh-CN" altLang="en-US" sz="2800" b="1" dirty="0" smtClean="0"/>
              <a:t>，</a:t>
            </a:r>
            <a:r>
              <a:rPr kumimoji="1" lang="zh-CN" altLang="en-US" sz="2800" b="1" dirty="0" smtClean="0">
                <a:solidFill>
                  <a:srgbClr val="FF0000"/>
                </a:solidFill>
              </a:rPr>
              <a:t>这时凡是不会被修改的文件，都直接从文件区调入；</a:t>
            </a:r>
            <a:endParaRPr kumimoji="1" lang="en-US" altLang="zh-CN" sz="2800" b="1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kumimoji="1" lang="zh-CN" altLang="en-US" b="1" dirty="0" smtClean="0"/>
              <a:t>而当换出这些页面时，由于它们未被修改而不必再将它们重写到磁盘（换出），以后再调入时，仍从文件区直接调入。</a:t>
            </a:r>
            <a:endParaRPr kumimoji="1" lang="en-US" altLang="zh-CN" b="1" dirty="0" smtClean="0"/>
          </a:p>
          <a:p>
            <a:pPr lvl="1" eaLnBrk="1" hangingPunct="1">
              <a:lnSpc>
                <a:spcPct val="110000"/>
              </a:lnSpc>
            </a:pPr>
            <a:r>
              <a:rPr kumimoji="1" lang="zh-CN" altLang="en-US" b="1" dirty="0" smtClean="0"/>
              <a:t>但对于那些可能被修改的部分，在将它们换出时，便须调到对换区，以后需要时，再从对换区调入。</a:t>
            </a:r>
            <a:endParaRPr lang="zh-CN" altLang="en-US" b="1" dirty="0" smtClean="0"/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1981200" y="454025"/>
            <a:ext cx="5133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CN" sz="44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2.</a:t>
            </a:r>
            <a:r>
              <a:rPr lang="zh-CN" altLang="en-US" sz="44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从何处调入页面？</a:t>
            </a:r>
          </a:p>
        </p:txBody>
      </p:sp>
    </p:spTree>
    <p:extLst>
      <p:ext uri="{BB962C8B-B14F-4D97-AF65-F5344CB8AC3E}">
        <p14:creationId xmlns="" xmlns:p14="http://schemas.microsoft.com/office/powerpoint/2010/main" val="68724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endParaRPr lang="zh-CN" altLang="en-US" smtClean="0">
              <a:effectLst/>
            </a:endParaRPr>
          </a:p>
        </p:txBody>
      </p:sp>
      <p:sp>
        <p:nvSpPr>
          <p:cNvPr id="1536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2133600"/>
            <a:ext cx="8077200" cy="40386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 smtClean="0"/>
              <a:t>（</a:t>
            </a:r>
            <a:r>
              <a:rPr lang="en-US" altLang="zh-CN" sz="2800" b="1" smtClean="0"/>
              <a:t>3</a:t>
            </a:r>
            <a:r>
              <a:rPr lang="zh-CN" altLang="en-US" sz="2800" b="1" smtClean="0"/>
              <a:t>）</a:t>
            </a:r>
            <a:r>
              <a:rPr lang="en-US" altLang="zh-CN" sz="2800" b="1" smtClean="0">
                <a:solidFill>
                  <a:schemeClr val="folHlink"/>
                </a:solidFill>
              </a:rPr>
              <a:t>UNIX</a:t>
            </a:r>
            <a:r>
              <a:rPr lang="zh-CN" altLang="en-US" sz="2800" b="1" smtClean="0">
                <a:solidFill>
                  <a:schemeClr val="folHlink"/>
                </a:solidFill>
              </a:rPr>
              <a:t>方式。</a:t>
            </a:r>
            <a:r>
              <a:rPr lang="zh-CN" altLang="en-US" sz="2800" b="1" smtClean="0"/>
              <a:t>由于与进程有关的文件都放在文件区，应从文件区调入。故凡是未运行过的页面，都应从文件区调入。</a:t>
            </a:r>
            <a:endParaRPr lang="en-US" altLang="zh-CN" sz="2800" b="1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smtClean="0"/>
              <a:t>	</a:t>
            </a:r>
            <a:r>
              <a:rPr lang="zh-CN" altLang="en-US" sz="2800" b="1" smtClean="0"/>
              <a:t>而对于曾经运行过但又被换出的页面，由于是被放在对换区，因此在下次调入时，应从对换区调入。 </a:t>
            </a:r>
          </a:p>
          <a:p>
            <a:endParaRPr lang="zh-CN" altLang="en-US" sz="2800" smtClean="0"/>
          </a:p>
        </p:txBody>
      </p:sp>
    </p:spTree>
    <p:extLst>
      <p:ext uri="{BB962C8B-B14F-4D97-AF65-F5344CB8AC3E}">
        <p14:creationId xmlns="" xmlns:p14="http://schemas.microsoft.com/office/powerpoint/2010/main" val="15205140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Rot="1" noChangeArrowheads="1"/>
          </p:cNvSpPr>
          <p:nvPr>
            <p:ph/>
          </p:nvPr>
        </p:nvSpPr>
        <p:spPr>
          <a:xfrm>
            <a:off x="457200" y="285728"/>
            <a:ext cx="8458200" cy="6291285"/>
          </a:xfrm>
        </p:spPr>
        <p:txBody>
          <a:bodyPr>
            <a:normAutofit/>
          </a:bodyPr>
          <a:lstStyle/>
          <a:p>
            <a:pPr marL="609600" indent="-609600">
              <a:lnSpc>
                <a:spcPct val="120000"/>
              </a:lnSpc>
              <a:defRPr/>
            </a:pPr>
            <a:r>
              <a:rPr lang="en-US" altLang="zh-CN" sz="40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3.</a:t>
            </a:r>
            <a:r>
              <a:rPr lang="zh-CN" altLang="en-US" sz="40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页面调入过程？</a:t>
            </a:r>
          </a:p>
          <a:p>
            <a:pPr marL="609600" indent="-6096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400" b="1" dirty="0" smtClean="0"/>
              <a:t>①每当程序所要访问的页面未在内存时，便向</a:t>
            </a:r>
            <a:r>
              <a:rPr lang="en-US" altLang="zh-CN" sz="2400" b="1" dirty="0" smtClean="0"/>
              <a:t>CPU</a:t>
            </a:r>
            <a:r>
              <a:rPr lang="zh-CN" altLang="en-US" sz="2400" b="1" dirty="0" smtClean="0"/>
              <a:t>发出一缺页中断。</a:t>
            </a:r>
          </a:p>
          <a:p>
            <a:pPr marL="609600" indent="-6096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400" b="1" dirty="0" smtClean="0"/>
              <a:t>②中断处理程序首先保留</a:t>
            </a:r>
            <a:r>
              <a:rPr lang="en-US" altLang="zh-CN" sz="2400" b="1" dirty="0" smtClean="0"/>
              <a:t>CPU</a:t>
            </a:r>
            <a:r>
              <a:rPr lang="zh-CN" altLang="en-US" sz="2400" b="1" dirty="0" smtClean="0"/>
              <a:t>环境，分析中断原因后，转入缺页中断处理程序。 </a:t>
            </a:r>
          </a:p>
          <a:p>
            <a:pPr marL="609600" indent="-6096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400" b="1" dirty="0" smtClean="0"/>
              <a:t>③如果内存已满，则须先按照某种置换算法从内存中选出一页准备换出；</a:t>
            </a:r>
            <a:r>
              <a:rPr lang="zh-CN" altLang="en-US" sz="2400" b="1" i="1" u="sng" dirty="0" smtClean="0">
                <a:solidFill>
                  <a:srgbClr val="FF0000"/>
                </a:solidFill>
              </a:rPr>
              <a:t>如果此页已被修改，则必须将它写回磁盘。</a:t>
            </a:r>
          </a:p>
          <a:p>
            <a:pPr marL="609600" indent="-6096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400" b="1" dirty="0" smtClean="0"/>
              <a:t>④然后再把所缺的页调入内存，并修改页表中的相应表项，</a:t>
            </a:r>
            <a:r>
              <a:rPr lang="zh-CN" altLang="en-US" sz="2400" b="1" i="1" u="sng" dirty="0" smtClean="0">
                <a:solidFill>
                  <a:srgbClr val="FF0000"/>
                </a:solidFill>
              </a:rPr>
              <a:t>置其存在位为</a:t>
            </a:r>
            <a:r>
              <a:rPr lang="zh-CN" altLang="en-US" sz="2400" b="1" i="1" u="sng" dirty="0" smtClean="0">
                <a:solidFill>
                  <a:srgbClr val="FF0000"/>
                </a:solidFill>
                <a:latin typeface="Courier New" pitchFamily="49" charset="0"/>
              </a:rPr>
              <a:t>“</a:t>
            </a:r>
            <a:r>
              <a:rPr lang="en-US" altLang="zh-CN" sz="2400" b="1" i="1" u="sng" dirty="0" smtClean="0">
                <a:solidFill>
                  <a:srgbClr val="FF0000"/>
                </a:solidFill>
              </a:rPr>
              <a:t>1</a:t>
            </a:r>
            <a:r>
              <a:rPr lang="en-US" altLang="zh-CN" sz="2400" b="1" i="1" u="sng" dirty="0" smtClean="0">
                <a:solidFill>
                  <a:srgbClr val="FF0000"/>
                </a:solidFill>
                <a:latin typeface="Courier New" pitchFamily="49" charset="0"/>
              </a:rPr>
              <a:t>”</a:t>
            </a:r>
            <a:r>
              <a:rPr lang="zh-CN" altLang="en-US" sz="2400" b="1" dirty="0" smtClean="0"/>
              <a:t>，并将此页表项写入快表中。 </a:t>
            </a:r>
          </a:p>
          <a:p>
            <a:pPr marL="609600" indent="-6096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400" b="1" dirty="0" smtClean="0"/>
              <a:t>⑤形成所要访问数据的物理地址，再去访问内存数据。 </a:t>
            </a:r>
          </a:p>
          <a:p>
            <a:pPr marL="609600" indent="-609600" eaLnBrk="1" hangingPunct="1">
              <a:lnSpc>
                <a:spcPct val="110000"/>
              </a:lnSpc>
              <a:defRPr/>
            </a:pP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整个页面的调入过程对用户是透明的。 </a:t>
            </a:r>
          </a:p>
        </p:txBody>
      </p:sp>
    </p:spTree>
    <p:extLst>
      <p:ext uri="{BB962C8B-B14F-4D97-AF65-F5344CB8AC3E}">
        <p14:creationId xmlns="" xmlns:p14="http://schemas.microsoft.com/office/powerpoint/2010/main" val="283229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最佳</a:t>
            </a: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优</a:t>
            </a: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置换算法</a:t>
            </a:r>
          </a:p>
          <a:p>
            <a:pPr>
              <a:defRPr/>
            </a:pP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先进先出（</a:t>
            </a: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FIFO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）页面置换算法</a:t>
            </a:r>
          </a:p>
          <a:p>
            <a:pPr>
              <a:defRPr/>
            </a:pPr>
            <a:r>
              <a:rPr lang="en-US" altLang="zh-CN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r>
              <a:rPr lang="en-US" altLang="zh-CN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</a:t>
            </a:r>
            <a:r>
              <a:rPr lang="zh-CN" altLang="en-US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最近最久未使用（</a:t>
            </a:r>
            <a:r>
              <a:rPr lang="en-US" altLang="zh-CN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LRU</a:t>
            </a:r>
            <a:r>
              <a:rPr lang="zh-CN" altLang="en-US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）置换算法</a:t>
            </a:r>
          </a:p>
          <a:p>
            <a:pPr>
              <a:defRPr/>
            </a:pP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Clock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置换算法</a:t>
            </a:r>
          </a:p>
          <a:p>
            <a:pPr>
              <a:defRPr/>
            </a:pP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）改进型</a:t>
            </a:r>
            <a:r>
              <a:rPr lang="en-US" altLang="zh-CN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Clock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置换算法</a:t>
            </a:r>
          </a:p>
        </p:txBody>
      </p:sp>
      <p:sp>
        <p:nvSpPr>
          <p:cNvPr id="523268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 smtClean="0">
                <a:solidFill>
                  <a:schemeClr val="folHlink"/>
                </a:solidFill>
              </a:rPr>
              <a:t>5.3 </a:t>
            </a:r>
            <a:r>
              <a:rPr lang="zh-CN" altLang="en-US" b="1" dirty="0" smtClean="0">
                <a:solidFill>
                  <a:schemeClr val="folHlink"/>
                </a:solidFill>
              </a:rPr>
              <a:t>页面置换算法</a:t>
            </a:r>
          </a:p>
        </p:txBody>
      </p:sp>
    </p:spTree>
    <p:extLst>
      <p:ext uri="{BB962C8B-B14F-4D97-AF65-F5344CB8AC3E}">
        <p14:creationId xmlns="" xmlns:p14="http://schemas.microsoft.com/office/powerpoint/2010/main" val="21465483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1" name="Rectangle 3"/>
          <p:cNvSpPr>
            <a:spLocks noChangeArrowheads="1"/>
          </p:cNvSpPr>
          <p:nvPr/>
        </p:nvSpPr>
        <p:spPr bwMode="auto">
          <a:xfrm>
            <a:off x="762000" y="260648"/>
            <a:ext cx="4572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缺页率的计算</a:t>
            </a:r>
            <a:endParaRPr lang="zh-CN" altLang="en-US" sz="36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/>
          </p:nvPr>
        </p:nvSpPr>
        <p:spPr>
          <a:xfrm>
            <a:off x="381000" y="870248"/>
            <a:ext cx="8458200" cy="2667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 smtClean="0"/>
              <a:t>假设：逻辑空间为</a:t>
            </a:r>
            <a:r>
              <a:rPr lang="en-US" altLang="zh-CN" sz="2800" b="1" dirty="0" smtClean="0"/>
              <a:t>n</a:t>
            </a:r>
            <a:r>
              <a:rPr lang="zh-CN" altLang="en-US" sz="2800" b="1" dirty="0" smtClean="0"/>
              <a:t>页，内存物理块数为</a:t>
            </a:r>
            <a:r>
              <a:rPr lang="en-US" altLang="zh-CN" sz="2800" b="1" dirty="0" smtClean="0"/>
              <a:t>m(m&lt;=n)</a:t>
            </a:r>
            <a:r>
              <a:rPr lang="zh-CN" altLang="en-US" sz="2800" b="1" dirty="0" smtClean="0"/>
              <a:t>，在运行期间访问页面成功</a:t>
            </a:r>
            <a:r>
              <a:rPr lang="en-US" altLang="zh-CN" sz="2800" b="1" dirty="0" smtClean="0"/>
              <a:t>S</a:t>
            </a:r>
            <a:r>
              <a:rPr lang="zh-CN" altLang="en-US" sz="2800" b="1" dirty="0" smtClean="0"/>
              <a:t>次，失败</a:t>
            </a:r>
            <a:r>
              <a:rPr lang="en-US" altLang="zh-CN" sz="2800" b="1" dirty="0" smtClean="0"/>
              <a:t>F</a:t>
            </a:r>
            <a:r>
              <a:rPr lang="zh-CN" altLang="en-US" sz="2800" b="1" dirty="0" smtClean="0"/>
              <a:t>次，总访问次数为</a:t>
            </a:r>
            <a:r>
              <a:rPr lang="en-US" altLang="zh-CN" sz="2800" b="1" dirty="0" smtClean="0"/>
              <a:t>A=S+F</a:t>
            </a:r>
            <a:r>
              <a:rPr lang="zh-CN" altLang="en-US" sz="2800" b="1" dirty="0" smtClean="0"/>
              <a:t>次，则缺页率为：</a:t>
            </a:r>
          </a:p>
          <a:p>
            <a:pPr eaLnBrk="1" hangingPunct="1">
              <a:lnSpc>
                <a:spcPct val="120000"/>
              </a:lnSpc>
            </a:pPr>
            <a:endParaRPr lang="en-US" altLang="zh-CN" sz="2800" b="1" dirty="0" smtClean="0"/>
          </a:p>
        </p:txBody>
      </p:sp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57600" y="3081247"/>
            <a:ext cx="1175002" cy="1033553"/>
          </a:xfrm>
          <a:prstGeom prst="rect">
            <a:avLst/>
          </a:prstGeom>
          <a:blipFill rotWithShape="0">
            <a:blip r:embed="rId2" cstate="print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79476" y="4005064"/>
            <a:ext cx="812482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缺页率的影响因素：</a:t>
            </a:r>
            <a:endParaRPr lang="en-US" altLang="zh-CN" sz="28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/>
              <a:t>页面大小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/>
              <a:t>进程所分配物理块的数目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/>
              <a:t>页面置换算法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/>
              <a:t>程序的固有特性</a:t>
            </a:r>
            <a:endParaRPr lang="en-US" altLang="zh-CN" sz="2400" dirty="0"/>
          </a:p>
        </p:txBody>
      </p:sp>
    </p:spTree>
    <p:extLst>
      <p:ext uri="{BB962C8B-B14F-4D97-AF65-F5344CB8AC3E}">
        <p14:creationId xmlns="" xmlns:p14="http://schemas.microsoft.com/office/powerpoint/2010/main" val="12909521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1676400"/>
            <a:ext cx="8077200" cy="4724400"/>
          </a:xfrm>
        </p:spPr>
        <p:txBody>
          <a:bodyPr/>
          <a:lstStyle/>
          <a:p>
            <a:pPr algn="just" eaLnBrk="1" hangingPunct="1"/>
            <a:r>
              <a:rPr lang="zh-CN" altLang="en-US" sz="2800" b="1" dirty="0" smtClean="0"/>
              <a:t>最佳置换算法是由</a:t>
            </a:r>
            <a:r>
              <a:rPr lang="en-US" altLang="zh-CN" sz="2800" b="1" dirty="0" err="1" smtClean="0"/>
              <a:t>Belady</a:t>
            </a:r>
            <a:r>
              <a:rPr lang="zh-CN" altLang="en-US" sz="2800" b="1" dirty="0" smtClean="0"/>
              <a:t>于</a:t>
            </a:r>
            <a:r>
              <a:rPr lang="en-US" altLang="zh-CN" sz="2800" b="1" dirty="0" smtClean="0"/>
              <a:t>1966</a:t>
            </a:r>
            <a:r>
              <a:rPr lang="zh-CN" altLang="en-US" sz="2800" b="1" dirty="0" smtClean="0"/>
              <a:t>年提出的一种理论上的算法。 其</a:t>
            </a:r>
            <a:r>
              <a:rPr lang="zh-CN" altLang="en-US" sz="2800" b="1" dirty="0" smtClean="0">
                <a:solidFill>
                  <a:schemeClr val="folHlink"/>
                </a:solidFill>
              </a:rPr>
              <a:t>所选择的被淘汰页面，</a:t>
            </a:r>
            <a:r>
              <a:rPr lang="zh-CN" altLang="en-US" sz="2800" b="1" i="1" u="sng" dirty="0" smtClean="0">
                <a:solidFill>
                  <a:srgbClr val="FF0000"/>
                </a:solidFill>
              </a:rPr>
              <a:t>将是以后永不使用的， 或许是在最长</a:t>
            </a:r>
            <a:r>
              <a:rPr lang="en-US" altLang="zh-CN" sz="2800" b="1" i="1" u="sng" dirty="0" smtClean="0">
                <a:solidFill>
                  <a:srgbClr val="FF0000"/>
                </a:solidFill>
              </a:rPr>
              <a:t>(</a:t>
            </a:r>
            <a:r>
              <a:rPr lang="zh-CN" altLang="en-US" sz="2800" b="1" i="1" u="sng" dirty="0" smtClean="0">
                <a:solidFill>
                  <a:srgbClr val="FF0000"/>
                </a:solidFill>
              </a:rPr>
              <a:t>未来</a:t>
            </a:r>
            <a:r>
              <a:rPr lang="en-US" altLang="zh-CN" sz="2800" b="1" i="1" u="sng" dirty="0" smtClean="0">
                <a:solidFill>
                  <a:srgbClr val="FF0000"/>
                </a:solidFill>
              </a:rPr>
              <a:t>)</a:t>
            </a:r>
            <a:r>
              <a:rPr lang="zh-CN" altLang="en-US" sz="2800" b="1" i="1" u="sng" dirty="0" smtClean="0">
                <a:solidFill>
                  <a:srgbClr val="FF0000"/>
                </a:solidFill>
              </a:rPr>
              <a:t>时间内不再被访问的页面。</a:t>
            </a:r>
          </a:p>
          <a:p>
            <a:pPr algn="just" eaLnBrk="1" hangingPunct="1"/>
            <a:r>
              <a:rPr lang="zh-CN" altLang="en-US" sz="2800" b="1" dirty="0" smtClean="0"/>
              <a:t>采用最佳置换算法，通常可保证获得最低的缺页率。</a:t>
            </a:r>
            <a:r>
              <a:rPr lang="zh-CN" altLang="en-US" sz="2800" dirty="0" smtClean="0"/>
              <a:t> </a:t>
            </a:r>
            <a:endParaRPr lang="zh-CN" altLang="en-US" sz="2800" b="1" dirty="0" smtClean="0"/>
          </a:p>
          <a:p>
            <a:pPr algn="just" eaLnBrk="1" hangingPunct="1"/>
            <a:r>
              <a:rPr lang="zh-CN" altLang="en-US" sz="2800" b="1" dirty="0" smtClean="0"/>
              <a:t>最佳置换算法是一种理想化的算法，它具有最好的性能，但实际上却难于实现。 </a:t>
            </a:r>
          </a:p>
          <a:p>
            <a:pPr algn="just" eaLnBrk="1" hangingPunct="1"/>
            <a:endParaRPr lang="en-US" altLang="zh-CN" sz="2800" b="1" dirty="0" smtClean="0"/>
          </a:p>
        </p:txBody>
      </p:sp>
      <p:sp>
        <p:nvSpPr>
          <p:cNvPr id="523268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 smtClean="0">
                <a:solidFill>
                  <a:schemeClr val="folHlink"/>
                </a:solidFill>
              </a:rPr>
              <a:t>1</a:t>
            </a:r>
            <a:r>
              <a:rPr lang="zh-CN" altLang="en-US" b="1" dirty="0" smtClean="0">
                <a:solidFill>
                  <a:schemeClr val="folHlink"/>
                </a:solidFill>
              </a:rPr>
              <a:t>）</a:t>
            </a:r>
            <a:r>
              <a:rPr lang="en-US" altLang="zh-CN" b="1" dirty="0" smtClean="0">
                <a:solidFill>
                  <a:schemeClr val="folHlink"/>
                </a:solidFill>
              </a:rPr>
              <a:t>.</a:t>
            </a:r>
            <a:r>
              <a:rPr lang="zh-CN" altLang="en-US" b="1" dirty="0" smtClean="0">
                <a:solidFill>
                  <a:schemeClr val="folHlink"/>
                </a:solidFill>
              </a:rPr>
              <a:t>最佳</a:t>
            </a:r>
            <a:r>
              <a:rPr lang="en-US" altLang="zh-CN" b="1" dirty="0" smtClean="0">
                <a:solidFill>
                  <a:schemeClr val="folHlink"/>
                </a:solidFill>
              </a:rPr>
              <a:t>(</a:t>
            </a:r>
            <a:r>
              <a:rPr lang="zh-CN" altLang="en-US" b="1" dirty="0" smtClean="0">
                <a:solidFill>
                  <a:schemeClr val="folHlink"/>
                </a:solidFill>
              </a:rPr>
              <a:t>优</a:t>
            </a:r>
            <a:r>
              <a:rPr lang="en-US" altLang="zh-CN" b="1" dirty="0" smtClean="0">
                <a:solidFill>
                  <a:schemeClr val="folHlink"/>
                </a:solidFill>
              </a:rPr>
              <a:t>)</a:t>
            </a:r>
            <a:r>
              <a:rPr lang="zh-CN" altLang="en-US" b="1" dirty="0" smtClean="0">
                <a:solidFill>
                  <a:schemeClr val="folHlink"/>
                </a:solidFill>
              </a:rPr>
              <a:t>置换算法</a:t>
            </a:r>
            <a:r>
              <a:rPr lang="zh-CN" altLang="en-US" b="1" dirty="0" smtClean="0"/>
              <a:t> </a:t>
            </a:r>
            <a:endParaRPr lang="zh-CN" altLang="en-US" b="1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54177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71414"/>
            <a:ext cx="8077200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 smtClean="0">
                <a:solidFill>
                  <a:schemeClr val="folHlink"/>
                </a:solidFill>
              </a:rPr>
              <a:t>最佳</a:t>
            </a:r>
            <a:r>
              <a:rPr lang="en-US" altLang="zh-CN" b="1" dirty="0" smtClean="0">
                <a:solidFill>
                  <a:schemeClr val="folHlink"/>
                </a:solidFill>
              </a:rPr>
              <a:t>(</a:t>
            </a:r>
            <a:r>
              <a:rPr lang="zh-CN" altLang="en-US" b="1" dirty="0" smtClean="0">
                <a:solidFill>
                  <a:schemeClr val="folHlink"/>
                </a:solidFill>
              </a:rPr>
              <a:t>优</a:t>
            </a:r>
            <a:r>
              <a:rPr lang="en-US" altLang="zh-CN" b="1" dirty="0" smtClean="0">
                <a:solidFill>
                  <a:schemeClr val="folHlink"/>
                </a:solidFill>
              </a:rPr>
              <a:t>)</a:t>
            </a:r>
            <a:r>
              <a:rPr lang="zh-CN" altLang="en-US" b="1" dirty="0" smtClean="0">
                <a:solidFill>
                  <a:schemeClr val="folHlink"/>
                </a:solidFill>
              </a:rPr>
              <a:t>置换算法举例</a:t>
            </a:r>
            <a:r>
              <a:rPr lang="en-US" altLang="zh-CN" b="1" dirty="0" smtClean="0">
                <a:solidFill>
                  <a:schemeClr val="folHlink"/>
                </a:solidFill>
              </a:rPr>
              <a:t>:</a:t>
            </a:r>
          </a:p>
        </p:txBody>
      </p:sp>
      <p:sp>
        <p:nvSpPr>
          <p:cNvPr id="10244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52400" y="1142984"/>
            <a:ext cx="8777318" cy="2774950"/>
          </a:xfrm>
        </p:spPr>
        <p:txBody>
          <a:bodyPr>
            <a:normAutofit/>
          </a:bodyPr>
          <a:lstStyle/>
          <a:p>
            <a:r>
              <a:rPr lang="zh-CN" altLang="en-US" sz="2400" b="1" dirty="0" smtClean="0"/>
              <a:t>假定系统为某进程分配了三个物理块， 并考虑有以下的页面访问序列：</a:t>
            </a:r>
          </a:p>
          <a:p>
            <a:r>
              <a:rPr lang="en-US" altLang="zh-CN" sz="2400" b="1" dirty="0" smtClean="0"/>
              <a:t>7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4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7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1</a:t>
            </a:r>
          </a:p>
          <a:p>
            <a:r>
              <a:rPr lang="zh-CN" altLang="en-US" sz="2400" b="1" dirty="0" smtClean="0">
                <a:solidFill>
                  <a:srgbClr val="FFC000"/>
                </a:solidFill>
              </a:rPr>
              <a:t>（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共产生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6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次置换</a:t>
            </a:r>
            <a:r>
              <a:rPr lang="zh-CN" altLang="en-US" sz="2000" dirty="0" smtClean="0">
                <a:solidFill>
                  <a:srgbClr val="FF0000"/>
                </a:solidFill>
              </a:rPr>
              <a:t> ）</a:t>
            </a:r>
          </a:p>
        </p:txBody>
      </p:sp>
      <p:graphicFrame>
        <p:nvGraphicFramePr>
          <p:cNvPr id="1024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915457509"/>
              </p:ext>
            </p:extLst>
          </p:nvPr>
        </p:nvGraphicFramePr>
        <p:xfrm>
          <a:off x="35496" y="3429000"/>
          <a:ext cx="9144000" cy="2505075"/>
        </p:xfrm>
        <a:graphic>
          <a:graphicData uri="http://schemas.openxmlformats.org/presentationml/2006/ole">
            <p:oleObj spid="_x0000_s132148" name="Visio" r:id="rId3" imgW="4313196" imgH="1217020" progId="">
              <p:embed/>
            </p:oleObj>
          </a:graphicData>
        </a:graphic>
      </p:graphicFrame>
      <p:sp>
        <p:nvSpPr>
          <p:cNvPr id="10246" name="Rectangle 9"/>
          <p:cNvSpPr>
            <a:spLocks noChangeArrowheads="1"/>
          </p:cNvSpPr>
          <p:nvPr/>
        </p:nvSpPr>
        <p:spPr bwMode="auto">
          <a:xfrm>
            <a:off x="2209800" y="6234113"/>
            <a:ext cx="4387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000">
                <a:solidFill>
                  <a:srgbClr val="000000"/>
                </a:solidFill>
              </a:rPr>
              <a:t>图 利用最佳页面置换算法时的置换图 </a:t>
            </a:r>
          </a:p>
        </p:txBody>
      </p:sp>
    </p:spTree>
    <p:extLst>
      <p:ext uri="{BB962C8B-B14F-4D97-AF65-F5344CB8AC3E}">
        <p14:creationId xmlns="" xmlns:p14="http://schemas.microsoft.com/office/powerpoint/2010/main" val="3455607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1600200"/>
            <a:ext cx="7924800" cy="1600200"/>
          </a:xfrm>
        </p:spPr>
        <p:txBody>
          <a:bodyPr/>
          <a:lstStyle/>
          <a:p>
            <a:pPr eaLnBrk="1" hangingPunct="1"/>
            <a:r>
              <a:rPr lang="zh-CN" altLang="en-US" b="1" dirty="0" smtClean="0"/>
              <a:t>该算法总是</a:t>
            </a:r>
            <a:r>
              <a:rPr lang="zh-CN" altLang="en-US" b="1" dirty="0" smtClean="0">
                <a:solidFill>
                  <a:schemeClr val="folHlink"/>
                </a:solidFill>
              </a:rPr>
              <a:t>淘汰最先进入内存的页面</a:t>
            </a:r>
            <a:r>
              <a:rPr lang="zh-CN" altLang="en-US" b="1" dirty="0" smtClean="0"/>
              <a:t>，即选择在内存中驻留时间最久的页面予以淘汰 </a:t>
            </a:r>
            <a:r>
              <a:rPr lang="en-US" altLang="zh-CN" b="1" dirty="0" smtClean="0"/>
              <a:t>. </a:t>
            </a:r>
            <a:r>
              <a:rPr lang="zh-CN" altLang="en-US" b="1" dirty="0" smtClean="0">
                <a:solidFill>
                  <a:srgbClr val="FF0000"/>
                </a:solidFill>
              </a:rPr>
              <a:t>（共产生</a:t>
            </a:r>
            <a:r>
              <a:rPr lang="en-US" altLang="zh-CN" b="1" dirty="0" smtClean="0">
                <a:solidFill>
                  <a:srgbClr val="FF0000"/>
                </a:solidFill>
              </a:rPr>
              <a:t>12</a:t>
            </a:r>
            <a:r>
              <a:rPr lang="zh-CN" altLang="en-US" b="1" dirty="0" smtClean="0">
                <a:solidFill>
                  <a:srgbClr val="FF0000"/>
                </a:solidFill>
              </a:rPr>
              <a:t>次置换）</a:t>
            </a:r>
            <a:endParaRPr lang="en-US" altLang="zh-CN" b="1" dirty="0" smtClean="0">
              <a:solidFill>
                <a:srgbClr val="FF0000"/>
              </a:solidFill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871663" y="26812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25318" name="Rectangle 6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smtClean="0">
                <a:solidFill>
                  <a:schemeClr val="folHlink"/>
                </a:solidFill>
              </a:rPr>
              <a:t>2</a:t>
            </a:r>
            <a:r>
              <a:rPr lang="zh-CN" altLang="en-US" sz="3600" b="1" smtClean="0">
                <a:solidFill>
                  <a:schemeClr val="folHlink"/>
                </a:solidFill>
              </a:rPr>
              <a:t>）．先进先出（</a:t>
            </a:r>
            <a:r>
              <a:rPr lang="en-US" altLang="zh-CN" sz="3600" b="1" smtClean="0">
                <a:solidFill>
                  <a:schemeClr val="folHlink"/>
                </a:solidFill>
              </a:rPr>
              <a:t>FIFO</a:t>
            </a:r>
            <a:r>
              <a:rPr lang="zh-CN" altLang="en-US" sz="3600" b="1" smtClean="0">
                <a:solidFill>
                  <a:schemeClr val="folHlink"/>
                </a:solidFill>
              </a:rPr>
              <a:t>）页面置换算法</a:t>
            </a:r>
          </a:p>
        </p:txBody>
      </p:sp>
      <p:sp>
        <p:nvSpPr>
          <p:cNvPr id="11270" name="Rectangle 8"/>
          <p:cNvSpPr>
            <a:spLocks noChangeArrowheads="1"/>
          </p:cNvSpPr>
          <p:nvPr/>
        </p:nvSpPr>
        <p:spPr bwMode="auto">
          <a:xfrm>
            <a:off x="0" y="3276600"/>
            <a:ext cx="9144000" cy="2590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266" name="Object 9"/>
          <p:cNvGraphicFramePr>
            <a:graphicFrameLocks noChangeAspect="1"/>
          </p:cNvGraphicFramePr>
          <p:nvPr/>
        </p:nvGraphicFramePr>
        <p:xfrm>
          <a:off x="0" y="3327416"/>
          <a:ext cx="9144000" cy="2459038"/>
        </p:xfrm>
        <a:graphic>
          <a:graphicData uri="http://schemas.openxmlformats.org/presentationml/2006/ole">
            <p:oleObj spid="_x0000_s133172" name="Visio" r:id="rId3" imgW="4529100" imgH="1217020" progId="">
              <p:embed/>
            </p:oleObj>
          </a:graphicData>
        </a:graphic>
      </p:graphicFrame>
      <p:sp>
        <p:nvSpPr>
          <p:cNvPr id="11271" name="Rectangle 13"/>
          <p:cNvSpPr>
            <a:spLocks noChangeArrowheads="1"/>
          </p:cNvSpPr>
          <p:nvPr/>
        </p:nvSpPr>
        <p:spPr bwMode="auto">
          <a:xfrm>
            <a:off x="2286000" y="5927725"/>
            <a:ext cx="39687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000" b="1"/>
              <a:t>图 利用</a:t>
            </a:r>
            <a:r>
              <a:rPr lang="en-US" altLang="zh-CN" sz="2000" b="1"/>
              <a:t>FIFO</a:t>
            </a:r>
            <a:r>
              <a:rPr lang="zh-CN" altLang="en-US" sz="2000" b="1"/>
              <a:t>置换算法时的置换图 </a:t>
            </a:r>
          </a:p>
        </p:txBody>
      </p:sp>
    </p:spTree>
    <p:extLst>
      <p:ext uri="{BB962C8B-B14F-4D97-AF65-F5344CB8AC3E}">
        <p14:creationId xmlns="" xmlns:p14="http://schemas.microsoft.com/office/powerpoint/2010/main" val="22459221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79512" y="1371600"/>
            <a:ext cx="8662863" cy="1981200"/>
          </a:xfrm>
        </p:spPr>
        <p:txBody>
          <a:bodyPr/>
          <a:lstStyle/>
          <a:p>
            <a:pPr algn="just" eaLnBrk="1" hangingPunct="1"/>
            <a:r>
              <a:rPr lang="en-US" altLang="zh-CN" sz="2400" b="1" dirty="0" smtClean="0"/>
              <a:t> LRU</a:t>
            </a:r>
            <a:r>
              <a:rPr lang="zh-CN" altLang="en-US" sz="2400" b="1" dirty="0" smtClean="0"/>
              <a:t>置换算法是选择</a:t>
            </a:r>
            <a:r>
              <a:rPr lang="zh-CN" altLang="en-US" sz="2400" b="1" i="1" u="sng" dirty="0" smtClean="0">
                <a:solidFill>
                  <a:schemeClr val="folHlink"/>
                </a:solidFill>
              </a:rPr>
              <a:t>最近最久未使用的页面</a:t>
            </a:r>
            <a:r>
              <a:rPr lang="zh-CN" altLang="en-US" sz="2400" b="1" dirty="0" smtClean="0"/>
              <a:t>予以淘汰。该算法赋予每个页面一个</a:t>
            </a:r>
            <a:r>
              <a:rPr lang="zh-CN" altLang="en-US" sz="2400" b="1" i="1" u="sng" dirty="0" smtClean="0">
                <a:solidFill>
                  <a:srgbClr val="FF0000"/>
                </a:solidFill>
              </a:rPr>
              <a:t>访问字段，用来记录一个页面自上次被访问以来所经历的时间</a:t>
            </a:r>
            <a:r>
              <a:rPr lang="en-US" altLang="zh-CN" sz="2400" b="1" i="1" u="sng" dirty="0" smtClean="0">
                <a:solidFill>
                  <a:srgbClr val="FF0000"/>
                </a:solidFill>
              </a:rPr>
              <a:t>t</a:t>
            </a:r>
            <a:r>
              <a:rPr lang="zh-CN" altLang="en-US" sz="2400" b="1" dirty="0" smtClean="0"/>
              <a:t>，当须淘汰一个页面时，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选择现有页面中其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t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值最大的</a:t>
            </a:r>
            <a:r>
              <a:rPr lang="zh-CN" altLang="en-US" sz="2400" b="1" dirty="0" smtClean="0"/>
              <a:t>，即最近最久未使用的页面予以淘汰。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（共产生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9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次置换）</a:t>
            </a:r>
          </a:p>
        </p:txBody>
      </p:sp>
      <p:sp>
        <p:nvSpPr>
          <p:cNvPr id="526341" name="Rectangle 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smtClean="0">
                <a:solidFill>
                  <a:schemeClr val="folHlink"/>
                </a:solidFill>
              </a:rPr>
              <a:t>3</a:t>
            </a:r>
            <a:r>
              <a:rPr lang="zh-CN" altLang="en-US" sz="3600" b="1" smtClean="0">
                <a:solidFill>
                  <a:schemeClr val="folHlink"/>
                </a:solidFill>
              </a:rPr>
              <a:t>）</a:t>
            </a:r>
            <a:r>
              <a:rPr lang="en-US" altLang="zh-CN" sz="3600" b="1" smtClean="0">
                <a:solidFill>
                  <a:schemeClr val="folHlink"/>
                </a:solidFill>
              </a:rPr>
              <a:t>.</a:t>
            </a:r>
            <a:r>
              <a:rPr lang="zh-CN" altLang="en-US" sz="3600" b="1" smtClean="0">
                <a:solidFill>
                  <a:schemeClr val="folHlink"/>
                </a:solidFill>
              </a:rPr>
              <a:t>最近最久未使用（</a:t>
            </a:r>
            <a:r>
              <a:rPr lang="en-US" altLang="zh-CN" sz="3600" b="1" smtClean="0">
                <a:solidFill>
                  <a:schemeClr val="folHlink"/>
                </a:solidFill>
              </a:rPr>
              <a:t>LRU</a:t>
            </a:r>
            <a:r>
              <a:rPr lang="zh-CN" altLang="en-US" sz="3600" b="1" smtClean="0">
                <a:solidFill>
                  <a:schemeClr val="folHlink"/>
                </a:solidFill>
              </a:rPr>
              <a:t>）置换算法</a:t>
            </a:r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3657600"/>
            <a:ext cx="9144000" cy="2514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290" name="Object 7"/>
          <p:cNvGraphicFramePr>
            <a:graphicFrameLocks noChangeAspect="1"/>
          </p:cNvGraphicFramePr>
          <p:nvPr/>
        </p:nvGraphicFramePr>
        <p:xfrm>
          <a:off x="0" y="3667125"/>
          <a:ext cx="9144000" cy="2581275"/>
        </p:xfrm>
        <a:graphic>
          <a:graphicData uri="http://schemas.openxmlformats.org/presentationml/2006/ole">
            <p:oleObj spid="_x0000_s134196" name="Visio" r:id="rId3" imgW="4312920" imgH="1219200" progId="">
              <p:embed/>
            </p:oleObj>
          </a:graphicData>
        </a:graphic>
      </p:graphicFrame>
      <p:sp>
        <p:nvSpPr>
          <p:cNvPr id="12294" name="Rectangle 8"/>
          <p:cNvSpPr>
            <a:spLocks noChangeArrowheads="1"/>
          </p:cNvSpPr>
          <p:nvPr/>
        </p:nvSpPr>
        <p:spPr bwMode="auto">
          <a:xfrm>
            <a:off x="2209800" y="6234113"/>
            <a:ext cx="4425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000" b="1"/>
              <a:t>图 利用</a:t>
            </a:r>
            <a:r>
              <a:rPr lang="en-US" altLang="zh-CN" sz="2000" b="1"/>
              <a:t>LRU</a:t>
            </a:r>
            <a:r>
              <a:rPr lang="zh-CN" altLang="en-US" sz="2000" b="1"/>
              <a:t>页面置换算法时的置换图 </a:t>
            </a:r>
          </a:p>
        </p:txBody>
      </p:sp>
    </p:spTree>
    <p:extLst>
      <p:ext uri="{BB962C8B-B14F-4D97-AF65-F5344CB8AC3E}">
        <p14:creationId xmlns="" xmlns:p14="http://schemas.microsoft.com/office/powerpoint/2010/main" val="3006588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 smtClean="0"/>
              <a:t> LRU</a:t>
            </a:r>
            <a:r>
              <a:rPr lang="zh-CN" altLang="en-US" b="1" dirty="0" smtClean="0"/>
              <a:t>置换算法虽然是一种比较好的算法。但要求系统有较多的支持硬件，为了了解</a:t>
            </a:r>
            <a:endParaRPr lang="en-US" altLang="zh-CN" b="1" dirty="0" smtClean="0"/>
          </a:p>
          <a:p>
            <a:pPr lvl="1" eaLnBrk="1" hangingPunct="1"/>
            <a:r>
              <a:rPr lang="zh-CN" altLang="en-US" b="1" dirty="0" smtClean="0"/>
              <a:t>一个进程在内存中的</a:t>
            </a:r>
            <a:r>
              <a:rPr lang="zh-CN" altLang="en-US" b="1" i="1" u="sng" dirty="0" smtClean="0">
                <a:solidFill>
                  <a:srgbClr val="FF0000"/>
                </a:solidFill>
              </a:rPr>
              <a:t>各个页面各有多长时间未被进程访问？</a:t>
            </a:r>
            <a:endParaRPr lang="en-US" altLang="zh-CN" b="1" i="1" u="sng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b="1" dirty="0" smtClean="0"/>
              <a:t>如何快速地知道哪一页是</a:t>
            </a:r>
            <a:r>
              <a:rPr lang="zh-CN" altLang="en-US" b="1" i="1" u="sng" dirty="0" smtClean="0">
                <a:solidFill>
                  <a:srgbClr val="FF0000"/>
                </a:solidFill>
              </a:rPr>
              <a:t>最近最久未使用</a:t>
            </a:r>
            <a:r>
              <a:rPr lang="zh-CN" altLang="en-US" b="1" dirty="0" smtClean="0"/>
              <a:t>的页面，须有以下两类硬件之一的支持：   </a:t>
            </a:r>
          </a:p>
        </p:txBody>
      </p:sp>
      <p:sp>
        <p:nvSpPr>
          <p:cNvPr id="527364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chemeClr val="folHlink"/>
                </a:solidFill>
              </a:rPr>
              <a:t>LRU</a:t>
            </a:r>
            <a:r>
              <a:rPr lang="zh-CN" altLang="en-US" b="1" smtClean="0">
                <a:solidFill>
                  <a:schemeClr val="folHlink"/>
                </a:solidFill>
              </a:rPr>
              <a:t>置换算法的硬件支持</a:t>
            </a:r>
          </a:p>
        </p:txBody>
      </p:sp>
    </p:spTree>
    <p:extLst>
      <p:ext uri="{BB962C8B-B14F-4D97-AF65-F5344CB8AC3E}">
        <p14:creationId xmlns="" xmlns:p14="http://schemas.microsoft.com/office/powerpoint/2010/main" val="37506007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rrowheads="1"/>
          </p:cNvSpPr>
          <p:nvPr>
            <p:ph/>
          </p:nvPr>
        </p:nvSpPr>
        <p:spPr>
          <a:xfrm>
            <a:off x="304800" y="381000"/>
            <a:ext cx="8458200" cy="57912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 smtClean="0">
                <a:solidFill>
                  <a:schemeClr val="folHlink"/>
                </a:solidFill>
              </a:rPr>
              <a:t> l</a:t>
            </a:r>
            <a:r>
              <a:rPr lang="zh-CN" altLang="en-US" b="1" dirty="0" smtClean="0">
                <a:solidFill>
                  <a:schemeClr val="folHlink"/>
                </a:solidFill>
              </a:rPr>
              <a:t>）寄存器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 smtClean="0"/>
              <a:t>    为了记录某进程在内存中各页的使用情况，须</a:t>
            </a:r>
            <a:r>
              <a:rPr lang="zh-CN" altLang="en-US" b="1" dirty="0" smtClean="0">
                <a:solidFill>
                  <a:schemeClr val="folHlink"/>
                </a:solidFill>
              </a:rPr>
              <a:t>为每个在内存中的页面配置一个移位寄存器</a:t>
            </a:r>
            <a:r>
              <a:rPr lang="zh-CN" altLang="en-US" b="1" dirty="0" smtClean="0"/>
              <a:t>可表示为：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b="1" dirty="0" smtClean="0"/>
              <a:t>                </a:t>
            </a:r>
            <a:r>
              <a:rPr lang="en-US" altLang="zh-CN" b="1" dirty="0" smtClean="0"/>
              <a:t>R=R</a:t>
            </a:r>
            <a:r>
              <a:rPr lang="en-US" altLang="zh-CN" b="1" baseline="-30000" dirty="0" smtClean="0"/>
              <a:t>n-1</a:t>
            </a:r>
            <a:r>
              <a:rPr lang="en-US" altLang="zh-CN" b="1" dirty="0" smtClean="0"/>
              <a:t>R</a:t>
            </a:r>
            <a:r>
              <a:rPr lang="en-US" altLang="zh-CN" b="1" baseline="-30000" dirty="0" smtClean="0"/>
              <a:t>n-2</a:t>
            </a:r>
            <a:r>
              <a:rPr lang="en-US" altLang="zh-CN" b="1" dirty="0" smtClean="0"/>
              <a:t>R</a:t>
            </a:r>
            <a:r>
              <a:rPr lang="en-US" altLang="zh-CN" b="1" baseline="-30000" dirty="0" smtClean="0"/>
              <a:t>n-3</a:t>
            </a:r>
            <a:r>
              <a:rPr lang="en-US" altLang="zh-CN" b="1" dirty="0" smtClean="0">
                <a:latin typeface="Courier New" pitchFamily="49" charset="0"/>
              </a:rPr>
              <a:t>···</a:t>
            </a:r>
            <a:r>
              <a:rPr lang="en-US" altLang="zh-CN" b="1" dirty="0" smtClean="0"/>
              <a:t>R</a:t>
            </a:r>
            <a:r>
              <a:rPr lang="en-US" altLang="zh-CN" b="1" baseline="-30000" dirty="0" smtClean="0"/>
              <a:t>2</a:t>
            </a:r>
            <a:r>
              <a:rPr lang="en-US" altLang="zh-CN" b="1" dirty="0" smtClean="0"/>
              <a:t>R</a:t>
            </a:r>
            <a:r>
              <a:rPr lang="en-US" altLang="zh-CN" b="1" baseline="-30000" dirty="0" smtClean="0"/>
              <a:t>1</a:t>
            </a:r>
            <a:r>
              <a:rPr lang="en-US" altLang="zh-CN" b="1" dirty="0" smtClean="0"/>
              <a:t>R</a:t>
            </a:r>
            <a:r>
              <a:rPr lang="en-US" altLang="zh-CN" b="1" baseline="-30000" dirty="0" smtClean="0"/>
              <a:t>O</a:t>
            </a:r>
            <a:endParaRPr lang="en-US" altLang="zh-CN" b="1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 smtClean="0"/>
              <a:t>   </a:t>
            </a:r>
            <a:r>
              <a:rPr lang="zh-CN" altLang="en-US" sz="2800" b="1" dirty="0" smtClean="0"/>
              <a:t>当进程访问某物理块时，要将相应寄存器的最高位</a:t>
            </a:r>
            <a:r>
              <a:rPr lang="en-US" altLang="zh-CN" sz="2800" b="1" dirty="0" smtClean="0"/>
              <a:t>R</a:t>
            </a:r>
            <a:r>
              <a:rPr lang="en-US" altLang="zh-CN" sz="2800" b="1" baseline="-30000" dirty="0" smtClean="0"/>
              <a:t>n-1</a:t>
            </a:r>
            <a:r>
              <a:rPr lang="zh-CN" altLang="en-US" sz="2800" b="1" dirty="0" smtClean="0"/>
              <a:t>位置成</a:t>
            </a: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。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系统每隔一定时间（例如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100  ms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）将寄存器右移一位</a:t>
            </a:r>
            <a:r>
              <a:rPr lang="zh-CN" altLang="en-US" sz="2800" b="1" dirty="0" smtClean="0"/>
              <a:t>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 smtClean="0"/>
              <a:t>	如果我们把</a:t>
            </a:r>
            <a:r>
              <a:rPr lang="en-US" altLang="zh-CN" sz="2800" b="1" dirty="0" smtClean="0"/>
              <a:t>n</a:t>
            </a:r>
            <a:r>
              <a:rPr lang="zh-CN" altLang="en-US" sz="2800" b="1" dirty="0" smtClean="0"/>
              <a:t>位寄存器的数看作是一个整数，那么，具有</a:t>
            </a:r>
            <a:r>
              <a:rPr lang="zh-CN" altLang="en-US" sz="2800" b="1" i="1" u="sng" dirty="0" smtClean="0">
                <a:solidFill>
                  <a:srgbClr val="FF0000"/>
                </a:solidFill>
              </a:rPr>
              <a:t>最小数值的寄存器</a:t>
            </a:r>
            <a:r>
              <a:rPr lang="zh-CN" altLang="en-US" sz="2800" b="1" dirty="0" smtClean="0"/>
              <a:t>所对应的页面，就是最近最久未使用的页面。 </a:t>
            </a:r>
          </a:p>
        </p:txBody>
      </p:sp>
    </p:spTree>
    <p:extLst>
      <p:ext uri="{BB962C8B-B14F-4D97-AF65-F5344CB8AC3E}">
        <p14:creationId xmlns="" xmlns:p14="http://schemas.microsoft.com/office/powerpoint/2010/main" val="160126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ChangeArrowheads="1"/>
          </p:cNvSpPr>
          <p:nvPr/>
        </p:nvSpPr>
        <p:spPr bwMode="auto">
          <a:xfrm>
            <a:off x="2728913" y="2400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9747" name="Text Box 5"/>
          <p:cNvSpPr txBox="1">
            <a:spLocks noChangeArrowheads="1"/>
          </p:cNvSpPr>
          <p:nvPr/>
        </p:nvSpPr>
        <p:spPr bwMode="auto">
          <a:xfrm>
            <a:off x="1600200" y="5943600"/>
            <a:ext cx="5729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pitchFamily="18" charset="0"/>
              </a:rPr>
              <a:t>图 某进程具有</a:t>
            </a:r>
            <a:r>
              <a:rPr kumimoji="1" lang="en-US" altLang="zh-CN" sz="2400" b="1">
                <a:latin typeface="Times New Roman" pitchFamily="18" charset="0"/>
              </a:rPr>
              <a:t>8</a:t>
            </a:r>
            <a:r>
              <a:rPr kumimoji="1" lang="zh-CN" altLang="en-US" sz="2400" b="1">
                <a:latin typeface="Times New Roman" pitchFamily="18" charset="0"/>
              </a:rPr>
              <a:t>个页面时的</a:t>
            </a:r>
            <a:r>
              <a:rPr kumimoji="1" lang="en-US" altLang="zh-CN" sz="2400" b="1">
                <a:latin typeface="Times New Roman" pitchFamily="18" charset="0"/>
              </a:rPr>
              <a:t>LRU</a:t>
            </a:r>
            <a:r>
              <a:rPr kumimoji="1" lang="zh-CN" altLang="en-US" sz="2400" b="1">
                <a:latin typeface="Times New Roman" pitchFamily="18" charset="0"/>
              </a:rPr>
              <a:t>访问情况 </a:t>
            </a:r>
          </a:p>
        </p:txBody>
      </p:sp>
      <p:pic>
        <p:nvPicPr>
          <p:cNvPr id="159748" name="Picture 6" descr="未标题-1 拷贝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81075"/>
            <a:ext cx="9144000" cy="464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2296798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solidFill>
                  <a:schemeClr val="folHlink"/>
                </a:solidFill>
              </a:rPr>
              <a:t>2</a:t>
            </a:r>
            <a:r>
              <a:rPr lang="zh-CN" altLang="en-US" smtClean="0">
                <a:solidFill>
                  <a:schemeClr val="folHlink"/>
                </a:solidFill>
              </a:rPr>
              <a:t>）栈 </a:t>
            </a:r>
          </a:p>
        </p:txBody>
      </p:sp>
      <p:sp>
        <p:nvSpPr>
          <p:cNvPr id="16077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b="1" smtClean="0"/>
              <a:t>可利用一个特殊的栈来保存当前使用的各个页面的页面号。</a:t>
            </a:r>
            <a:r>
              <a:rPr lang="zh-CN" altLang="en-US" b="1" smtClean="0">
                <a:solidFill>
                  <a:schemeClr val="folHlink"/>
                </a:solidFill>
              </a:rPr>
              <a:t>每当进程访问某页面时，便将该页面的页面号从栈中移出，将它压入栈顶。</a:t>
            </a:r>
            <a:endParaRPr lang="zh-CN" altLang="en-US" b="1" smtClean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b="1" smtClean="0"/>
              <a:t>栈顶始终是最新被访问页面的编号，而</a:t>
            </a:r>
            <a:r>
              <a:rPr lang="zh-CN" altLang="en-US" b="1" smtClean="0">
                <a:solidFill>
                  <a:schemeClr val="folHlink"/>
                </a:solidFill>
              </a:rPr>
              <a:t>栈底则是最近最久未使用页面的页面号</a:t>
            </a:r>
            <a:r>
              <a:rPr lang="zh-CN" altLang="en-US" b="1" smtClean="0"/>
              <a:t>。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smtClean="0"/>
          </a:p>
        </p:txBody>
      </p:sp>
    </p:spTree>
    <p:extLst>
      <p:ext uri="{BB962C8B-B14F-4D97-AF65-F5344CB8AC3E}">
        <p14:creationId xmlns="" xmlns:p14="http://schemas.microsoft.com/office/powerpoint/2010/main" val="1583071172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举例</a:t>
            </a:r>
          </a:p>
        </p:txBody>
      </p:sp>
      <p:sp>
        <p:nvSpPr>
          <p:cNvPr id="161795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533400" y="1673225"/>
            <a:ext cx="8077200" cy="2165350"/>
          </a:xfrm>
        </p:spPr>
        <p:txBody>
          <a:bodyPr/>
          <a:lstStyle/>
          <a:p>
            <a:pPr algn="just" eaLnBrk="1" hangingPunct="1"/>
            <a:r>
              <a:rPr lang="zh-CN" altLang="en-US" sz="2800" b="1" smtClean="0"/>
              <a:t>假定现有一进程所访问的页面的页面号序列为：</a:t>
            </a:r>
            <a:r>
              <a:rPr lang="en-US" altLang="zh-CN" sz="2800" b="1" smtClean="0"/>
              <a:t>4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7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0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7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1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0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1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2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1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2</a:t>
            </a:r>
            <a:r>
              <a:rPr lang="zh-CN" altLang="en-US" sz="2800" b="1" smtClean="0"/>
              <a:t>，</a:t>
            </a:r>
            <a:r>
              <a:rPr lang="en-US" altLang="zh-CN" sz="2800" b="1" smtClean="0"/>
              <a:t>6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zh-CN" altLang="en-US" sz="2800" b="1" smtClean="0"/>
              <a:t>随着进程的访问，栈中页面号的变化情况</a:t>
            </a:r>
            <a:r>
              <a:rPr lang="en-US" altLang="zh-CN" sz="2800" b="1" smtClean="0">
                <a:latin typeface="Courier New" pitchFamily="49" charset="0"/>
              </a:rPr>
              <a:t>·</a:t>
            </a:r>
            <a:endParaRPr lang="en-US" altLang="zh-CN" sz="2800" b="1" smtClean="0"/>
          </a:p>
        </p:txBody>
      </p:sp>
      <p:pic>
        <p:nvPicPr>
          <p:cNvPr id="161796" name="Picture 4" descr="未命名3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3505200"/>
            <a:ext cx="6448425" cy="2482850"/>
          </a:xfrm>
          <a:noFill/>
        </p:spPr>
      </p:pic>
    </p:spTree>
    <p:extLst>
      <p:ext uri="{BB962C8B-B14F-4D97-AF65-F5344CB8AC3E}">
        <p14:creationId xmlns="" xmlns:p14="http://schemas.microsoft.com/office/powerpoint/2010/main" val="27157827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28600" y="1071546"/>
            <a:ext cx="8629680" cy="5276896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 smtClean="0">
                <a:solidFill>
                  <a:schemeClr val="folHlink"/>
                </a:solidFill>
              </a:rPr>
              <a:t>  1</a:t>
            </a:r>
            <a:r>
              <a:rPr lang="zh-CN" altLang="en-US" b="1" dirty="0" smtClean="0">
                <a:solidFill>
                  <a:schemeClr val="folHlink"/>
                </a:solidFill>
              </a:rPr>
              <a:t>．简单的</a:t>
            </a:r>
            <a:r>
              <a:rPr lang="en-US" altLang="zh-CN" b="1" dirty="0" smtClean="0">
                <a:solidFill>
                  <a:schemeClr val="folHlink"/>
                </a:solidFill>
              </a:rPr>
              <a:t>Clock</a:t>
            </a:r>
            <a:r>
              <a:rPr lang="zh-CN" altLang="en-US" b="1" dirty="0" smtClean="0">
                <a:solidFill>
                  <a:schemeClr val="folHlink"/>
                </a:solidFill>
              </a:rPr>
              <a:t>置换算法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400" b="1" dirty="0" smtClean="0"/>
              <a:t> </a:t>
            </a:r>
            <a:r>
              <a:rPr lang="zh-CN" altLang="en-US" sz="2800" b="1" dirty="0" smtClean="0"/>
              <a:t>当采用简单</a:t>
            </a:r>
            <a:r>
              <a:rPr lang="en-US" altLang="zh-CN" sz="2800" b="1" dirty="0" smtClean="0"/>
              <a:t>c1ock</a:t>
            </a:r>
            <a:r>
              <a:rPr lang="zh-CN" altLang="en-US" sz="2800" b="1" dirty="0" smtClean="0"/>
              <a:t>算法时，</a:t>
            </a:r>
            <a:r>
              <a:rPr lang="zh-CN" altLang="en-US" sz="2800" b="1" i="1" u="sng" dirty="0" smtClean="0">
                <a:solidFill>
                  <a:srgbClr val="FF0000"/>
                </a:solidFill>
              </a:rPr>
              <a:t>为每页设置一位访问位</a:t>
            </a:r>
            <a:r>
              <a:rPr lang="zh-CN" altLang="en-US" sz="2800" b="1" dirty="0" smtClean="0"/>
              <a:t>，再将内存中的所有页面都通过链接指针链接成一个循环队列。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folHlink"/>
                </a:solidFill>
              </a:rPr>
              <a:t>当某页被访问时，其访问位被置</a:t>
            </a:r>
            <a:r>
              <a:rPr lang="en-US" altLang="zh-CN" sz="2800" b="1" dirty="0" smtClean="0">
                <a:solidFill>
                  <a:schemeClr val="folHlink"/>
                </a:solidFill>
              </a:rPr>
              <a:t>1</a:t>
            </a:r>
            <a:r>
              <a:rPr lang="zh-CN" altLang="en-US" sz="2800" b="1" dirty="0" smtClean="0"/>
              <a:t>。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800" b="1" dirty="0" smtClean="0"/>
              <a:t>置换程序</a:t>
            </a:r>
            <a:r>
              <a:rPr lang="zh-CN" altLang="en-US" sz="2800" b="1" dirty="0" smtClean="0">
                <a:solidFill>
                  <a:schemeClr val="folHlink"/>
                </a:solidFill>
              </a:rPr>
              <a:t>从上次停止位置开始检查页面的访问位</a:t>
            </a:r>
            <a:r>
              <a:rPr lang="zh-CN" altLang="en-US" sz="2800" b="1" dirty="0" smtClean="0"/>
              <a:t>。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400" b="1" dirty="0" smtClean="0"/>
              <a:t>如果是</a:t>
            </a:r>
            <a:r>
              <a:rPr lang="en-US" altLang="zh-CN" sz="2400" b="1" dirty="0" smtClean="0"/>
              <a:t>0</a:t>
            </a:r>
            <a:r>
              <a:rPr lang="zh-CN" altLang="en-US" sz="2400" b="1" dirty="0" smtClean="0"/>
              <a:t>，就选择该页换出；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400" b="1" dirty="0" smtClean="0"/>
              <a:t>若为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，则重新将它置</a:t>
            </a:r>
            <a:r>
              <a:rPr lang="en-US" altLang="zh-CN" sz="2400" b="1" dirty="0" smtClean="0"/>
              <a:t>0</a:t>
            </a:r>
            <a:r>
              <a:rPr lang="zh-CN" altLang="en-US" sz="2400" b="1" dirty="0" smtClean="0"/>
              <a:t>，暂不换出，而给该页第二次驻留内存的机会。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400" b="1" dirty="0" smtClean="0"/>
              <a:t>由于该算法是循环地检查各页面的使用情况，故称为</a:t>
            </a:r>
            <a:r>
              <a:rPr lang="en-US" altLang="zh-CN" sz="2400" b="1" dirty="0" smtClean="0"/>
              <a:t>c1ock</a:t>
            </a:r>
            <a:r>
              <a:rPr lang="zh-CN" altLang="en-US" sz="2400" b="1" dirty="0" smtClean="0"/>
              <a:t>算法。置换时是将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未使用过的页面换出去</a:t>
            </a:r>
            <a:r>
              <a:rPr lang="zh-CN" altLang="en-US" sz="2400" b="1" dirty="0" smtClean="0"/>
              <a:t>，故又把该算法称为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最近未用算法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NRU</a:t>
            </a:r>
            <a:r>
              <a:rPr lang="zh-CN" altLang="en-US" sz="2400" b="1" dirty="0" smtClean="0"/>
              <a:t>。</a:t>
            </a:r>
          </a:p>
        </p:txBody>
      </p:sp>
      <p:sp>
        <p:nvSpPr>
          <p:cNvPr id="532484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301625" y="-24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olidFill>
                  <a:schemeClr val="folHlink"/>
                </a:solidFill>
              </a:rPr>
              <a:t>4</a:t>
            </a:r>
            <a:r>
              <a:rPr lang="zh-CN" altLang="en-US" dirty="0" smtClean="0">
                <a:solidFill>
                  <a:schemeClr val="folHlink"/>
                </a:solidFill>
              </a:rPr>
              <a:t>）</a:t>
            </a:r>
            <a:r>
              <a:rPr lang="en-US" altLang="zh-CN" dirty="0" smtClean="0">
                <a:solidFill>
                  <a:schemeClr val="folHlink"/>
                </a:solidFill>
              </a:rPr>
              <a:t>Clock</a:t>
            </a:r>
            <a:r>
              <a:rPr lang="zh-CN" altLang="en-US" dirty="0" smtClean="0">
                <a:solidFill>
                  <a:schemeClr val="folHlink"/>
                </a:solidFill>
              </a:rPr>
              <a:t>置换算法 </a:t>
            </a:r>
          </a:p>
        </p:txBody>
      </p:sp>
    </p:spTree>
    <p:extLst>
      <p:ext uri="{BB962C8B-B14F-4D97-AF65-F5344CB8AC3E}">
        <p14:creationId xmlns="" xmlns:p14="http://schemas.microsoft.com/office/powerpoint/2010/main" val="5173442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1876425" y="1990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-72008" y="476672"/>
            <a:ext cx="9144000" cy="4876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3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434477394"/>
              </p:ext>
            </p:extLst>
          </p:nvPr>
        </p:nvGraphicFramePr>
        <p:xfrm>
          <a:off x="304800" y="548680"/>
          <a:ext cx="8839200" cy="4084638"/>
        </p:xfrm>
        <a:graphic>
          <a:graphicData uri="http://schemas.openxmlformats.org/presentationml/2006/ole">
            <p:oleObj spid="_x0000_s135221" name="VISIO" r:id="rId3" imgW="4099560" imgH="1828800" progId="">
              <p:embed/>
            </p:oleObj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123728" y="4725144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5-8 </a:t>
            </a:r>
            <a:r>
              <a:rPr lang="zh-CN" altLang="en-US" dirty="0" smtClean="0"/>
              <a:t>简单</a:t>
            </a:r>
            <a:r>
              <a:rPr lang="en-US" altLang="zh-CN" dirty="0" smtClean="0"/>
              <a:t>Clock</a:t>
            </a:r>
            <a:r>
              <a:rPr lang="zh-CN" altLang="en-US" dirty="0" smtClean="0"/>
              <a:t>置换算法的流程和示例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6863435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86"/>
          <p:cNvSpPr>
            <a:spLocks noChangeArrowheads="1"/>
          </p:cNvSpPr>
          <p:nvPr/>
        </p:nvSpPr>
        <p:spPr bwMode="auto">
          <a:xfrm>
            <a:off x="0" y="0"/>
            <a:ext cx="9144000" cy="6553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2" name="Group 87"/>
          <p:cNvGrpSpPr>
            <a:grpSpLocks/>
          </p:cNvGrpSpPr>
          <p:nvPr/>
        </p:nvGrpSpPr>
        <p:grpSpPr bwMode="auto">
          <a:xfrm>
            <a:off x="3733800" y="1676400"/>
            <a:ext cx="5791200" cy="5181600"/>
            <a:chOff x="2700" y="6588"/>
            <a:chExt cx="5400" cy="4764"/>
          </a:xfrm>
        </p:grpSpPr>
        <p:grpSp>
          <p:nvGrpSpPr>
            <p:cNvPr id="3" name="Group 88"/>
            <p:cNvGrpSpPr>
              <a:grpSpLocks/>
            </p:cNvGrpSpPr>
            <p:nvPr/>
          </p:nvGrpSpPr>
          <p:grpSpPr bwMode="auto">
            <a:xfrm>
              <a:off x="3240" y="6588"/>
              <a:ext cx="4320" cy="4212"/>
              <a:chOff x="3240" y="6276"/>
              <a:chExt cx="4320" cy="4212"/>
            </a:xfrm>
          </p:grpSpPr>
          <p:grpSp>
            <p:nvGrpSpPr>
              <p:cNvPr id="4" name="Group 89"/>
              <p:cNvGrpSpPr>
                <a:grpSpLocks/>
              </p:cNvGrpSpPr>
              <p:nvPr/>
            </p:nvGrpSpPr>
            <p:grpSpPr bwMode="auto">
              <a:xfrm>
                <a:off x="3240" y="6588"/>
                <a:ext cx="4140" cy="3588"/>
                <a:chOff x="3780" y="8772"/>
                <a:chExt cx="4140" cy="3588"/>
              </a:xfrm>
            </p:grpSpPr>
            <p:sp>
              <p:nvSpPr>
                <p:cNvPr id="163914" name="AutoShape 90"/>
                <p:cNvSpPr>
                  <a:spLocks noChangeArrowheads="1"/>
                </p:cNvSpPr>
                <p:nvPr/>
              </p:nvSpPr>
              <p:spPr bwMode="auto">
                <a:xfrm>
                  <a:off x="3780" y="8772"/>
                  <a:ext cx="4140" cy="358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162 w 21600"/>
                    <a:gd name="T25" fmla="*/ 3161 h 21600"/>
                    <a:gd name="T26" fmla="*/ 18438 w 21600"/>
                    <a:gd name="T27" fmla="*/ 18439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5528" y="10800"/>
                      </a:moveTo>
                      <a:cubicBezTo>
                        <a:pt x="5528" y="13712"/>
                        <a:pt x="7888" y="16072"/>
                        <a:pt x="10800" y="16072"/>
                      </a:cubicBezTo>
                      <a:cubicBezTo>
                        <a:pt x="13712" y="16072"/>
                        <a:pt x="16072" y="13712"/>
                        <a:pt x="16072" y="10800"/>
                      </a:cubicBezTo>
                      <a:cubicBezTo>
                        <a:pt x="16072" y="7888"/>
                        <a:pt x="13712" y="5528"/>
                        <a:pt x="10800" y="5528"/>
                      </a:cubicBezTo>
                      <a:cubicBezTo>
                        <a:pt x="7888" y="5528"/>
                        <a:pt x="5528" y="7888"/>
                        <a:pt x="5528" y="1080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915" name="Line 91"/>
                <p:cNvSpPr>
                  <a:spLocks noChangeShapeType="1"/>
                </p:cNvSpPr>
                <p:nvPr/>
              </p:nvSpPr>
              <p:spPr bwMode="auto">
                <a:xfrm>
                  <a:off x="5940" y="8772"/>
                  <a:ext cx="0" cy="9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916" name="Line 92"/>
                <p:cNvSpPr>
                  <a:spLocks noChangeShapeType="1"/>
                </p:cNvSpPr>
                <p:nvPr/>
              </p:nvSpPr>
              <p:spPr bwMode="auto">
                <a:xfrm>
                  <a:off x="6120" y="11424"/>
                  <a:ext cx="0" cy="9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917" name="Line 93"/>
                <p:cNvSpPr>
                  <a:spLocks noChangeShapeType="1"/>
                </p:cNvSpPr>
                <p:nvPr/>
              </p:nvSpPr>
              <p:spPr bwMode="auto">
                <a:xfrm flipH="1">
                  <a:off x="6480" y="9084"/>
                  <a:ext cx="540" cy="7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918" name="Line 94"/>
                <p:cNvSpPr>
                  <a:spLocks noChangeShapeType="1"/>
                </p:cNvSpPr>
                <p:nvPr/>
              </p:nvSpPr>
              <p:spPr bwMode="auto">
                <a:xfrm flipH="1">
                  <a:off x="5040" y="11424"/>
                  <a:ext cx="540" cy="7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919" name="Line 95"/>
                <p:cNvSpPr>
                  <a:spLocks noChangeShapeType="1"/>
                </p:cNvSpPr>
                <p:nvPr/>
              </p:nvSpPr>
              <p:spPr bwMode="auto">
                <a:xfrm>
                  <a:off x="4680" y="9084"/>
                  <a:ext cx="540" cy="7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920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6840" y="9864"/>
                  <a:ext cx="90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921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6840" y="10800"/>
                  <a:ext cx="108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922" name="Line 98"/>
                <p:cNvSpPr>
                  <a:spLocks noChangeShapeType="1"/>
                </p:cNvSpPr>
                <p:nvPr/>
              </p:nvSpPr>
              <p:spPr bwMode="auto">
                <a:xfrm flipH="1" flipV="1">
                  <a:off x="6480" y="11268"/>
                  <a:ext cx="90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923" name="Line 99"/>
                <p:cNvSpPr>
                  <a:spLocks noChangeShapeType="1"/>
                </p:cNvSpPr>
                <p:nvPr/>
              </p:nvSpPr>
              <p:spPr bwMode="auto">
                <a:xfrm flipH="1">
                  <a:off x="4140" y="11112"/>
                  <a:ext cx="90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924" name="Line 100"/>
                <p:cNvSpPr>
                  <a:spLocks noChangeShapeType="1"/>
                </p:cNvSpPr>
                <p:nvPr/>
              </p:nvSpPr>
              <p:spPr bwMode="auto">
                <a:xfrm flipH="1">
                  <a:off x="3780" y="10644"/>
                  <a:ext cx="1080" cy="15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101"/>
              <p:cNvGrpSpPr>
                <a:grpSpLocks/>
              </p:cNvGrpSpPr>
              <p:nvPr/>
            </p:nvGrpSpPr>
            <p:grpSpPr bwMode="auto">
              <a:xfrm>
                <a:off x="3600" y="6744"/>
                <a:ext cx="3780" cy="3432"/>
                <a:chOff x="4140" y="8928"/>
                <a:chExt cx="3780" cy="3432"/>
              </a:xfrm>
            </p:grpSpPr>
            <p:sp>
              <p:nvSpPr>
                <p:cNvPr id="163900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5220" y="8928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6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1</a:t>
                  </a:r>
                </a:p>
              </p:txBody>
            </p:sp>
            <p:sp>
              <p:nvSpPr>
                <p:cNvPr id="163901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6120" y="8928"/>
                  <a:ext cx="72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123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1</a:t>
                  </a:r>
                </a:p>
              </p:txBody>
            </p:sp>
            <p:sp>
              <p:nvSpPr>
                <p:cNvPr id="163902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6840" y="9552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30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0</a:t>
                  </a:r>
                </a:p>
              </p:txBody>
            </p:sp>
            <p:sp>
              <p:nvSpPr>
                <p:cNvPr id="163903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7200" y="10176"/>
                  <a:ext cx="72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616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0</a:t>
                  </a:r>
                </a:p>
              </p:txBody>
            </p:sp>
            <p:sp>
              <p:nvSpPr>
                <p:cNvPr id="163904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7020" y="10956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FF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FF0000"/>
                      </a:solidFill>
                      <a:latin typeface="Times New Roman" pitchFamily="18" charset="0"/>
                    </a:rPr>
                    <a:t>77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FF0000"/>
                      </a:solidFill>
                      <a:latin typeface="Times New Roman" pitchFamily="18" charset="0"/>
                    </a:rPr>
                    <a:t>A = 1</a:t>
                  </a:r>
                </a:p>
              </p:txBody>
            </p:sp>
            <p:sp>
              <p:nvSpPr>
                <p:cNvPr id="163905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6300" y="11424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24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1</a:t>
                  </a:r>
                </a:p>
              </p:txBody>
            </p:sp>
            <p:sp>
              <p:nvSpPr>
                <p:cNvPr id="163906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5400" y="11733"/>
                  <a:ext cx="72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110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1</a:t>
                  </a:r>
                </a:p>
              </p:txBody>
            </p:sp>
            <p:sp>
              <p:nvSpPr>
                <p:cNvPr id="16390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680" y="11424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16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0</a:t>
                  </a:r>
                </a:p>
              </p:txBody>
            </p:sp>
            <p:sp>
              <p:nvSpPr>
                <p:cNvPr id="163908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4140" y="10800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76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/>
                  </a:r>
                  <a:b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</a:b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0</a:t>
                  </a:r>
                </a:p>
              </p:txBody>
            </p:sp>
            <p:grpSp>
              <p:nvGrpSpPr>
                <p:cNvPr id="6" name="Group 111"/>
                <p:cNvGrpSpPr>
                  <a:grpSpLocks/>
                </p:cNvGrpSpPr>
                <p:nvPr/>
              </p:nvGrpSpPr>
              <p:grpSpPr bwMode="auto">
                <a:xfrm>
                  <a:off x="4320" y="9240"/>
                  <a:ext cx="720" cy="1248"/>
                  <a:chOff x="3960" y="9396"/>
                  <a:chExt cx="720" cy="1248"/>
                </a:xfrm>
              </p:grpSpPr>
              <p:sp>
                <p:nvSpPr>
                  <p:cNvPr id="163910" name="Text Box 1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0" y="9396"/>
                    <a:ext cx="360" cy="4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just" eaLnBrk="0" hangingPunct="0"/>
                    <a:r>
                      <a:rPr lang="en-US" altLang="zh-CN" sz="16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.</a:t>
                    </a:r>
                  </a:p>
                </p:txBody>
              </p:sp>
              <p:grpSp>
                <p:nvGrpSpPr>
                  <p:cNvPr id="7" name="Group 113"/>
                  <p:cNvGrpSpPr>
                    <a:grpSpLocks/>
                  </p:cNvGrpSpPr>
                  <p:nvPr/>
                </p:nvGrpSpPr>
                <p:grpSpPr bwMode="auto">
                  <a:xfrm>
                    <a:off x="3960" y="9708"/>
                    <a:ext cx="540" cy="936"/>
                    <a:chOff x="4320" y="9708"/>
                    <a:chExt cx="540" cy="936"/>
                  </a:xfrm>
                </p:grpSpPr>
                <p:sp>
                  <p:nvSpPr>
                    <p:cNvPr id="163912" name="Text Box 1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500" y="9708"/>
                      <a:ext cx="360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just" eaLnBrk="0" hangingPunct="0"/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.</a:t>
                      </a:r>
                    </a:p>
                  </p:txBody>
                </p:sp>
                <p:sp>
                  <p:nvSpPr>
                    <p:cNvPr id="163913" name="Text Box 1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320" y="10176"/>
                      <a:ext cx="360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just" eaLnBrk="0" hangingPunct="0"/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.</a:t>
                      </a:r>
                    </a:p>
                  </p:txBody>
                </p:sp>
              </p:grpSp>
            </p:grpSp>
          </p:grpSp>
          <p:sp>
            <p:nvSpPr>
              <p:cNvPr id="163889" name="Line 116"/>
              <p:cNvSpPr>
                <a:spLocks noChangeShapeType="1"/>
              </p:cNvSpPr>
              <p:nvPr/>
            </p:nvSpPr>
            <p:spPr bwMode="auto">
              <a:xfrm>
                <a:off x="5220" y="8304"/>
                <a:ext cx="540" cy="7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" name="Group 117"/>
              <p:cNvGrpSpPr>
                <a:grpSpLocks/>
              </p:cNvGrpSpPr>
              <p:nvPr/>
            </p:nvGrpSpPr>
            <p:grpSpPr bwMode="auto">
              <a:xfrm>
                <a:off x="3240" y="6276"/>
                <a:ext cx="4320" cy="4212"/>
                <a:chOff x="3780" y="8460"/>
                <a:chExt cx="4320" cy="4212"/>
              </a:xfrm>
            </p:grpSpPr>
            <p:sp>
              <p:nvSpPr>
                <p:cNvPr id="163891" name="Text Box 118"/>
                <p:cNvSpPr txBox="1">
                  <a:spLocks noChangeArrowheads="1"/>
                </p:cNvSpPr>
                <p:nvPr/>
              </p:nvSpPr>
              <p:spPr bwMode="auto">
                <a:xfrm>
                  <a:off x="6660" y="8616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163892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7560" y="9240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63893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7920" y="10176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163894" name="Text Box 121"/>
                <p:cNvSpPr txBox="1">
                  <a:spLocks noChangeArrowheads="1"/>
                </p:cNvSpPr>
                <p:nvPr/>
              </p:nvSpPr>
              <p:spPr bwMode="auto">
                <a:xfrm>
                  <a:off x="7920" y="11112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163895" name="Text Box 122"/>
                <p:cNvSpPr txBox="1">
                  <a:spLocks noChangeArrowheads="1"/>
                </p:cNvSpPr>
                <p:nvPr/>
              </p:nvSpPr>
              <p:spPr bwMode="auto">
                <a:xfrm>
                  <a:off x="7020" y="12048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163896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5580" y="12360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5</a:t>
                  </a:r>
                </a:p>
              </p:txBody>
            </p:sp>
            <p:sp>
              <p:nvSpPr>
                <p:cNvPr id="163897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4500" y="12048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6</a:t>
                  </a:r>
                </a:p>
              </p:txBody>
            </p:sp>
            <p:sp>
              <p:nvSpPr>
                <p:cNvPr id="163898" name="Text Box 125"/>
                <p:cNvSpPr txBox="1">
                  <a:spLocks noChangeArrowheads="1"/>
                </p:cNvSpPr>
                <p:nvPr/>
              </p:nvSpPr>
              <p:spPr bwMode="auto">
                <a:xfrm>
                  <a:off x="3780" y="11268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7</a:t>
                  </a:r>
                </a:p>
              </p:txBody>
            </p:sp>
            <p:sp>
              <p:nvSpPr>
                <p:cNvPr id="163899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5220" y="8460"/>
                  <a:ext cx="54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n-1</a:t>
                  </a:r>
                </a:p>
              </p:txBody>
            </p:sp>
          </p:grpSp>
        </p:grpSp>
        <p:sp>
          <p:nvSpPr>
            <p:cNvPr id="163886" name="Text Box 127"/>
            <p:cNvSpPr txBox="1">
              <a:spLocks noChangeArrowheads="1"/>
            </p:cNvSpPr>
            <p:nvPr/>
          </p:nvSpPr>
          <p:spPr bwMode="auto">
            <a:xfrm>
              <a:off x="2700" y="10800"/>
              <a:ext cx="5400" cy="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en-US" altLang="zh-CN" sz="1600" b="1">
                  <a:solidFill>
                    <a:srgbClr val="000000"/>
                  </a:solidFill>
                  <a:latin typeface="Times New Roman" pitchFamily="18" charset="0"/>
                </a:rPr>
                <a:t>(b) </a:t>
              </a:r>
              <a:r>
                <a:rPr lang="zh-CN" altLang="en-US" sz="1600" b="1">
                  <a:solidFill>
                    <a:srgbClr val="000000"/>
                  </a:solidFill>
                  <a:latin typeface="Times New Roman" pitchFamily="18" charset="0"/>
                </a:rPr>
                <a:t>用</a:t>
              </a:r>
              <a:r>
                <a:rPr lang="en-US" altLang="zh-CN" sz="1600" b="1">
                  <a:solidFill>
                    <a:srgbClr val="000000"/>
                  </a:solidFill>
                  <a:latin typeface="Times New Roman" pitchFamily="18" charset="0"/>
                </a:rPr>
                <a:t>77</a:t>
              </a:r>
              <a:r>
                <a:rPr lang="zh-CN" altLang="en-US" sz="1600" b="1">
                  <a:solidFill>
                    <a:srgbClr val="000000"/>
                  </a:solidFill>
                  <a:latin typeface="Times New Roman" pitchFamily="18" charset="0"/>
                </a:rPr>
                <a:t>号页面替换</a:t>
              </a:r>
              <a:r>
                <a:rPr lang="en-US" altLang="zh-CN" sz="1600" b="1">
                  <a:solidFill>
                    <a:srgbClr val="000000"/>
                  </a:solidFill>
                  <a:latin typeface="Times New Roman" pitchFamily="18" charset="0"/>
                </a:rPr>
                <a:t>23</a:t>
              </a:r>
              <a:r>
                <a:rPr lang="zh-CN" altLang="en-US" sz="1600" b="1">
                  <a:solidFill>
                    <a:srgbClr val="000000"/>
                  </a:solidFill>
                  <a:latin typeface="Times New Roman" pitchFamily="18" charset="0"/>
                </a:rPr>
                <a:t>号页面以后的情况</a:t>
              </a:r>
            </a:p>
          </p:txBody>
        </p:sp>
      </p:grpSp>
      <p:grpSp>
        <p:nvGrpSpPr>
          <p:cNvPr id="9" name="Group 128"/>
          <p:cNvGrpSpPr>
            <a:grpSpLocks/>
          </p:cNvGrpSpPr>
          <p:nvPr/>
        </p:nvGrpSpPr>
        <p:grpSpPr bwMode="auto">
          <a:xfrm>
            <a:off x="0" y="0"/>
            <a:ext cx="4632325" cy="4800600"/>
            <a:chOff x="3420" y="7992"/>
            <a:chExt cx="4320" cy="4764"/>
          </a:xfrm>
        </p:grpSpPr>
        <p:grpSp>
          <p:nvGrpSpPr>
            <p:cNvPr id="10" name="Group 129"/>
            <p:cNvGrpSpPr>
              <a:grpSpLocks/>
            </p:cNvGrpSpPr>
            <p:nvPr/>
          </p:nvGrpSpPr>
          <p:grpSpPr bwMode="auto">
            <a:xfrm>
              <a:off x="3420" y="7992"/>
              <a:ext cx="4320" cy="4212"/>
              <a:chOff x="3780" y="8460"/>
              <a:chExt cx="4320" cy="4212"/>
            </a:xfrm>
          </p:grpSpPr>
          <p:grpSp>
            <p:nvGrpSpPr>
              <p:cNvPr id="11" name="Group 130"/>
              <p:cNvGrpSpPr>
                <a:grpSpLocks/>
              </p:cNvGrpSpPr>
              <p:nvPr/>
            </p:nvGrpSpPr>
            <p:grpSpPr bwMode="auto">
              <a:xfrm>
                <a:off x="3780" y="8772"/>
                <a:ext cx="4140" cy="3588"/>
                <a:chOff x="3780" y="8772"/>
                <a:chExt cx="4140" cy="3588"/>
              </a:xfrm>
            </p:grpSpPr>
            <p:sp>
              <p:nvSpPr>
                <p:cNvPr id="163874" name="AutoShape 131"/>
                <p:cNvSpPr>
                  <a:spLocks noChangeArrowheads="1"/>
                </p:cNvSpPr>
                <p:nvPr/>
              </p:nvSpPr>
              <p:spPr bwMode="auto">
                <a:xfrm>
                  <a:off x="3780" y="8772"/>
                  <a:ext cx="4140" cy="358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162 w 21600"/>
                    <a:gd name="T25" fmla="*/ 3161 h 21600"/>
                    <a:gd name="T26" fmla="*/ 18438 w 21600"/>
                    <a:gd name="T27" fmla="*/ 18439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5528" y="10800"/>
                      </a:moveTo>
                      <a:cubicBezTo>
                        <a:pt x="5528" y="13712"/>
                        <a:pt x="7888" y="16072"/>
                        <a:pt x="10800" y="16072"/>
                      </a:cubicBezTo>
                      <a:cubicBezTo>
                        <a:pt x="13712" y="16072"/>
                        <a:pt x="16072" y="13712"/>
                        <a:pt x="16072" y="10800"/>
                      </a:cubicBezTo>
                      <a:cubicBezTo>
                        <a:pt x="16072" y="7888"/>
                        <a:pt x="13712" y="5528"/>
                        <a:pt x="10800" y="5528"/>
                      </a:cubicBezTo>
                      <a:cubicBezTo>
                        <a:pt x="7888" y="5528"/>
                        <a:pt x="5528" y="7888"/>
                        <a:pt x="5528" y="1080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75" name="Line 132"/>
                <p:cNvSpPr>
                  <a:spLocks noChangeShapeType="1"/>
                </p:cNvSpPr>
                <p:nvPr/>
              </p:nvSpPr>
              <p:spPr bwMode="auto">
                <a:xfrm>
                  <a:off x="5940" y="8772"/>
                  <a:ext cx="0" cy="9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76" name="Line 133"/>
                <p:cNvSpPr>
                  <a:spLocks noChangeShapeType="1"/>
                </p:cNvSpPr>
                <p:nvPr/>
              </p:nvSpPr>
              <p:spPr bwMode="auto">
                <a:xfrm>
                  <a:off x="6120" y="11424"/>
                  <a:ext cx="0" cy="9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77" name="Line 134"/>
                <p:cNvSpPr>
                  <a:spLocks noChangeShapeType="1"/>
                </p:cNvSpPr>
                <p:nvPr/>
              </p:nvSpPr>
              <p:spPr bwMode="auto">
                <a:xfrm flipH="1">
                  <a:off x="6480" y="9084"/>
                  <a:ext cx="540" cy="7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78" name="Line 135"/>
                <p:cNvSpPr>
                  <a:spLocks noChangeShapeType="1"/>
                </p:cNvSpPr>
                <p:nvPr/>
              </p:nvSpPr>
              <p:spPr bwMode="auto">
                <a:xfrm flipH="1">
                  <a:off x="5040" y="11424"/>
                  <a:ext cx="540" cy="7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79" name="Line 136"/>
                <p:cNvSpPr>
                  <a:spLocks noChangeShapeType="1"/>
                </p:cNvSpPr>
                <p:nvPr/>
              </p:nvSpPr>
              <p:spPr bwMode="auto">
                <a:xfrm>
                  <a:off x="4680" y="9084"/>
                  <a:ext cx="540" cy="7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80" name="Line 137"/>
                <p:cNvSpPr>
                  <a:spLocks noChangeShapeType="1"/>
                </p:cNvSpPr>
                <p:nvPr/>
              </p:nvSpPr>
              <p:spPr bwMode="auto">
                <a:xfrm flipH="1">
                  <a:off x="6840" y="9864"/>
                  <a:ext cx="90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81" name="Line 138"/>
                <p:cNvSpPr>
                  <a:spLocks noChangeShapeType="1"/>
                </p:cNvSpPr>
                <p:nvPr/>
              </p:nvSpPr>
              <p:spPr bwMode="auto">
                <a:xfrm flipH="1">
                  <a:off x="6840" y="10800"/>
                  <a:ext cx="108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82" name="Line 139"/>
                <p:cNvSpPr>
                  <a:spLocks noChangeShapeType="1"/>
                </p:cNvSpPr>
                <p:nvPr/>
              </p:nvSpPr>
              <p:spPr bwMode="auto">
                <a:xfrm flipH="1" flipV="1">
                  <a:off x="6480" y="11268"/>
                  <a:ext cx="90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83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4140" y="11112"/>
                  <a:ext cx="90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84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3780" y="10644"/>
                  <a:ext cx="1080" cy="15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Group 142"/>
              <p:cNvGrpSpPr>
                <a:grpSpLocks/>
              </p:cNvGrpSpPr>
              <p:nvPr/>
            </p:nvGrpSpPr>
            <p:grpSpPr bwMode="auto">
              <a:xfrm>
                <a:off x="4140" y="8928"/>
                <a:ext cx="3780" cy="3432"/>
                <a:chOff x="4140" y="8928"/>
                <a:chExt cx="3780" cy="3432"/>
              </a:xfrm>
            </p:grpSpPr>
            <p:sp>
              <p:nvSpPr>
                <p:cNvPr id="163860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5220" y="8928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6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A= 1</a:t>
                  </a:r>
                </a:p>
              </p:txBody>
            </p:sp>
            <p:sp>
              <p:nvSpPr>
                <p:cNvPr id="163861" name="Text Box 144"/>
                <p:cNvSpPr txBox="1">
                  <a:spLocks noChangeArrowheads="1"/>
                </p:cNvSpPr>
                <p:nvPr/>
              </p:nvSpPr>
              <p:spPr bwMode="auto">
                <a:xfrm>
                  <a:off x="6120" y="8928"/>
                  <a:ext cx="72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123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1</a:t>
                  </a:r>
                </a:p>
              </p:txBody>
            </p:sp>
            <p:sp>
              <p:nvSpPr>
                <p:cNvPr id="163862" name="Text Box 145"/>
                <p:cNvSpPr txBox="1">
                  <a:spLocks noChangeArrowheads="1"/>
                </p:cNvSpPr>
                <p:nvPr/>
              </p:nvSpPr>
              <p:spPr bwMode="auto">
                <a:xfrm>
                  <a:off x="6840" y="9552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30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1</a:t>
                  </a:r>
                </a:p>
              </p:txBody>
            </p:sp>
            <p:sp>
              <p:nvSpPr>
                <p:cNvPr id="163863" name="Text Box 146"/>
                <p:cNvSpPr txBox="1">
                  <a:spLocks noChangeArrowheads="1"/>
                </p:cNvSpPr>
                <p:nvPr/>
              </p:nvSpPr>
              <p:spPr bwMode="auto">
                <a:xfrm>
                  <a:off x="7200" y="10176"/>
                  <a:ext cx="72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616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1</a:t>
                  </a:r>
                </a:p>
              </p:txBody>
            </p:sp>
            <p:sp>
              <p:nvSpPr>
                <p:cNvPr id="163864" name="Text Box 147"/>
                <p:cNvSpPr txBox="1">
                  <a:spLocks noChangeArrowheads="1"/>
                </p:cNvSpPr>
                <p:nvPr/>
              </p:nvSpPr>
              <p:spPr bwMode="auto">
                <a:xfrm>
                  <a:off x="7020" y="10956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FF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FF0000"/>
                      </a:solidFill>
                      <a:latin typeface="Times New Roman" pitchFamily="18" charset="0"/>
                    </a:rPr>
                    <a:t>23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FF0000"/>
                      </a:solidFill>
                      <a:latin typeface="Times New Roman" pitchFamily="18" charset="0"/>
                    </a:rPr>
                    <a:t>A = 0</a:t>
                  </a:r>
                </a:p>
              </p:txBody>
            </p:sp>
            <p:sp>
              <p:nvSpPr>
                <p:cNvPr id="163865" name="Text Box 148"/>
                <p:cNvSpPr txBox="1">
                  <a:spLocks noChangeArrowheads="1"/>
                </p:cNvSpPr>
                <p:nvPr/>
              </p:nvSpPr>
              <p:spPr bwMode="auto">
                <a:xfrm>
                  <a:off x="6300" y="11424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24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1</a:t>
                  </a:r>
                </a:p>
              </p:txBody>
            </p:sp>
            <p:sp>
              <p:nvSpPr>
                <p:cNvPr id="163866" name="Text Box 149"/>
                <p:cNvSpPr txBox="1">
                  <a:spLocks noChangeArrowheads="1"/>
                </p:cNvSpPr>
                <p:nvPr/>
              </p:nvSpPr>
              <p:spPr bwMode="auto">
                <a:xfrm>
                  <a:off x="5400" y="11733"/>
                  <a:ext cx="72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110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1</a:t>
                  </a:r>
                </a:p>
              </p:txBody>
            </p:sp>
            <p:sp>
              <p:nvSpPr>
                <p:cNvPr id="163867" name="Text Box 150"/>
                <p:cNvSpPr txBox="1">
                  <a:spLocks noChangeArrowheads="1"/>
                </p:cNvSpPr>
                <p:nvPr/>
              </p:nvSpPr>
              <p:spPr bwMode="auto">
                <a:xfrm>
                  <a:off x="4680" y="11424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16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0</a:t>
                  </a:r>
                </a:p>
              </p:txBody>
            </p:sp>
            <p:sp>
              <p:nvSpPr>
                <p:cNvPr id="163868" name="Text Box 151"/>
                <p:cNvSpPr txBox="1">
                  <a:spLocks noChangeArrowheads="1"/>
                </p:cNvSpPr>
                <p:nvPr/>
              </p:nvSpPr>
              <p:spPr bwMode="auto">
                <a:xfrm>
                  <a:off x="4140" y="10800"/>
                  <a:ext cx="540" cy="6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页</a:t>
                  </a:r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76</a:t>
                  </a:r>
                </a:p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A = 0</a:t>
                  </a:r>
                </a:p>
              </p:txBody>
            </p:sp>
            <p:grpSp>
              <p:nvGrpSpPr>
                <p:cNvPr id="13" name="Group 152"/>
                <p:cNvGrpSpPr>
                  <a:grpSpLocks/>
                </p:cNvGrpSpPr>
                <p:nvPr/>
              </p:nvGrpSpPr>
              <p:grpSpPr bwMode="auto">
                <a:xfrm>
                  <a:off x="4320" y="9240"/>
                  <a:ext cx="720" cy="1248"/>
                  <a:chOff x="3960" y="9396"/>
                  <a:chExt cx="720" cy="1248"/>
                </a:xfrm>
              </p:grpSpPr>
              <p:sp>
                <p:nvSpPr>
                  <p:cNvPr id="163870" name="Text 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0" y="9396"/>
                    <a:ext cx="360" cy="4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just" eaLnBrk="0" hangingPunct="0"/>
                    <a:r>
                      <a:rPr lang="en-US" altLang="zh-CN" sz="16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.</a:t>
                    </a:r>
                  </a:p>
                </p:txBody>
              </p:sp>
              <p:grpSp>
                <p:nvGrpSpPr>
                  <p:cNvPr id="14" name="Group 154"/>
                  <p:cNvGrpSpPr>
                    <a:grpSpLocks/>
                  </p:cNvGrpSpPr>
                  <p:nvPr/>
                </p:nvGrpSpPr>
                <p:grpSpPr bwMode="auto">
                  <a:xfrm>
                    <a:off x="3960" y="9708"/>
                    <a:ext cx="540" cy="936"/>
                    <a:chOff x="4320" y="9708"/>
                    <a:chExt cx="540" cy="936"/>
                  </a:xfrm>
                </p:grpSpPr>
                <p:sp>
                  <p:nvSpPr>
                    <p:cNvPr id="163872" name="Text Box 15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500" y="9708"/>
                      <a:ext cx="360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just" eaLnBrk="0" hangingPunct="0"/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.</a:t>
                      </a:r>
                    </a:p>
                  </p:txBody>
                </p:sp>
                <p:sp>
                  <p:nvSpPr>
                    <p:cNvPr id="163873" name="Text Box 15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320" y="10176"/>
                      <a:ext cx="360" cy="4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just" eaLnBrk="0" hangingPunct="0"/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.</a:t>
                      </a:r>
                    </a:p>
                  </p:txBody>
                </p:sp>
              </p:grpSp>
            </p:grpSp>
          </p:grpSp>
          <p:sp>
            <p:nvSpPr>
              <p:cNvPr id="163849" name="Line 157"/>
              <p:cNvSpPr>
                <a:spLocks noChangeShapeType="1"/>
              </p:cNvSpPr>
              <p:nvPr/>
            </p:nvSpPr>
            <p:spPr bwMode="auto">
              <a:xfrm flipV="1">
                <a:off x="5760" y="10176"/>
                <a:ext cx="90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" name="Group 158"/>
              <p:cNvGrpSpPr>
                <a:grpSpLocks/>
              </p:cNvGrpSpPr>
              <p:nvPr/>
            </p:nvGrpSpPr>
            <p:grpSpPr bwMode="auto">
              <a:xfrm>
                <a:off x="3780" y="8460"/>
                <a:ext cx="4320" cy="4212"/>
                <a:chOff x="3780" y="8460"/>
                <a:chExt cx="4320" cy="4212"/>
              </a:xfrm>
            </p:grpSpPr>
            <p:sp>
              <p:nvSpPr>
                <p:cNvPr id="163851" name="Text Box 159"/>
                <p:cNvSpPr txBox="1">
                  <a:spLocks noChangeArrowheads="1"/>
                </p:cNvSpPr>
                <p:nvPr/>
              </p:nvSpPr>
              <p:spPr bwMode="auto">
                <a:xfrm>
                  <a:off x="6660" y="8616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163852" name="Text Box 160"/>
                <p:cNvSpPr txBox="1">
                  <a:spLocks noChangeArrowheads="1"/>
                </p:cNvSpPr>
                <p:nvPr/>
              </p:nvSpPr>
              <p:spPr bwMode="auto">
                <a:xfrm>
                  <a:off x="7560" y="9240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63853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7920" y="10176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163854" name="Text Box 162"/>
                <p:cNvSpPr txBox="1">
                  <a:spLocks noChangeArrowheads="1"/>
                </p:cNvSpPr>
                <p:nvPr/>
              </p:nvSpPr>
              <p:spPr bwMode="auto">
                <a:xfrm>
                  <a:off x="7920" y="11112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163855" name="Text Box 163"/>
                <p:cNvSpPr txBox="1">
                  <a:spLocks noChangeArrowheads="1"/>
                </p:cNvSpPr>
                <p:nvPr/>
              </p:nvSpPr>
              <p:spPr bwMode="auto">
                <a:xfrm>
                  <a:off x="7020" y="12048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163856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5580" y="12360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5</a:t>
                  </a:r>
                </a:p>
              </p:txBody>
            </p:sp>
            <p:sp>
              <p:nvSpPr>
                <p:cNvPr id="163857" name="Text Box 165"/>
                <p:cNvSpPr txBox="1">
                  <a:spLocks noChangeArrowheads="1"/>
                </p:cNvSpPr>
                <p:nvPr/>
              </p:nvSpPr>
              <p:spPr bwMode="auto">
                <a:xfrm>
                  <a:off x="4500" y="12048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6</a:t>
                  </a:r>
                </a:p>
              </p:txBody>
            </p:sp>
            <p:sp>
              <p:nvSpPr>
                <p:cNvPr id="163858" name="Text Box 166"/>
                <p:cNvSpPr txBox="1">
                  <a:spLocks noChangeArrowheads="1"/>
                </p:cNvSpPr>
                <p:nvPr/>
              </p:nvSpPr>
              <p:spPr bwMode="auto">
                <a:xfrm>
                  <a:off x="3780" y="11268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7</a:t>
                  </a:r>
                </a:p>
              </p:txBody>
            </p:sp>
            <p:sp>
              <p:nvSpPr>
                <p:cNvPr id="163859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5220" y="8460"/>
                  <a:ext cx="54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1600" b="1">
                      <a:solidFill>
                        <a:srgbClr val="000000"/>
                      </a:solidFill>
                      <a:latin typeface="Times New Roman" pitchFamily="18" charset="0"/>
                    </a:rPr>
                    <a:t>n-1</a:t>
                  </a:r>
                </a:p>
              </p:txBody>
            </p:sp>
          </p:grpSp>
        </p:grpSp>
        <p:sp>
          <p:nvSpPr>
            <p:cNvPr id="163846" name="Text Box 168"/>
            <p:cNvSpPr txBox="1">
              <a:spLocks noChangeArrowheads="1"/>
            </p:cNvSpPr>
            <p:nvPr/>
          </p:nvSpPr>
          <p:spPr bwMode="auto">
            <a:xfrm>
              <a:off x="3600" y="12204"/>
              <a:ext cx="4140" cy="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en-US" altLang="zh-CN" sz="1600" b="1">
                  <a:solidFill>
                    <a:srgbClr val="000000"/>
                  </a:solidFill>
                  <a:latin typeface="Times New Roman" pitchFamily="18" charset="0"/>
                </a:rPr>
                <a:t>(a) </a:t>
              </a:r>
              <a:r>
                <a:rPr lang="zh-CN" altLang="en-US" sz="1600" b="1">
                  <a:solidFill>
                    <a:srgbClr val="000000"/>
                  </a:solidFill>
                  <a:latin typeface="Times New Roman" pitchFamily="18" charset="0"/>
                </a:rPr>
                <a:t>当前页面循环队列情况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5639116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60"/>
          <p:cNvSpPr>
            <a:spLocks noChangeArrowheads="1"/>
          </p:cNvSpPr>
          <p:nvPr/>
        </p:nvSpPr>
        <p:spPr bwMode="auto">
          <a:xfrm>
            <a:off x="-32" y="1590692"/>
            <a:ext cx="8763000" cy="4500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61"/>
          <p:cNvGrpSpPr>
            <a:grpSpLocks/>
          </p:cNvGrpSpPr>
          <p:nvPr/>
        </p:nvGrpSpPr>
        <p:grpSpPr bwMode="auto">
          <a:xfrm>
            <a:off x="133288" y="1947882"/>
            <a:ext cx="8382000" cy="4267200"/>
            <a:chOff x="1980" y="7679"/>
            <a:chExt cx="7740" cy="2653"/>
          </a:xfrm>
        </p:grpSpPr>
        <p:grpSp>
          <p:nvGrpSpPr>
            <p:cNvPr id="3" name="Group 62"/>
            <p:cNvGrpSpPr>
              <a:grpSpLocks/>
            </p:cNvGrpSpPr>
            <p:nvPr/>
          </p:nvGrpSpPr>
          <p:grpSpPr bwMode="auto">
            <a:xfrm>
              <a:off x="1980" y="7679"/>
              <a:ext cx="7740" cy="2185"/>
              <a:chOff x="1980" y="7679"/>
              <a:chExt cx="7740" cy="2185"/>
            </a:xfrm>
          </p:grpSpPr>
          <p:grpSp>
            <p:nvGrpSpPr>
              <p:cNvPr id="4" name="Group 63"/>
              <p:cNvGrpSpPr>
                <a:grpSpLocks/>
              </p:cNvGrpSpPr>
              <p:nvPr/>
            </p:nvGrpSpPr>
            <p:grpSpPr bwMode="auto">
              <a:xfrm>
                <a:off x="1980" y="7679"/>
                <a:ext cx="7740" cy="1248"/>
                <a:chOff x="1980" y="7056"/>
                <a:chExt cx="7740" cy="1248"/>
              </a:xfrm>
            </p:grpSpPr>
            <p:grpSp>
              <p:nvGrpSpPr>
                <p:cNvPr id="5" name="Group 64"/>
                <p:cNvGrpSpPr>
                  <a:grpSpLocks/>
                </p:cNvGrpSpPr>
                <p:nvPr/>
              </p:nvGrpSpPr>
              <p:grpSpPr bwMode="auto">
                <a:xfrm>
                  <a:off x="3420" y="7368"/>
                  <a:ext cx="6300" cy="936"/>
                  <a:chOff x="3420" y="7212"/>
                  <a:chExt cx="6300" cy="936"/>
                </a:xfrm>
              </p:grpSpPr>
              <p:grpSp>
                <p:nvGrpSpPr>
                  <p:cNvPr id="6" name="Group 65"/>
                  <p:cNvGrpSpPr>
                    <a:grpSpLocks/>
                  </p:cNvGrpSpPr>
                  <p:nvPr/>
                </p:nvGrpSpPr>
                <p:grpSpPr bwMode="auto">
                  <a:xfrm>
                    <a:off x="342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920" name="Text Box 6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2*</a:t>
                      </a:r>
                    </a:p>
                  </p:txBody>
                </p:sp>
                <p:sp>
                  <p:nvSpPr>
                    <p:cNvPr id="164921" name="Text Box 6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endParaRPr lang="zh-CN" altLang="en-US" sz="2000" b="1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164922" name="Text Box 6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endParaRPr lang="zh-CN" altLang="en-US" sz="2000" b="1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p:txBody>
                </p:sp>
              </p:grpSp>
              <p:grpSp>
                <p:nvGrpSpPr>
                  <p:cNvPr id="7" name="Group 69"/>
                  <p:cNvGrpSpPr>
                    <a:grpSpLocks/>
                  </p:cNvGrpSpPr>
                  <p:nvPr/>
                </p:nvGrpSpPr>
                <p:grpSpPr bwMode="auto">
                  <a:xfrm>
                    <a:off x="396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917" name="Text Box 7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2*</a:t>
                      </a:r>
                    </a:p>
                  </p:txBody>
                </p:sp>
                <p:sp>
                  <p:nvSpPr>
                    <p:cNvPr id="164918" name="Text Box 7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3*</a:t>
                      </a:r>
                    </a:p>
                  </p:txBody>
                </p:sp>
                <p:sp>
                  <p:nvSpPr>
                    <p:cNvPr id="164919" name="Text Box 7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endParaRPr lang="zh-CN" altLang="en-US" sz="2000" b="1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p:txBody>
                </p:sp>
              </p:grpSp>
              <p:grpSp>
                <p:nvGrpSpPr>
                  <p:cNvPr id="8" name="Group 73"/>
                  <p:cNvGrpSpPr>
                    <a:grpSpLocks/>
                  </p:cNvGrpSpPr>
                  <p:nvPr/>
                </p:nvGrpSpPr>
                <p:grpSpPr bwMode="auto">
                  <a:xfrm>
                    <a:off x="450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914" name="Text Box 7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2*</a:t>
                      </a:r>
                    </a:p>
                  </p:txBody>
                </p:sp>
                <p:sp>
                  <p:nvSpPr>
                    <p:cNvPr id="164915" name="Text Box 7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3*</a:t>
                      </a:r>
                    </a:p>
                  </p:txBody>
                </p:sp>
                <p:sp>
                  <p:nvSpPr>
                    <p:cNvPr id="164916" name="Text Box 7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endParaRPr lang="zh-CN" altLang="en-US" sz="2000" b="1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p:txBody>
                </p:sp>
              </p:grpSp>
              <p:grpSp>
                <p:nvGrpSpPr>
                  <p:cNvPr id="9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504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911" name="Text Box 7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2*</a:t>
                      </a:r>
                    </a:p>
                  </p:txBody>
                </p:sp>
                <p:sp>
                  <p:nvSpPr>
                    <p:cNvPr id="164912" name="Text Box 7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3*</a:t>
                      </a:r>
                    </a:p>
                  </p:txBody>
                </p:sp>
                <p:sp>
                  <p:nvSpPr>
                    <p:cNvPr id="164913" name="Text Box 8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1*</a:t>
                      </a:r>
                    </a:p>
                  </p:txBody>
                </p:sp>
              </p:grpSp>
              <p:grpSp>
                <p:nvGrpSpPr>
                  <p:cNvPr id="10" name="Group 81"/>
                  <p:cNvGrpSpPr>
                    <a:grpSpLocks/>
                  </p:cNvGrpSpPr>
                  <p:nvPr/>
                </p:nvGrpSpPr>
                <p:grpSpPr bwMode="auto">
                  <a:xfrm>
                    <a:off x="558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908" name="Text Box 8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5*</a:t>
                      </a:r>
                    </a:p>
                  </p:txBody>
                </p:sp>
                <p:sp>
                  <p:nvSpPr>
                    <p:cNvPr id="164909" name="Text Box 8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3</a:t>
                      </a:r>
                    </a:p>
                  </p:txBody>
                </p:sp>
                <p:sp>
                  <p:nvSpPr>
                    <p:cNvPr id="164910" name="Text Box 8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1</a:t>
                      </a:r>
                    </a:p>
                  </p:txBody>
                </p:sp>
              </p:grpSp>
              <p:grpSp>
                <p:nvGrpSpPr>
                  <p:cNvPr id="11" name="Group 85"/>
                  <p:cNvGrpSpPr>
                    <a:grpSpLocks/>
                  </p:cNvGrpSpPr>
                  <p:nvPr/>
                </p:nvGrpSpPr>
                <p:grpSpPr bwMode="auto">
                  <a:xfrm>
                    <a:off x="612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905" name="Text Box 8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5*</a:t>
                      </a:r>
                    </a:p>
                  </p:txBody>
                </p:sp>
                <p:sp>
                  <p:nvSpPr>
                    <p:cNvPr id="164906" name="Text Box 8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2*</a:t>
                      </a:r>
                    </a:p>
                  </p:txBody>
                </p:sp>
                <p:sp>
                  <p:nvSpPr>
                    <p:cNvPr id="164907" name="Text Box 8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1</a:t>
                      </a:r>
                    </a:p>
                  </p:txBody>
                </p:sp>
              </p:grpSp>
              <p:grpSp>
                <p:nvGrpSpPr>
                  <p:cNvPr id="12" name="Group 89"/>
                  <p:cNvGrpSpPr>
                    <a:grpSpLocks/>
                  </p:cNvGrpSpPr>
                  <p:nvPr/>
                </p:nvGrpSpPr>
                <p:grpSpPr bwMode="auto">
                  <a:xfrm>
                    <a:off x="666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902" name="Text Box 9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5*</a:t>
                      </a:r>
                    </a:p>
                  </p:txBody>
                </p:sp>
                <p:sp>
                  <p:nvSpPr>
                    <p:cNvPr id="164903" name="Text Box 9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2*</a:t>
                      </a:r>
                    </a:p>
                  </p:txBody>
                </p:sp>
                <p:sp>
                  <p:nvSpPr>
                    <p:cNvPr id="164904" name="Text Box 9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4*</a:t>
                      </a:r>
                    </a:p>
                  </p:txBody>
                </p:sp>
              </p:grpSp>
              <p:grpSp>
                <p:nvGrpSpPr>
                  <p:cNvPr id="13" name="Group 93"/>
                  <p:cNvGrpSpPr>
                    <a:grpSpLocks/>
                  </p:cNvGrpSpPr>
                  <p:nvPr/>
                </p:nvGrpSpPr>
                <p:grpSpPr bwMode="auto">
                  <a:xfrm>
                    <a:off x="720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899" name="Text Box 9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5*</a:t>
                      </a:r>
                    </a:p>
                  </p:txBody>
                </p:sp>
                <p:sp>
                  <p:nvSpPr>
                    <p:cNvPr id="164900" name="Text Box 9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2*</a:t>
                      </a:r>
                    </a:p>
                  </p:txBody>
                </p:sp>
                <p:sp>
                  <p:nvSpPr>
                    <p:cNvPr id="164901" name="Text Box 9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4*</a:t>
                      </a:r>
                    </a:p>
                  </p:txBody>
                </p:sp>
              </p:grpSp>
              <p:grpSp>
                <p:nvGrpSpPr>
                  <p:cNvPr id="14" name="Group 97"/>
                  <p:cNvGrpSpPr>
                    <a:grpSpLocks/>
                  </p:cNvGrpSpPr>
                  <p:nvPr/>
                </p:nvGrpSpPr>
                <p:grpSpPr bwMode="auto">
                  <a:xfrm>
                    <a:off x="774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896" name="Text Box 9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3*</a:t>
                      </a:r>
                    </a:p>
                  </p:txBody>
                </p:sp>
                <p:sp>
                  <p:nvSpPr>
                    <p:cNvPr id="164897" name="Text Box 9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164898" name="Text Box 10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4</a:t>
                      </a:r>
                    </a:p>
                  </p:txBody>
                </p:sp>
              </p:grpSp>
              <p:grpSp>
                <p:nvGrpSpPr>
                  <p:cNvPr id="15" name="Group 101"/>
                  <p:cNvGrpSpPr>
                    <a:grpSpLocks/>
                  </p:cNvGrpSpPr>
                  <p:nvPr/>
                </p:nvGrpSpPr>
                <p:grpSpPr bwMode="auto">
                  <a:xfrm>
                    <a:off x="828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893" name="Text Box 10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3*</a:t>
                      </a:r>
                    </a:p>
                  </p:txBody>
                </p:sp>
                <p:sp>
                  <p:nvSpPr>
                    <p:cNvPr id="164894" name="Text Box 10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2*</a:t>
                      </a:r>
                    </a:p>
                  </p:txBody>
                </p:sp>
                <p:sp>
                  <p:nvSpPr>
                    <p:cNvPr id="164895" name="Text Box 10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4</a:t>
                      </a:r>
                    </a:p>
                  </p:txBody>
                </p:sp>
              </p:grpSp>
              <p:grpSp>
                <p:nvGrpSpPr>
                  <p:cNvPr id="16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882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890" name="Text Box 10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3*</a:t>
                      </a:r>
                    </a:p>
                  </p:txBody>
                </p:sp>
                <p:sp>
                  <p:nvSpPr>
                    <p:cNvPr id="164891" name="Text Box 10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164892" name="Text Box 10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5*</a:t>
                      </a:r>
                    </a:p>
                  </p:txBody>
                </p:sp>
              </p:grpSp>
              <p:grpSp>
                <p:nvGrpSpPr>
                  <p:cNvPr id="17" name="Group 109"/>
                  <p:cNvGrpSpPr>
                    <a:grpSpLocks/>
                  </p:cNvGrpSpPr>
                  <p:nvPr/>
                </p:nvGrpSpPr>
                <p:grpSpPr bwMode="auto">
                  <a:xfrm>
                    <a:off x="9360" y="7212"/>
                    <a:ext cx="360" cy="936"/>
                    <a:chOff x="3960" y="7212"/>
                    <a:chExt cx="360" cy="936"/>
                  </a:xfrm>
                </p:grpSpPr>
                <p:sp>
                  <p:nvSpPr>
                    <p:cNvPr id="164887" name="Text Box 11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212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3*</a:t>
                      </a:r>
                    </a:p>
                  </p:txBody>
                </p:sp>
                <p:sp>
                  <p:nvSpPr>
                    <p:cNvPr id="164888" name="Text Box 11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524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2*</a:t>
                      </a:r>
                    </a:p>
                  </p:txBody>
                </p:sp>
                <p:sp>
                  <p:nvSpPr>
                    <p:cNvPr id="164889" name="Text Box 1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0" y="7836"/>
                      <a:ext cx="360" cy="31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0" hangingPunct="0"/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5*</a:t>
                      </a:r>
                    </a:p>
                  </p:txBody>
                </p:sp>
              </p:grpSp>
            </p:grpSp>
            <p:sp>
              <p:nvSpPr>
                <p:cNvPr id="164874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1980" y="7056"/>
                  <a:ext cx="7740" cy="3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zh-CN" altLang="en-US" sz="2000" b="1" dirty="0">
                      <a:solidFill>
                        <a:srgbClr val="000000"/>
                      </a:solidFill>
                      <a:latin typeface="Times New Roman" pitchFamily="18" charset="0"/>
                    </a:rPr>
                    <a:t>页面引用序列   </a:t>
                  </a:r>
                  <a:r>
                    <a:rPr lang="en-US" altLang="zh-CN" sz="2000" b="1" dirty="0">
                      <a:solidFill>
                        <a:srgbClr val="000000"/>
                      </a:solidFill>
                      <a:latin typeface="Times New Roman" pitchFamily="18" charset="0"/>
                    </a:rPr>
                    <a:t>2       3      2       1       5       2        4       5       3       2        5      2</a:t>
                  </a:r>
                </a:p>
              </p:txBody>
            </p:sp>
          </p:grpSp>
          <p:sp>
            <p:nvSpPr>
              <p:cNvPr id="164871" name="Text Box 114"/>
              <p:cNvSpPr txBox="1">
                <a:spLocks noChangeArrowheads="1"/>
              </p:cNvSpPr>
              <p:nvPr/>
            </p:nvSpPr>
            <p:spPr bwMode="auto">
              <a:xfrm>
                <a:off x="3420" y="8928"/>
                <a:ext cx="630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 eaLnBrk="0" hangingPunct="0"/>
                <a:r>
                  <a:rPr lang="en-US" altLang="zh-CN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F       </a:t>
                </a:r>
                <a:r>
                  <a:rPr lang="en-US" altLang="zh-CN" sz="2000" b="1" dirty="0" err="1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                </a:t>
                </a:r>
                <a:r>
                  <a:rPr lang="en-US" altLang="zh-CN" sz="2000" b="1" dirty="0" err="1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       </a:t>
                </a:r>
                <a:r>
                  <a:rPr lang="en-US" altLang="zh-CN" sz="2000" b="1" u="sng" dirty="0" err="1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       </a:t>
                </a:r>
                <a:r>
                  <a:rPr lang="en-US" altLang="zh-CN" sz="2000" b="1" u="sng" dirty="0" err="1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       </a:t>
                </a:r>
                <a:r>
                  <a:rPr lang="en-US" altLang="zh-CN" sz="2000" b="1" u="sng" dirty="0" err="1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                </a:t>
                </a:r>
                <a:r>
                  <a:rPr lang="en-US" altLang="zh-CN" sz="2000" b="1" u="sng" dirty="0" err="1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                </a:t>
                </a:r>
                <a:r>
                  <a:rPr lang="en-US" altLang="zh-CN" sz="2000" b="1" u="sng" dirty="0" err="1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  <a:r>
                  <a:rPr lang="en-US" altLang="zh-CN" sz="2000" b="1" u="sng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</a:p>
            </p:txBody>
          </p:sp>
          <p:sp>
            <p:nvSpPr>
              <p:cNvPr id="164872" name="Text Box 115"/>
              <p:cNvSpPr txBox="1">
                <a:spLocks noChangeArrowheads="1"/>
              </p:cNvSpPr>
              <p:nvPr/>
            </p:nvSpPr>
            <p:spPr bwMode="auto">
              <a:xfrm>
                <a:off x="3420" y="9396"/>
                <a:ext cx="630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 eaLnBrk="0" hangingPunct="0"/>
                <a:r>
                  <a:rPr lang="en-US" altLang="zh-CN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12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次页面引用    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8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次缺页中断（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和</a:t>
                </a:r>
                <a:r>
                  <a:rPr lang="en-US" altLang="zh-CN" sz="2000" b="1" u="sng" dirty="0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）    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次页面置换（</a:t>
                </a:r>
                <a:r>
                  <a:rPr lang="en-US" altLang="zh-CN" sz="2000" b="1" u="sng" dirty="0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Times New Roman" pitchFamily="18" charset="0"/>
                  </a:rPr>
                  <a:t>）</a:t>
                </a:r>
              </a:p>
            </p:txBody>
          </p:sp>
        </p:grpSp>
        <p:sp>
          <p:nvSpPr>
            <p:cNvPr id="164869" name="Text Box 116"/>
            <p:cNvSpPr txBox="1">
              <a:spLocks noChangeArrowheads="1"/>
            </p:cNvSpPr>
            <p:nvPr/>
          </p:nvSpPr>
          <p:spPr bwMode="auto">
            <a:xfrm>
              <a:off x="2520" y="9864"/>
              <a:ext cx="7200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zh-CN" altLang="en-US" sz="2000" b="1">
                  <a:solidFill>
                    <a:srgbClr val="000000"/>
                  </a:solidFill>
                  <a:latin typeface="Times New Roman" pitchFamily="18" charset="0"/>
                </a:rPr>
                <a:t>图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zh-CN" altLang="en-US" sz="2000" b="1">
                  <a:solidFill>
                    <a:srgbClr val="000000"/>
                  </a:solidFill>
                  <a:latin typeface="Times New Roman" pitchFamily="18" charset="0"/>
                </a:rPr>
                <a:t>采用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itchFamily="18" charset="0"/>
                </a:rPr>
                <a:t>Clock</a:t>
              </a:r>
              <a:r>
                <a:rPr lang="zh-CN" altLang="en-US" sz="2000" b="1">
                  <a:solidFill>
                    <a:srgbClr val="000000"/>
                  </a:solidFill>
                  <a:latin typeface="Times New Roman" pitchFamily="18" charset="0"/>
                </a:rPr>
                <a:t>置换算法的缺页中断与页面置换过程</a:t>
              </a:r>
            </a:p>
          </p:txBody>
        </p:sp>
      </p:grpSp>
      <p:sp>
        <p:nvSpPr>
          <p:cNvPr id="61" name="线形标注 3(带边框和强调线) 60"/>
          <p:cNvSpPr/>
          <p:nvPr/>
        </p:nvSpPr>
        <p:spPr bwMode="auto">
          <a:xfrm>
            <a:off x="6072198" y="214290"/>
            <a:ext cx="2857520" cy="1000132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174916"/>
              <a:gd name="adj8" fmla="val 3400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13500000">
              <a:schemeClr val="bg2"/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/>
              <a:t>对于存在于内存中的访问页面，替换指针不会下移，因此指针还是指向“</a:t>
            </a:r>
            <a:r>
              <a:rPr lang="en-US" altLang="zh-CN" dirty="0" smtClean="0"/>
              <a:t>3</a:t>
            </a:r>
            <a:r>
              <a:rPr lang="zh-CN" altLang="en-US" dirty="0" smtClean="0"/>
              <a:t>”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3" name="线形标注 3(带边框和强调线) 62"/>
          <p:cNvSpPr/>
          <p:nvPr/>
        </p:nvSpPr>
        <p:spPr bwMode="auto">
          <a:xfrm>
            <a:off x="2643174" y="285728"/>
            <a:ext cx="2428892" cy="857256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04664"/>
              <a:gd name="adj8" fmla="val 6013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13500000">
              <a:schemeClr val="bg2"/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/>
              <a:t>当发生页面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置换后，指针不移动，还是指向“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5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”</a:t>
            </a:r>
          </a:p>
        </p:txBody>
      </p:sp>
      <p:cxnSp>
        <p:nvCxnSpPr>
          <p:cNvPr id="19" name="直接箭头连接符 18"/>
          <p:cNvCxnSpPr/>
          <p:nvPr/>
        </p:nvCxnSpPr>
        <p:spPr bwMode="auto">
          <a:xfrm>
            <a:off x="3923928" y="2708920"/>
            <a:ext cx="10796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65" name="直接箭头连接符 64"/>
          <p:cNvCxnSpPr/>
          <p:nvPr/>
        </p:nvCxnSpPr>
        <p:spPr bwMode="auto">
          <a:xfrm>
            <a:off x="1547664" y="2708920"/>
            <a:ext cx="14506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68" name="直接箭头连接符 67"/>
          <p:cNvCxnSpPr/>
          <p:nvPr/>
        </p:nvCxnSpPr>
        <p:spPr bwMode="auto">
          <a:xfrm flipV="1">
            <a:off x="2123728" y="3212976"/>
            <a:ext cx="153793" cy="68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69" name="直接箭头连接符 68"/>
          <p:cNvCxnSpPr/>
          <p:nvPr/>
        </p:nvCxnSpPr>
        <p:spPr bwMode="auto">
          <a:xfrm>
            <a:off x="2699792" y="3212976"/>
            <a:ext cx="16252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76" name="直接箭头连接符 75"/>
          <p:cNvCxnSpPr/>
          <p:nvPr/>
        </p:nvCxnSpPr>
        <p:spPr bwMode="auto">
          <a:xfrm>
            <a:off x="4471617" y="3212976"/>
            <a:ext cx="14506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77" name="直接箭头连接符 76"/>
          <p:cNvCxnSpPr/>
          <p:nvPr/>
        </p:nvCxnSpPr>
        <p:spPr bwMode="auto">
          <a:xfrm>
            <a:off x="5641199" y="3714724"/>
            <a:ext cx="14506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78" name="直接箭头连接符 77"/>
          <p:cNvCxnSpPr/>
          <p:nvPr/>
        </p:nvCxnSpPr>
        <p:spPr bwMode="auto">
          <a:xfrm>
            <a:off x="6225989" y="2708920"/>
            <a:ext cx="14506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79" name="直接箭头连接符 78"/>
          <p:cNvCxnSpPr/>
          <p:nvPr/>
        </p:nvCxnSpPr>
        <p:spPr bwMode="auto">
          <a:xfrm>
            <a:off x="6810780" y="2708920"/>
            <a:ext cx="14506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80" name="直接箭头连接符 79"/>
          <p:cNvCxnSpPr/>
          <p:nvPr/>
        </p:nvCxnSpPr>
        <p:spPr bwMode="auto">
          <a:xfrm>
            <a:off x="7980362" y="3717032"/>
            <a:ext cx="14506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81" name="直接箭头连接符 80"/>
          <p:cNvCxnSpPr/>
          <p:nvPr/>
        </p:nvCxnSpPr>
        <p:spPr bwMode="auto">
          <a:xfrm>
            <a:off x="3284582" y="3717032"/>
            <a:ext cx="16252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83" name="直接箭头连接符 82"/>
          <p:cNvCxnSpPr/>
          <p:nvPr/>
        </p:nvCxnSpPr>
        <p:spPr bwMode="auto">
          <a:xfrm>
            <a:off x="5056408" y="3715753"/>
            <a:ext cx="14506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84" name="直接箭头连接符 83"/>
          <p:cNvCxnSpPr/>
          <p:nvPr/>
        </p:nvCxnSpPr>
        <p:spPr bwMode="auto">
          <a:xfrm>
            <a:off x="7395571" y="3683215"/>
            <a:ext cx="14506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</p:spTree>
    <p:extLst>
      <p:ext uri="{BB962C8B-B14F-4D97-AF65-F5344CB8AC3E}">
        <p14:creationId xmlns="" xmlns:p14="http://schemas.microsoft.com/office/powerpoint/2010/main" val="37948662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6" grpId="0" animBg="1"/>
      <p:bldP spid="61" grpId="0" animBg="1"/>
      <p:bldP spid="6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0" name="Rectangle 4"/>
          <p:cNvSpPr>
            <a:spLocks noChangeArrowheads="1"/>
          </p:cNvSpPr>
          <p:nvPr/>
        </p:nvSpPr>
        <p:spPr bwMode="auto">
          <a:xfrm>
            <a:off x="609600" y="381000"/>
            <a:ext cx="8001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lnSpc>
                <a:spcPct val="120000"/>
              </a:lnSpc>
              <a:defRPr/>
            </a:pPr>
            <a:r>
              <a:rPr lang="en-US" altLang="zh-CN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5</a:t>
            </a:r>
            <a:r>
              <a:rPr lang="zh-CN" altLang="en-US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）</a:t>
            </a:r>
            <a:r>
              <a:rPr lang="en-US" altLang="zh-CN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 </a:t>
            </a:r>
            <a:r>
              <a:rPr lang="zh-CN" altLang="en-US" sz="44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改进型</a:t>
            </a:r>
            <a:r>
              <a:rPr lang="en-US" altLang="zh-CN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Clock</a:t>
            </a:r>
            <a:r>
              <a:rPr lang="zh-CN" altLang="en-US" sz="4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置换算法</a:t>
            </a:r>
            <a:endParaRPr lang="zh-CN" altLang="en-US" sz="4400" b="1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208901" name="Rectangle 5"/>
          <p:cNvSpPr>
            <a:spLocks noChangeArrowheads="1"/>
          </p:cNvSpPr>
          <p:nvPr/>
        </p:nvSpPr>
        <p:spPr bwMode="auto">
          <a:xfrm>
            <a:off x="304800" y="1676400"/>
            <a:ext cx="8458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7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v"/>
            </a:pP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08902" name="Rectangle 6"/>
          <p:cNvSpPr>
            <a:spLocks noChangeArrowheads="1"/>
          </p:cNvSpPr>
          <p:nvPr/>
        </p:nvSpPr>
        <p:spPr bwMode="auto">
          <a:xfrm>
            <a:off x="381000" y="1484784"/>
            <a:ext cx="83058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v"/>
              <a:defRPr/>
            </a:pPr>
            <a:r>
              <a:rPr lang="zh-CN" altLang="en-US" sz="2800" b="1" dirty="0">
                <a:ea typeface="楷体_GB2312" pitchFamily="49" charset="-122"/>
              </a:rPr>
              <a:t>系统把一个页面移出内存时</a:t>
            </a:r>
            <a:r>
              <a:rPr lang="zh-CN" altLang="en-US" sz="2800" b="1" dirty="0" smtClean="0">
                <a:ea typeface="楷体_GB2312" pitchFamily="49" charset="-122"/>
              </a:rPr>
              <a:t>，</a:t>
            </a:r>
            <a:r>
              <a:rPr lang="zh-CN" altLang="en-US" sz="2800" b="1" dirty="0" smtClean="0">
                <a:solidFill>
                  <a:schemeClr val="folHlink"/>
                </a:solidFill>
                <a:ea typeface="楷体_GB2312" pitchFamily="49" charset="-122"/>
              </a:rPr>
              <a:t>换</a:t>
            </a:r>
            <a:r>
              <a:rPr lang="zh-CN" altLang="en-US" sz="2800" b="1" dirty="0">
                <a:solidFill>
                  <a:schemeClr val="folHlink"/>
                </a:solidFill>
                <a:ea typeface="楷体_GB2312" pitchFamily="49" charset="-122"/>
              </a:rPr>
              <a:t>出未修改过的页面比换出被修改过的页面开销小</a:t>
            </a:r>
            <a:r>
              <a:rPr lang="zh-CN" altLang="en-US" sz="2800" b="1" dirty="0" smtClean="0">
                <a:ea typeface="楷体_GB2312" pitchFamily="49" charset="-122"/>
              </a:rPr>
              <a:t>。</a:t>
            </a:r>
            <a:endParaRPr lang="en-US" altLang="zh-CN" sz="2800" b="1" dirty="0" smtClean="0">
              <a:ea typeface="楷体_GB2312" pitchFamily="49" charset="-122"/>
            </a:endParaRP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v"/>
              <a:defRPr/>
            </a:pPr>
            <a:endParaRPr lang="zh-CN" altLang="en-US" sz="2800" b="1" dirty="0">
              <a:ea typeface="楷体_GB2312" pitchFamily="49" charset="-122"/>
            </a:endParaRP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v"/>
              <a:defRPr/>
            </a:pPr>
            <a:r>
              <a:rPr lang="zh-CN" altLang="en-US" sz="2800" b="1" dirty="0" smtClean="0">
                <a:ea typeface="楷体_GB2312" pitchFamily="49" charset="-122"/>
              </a:rPr>
              <a:t>因此，依据</a:t>
            </a:r>
            <a:r>
              <a:rPr lang="zh-CN" altLang="en-US" sz="2800" b="1" dirty="0">
                <a:ea typeface="楷体_GB2312" pitchFamily="49" charset="-122"/>
              </a:rPr>
              <a:t>上述结论改进</a:t>
            </a:r>
            <a:r>
              <a:rPr lang="en-US" altLang="zh-CN" sz="2800" b="1" dirty="0">
                <a:ea typeface="楷体_GB2312" pitchFamily="49" charset="-122"/>
              </a:rPr>
              <a:t>CLOCK</a:t>
            </a:r>
            <a:r>
              <a:rPr lang="zh-CN" altLang="en-US" sz="2800" b="1" dirty="0">
                <a:ea typeface="楷体_GB2312" pitchFamily="49" charset="-122"/>
              </a:rPr>
              <a:t>算法。改进后的</a:t>
            </a:r>
            <a:r>
              <a:rPr lang="en-US" altLang="zh-CN" sz="2800" b="1" dirty="0">
                <a:ea typeface="楷体_GB2312" pitchFamily="49" charset="-122"/>
              </a:rPr>
              <a:t>CLOCK</a:t>
            </a:r>
            <a:r>
              <a:rPr lang="zh-CN" altLang="en-US" sz="2800" b="1" dirty="0">
                <a:ea typeface="楷体_GB2312" pitchFamily="49" charset="-122"/>
              </a:rPr>
              <a:t>算法将在置换范围内</a:t>
            </a:r>
            <a:r>
              <a:rPr lang="zh-CN" altLang="en-US" sz="2800" b="1" i="1" u="sng" dirty="0">
                <a:solidFill>
                  <a:schemeClr val="folHlink"/>
                </a:solidFill>
                <a:ea typeface="楷体_GB2312" pitchFamily="49" charset="-122"/>
              </a:rPr>
              <a:t>首选：</a:t>
            </a:r>
            <a:endParaRPr lang="en-US" altLang="zh-CN" sz="2800" b="1" i="1" u="sng" dirty="0">
              <a:solidFill>
                <a:schemeClr val="folHlink"/>
              </a:solidFill>
              <a:ea typeface="楷体_GB2312" pitchFamily="49" charset="-122"/>
            </a:endParaRPr>
          </a:p>
          <a:p>
            <a:pPr marL="800100" lvl="1" indent="-342900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v"/>
              <a:defRPr/>
            </a:pPr>
            <a:r>
              <a:rPr lang="zh-CN" altLang="en-US" sz="2800" b="1" i="1" u="sng" dirty="0">
                <a:solidFill>
                  <a:schemeClr val="folHlink"/>
                </a:solidFill>
                <a:ea typeface="楷体_GB2312" pitchFamily="49" charset="-122"/>
              </a:rPr>
              <a:t>在最近没有被使用</a:t>
            </a:r>
            <a:r>
              <a:rPr lang="zh-CN" altLang="en-US" sz="2800" b="1" i="1" u="sng" dirty="0" smtClean="0">
                <a:solidFill>
                  <a:schemeClr val="folHlink"/>
                </a:solidFill>
                <a:ea typeface="楷体_GB2312" pitchFamily="49" charset="-122"/>
              </a:rPr>
              <a:t>过的页面，</a:t>
            </a:r>
            <a:r>
              <a:rPr lang="en-US" altLang="zh-CN" sz="2800" b="1" i="1" u="sng" dirty="0" smtClean="0">
                <a:solidFill>
                  <a:schemeClr val="folHlink"/>
                </a:solidFill>
                <a:ea typeface="楷体_GB2312" pitchFamily="49" charset="-122"/>
              </a:rPr>
              <a:t>A=0</a:t>
            </a:r>
            <a:r>
              <a:rPr lang="zh-CN" altLang="en-US" sz="2800" b="1" i="1" u="sng" dirty="0" smtClean="0">
                <a:solidFill>
                  <a:schemeClr val="folHlink"/>
                </a:solidFill>
                <a:ea typeface="楷体_GB2312" pitchFamily="49" charset="-122"/>
              </a:rPr>
              <a:t>；</a:t>
            </a:r>
            <a:endParaRPr lang="en-US" altLang="zh-CN" sz="2800" b="1" i="1" u="sng" dirty="0">
              <a:solidFill>
                <a:schemeClr val="folHlink"/>
              </a:solidFill>
              <a:ea typeface="楷体_GB2312" pitchFamily="49" charset="-122"/>
            </a:endParaRPr>
          </a:p>
          <a:p>
            <a:pPr marL="800100" lvl="1" indent="-342900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v"/>
              <a:defRPr/>
            </a:pPr>
            <a:r>
              <a:rPr lang="zh-CN" altLang="en-US" sz="2800" b="1" i="1" u="sng" dirty="0">
                <a:solidFill>
                  <a:schemeClr val="folHlink"/>
                </a:solidFill>
                <a:ea typeface="楷体_GB2312" pitchFamily="49" charset="-122"/>
              </a:rPr>
              <a:t>在驻留内存期间没有被修改过的</a:t>
            </a:r>
            <a:r>
              <a:rPr lang="zh-CN" altLang="en-US" sz="2800" b="1" i="1" u="sng" dirty="0" smtClean="0">
                <a:solidFill>
                  <a:schemeClr val="folHlink"/>
                </a:solidFill>
                <a:ea typeface="楷体_GB2312" pitchFamily="49" charset="-122"/>
              </a:rPr>
              <a:t>页面</a:t>
            </a:r>
            <a:r>
              <a:rPr lang="zh-CN" altLang="en-US" sz="2800" b="1" i="1" u="sng" dirty="0">
                <a:solidFill>
                  <a:schemeClr val="folHlink"/>
                </a:solidFill>
                <a:ea typeface="楷体_GB2312" pitchFamily="49" charset="-122"/>
              </a:rPr>
              <a:t>，</a:t>
            </a:r>
            <a:r>
              <a:rPr lang="en-US" altLang="zh-CN" sz="2800" b="1" i="1" u="sng" dirty="0" smtClean="0">
                <a:solidFill>
                  <a:schemeClr val="folHlink"/>
                </a:solidFill>
                <a:ea typeface="楷体_GB2312" pitchFamily="49" charset="-122"/>
              </a:rPr>
              <a:t>M=0</a:t>
            </a:r>
            <a:r>
              <a:rPr lang="zh-CN" altLang="en-US" sz="2800" b="1" i="1" u="sng" dirty="0" smtClean="0">
                <a:solidFill>
                  <a:schemeClr val="folHlink"/>
                </a:solidFill>
                <a:ea typeface="楷体_GB2312" pitchFamily="49" charset="-122"/>
              </a:rPr>
              <a:t>；</a:t>
            </a:r>
            <a:endParaRPr lang="en-US" altLang="zh-CN" sz="2800" b="1" i="1" u="sng" dirty="0">
              <a:solidFill>
                <a:schemeClr val="folHlink"/>
              </a:solidFill>
              <a:ea typeface="楷体_GB2312" pitchFamily="49" charset="-122"/>
            </a:endParaRPr>
          </a:p>
          <a:p>
            <a:pPr marL="800100" lvl="1" indent="-342900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5000"/>
              <a:defRPr/>
            </a:pPr>
            <a:r>
              <a:rPr lang="zh-CN" altLang="en-US" sz="2800" b="1" i="1" u="sng" dirty="0">
                <a:solidFill>
                  <a:schemeClr val="folHlink"/>
                </a:solidFill>
                <a:ea typeface="楷体_GB2312" pitchFamily="49" charset="-122"/>
              </a:rPr>
              <a:t>作为被置换页面</a:t>
            </a:r>
            <a:r>
              <a:rPr lang="zh-CN" altLang="en-US" sz="2800" b="1" i="1" u="sng" dirty="0">
                <a:ea typeface="楷体_GB2312" pitchFamily="49" charset="-122"/>
              </a:rPr>
              <a:t>。</a:t>
            </a:r>
          </a:p>
        </p:txBody>
      </p:sp>
    </p:spTree>
    <p:extLst>
      <p:ext uri="{BB962C8B-B14F-4D97-AF65-F5344CB8AC3E}">
        <p14:creationId xmlns="" xmlns:p14="http://schemas.microsoft.com/office/powerpoint/2010/main" val="25976938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8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8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8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8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8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89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1" grpId="0" build="p" autoUpdateAnimBg="0"/>
      <p:bldP spid="208902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066800"/>
            <a:ext cx="80772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3600" b="1" smtClean="0"/>
          </a:p>
          <a:p>
            <a:pPr algn="just" eaLnBrk="1" hangingPunct="1">
              <a:lnSpc>
                <a:spcPct val="90000"/>
              </a:lnSpc>
            </a:pPr>
            <a:r>
              <a:rPr lang="zh-CN" altLang="en-US" b="1" smtClean="0"/>
              <a:t>由访问位</a:t>
            </a:r>
            <a:r>
              <a:rPr lang="en-US" altLang="zh-CN" b="1" smtClean="0"/>
              <a:t>A</a:t>
            </a:r>
            <a:r>
              <a:rPr lang="zh-CN" altLang="en-US" b="1" smtClean="0"/>
              <a:t>和修改位</a:t>
            </a:r>
            <a:r>
              <a:rPr lang="en-US" altLang="zh-CN" b="1" smtClean="0"/>
              <a:t>M</a:t>
            </a:r>
            <a:r>
              <a:rPr lang="zh-CN" altLang="en-US" b="1" smtClean="0"/>
              <a:t>可以组合成下面四种类型的页面：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/>
              <a:t>    </a:t>
            </a:r>
            <a:r>
              <a:rPr lang="en-US" altLang="zh-CN" sz="2800" b="1" smtClean="0"/>
              <a:t>1</a:t>
            </a:r>
            <a:r>
              <a:rPr lang="zh-CN" altLang="en-US" sz="2800" b="1" smtClean="0"/>
              <a:t>类（</a:t>
            </a:r>
            <a:r>
              <a:rPr lang="en-US" altLang="zh-CN" sz="2800" b="1" smtClean="0">
                <a:solidFill>
                  <a:schemeClr val="folHlink"/>
                </a:solidFill>
              </a:rPr>
              <a:t>A=0</a:t>
            </a:r>
            <a:r>
              <a:rPr lang="zh-CN" altLang="en-US" sz="2800" b="1" smtClean="0">
                <a:solidFill>
                  <a:schemeClr val="folHlink"/>
                </a:solidFill>
              </a:rPr>
              <a:t>，</a:t>
            </a:r>
            <a:r>
              <a:rPr lang="en-US" altLang="zh-CN" sz="2800" b="1" smtClean="0">
                <a:solidFill>
                  <a:schemeClr val="folHlink"/>
                </a:solidFill>
              </a:rPr>
              <a:t>M=0</a:t>
            </a:r>
            <a:r>
              <a:rPr lang="zh-CN" altLang="en-US" sz="2800" b="1" smtClean="0"/>
              <a:t>：表示该页最近既未彼访问，又未被修改，是</a:t>
            </a:r>
            <a:r>
              <a:rPr lang="zh-CN" altLang="en-US" sz="2800" b="1" smtClean="0">
                <a:solidFill>
                  <a:schemeClr val="folHlink"/>
                </a:solidFill>
              </a:rPr>
              <a:t>最佳淘汰页</a:t>
            </a:r>
            <a:r>
              <a:rPr lang="zh-CN" altLang="en-US" sz="2800" b="1" smtClean="0"/>
              <a:t>。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/>
              <a:t>    </a:t>
            </a:r>
            <a:r>
              <a:rPr lang="en-US" altLang="zh-CN" sz="2800" b="1" smtClean="0"/>
              <a:t>2</a:t>
            </a:r>
            <a:r>
              <a:rPr lang="zh-CN" altLang="en-US" sz="2800" b="1" smtClean="0"/>
              <a:t>类（</a:t>
            </a:r>
            <a:r>
              <a:rPr lang="en-US" altLang="zh-CN" sz="2800" b="1" smtClean="0">
                <a:solidFill>
                  <a:schemeClr val="folHlink"/>
                </a:solidFill>
              </a:rPr>
              <a:t>A=0</a:t>
            </a:r>
            <a:r>
              <a:rPr lang="zh-CN" altLang="en-US" sz="2800" b="1" smtClean="0">
                <a:solidFill>
                  <a:schemeClr val="folHlink"/>
                </a:solidFill>
              </a:rPr>
              <a:t>，</a:t>
            </a:r>
            <a:r>
              <a:rPr lang="en-US" altLang="zh-CN" sz="2800" b="1" smtClean="0">
                <a:solidFill>
                  <a:schemeClr val="folHlink"/>
                </a:solidFill>
              </a:rPr>
              <a:t>M=1</a:t>
            </a:r>
            <a:r>
              <a:rPr lang="zh-CN" altLang="en-US" sz="2800" b="1" smtClean="0"/>
              <a:t>）：表示该页最近未被访问，但已被修改，</a:t>
            </a:r>
            <a:r>
              <a:rPr lang="zh-CN" altLang="en-US" sz="2800" b="1" smtClean="0">
                <a:solidFill>
                  <a:schemeClr val="folHlink"/>
                </a:solidFill>
              </a:rPr>
              <a:t>并不是很好的淘汰页</a:t>
            </a:r>
            <a:r>
              <a:rPr lang="zh-CN" altLang="en-US" sz="2800" b="1" smtClean="0"/>
              <a:t>。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/>
              <a:t>    </a:t>
            </a:r>
            <a:r>
              <a:rPr lang="en-US" altLang="zh-CN" sz="2800" b="1" smtClean="0"/>
              <a:t>3</a:t>
            </a:r>
            <a:r>
              <a:rPr lang="zh-CN" altLang="en-US" sz="2800" b="1" smtClean="0"/>
              <a:t>类（</a:t>
            </a:r>
            <a:r>
              <a:rPr lang="en-US" altLang="zh-CN" sz="2800" b="1" smtClean="0">
                <a:solidFill>
                  <a:schemeClr val="folHlink"/>
                </a:solidFill>
              </a:rPr>
              <a:t>A=1</a:t>
            </a:r>
            <a:r>
              <a:rPr lang="zh-CN" altLang="en-US" sz="2800" b="1" smtClean="0">
                <a:solidFill>
                  <a:schemeClr val="folHlink"/>
                </a:solidFill>
              </a:rPr>
              <a:t>，</a:t>
            </a:r>
            <a:r>
              <a:rPr lang="en-US" altLang="zh-CN" sz="2800" b="1" smtClean="0">
                <a:solidFill>
                  <a:schemeClr val="folHlink"/>
                </a:solidFill>
              </a:rPr>
              <a:t>M=0</a:t>
            </a:r>
            <a:r>
              <a:rPr lang="zh-CN" altLang="en-US" sz="2800" b="1" smtClean="0"/>
              <a:t>）：最近已被访问，但未被修改：</a:t>
            </a:r>
            <a:r>
              <a:rPr lang="zh-CN" altLang="en-US" sz="2800" b="1" smtClean="0">
                <a:solidFill>
                  <a:schemeClr val="folHlink"/>
                </a:solidFill>
              </a:rPr>
              <a:t>该页有可能再被访问</a:t>
            </a:r>
            <a:r>
              <a:rPr lang="zh-CN" altLang="en-US" sz="2800" b="1" smtClean="0"/>
              <a:t>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/>
              <a:t>    </a:t>
            </a:r>
            <a:r>
              <a:rPr lang="en-US" altLang="zh-CN" sz="2800" b="1" smtClean="0"/>
              <a:t>4</a:t>
            </a:r>
            <a:r>
              <a:rPr lang="zh-CN" altLang="en-US" sz="2800" b="1" smtClean="0"/>
              <a:t>类（</a:t>
            </a:r>
            <a:r>
              <a:rPr lang="en-US" altLang="zh-CN" sz="2800" b="1" smtClean="0">
                <a:solidFill>
                  <a:schemeClr val="folHlink"/>
                </a:solidFill>
              </a:rPr>
              <a:t>A=1</a:t>
            </a:r>
            <a:r>
              <a:rPr lang="zh-CN" altLang="en-US" sz="2800" b="1" smtClean="0">
                <a:solidFill>
                  <a:schemeClr val="folHlink"/>
                </a:solidFill>
              </a:rPr>
              <a:t>，</a:t>
            </a:r>
            <a:r>
              <a:rPr lang="en-US" altLang="zh-CN" sz="2800" b="1" smtClean="0">
                <a:solidFill>
                  <a:schemeClr val="folHlink"/>
                </a:solidFill>
              </a:rPr>
              <a:t>M=1</a:t>
            </a:r>
            <a:r>
              <a:rPr lang="zh-CN" altLang="en-US" sz="2800" b="1" smtClean="0"/>
              <a:t>）：最近已被访问且被修改，</a:t>
            </a:r>
            <a:r>
              <a:rPr lang="zh-CN" altLang="en-US" sz="2800" b="1" smtClean="0">
                <a:solidFill>
                  <a:schemeClr val="folHlink"/>
                </a:solidFill>
              </a:rPr>
              <a:t>该页可能再被访问。</a:t>
            </a:r>
            <a:r>
              <a:rPr lang="zh-CN" altLang="en-US" sz="2800" b="1" smtClean="0"/>
              <a:t> </a:t>
            </a:r>
          </a:p>
        </p:txBody>
      </p:sp>
      <p:sp>
        <p:nvSpPr>
          <p:cNvPr id="534532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chemeClr val="folHlink"/>
                </a:solidFill>
              </a:rPr>
              <a:t>5</a:t>
            </a:r>
            <a:r>
              <a:rPr lang="zh-CN" altLang="en-US" b="1" smtClean="0">
                <a:solidFill>
                  <a:schemeClr val="folHlink"/>
                </a:solidFill>
              </a:rPr>
              <a:t>）改进型</a:t>
            </a:r>
            <a:r>
              <a:rPr lang="en-US" altLang="zh-CN" b="1" smtClean="0">
                <a:solidFill>
                  <a:schemeClr val="folHlink"/>
                </a:solidFill>
              </a:rPr>
              <a:t>Clock</a:t>
            </a:r>
            <a:r>
              <a:rPr lang="zh-CN" altLang="en-US" b="1" smtClean="0">
                <a:solidFill>
                  <a:schemeClr val="folHlink"/>
                </a:solidFill>
              </a:rPr>
              <a:t>置换算法</a:t>
            </a:r>
          </a:p>
        </p:txBody>
      </p:sp>
    </p:spTree>
    <p:extLst>
      <p:ext uri="{BB962C8B-B14F-4D97-AF65-F5344CB8AC3E}">
        <p14:creationId xmlns="" xmlns:p14="http://schemas.microsoft.com/office/powerpoint/2010/main" val="2341815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rrowheads="1"/>
          </p:cNvSpPr>
          <p:nvPr>
            <p:ph/>
          </p:nvPr>
        </p:nvSpPr>
        <p:spPr>
          <a:xfrm>
            <a:off x="107504" y="620688"/>
            <a:ext cx="8568952" cy="5688632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zh-CN" altLang="en-US" b="1" dirty="0" smtClean="0"/>
              <a:t>执行过程可分成以下三步：</a:t>
            </a:r>
            <a:endParaRPr lang="en-US" altLang="zh-CN" b="1" dirty="0" smtClean="0"/>
          </a:p>
          <a:p>
            <a:pPr algn="just" eaLnBrk="1" hangingPunct="1"/>
            <a:endParaRPr lang="zh-CN" altLang="en-US" b="1" dirty="0" smtClean="0"/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b="1" dirty="0" smtClean="0"/>
              <a:t>  </a:t>
            </a:r>
            <a:r>
              <a:rPr lang="zh-CN" altLang="en-US" sz="2400" b="1" dirty="0" smtClean="0"/>
              <a:t>  （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）从指针所指示的当前位置开始，扫描循环队列，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寻找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A=0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且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M=0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的</a:t>
            </a:r>
            <a:r>
              <a:rPr lang="zh-CN" altLang="en-US" sz="2400" b="1" dirty="0" smtClean="0"/>
              <a:t>第一类页面，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将所遇到的第一个页面作为所选中的淘汰页</a:t>
            </a:r>
            <a:r>
              <a:rPr lang="zh-CN" altLang="en-US" sz="2400" b="1" dirty="0" smtClean="0"/>
              <a:t>。在第一次扫描期间</a:t>
            </a:r>
            <a:r>
              <a:rPr lang="zh-CN" altLang="en-US" sz="2400" b="1" i="1" u="sng" dirty="0" smtClean="0">
                <a:solidFill>
                  <a:srgbClr val="FF0000"/>
                </a:solidFill>
              </a:rPr>
              <a:t>不改变访问位</a:t>
            </a:r>
            <a:r>
              <a:rPr lang="en-US" altLang="zh-CN" sz="2400" b="1" i="1" u="sng" dirty="0" smtClean="0">
                <a:solidFill>
                  <a:srgbClr val="FF0000"/>
                </a:solidFill>
              </a:rPr>
              <a:t>A</a:t>
            </a:r>
            <a:r>
              <a:rPr lang="zh-CN" altLang="en-US" sz="2400" b="1" dirty="0" smtClean="0"/>
              <a:t>。</a:t>
            </a:r>
          </a:p>
          <a:p>
            <a:pPr algn="just" eaLnBrk="1" hangingPunct="1">
              <a:lnSpc>
                <a:spcPct val="50000"/>
              </a:lnSpc>
              <a:buFont typeface="Wingdings" pitchFamily="2" charset="2"/>
              <a:buNone/>
            </a:pPr>
            <a:endParaRPr lang="zh-CN" altLang="en-US" sz="2400" b="1" dirty="0" smtClean="0"/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 smtClean="0"/>
              <a:t>    （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）如果第一步失败，则开始第二轮扫描，寻找</a:t>
            </a:r>
            <a:r>
              <a:rPr lang="en-US" altLang="zh-CN" sz="2400" b="1" i="1" u="sng" dirty="0" smtClean="0">
                <a:solidFill>
                  <a:srgbClr val="FF0000"/>
                </a:solidFill>
              </a:rPr>
              <a:t>A=0</a:t>
            </a:r>
            <a:r>
              <a:rPr lang="zh-CN" altLang="en-US" sz="2400" b="1" i="1" u="sng" dirty="0" smtClean="0">
                <a:solidFill>
                  <a:srgbClr val="FF0000"/>
                </a:solidFill>
              </a:rPr>
              <a:t>且</a:t>
            </a:r>
            <a:r>
              <a:rPr lang="en-US" altLang="zh-CN" sz="2400" b="1" i="1" u="sng" dirty="0" smtClean="0">
                <a:solidFill>
                  <a:srgbClr val="FF0000"/>
                </a:solidFill>
              </a:rPr>
              <a:t>M</a:t>
            </a:r>
            <a:r>
              <a:rPr lang="zh-CN" altLang="en-US" sz="2400" b="1" i="1" u="sng" dirty="0" smtClean="0">
                <a:solidFill>
                  <a:srgbClr val="FF0000"/>
                </a:solidFill>
              </a:rPr>
              <a:t>＝</a:t>
            </a:r>
            <a:r>
              <a:rPr lang="en-US" altLang="zh-CN" sz="2400" b="1" i="1" u="sng" dirty="0" smtClean="0">
                <a:solidFill>
                  <a:srgbClr val="FF0000"/>
                </a:solidFill>
              </a:rPr>
              <a:t>1</a:t>
            </a:r>
            <a:r>
              <a:rPr lang="zh-CN" altLang="en-US" sz="2400" b="1" dirty="0" smtClean="0"/>
              <a:t>的第二类页面，将所遇到的第一个这类页面作为淘汰页。</a:t>
            </a:r>
            <a:r>
              <a:rPr lang="zh-CN" altLang="en-US" sz="2400" b="1" dirty="0">
                <a:solidFill>
                  <a:schemeClr val="folHlink"/>
                </a:solidFill>
              </a:rPr>
              <a:t>并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将所有扫描过的页面的访问位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A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置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0</a:t>
            </a:r>
            <a:r>
              <a:rPr lang="zh-CN" altLang="en-US" sz="2400" b="1" dirty="0" smtClean="0"/>
              <a:t>。</a:t>
            </a:r>
          </a:p>
          <a:p>
            <a:pPr algn="just" eaLnBrk="1" hangingPunct="1">
              <a:lnSpc>
                <a:spcPct val="50000"/>
              </a:lnSpc>
              <a:buFont typeface="Wingdings" pitchFamily="2" charset="2"/>
              <a:buNone/>
            </a:pPr>
            <a:endParaRPr lang="zh-CN" altLang="en-US" sz="2400" b="1" dirty="0" smtClean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 smtClean="0"/>
              <a:t>    （</a:t>
            </a:r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）如果第二步也失败，则将指针返回到开始的位置，然后重复第一步，如果仍失败，必要时再重复第二步，此时就一定能找到被淘汰的页 </a:t>
            </a:r>
            <a:r>
              <a:rPr lang="en-US" altLang="zh-CN" sz="2400" b="1" dirty="0" smtClean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202574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/>
              <a:t>5.4 </a:t>
            </a:r>
            <a:r>
              <a:rPr lang="zh-CN" altLang="en-US" b="1" smtClean="0"/>
              <a:t>“抖动”与工作集</a:t>
            </a:r>
            <a:endParaRPr lang="zh-CN" altLang="en-US" smtClean="0"/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>
          <a:xfrm>
            <a:off x="301625" y="1371600"/>
            <a:ext cx="8540750" cy="4498975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solidFill>
                  <a:srgbClr val="FF0000"/>
                </a:solidFill>
              </a:rPr>
              <a:t>5.4.1 </a:t>
            </a:r>
            <a:r>
              <a:rPr lang="zh-CN" altLang="en-US" dirty="0" smtClean="0">
                <a:solidFill>
                  <a:srgbClr val="FF0000"/>
                </a:solidFill>
              </a:rPr>
              <a:t>多道程序度与“抖动”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/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  </a:t>
            </a:r>
            <a:r>
              <a:rPr lang="zh-CN" altLang="en-US" dirty="0" smtClean="0"/>
              <a:t>为了提高系统吞吐量希望在系统中运行更多的进程，即</a:t>
            </a:r>
            <a:r>
              <a:rPr lang="zh-CN" altLang="en-US" i="1" u="sng" dirty="0" smtClean="0">
                <a:solidFill>
                  <a:srgbClr val="FF0000"/>
                </a:solidFill>
              </a:rPr>
              <a:t>增加多道程序度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  </a:t>
            </a:r>
            <a:r>
              <a:rPr lang="zh-CN" altLang="en-US" dirty="0" smtClean="0"/>
              <a:t>但是，进程太多，则每个进程的物理块太少，不能满足基本要求，将</a:t>
            </a:r>
            <a:r>
              <a:rPr lang="zh-CN" altLang="en-US" i="1" u="sng" dirty="0" smtClean="0">
                <a:solidFill>
                  <a:srgbClr val="FF0000"/>
                </a:solidFill>
              </a:rPr>
              <a:t>频繁缺页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  </a:t>
            </a:r>
            <a:r>
              <a:rPr lang="zh-CN" altLang="en-US" dirty="0" smtClean="0"/>
              <a:t>每个进程的大部分时间都在进行页面的换进</a:t>
            </a:r>
            <a:r>
              <a:rPr lang="en-US" altLang="zh-CN" dirty="0" smtClean="0"/>
              <a:t>/</a:t>
            </a:r>
            <a:r>
              <a:rPr lang="zh-CN" altLang="en-US" dirty="0" smtClean="0"/>
              <a:t>换出，几乎不做有效工作，出现</a:t>
            </a:r>
            <a:r>
              <a:rPr lang="zh-CN" altLang="en-US" i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“抖动”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303179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5.4.2 </a:t>
            </a:r>
            <a:r>
              <a:rPr lang="zh-CN" altLang="en-US" dirty="0"/>
              <a:t>工作集</a:t>
            </a:r>
          </a:p>
        </p:txBody>
      </p:sp>
      <p:sp>
        <p:nvSpPr>
          <p:cNvPr id="78851" name="内容占位符 2"/>
          <p:cNvSpPr>
            <a:spLocks noGrp="1"/>
          </p:cNvSpPr>
          <p:nvPr>
            <p:ph idx="1"/>
          </p:nvPr>
        </p:nvSpPr>
        <p:spPr>
          <a:xfrm>
            <a:off x="457200" y="1404356"/>
            <a:ext cx="8229600" cy="3886200"/>
          </a:xfrm>
        </p:spPr>
        <p:txBody>
          <a:bodyPr/>
          <a:lstStyle/>
          <a:p>
            <a:r>
              <a:rPr lang="en-US" altLang="zh-CN" i="1" u="sng" dirty="0" smtClean="0">
                <a:solidFill>
                  <a:srgbClr val="FF0000"/>
                </a:solidFill>
              </a:rPr>
              <a:t>1.</a:t>
            </a:r>
            <a:r>
              <a:rPr lang="zh-CN" altLang="en-US" i="1" u="sng" dirty="0" smtClean="0">
                <a:solidFill>
                  <a:srgbClr val="FF0000"/>
                </a:solidFill>
              </a:rPr>
              <a:t>基本概念</a:t>
            </a:r>
            <a:endParaRPr lang="en-US" altLang="zh-CN" i="1" u="sng" dirty="0" smtClean="0">
              <a:solidFill>
                <a:srgbClr val="FF0000"/>
              </a:solidFill>
            </a:endParaRPr>
          </a:p>
          <a:p>
            <a:endParaRPr lang="en-US" altLang="zh-CN" i="1" u="sng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 smtClean="0"/>
              <a:t>  进程发生缺页率的时间间隔与进程获得的物理块数有关；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 smtClean="0"/>
              <a:t> </a:t>
            </a:r>
            <a:r>
              <a:rPr lang="zh-CN" altLang="en-US" dirty="0" smtClean="0"/>
              <a:t>根据局部性原理，程序在运行期间，仅局限于较少的页面；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/>
              <a:t>           </a:t>
            </a:r>
            <a:endParaRPr lang="zh-CN" alt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11225699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307024" y="116632"/>
            <a:ext cx="8540750" cy="114300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2. </a:t>
            </a:r>
            <a:r>
              <a:rPr lang="zh-CN" altLang="en-US" dirty="0" smtClean="0">
                <a:solidFill>
                  <a:srgbClr val="FF0000"/>
                </a:solidFill>
              </a:rPr>
              <a:t>工作集的定义</a:t>
            </a:r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>
          <a:xfrm>
            <a:off x="301625" y="1371600"/>
            <a:ext cx="8540750" cy="44989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dirty="0" smtClean="0"/>
              <a:t>工作集定义为：在</a:t>
            </a:r>
            <a:r>
              <a:rPr lang="zh-CN" altLang="en-US" i="1" u="sng" dirty="0" smtClean="0">
                <a:solidFill>
                  <a:srgbClr val="FF0000"/>
                </a:solidFill>
              </a:rPr>
              <a:t>时间间隔</a:t>
            </a:r>
            <a:r>
              <a:rPr lang="en-US" altLang="zh-CN" i="1" u="sng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/>
              <a:t>里，进程实际所要访问页面的集合。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把进程在时间</a:t>
            </a:r>
            <a:r>
              <a:rPr lang="en-US" altLang="zh-CN" dirty="0"/>
              <a:t>t</a:t>
            </a:r>
            <a:r>
              <a:rPr lang="zh-CN" altLang="en-US" dirty="0"/>
              <a:t>的工作集记为</a:t>
            </a:r>
            <a:r>
              <a:rPr lang="en-US" altLang="zh-CN" u="sng" dirty="0">
                <a:solidFill>
                  <a:srgbClr val="FF0000"/>
                </a:solidFill>
              </a:rPr>
              <a:t>w(t, ⊿),</a:t>
            </a:r>
            <a:r>
              <a:rPr lang="zh-CN" altLang="en-US" dirty="0"/>
              <a:t>其中的</a:t>
            </a:r>
            <a:r>
              <a:rPr lang="en-US" altLang="zh-CN" u="sng" dirty="0">
                <a:solidFill>
                  <a:srgbClr val="FF0000"/>
                </a:solidFill>
              </a:rPr>
              <a:t>⊿</a:t>
            </a:r>
            <a:r>
              <a:rPr lang="zh-CN" altLang="en-US" dirty="0"/>
              <a:t>称为工作集的</a:t>
            </a:r>
            <a:r>
              <a:rPr lang="zh-CN" altLang="en-US" dirty="0" smtClean="0"/>
              <a:t>“</a:t>
            </a:r>
            <a:r>
              <a:rPr lang="zh-CN" altLang="en-US" u="sng" dirty="0" smtClean="0">
                <a:solidFill>
                  <a:srgbClr val="FF0000"/>
                </a:solidFill>
              </a:rPr>
              <a:t>窗口尺寸</a:t>
            </a:r>
            <a:r>
              <a:rPr lang="zh-CN" altLang="en-US" dirty="0" smtClean="0"/>
              <a:t>”。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 smtClean="0"/>
              <a:t>在不同时间</a:t>
            </a:r>
            <a:r>
              <a:rPr lang="en-US" altLang="zh-CN" dirty="0" smtClean="0"/>
              <a:t>t</a:t>
            </a:r>
            <a:r>
              <a:rPr lang="zh-CN" altLang="en-US" dirty="0" smtClean="0"/>
              <a:t>的工作集大小不同，所含的页面数也不同，工作集与窗口尺寸</a:t>
            </a:r>
            <a:r>
              <a:rPr lang="en-US" altLang="zh-CN" u="sng" dirty="0">
                <a:solidFill>
                  <a:srgbClr val="FF0000"/>
                </a:solidFill>
              </a:rPr>
              <a:t>⊿ </a:t>
            </a:r>
            <a:r>
              <a:rPr lang="zh-CN" altLang="en-US" u="sng" dirty="0" smtClean="0">
                <a:solidFill>
                  <a:srgbClr val="FF0000"/>
                </a:solidFill>
              </a:rPr>
              <a:t>有关</a:t>
            </a:r>
            <a:r>
              <a:rPr lang="zh-CN" altLang="en-US" dirty="0" smtClean="0"/>
              <a:t>。</a:t>
            </a:r>
          </a:p>
        </p:txBody>
      </p:sp>
    </p:spTree>
    <p:extLst>
      <p:ext uri="{BB962C8B-B14F-4D97-AF65-F5344CB8AC3E}">
        <p14:creationId xmlns="" xmlns:p14="http://schemas.microsoft.com/office/powerpoint/2010/main" val="8733644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064428633"/>
              </p:ext>
            </p:extLst>
          </p:nvPr>
        </p:nvGraphicFramePr>
        <p:xfrm>
          <a:off x="533400" y="928688"/>
          <a:ext cx="685800" cy="585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5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24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15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18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23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24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17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18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24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18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17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17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15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24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17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24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18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66217429"/>
              </p:ext>
            </p:extLst>
          </p:nvPr>
        </p:nvGraphicFramePr>
        <p:xfrm>
          <a:off x="2438400" y="928688"/>
          <a:ext cx="6096000" cy="585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24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24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24 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15  24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15  24</a:t>
                      </a:r>
                      <a:endParaRPr lang="zh-CN" altLang="en-US" sz="1800" dirty="0" smtClean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15  24</a:t>
                      </a:r>
                      <a:endParaRPr lang="zh-CN" altLang="en-US" sz="1800" dirty="0" smtClean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18  15  24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18  15  24</a:t>
                      </a:r>
                      <a:endParaRPr lang="zh-CN" altLang="en-US" sz="1800" dirty="0" smtClean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18  15  24</a:t>
                      </a:r>
                      <a:endParaRPr lang="zh-CN" altLang="en-US" sz="1800" dirty="0" smtClean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23  18  15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23 18  15  24</a:t>
                      </a:r>
                      <a:endParaRPr lang="zh-CN" altLang="en-US" sz="1800" dirty="0" smtClean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23 18  15  24</a:t>
                      </a:r>
                      <a:endParaRPr lang="zh-CN" altLang="en-US" sz="1800" dirty="0" smtClean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24  23  18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17  24  23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17  24  23  18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17  24  23  18  15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18  17  24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15  17  18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15  17  18  24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---</a:t>
                      </a:r>
                      <a:endParaRPr lang="zh-CN" altLang="en-US" sz="1800" dirty="0" smtClean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24  15  17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36582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18  24  17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---</a:t>
                      </a:r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5340" name="TextBox 8"/>
          <p:cNvSpPr txBox="1">
            <a:spLocks noChangeArrowheads="1"/>
          </p:cNvSpPr>
          <p:nvPr/>
        </p:nvSpPr>
        <p:spPr bwMode="auto">
          <a:xfrm>
            <a:off x="451048" y="381000"/>
            <a:ext cx="8153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引用序列             </a:t>
            </a:r>
            <a:r>
              <a:rPr lang="zh-CN" altLang="en-US" sz="2000" dirty="0" smtClean="0"/>
              <a:t>窗口大小为</a:t>
            </a:r>
            <a:r>
              <a:rPr lang="en-US" altLang="zh-CN" sz="2000" dirty="0"/>
              <a:t>3    </a:t>
            </a:r>
            <a:r>
              <a:rPr lang="en-US" altLang="zh-CN" sz="2000" dirty="0" smtClean="0"/>
              <a:t>        </a:t>
            </a:r>
            <a:r>
              <a:rPr lang="zh-CN" altLang="en-US" sz="2000" dirty="0" smtClean="0"/>
              <a:t>窗口大小为</a:t>
            </a:r>
            <a:r>
              <a:rPr lang="en-US" altLang="zh-CN" sz="2000" dirty="0"/>
              <a:t>4             </a:t>
            </a:r>
            <a:r>
              <a:rPr lang="zh-CN" altLang="en-US" sz="2000" dirty="0" smtClean="0"/>
              <a:t>窗口大小为</a:t>
            </a:r>
            <a:r>
              <a:rPr lang="en-US" altLang="zh-CN" sz="2000" dirty="0"/>
              <a:t>5</a:t>
            </a:r>
            <a:endParaRPr lang="zh-CN" alt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7220538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>
          <a:xfrm>
            <a:off x="301625" y="145339"/>
            <a:ext cx="8540750" cy="907397"/>
          </a:xfrm>
        </p:spPr>
        <p:txBody>
          <a:bodyPr/>
          <a:lstStyle/>
          <a:p>
            <a:r>
              <a:rPr lang="zh-CN" altLang="en-US" sz="3600" dirty="0" smtClean="0"/>
              <a:t>采用工作集算法预防“抖动”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9388" y="1196752"/>
            <a:ext cx="8662863" cy="4498975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思想：</a:t>
            </a:r>
            <a:r>
              <a:rPr lang="zh-CN" altLang="en-US" sz="2800" b="1" dirty="0" smtClean="0"/>
              <a:t>在调入新的作业之前，通过工作集算法检查内存的驻留页面是否够用，如果不够用则不再调入新的作业。</a:t>
            </a:r>
            <a:endParaRPr lang="en-US" altLang="zh-CN" sz="2800" b="1" dirty="0" smtClean="0"/>
          </a:p>
          <a:p>
            <a:endParaRPr lang="en-US" altLang="zh-CN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zh-CN" altLang="en-US" sz="2800" b="1" dirty="0" smtClean="0">
                <a:solidFill>
                  <a:srgbClr val="FF0000"/>
                </a:solidFill>
              </a:rPr>
              <a:t>其它常用预防“抖动”的方法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endParaRPr lang="en-US" altLang="zh-CN" sz="2400" b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采取</a:t>
            </a:r>
            <a:r>
              <a:rPr lang="zh-CN" altLang="en-US" sz="2800" dirty="0"/>
              <a:t>局部置换策略</a:t>
            </a:r>
            <a:r>
              <a:rPr lang="en-US" altLang="zh-CN" sz="2400" dirty="0"/>
              <a:t>—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缺页时，淘汰该进程中某一</a:t>
            </a:r>
            <a:r>
              <a:rPr lang="zh-CN" alt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页；</a:t>
            </a:r>
            <a:endParaRPr lang="en-US" altLang="zh-CN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选择暂停的进程</a:t>
            </a:r>
            <a:r>
              <a:rPr lang="en-US" altLang="zh-CN" sz="2800" dirty="0" smtClean="0"/>
              <a:t>—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减少多道程序的数目。</a:t>
            </a:r>
          </a:p>
        </p:txBody>
      </p:sp>
    </p:spTree>
    <p:extLst>
      <p:ext uri="{BB962C8B-B14F-4D97-AF65-F5344CB8AC3E}">
        <p14:creationId xmlns="" xmlns:p14="http://schemas.microsoft.com/office/powerpoint/2010/main" val="42089245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95536" y="1556792"/>
            <a:ext cx="8136904" cy="3998912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3600" b="1" i="1" dirty="0" smtClean="0">
                <a:solidFill>
                  <a:srgbClr val="FF0000"/>
                </a:solidFill>
              </a:rPr>
              <a:t>思想：</a:t>
            </a:r>
            <a:endParaRPr lang="en-US" altLang="zh-CN" sz="3600" b="1" i="1" dirty="0" smtClean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b="1" dirty="0" smtClean="0"/>
              <a:t>在请求分段系统中，程序运行之前，只需先调入若干个分段（不必调入所有的分段），便可启动运行。</a:t>
            </a:r>
            <a:endParaRPr lang="en-US" altLang="zh-CN" b="1" dirty="0" smtClean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b="1" dirty="0" smtClean="0"/>
              <a:t>当所访问的段不在内存中时，发出缺段请求，</a:t>
            </a:r>
            <a:r>
              <a:rPr lang="en-US" altLang="zh-CN" b="1" dirty="0" smtClean="0"/>
              <a:t>OS</a:t>
            </a:r>
            <a:r>
              <a:rPr lang="zh-CN" altLang="en-US" b="1" dirty="0" smtClean="0"/>
              <a:t>将所缺的段调入内存。</a:t>
            </a:r>
          </a:p>
          <a:p>
            <a:pPr algn="just" eaLnBrk="1" hangingPunct="1">
              <a:buFont typeface="Wingdings" pitchFamily="2" charset="2"/>
              <a:buNone/>
            </a:pPr>
            <a:endParaRPr lang="zh-CN" altLang="en-US" b="1" dirty="0" smtClean="0"/>
          </a:p>
          <a:p>
            <a:pPr algn="just" eaLnBrk="1" hangingPunct="1">
              <a:buFont typeface="Wingdings" pitchFamily="2" charset="2"/>
              <a:buNone/>
            </a:pPr>
            <a:endParaRPr lang="en-US" altLang="zh-CN" b="1" dirty="0" smtClean="0"/>
          </a:p>
        </p:txBody>
      </p:sp>
      <p:sp>
        <p:nvSpPr>
          <p:cNvPr id="536580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 smtClean="0">
                <a:solidFill>
                  <a:schemeClr val="folHlink"/>
                </a:solidFill>
              </a:rPr>
              <a:t>5.5 </a:t>
            </a:r>
            <a:r>
              <a:rPr lang="zh-CN" altLang="en-US" b="1" dirty="0" smtClean="0">
                <a:solidFill>
                  <a:schemeClr val="folHlink"/>
                </a:solidFill>
              </a:rPr>
              <a:t>请求分段存储管理方式</a:t>
            </a:r>
          </a:p>
        </p:txBody>
      </p:sp>
    </p:spTree>
    <p:extLst>
      <p:ext uri="{BB962C8B-B14F-4D97-AF65-F5344CB8AC3E}">
        <p14:creationId xmlns="" xmlns:p14="http://schemas.microsoft.com/office/powerpoint/2010/main" val="18037300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533400" y="1673225"/>
            <a:ext cx="8077200" cy="19081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folHlink"/>
                </a:solidFill>
              </a:rPr>
              <a:t> 1</a:t>
            </a:r>
            <a:r>
              <a:rPr lang="zh-CN" altLang="en-US" sz="2800" b="1" smtClean="0">
                <a:solidFill>
                  <a:schemeClr val="folHlink"/>
                </a:solidFill>
              </a:rPr>
              <a:t>．段表机制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smtClean="0"/>
              <a:t>    在请求分段式管理中所需的主要数据结构是段表，段表项有新的扩展。  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62000" y="3581400"/>
            <a:ext cx="7848600" cy="1981200"/>
            <a:chOff x="-3" y="-3"/>
            <a:chExt cx="3378" cy="486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0" y="0"/>
              <a:ext cx="3372" cy="480"/>
              <a:chOff x="0" y="0"/>
              <a:chExt cx="3372" cy="480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357" cy="480"/>
                <a:chOff x="0" y="0"/>
                <a:chExt cx="357" cy="480"/>
              </a:xfrm>
            </p:grpSpPr>
            <p:sp>
              <p:nvSpPr>
                <p:cNvPr id="170016" name="Rectangle 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1" cy="4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kumimoji="1" lang="zh-CN" altLang="en-US" sz="2400" b="1">
                      <a:latin typeface="Times New Roman" pitchFamily="18" charset="0"/>
                    </a:rPr>
                    <a:t>段名</a:t>
                  </a:r>
                </a:p>
                <a:p>
                  <a:pPr algn="just" eaLnBrk="0" hangingPunct="0"/>
                  <a:endParaRPr kumimoji="1" lang="en-US" altLang="zh-CN" sz="2400" b="1">
                    <a:latin typeface="Times New Roman" pitchFamily="18" charset="0"/>
                  </a:endParaRPr>
                </a:p>
              </p:txBody>
            </p:sp>
            <p:sp>
              <p:nvSpPr>
                <p:cNvPr id="170017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5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grpSp>
            <p:nvGrpSpPr>
              <p:cNvPr id="5" name="Group 10"/>
              <p:cNvGrpSpPr>
                <a:grpSpLocks/>
              </p:cNvGrpSpPr>
              <p:nvPr/>
            </p:nvGrpSpPr>
            <p:grpSpPr bwMode="auto">
              <a:xfrm>
                <a:off x="357" y="0"/>
                <a:ext cx="335" cy="480"/>
                <a:chOff x="357" y="0"/>
                <a:chExt cx="335" cy="480"/>
              </a:xfrm>
            </p:grpSpPr>
            <p:sp>
              <p:nvSpPr>
                <p:cNvPr id="170014" name="Rectangle 11"/>
                <p:cNvSpPr>
                  <a:spLocks noChangeArrowheads="1"/>
                </p:cNvSpPr>
                <p:nvPr/>
              </p:nvSpPr>
              <p:spPr bwMode="auto">
                <a:xfrm>
                  <a:off x="400" y="0"/>
                  <a:ext cx="249" cy="4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kumimoji="1" lang="zh-CN" altLang="en-US" sz="2400" b="1">
                      <a:latin typeface="Times New Roman" pitchFamily="18" charset="0"/>
                    </a:rPr>
                    <a:t>段长</a:t>
                  </a:r>
                </a:p>
                <a:p>
                  <a:pPr algn="just" eaLnBrk="0" hangingPunct="0"/>
                  <a:endParaRPr kumimoji="1" lang="en-US" altLang="zh-CN" sz="2400" b="1">
                    <a:latin typeface="Times New Roman" pitchFamily="18" charset="0"/>
                  </a:endParaRPr>
                </a:p>
              </p:txBody>
            </p:sp>
            <p:sp>
              <p:nvSpPr>
                <p:cNvPr id="170015" name="Rectangle 12"/>
                <p:cNvSpPr>
                  <a:spLocks noChangeArrowheads="1"/>
                </p:cNvSpPr>
                <p:nvPr/>
              </p:nvSpPr>
              <p:spPr bwMode="auto">
                <a:xfrm>
                  <a:off x="357" y="0"/>
                  <a:ext cx="335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grpSp>
            <p:nvGrpSpPr>
              <p:cNvPr id="6" name="Group 13"/>
              <p:cNvGrpSpPr>
                <a:grpSpLocks/>
              </p:cNvGrpSpPr>
              <p:nvPr/>
            </p:nvGrpSpPr>
            <p:grpSpPr bwMode="auto">
              <a:xfrm>
                <a:off x="692" y="0"/>
                <a:ext cx="380" cy="480"/>
                <a:chOff x="692" y="0"/>
                <a:chExt cx="380" cy="480"/>
              </a:xfrm>
            </p:grpSpPr>
            <p:sp>
              <p:nvSpPr>
                <p:cNvPr id="170012" name="Rectangle 14"/>
                <p:cNvSpPr>
                  <a:spLocks noChangeArrowheads="1"/>
                </p:cNvSpPr>
                <p:nvPr/>
              </p:nvSpPr>
              <p:spPr bwMode="auto">
                <a:xfrm>
                  <a:off x="735" y="0"/>
                  <a:ext cx="294" cy="4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kumimoji="1" lang="zh-CN" altLang="en-US" sz="2400" b="1">
                      <a:latin typeface="Times New Roman" pitchFamily="18" charset="0"/>
                    </a:rPr>
                    <a:t>段的</a:t>
                  </a:r>
                </a:p>
                <a:p>
                  <a:pPr algn="just" eaLnBrk="0" hangingPunct="0"/>
                  <a:r>
                    <a:rPr kumimoji="1" lang="zh-CN" altLang="en-US" sz="2400" b="1">
                      <a:latin typeface="Times New Roman" pitchFamily="18" charset="0"/>
                    </a:rPr>
                    <a:t>基值</a:t>
                  </a:r>
                </a:p>
                <a:p>
                  <a:pPr algn="just" eaLnBrk="0" hangingPunct="0"/>
                  <a:endParaRPr kumimoji="1" lang="en-US" altLang="zh-CN" sz="2400" b="1">
                    <a:latin typeface="Times New Roman" pitchFamily="18" charset="0"/>
                  </a:endParaRPr>
                </a:p>
              </p:txBody>
            </p:sp>
            <p:sp>
              <p:nvSpPr>
                <p:cNvPr id="170013" name="Rectangle 15"/>
                <p:cNvSpPr>
                  <a:spLocks noChangeArrowheads="1"/>
                </p:cNvSpPr>
                <p:nvPr/>
              </p:nvSpPr>
              <p:spPr bwMode="auto">
                <a:xfrm>
                  <a:off x="692" y="0"/>
                  <a:ext cx="380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grpSp>
            <p:nvGrpSpPr>
              <p:cNvPr id="7" name="Group 16"/>
              <p:cNvGrpSpPr>
                <a:grpSpLocks/>
              </p:cNvGrpSpPr>
              <p:nvPr/>
            </p:nvGrpSpPr>
            <p:grpSpPr bwMode="auto">
              <a:xfrm>
                <a:off x="1072" y="0"/>
                <a:ext cx="357" cy="480"/>
                <a:chOff x="1072" y="0"/>
                <a:chExt cx="357" cy="480"/>
              </a:xfrm>
            </p:grpSpPr>
            <p:sp>
              <p:nvSpPr>
                <p:cNvPr id="170010" name="Rectangle 17"/>
                <p:cNvSpPr>
                  <a:spLocks noChangeArrowheads="1"/>
                </p:cNvSpPr>
                <p:nvPr/>
              </p:nvSpPr>
              <p:spPr bwMode="auto">
                <a:xfrm>
                  <a:off x="1115" y="0"/>
                  <a:ext cx="271" cy="4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kumimoji="1" lang="zh-CN" altLang="en-US" sz="2400" b="1">
                      <a:latin typeface="Times New Roman" pitchFamily="18" charset="0"/>
                    </a:rPr>
                    <a:t>存取</a:t>
                  </a:r>
                </a:p>
                <a:p>
                  <a:pPr algn="just" eaLnBrk="0" hangingPunct="0"/>
                  <a:r>
                    <a:rPr kumimoji="1" lang="zh-CN" altLang="en-US" sz="2400" b="1">
                      <a:latin typeface="Times New Roman" pitchFamily="18" charset="0"/>
                    </a:rPr>
                    <a:t>方式</a:t>
                  </a:r>
                </a:p>
                <a:p>
                  <a:pPr algn="just" eaLnBrk="0" hangingPunct="0"/>
                  <a:endParaRPr kumimoji="1" lang="en-US" altLang="zh-CN" sz="2400" b="1">
                    <a:latin typeface="Times New Roman" pitchFamily="18" charset="0"/>
                  </a:endParaRPr>
                </a:p>
              </p:txBody>
            </p:sp>
            <p:sp>
              <p:nvSpPr>
                <p:cNvPr id="170011" name="Rectangle 18"/>
                <p:cNvSpPr>
                  <a:spLocks noChangeArrowheads="1"/>
                </p:cNvSpPr>
                <p:nvPr/>
              </p:nvSpPr>
              <p:spPr bwMode="auto">
                <a:xfrm>
                  <a:off x="1072" y="0"/>
                  <a:ext cx="35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grpSp>
            <p:nvGrpSpPr>
              <p:cNvPr id="8" name="Group 19"/>
              <p:cNvGrpSpPr>
                <a:grpSpLocks/>
              </p:cNvGrpSpPr>
              <p:nvPr/>
            </p:nvGrpSpPr>
            <p:grpSpPr bwMode="auto">
              <a:xfrm>
                <a:off x="1429" y="0"/>
                <a:ext cx="436" cy="480"/>
                <a:chOff x="1429" y="0"/>
                <a:chExt cx="436" cy="480"/>
              </a:xfrm>
            </p:grpSpPr>
            <p:sp>
              <p:nvSpPr>
                <p:cNvPr id="170008" name="Rectangle 20"/>
                <p:cNvSpPr>
                  <a:spLocks noChangeArrowheads="1"/>
                </p:cNvSpPr>
                <p:nvPr/>
              </p:nvSpPr>
              <p:spPr bwMode="auto">
                <a:xfrm>
                  <a:off x="1472" y="0"/>
                  <a:ext cx="350" cy="4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kumimoji="1" lang="zh-CN" altLang="en-US" sz="2400" b="1" dirty="0">
                      <a:solidFill>
                        <a:schemeClr val="folHlink"/>
                      </a:solidFill>
                      <a:latin typeface="Times New Roman" pitchFamily="18" charset="0"/>
                    </a:rPr>
                    <a:t>访问</a:t>
                  </a:r>
                  <a:r>
                    <a:rPr kumimoji="1" lang="zh-CN" altLang="en-US" sz="2400" b="1" dirty="0" smtClean="0">
                      <a:solidFill>
                        <a:schemeClr val="folHlink"/>
                      </a:solidFill>
                      <a:latin typeface="Times New Roman" pitchFamily="18" charset="0"/>
                    </a:rPr>
                    <a:t>字段   </a:t>
                  </a:r>
                  <a:r>
                    <a:rPr kumimoji="1" lang="en-US" altLang="zh-CN" sz="2400" b="1" dirty="0" smtClean="0">
                      <a:solidFill>
                        <a:schemeClr val="folHlink"/>
                      </a:solidFill>
                      <a:latin typeface="Times New Roman" pitchFamily="18" charset="0"/>
                    </a:rPr>
                    <a:t>A</a:t>
                  </a:r>
                  <a:endParaRPr kumimoji="1" lang="en-US" altLang="zh-CN" sz="2400" b="1" dirty="0">
                    <a:solidFill>
                      <a:schemeClr val="folHlink"/>
                    </a:solidFill>
                    <a:latin typeface="Times New Roman" pitchFamily="18" charset="0"/>
                  </a:endParaRPr>
                </a:p>
                <a:p>
                  <a:pPr algn="just" eaLnBrk="0" hangingPunct="0"/>
                  <a:endParaRPr kumimoji="1" lang="en-US" altLang="zh-CN" sz="2400" b="1" dirty="0">
                    <a:solidFill>
                      <a:schemeClr val="folHlink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170009" name="Rectangle 21"/>
                <p:cNvSpPr>
                  <a:spLocks noChangeArrowheads="1"/>
                </p:cNvSpPr>
                <p:nvPr/>
              </p:nvSpPr>
              <p:spPr bwMode="auto">
                <a:xfrm>
                  <a:off x="1429" y="0"/>
                  <a:ext cx="43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grpSp>
            <p:nvGrpSpPr>
              <p:cNvPr id="9" name="Group 22"/>
              <p:cNvGrpSpPr>
                <a:grpSpLocks/>
              </p:cNvGrpSpPr>
              <p:nvPr/>
            </p:nvGrpSpPr>
            <p:grpSpPr bwMode="auto">
              <a:xfrm>
                <a:off x="1865" y="0"/>
                <a:ext cx="357" cy="480"/>
                <a:chOff x="1865" y="0"/>
                <a:chExt cx="357" cy="480"/>
              </a:xfrm>
            </p:grpSpPr>
            <p:sp>
              <p:nvSpPr>
                <p:cNvPr id="170006" name="Rectangle 23"/>
                <p:cNvSpPr>
                  <a:spLocks noChangeArrowheads="1"/>
                </p:cNvSpPr>
                <p:nvPr/>
              </p:nvSpPr>
              <p:spPr bwMode="auto">
                <a:xfrm>
                  <a:off x="1908" y="0"/>
                  <a:ext cx="271" cy="4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kumimoji="1" lang="zh-CN" altLang="en-US" sz="2400" b="1">
                      <a:solidFill>
                        <a:schemeClr val="folHlink"/>
                      </a:solidFill>
                      <a:latin typeface="Times New Roman" pitchFamily="18" charset="0"/>
                    </a:rPr>
                    <a:t>修改</a:t>
                  </a:r>
                </a:p>
                <a:p>
                  <a:pPr algn="just" eaLnBrk="0" hangingPunct="0"/>
                  <a:r>
                    <a:rPr kumimoji="1" lang="zh-CN" altLang="en-US" sz="2400" b="1">
                      <a:solidFill>
                        <a:schemeClr val="folHlink"/>
                      </a:solidFill>
                      <a:latin typeface="Times New Roman" pitchFamily="18" charset="0"/>
                    </a:rPr>
                    <a:t>位</a:t>
                  </a:r>
                  <a:r>
                    <a:rPr kumimoji="1" lang="en-US" altLang="zh-CN" sz="2400" b="1">
                      <a:solidFill>
                        <a:schemeClr val="folHlink"/>
                      </a:solidFill>
                      <a:latin typeface="Times New Roman" pitchFamily="18" charset="0"/>
                    </a:rPr>
                    <a:t>M</a:t>
                  </a:r>
                </a:p>
                <a:p>
                  <a:pPr algn="just" eaLnBrk="0" hangingPunct="0"/>
                  <a:endParaRPr kumimoji="1" lang="en-US" altLang="zh-CN" sz="2400" b="1">
                    <a:latin typeface="Times New Roman" pitchFamily="18" charset="0"/>
                  </a:endParaRPr>
                </a:p>
              </p:txBody>
            </p:sp>
            <p:sp>
              <p:nvSpPr>
                <p:cNvPr id="170007" name="Rectangle 24"/>
                <p:cNvSpPr>
                  <a:spLocks noChangeArrowheads="1"/>
                </p:cNvSpPr>
                <p:nvPr/>
              </p:nvSpPr>
              <p:spPr bwMode="auto">
                <a:xfrm>
                  <a:off x="1865" y="0"/>
                  <a:ext cx="35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grpSp>
            <p:nvGrpSpPr>
              <p:cNvPr id="10" name="Group 25"/>
              <p:cNvGrpSpPr>
                <a:grpSpLocks/>
              </p:cNvGrpSpPr>
              <p:nvPr/>
            </p:nvGrpSpPr>
            <p:grpSpPr bwMode="auto">
              <a:xfrm>
                <a:off x="2222" y="0"/>
                <a:ext cx="357" cy="480"/>
                <a:chOff x="2222" y="0"/>
                <a:chExt cx="357" cy="480"/>
              </a:xfrm>
            </p:grpSpPr>
            <p:sp>
              <p:nvSpPr>
                <p:cNvPr id="170004" name="Rectangle 26"/>
                <p:cNvSpPr>
                  <a:spLocks noChangeArrowheads="1"/>
                </p:cNvSpPr>
                <p:nvPr/>
              </p:nvSpPr>
              <p:spPr bwMode="auto">
                <a:xfrm>
                  <a:off x="2265" y="0"/>
                  <a:ext cx="271" cy="4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kumimoji="1" lang="zh-CN" altLang="en-US" sz="2400" b="1" dirty="0">
                      <a:solidFill>
                        <a:schemeClr val="folHlink"/>
                      </a:solidFill>
                      <a:latin typeface="Times New Roman" pitchFamily="18" charset="0"/>
                    </a:rPr>
                    <a:t>存在</a:t>
                  </a:r>
                </a:p>
                <a:p>
                  <a:pPr algn="just" eaLnBrk="0" hangingPunct="0"/>
                  <a:r>
                    <a:rPr kumimoji="1" lang="zh-CN" altLang="en-US" sz="2400" b="1" dirty="0">
                      <a:solidFill>
                        <a:schemeClr val="folHlink"/>
                      </a:solidFill>
                      <a:latin typeface="Times New Roman" pitchFamily="18" charset="0"/>
                    </a:rPr>
                    <a:t>位</a:t>
                  </a:r>
                  <a:r>
                    <a:rPr kumimoji="1" lang="en-US" altLang="zh-CN" sz="2400" b="1" dirty="0">
                      <a:solidFill>
                        <a:schemeClr val="folHlink"/>
                      </a:solidFill>
                      <a:latin typeface="Times New Roman" pitchFamily="18" charset="0"/>
                    </a:rPr>
                    <a:t>P</a:t>
                  </a:r>
                </a:p>
                <a:p>
                  <a:pPr algn="just" eaLnBrk="0" hangingPunct="0"/>
                  <a:endParaRPr kumimoji="1" lang="en-US" altLang="zh-CN" sz="2400" b="1" dirty="0">
                    <a:latin typeface="Times New Roman" pitchFamily="18" charset="0"/>
                  </a:endParaRPr>
                </a:p>
              </p:txBody>
            </p:sp>
            <p:sp>
              <p:nvSpPr>
                <p:cNvPr id="170005" name="Rectangle 27"/>
                <p:cNvSpPr>
                  <a:spLocks noChangeArrowheads="1"/>
                </p:cNvSpPr>
                <p:nvPr/>
              </p:nvSpPr>
              <p:spPr bwMode="auto">
                <a:xfrm>
                  <a:off x="2222" y="0"/>
                  <a:ext cx="35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grpSp>
            <p:nvGrpSpPr>
              <p:cNvPr id="11" name="Group 28"/>
              <p:cNvGrpSpPr>
                <a:grpSpLocks/>
              </p:cNvGrpSpPr>
              <p:nvPr/>
            </p:nvGrpSpPr>
            <p:grpSpPr bwMode="auto">
              <a:xfrm>
                <a:off x="2579" y="0"/>
                <a:ext cx="436" cy="480"/>
                <a:chOff x="2579" y="0"/>
                <a:chExt cx="436" cy="480"/>
              </a:xfrm>
            </p:grpSpPr>
            <p:sp>
              <p:nvSpPr>
                <p:cNvPr id="170002" name="Rectangle 29"/>
                <p:cNvSpPr>
                  <a:spLocks noChangeArrowheads="1"/>
                </p:cNvSpPr>
                <p:nvPr/>
              </p:nvSpPr>
              <p:spPr bwMode="auto">
                <a:xfrm>
                  <a:off x="2622" y="0"/>
                  <a:ext cx="350" cy="4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kumimoji="1" lang="zh-CN" altLang="en-US" sz="2400" b="1" dirty="0" smtClean="0">
                      <a:solidFill>
                        <a:schemeClr val="folHlink"/>
                      </a:solidFill>
                      <a:latin typeface="Times New Roman" pitchFamily="18" charset="0"/>
                    </a:rPr>
                    <a:t>增</a:t>
                  </a:r>
                  <a:endParaRPr kumimoji="1" lang="en-US" altLang="zh-CN" sz="2400" b="1" dirty="0" smtClean="0">
                    <a:solidFill>
                      <a:schemeClr val="folHlink"/>
                    </a:solidFill>
                    <a:latin typeface="Times New Roman" pitchFamily="18" charset="0"/>
                  </a:endParaRPr>
                </a:p>
                <a:p>
                  <a:pPr algn="just"/>
                  <a:r>
                    <a:rPr kumimoji="1" lang="zh-CN" altLang="en-US" sz="2400" b="1" dirty="0" smtClean="0">
                      <a:solidFill>
                        <a:schemeClr val="folHlink"/>
                      </a:solidFill>
                      <a:latin typeface="Times New Roman" pitchFamily="18" charset="0"/>
                    </a:rPr>
                    <a:t>补</a:t>
                  </a:r>
                  <a:endParaRPr kumimoji="1" lang="en-US" altLang="zh-CN" sz="2400" b="1" dirty="0" smtClean="0">
                    <a:solidFill>
                      <a:schemeClr val="folHlink"/>
                    </a:solidFill>
                    <a:latin typeface="Times New Roman" pitchFamily="18" charset="0"/>
                  </a:endParaRPr>
                </a:p>
                <a:p>
                  <a:pPr algn="just"/>
                  <a:r>
                    <a:rPr kumimoji="1" lang="zh-CN" altLang="en-US" sz="2400" b="1" dirty="0" smtClean="0">
                      <a:solidFill>
                        <a:schemeClr val="folHlink"/>
                      </a:solidFill>
                      <a:latin typeface="Times New Roman" pitchFamily="18" charset="0"/>
                    </a:rPr>
                    <a:t>位</a:t>
                  </a:r>
                  <a:endParaRPr kumimoji="1" lang="zh-CN" altLang="en-US" sz="2400" b="1" dirty="0">
                    <a:solidFill>
                      <a:schemeClr val="folHlink"/>
                    </a:solidFill>
                    <a:latin typeface="Times New Roman" pitchFamily="18" charset="0"/>
                  </a:endParaRPr>
                </a:p>
                <a:p>
                  <a:pPr algn="just" eaLnBrk="0" hangingPunct="0"/>
                  <a:endParaRPr kumimoji="1" lang="en-US" altLang="zh-CN" sz="2400" b="1" dirty="0">
                    <a:latin typeface="Times New Roman" pitchFamily="18" charset="0"/>
                  </a:endParaRPr>
                </a:p>
              </p:txBody>
            </p:sp>
            <p:sp>
              <p:nvSpPr>
                <p:cNvPr id="170003" name="Rectangle 30"/>
                <p:cNvSpPr>
                  <a:spLocks noChangeArrowheads="1"/>
                </p:cNvSpPr>
                <p:nvPr/>
              </p:nvSpPr>
              <p:spPr bwMode="auto">
                <a:xfrm>
                  <a:off x="2579" y="0"/>
                  <a:ext cx="43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grpSp>
            <p:nvGrpSpPr>
              <p:cNvPr id="12" name="Group 31"/>
              <p:cNvGrpSpPr>
                <a:grpSpLocks/>
              </p:cNvGrpSpPr>
              <p:nvPr/>
            </p:nvGrpSpPr>
            <p:grpSpPr bwMode="auto">
              <a:xfrm>
                <a:off x="3015" y="0"/>
                <a:ext cx="357" cy="480"/>
                <a:chOff x="3015" y="0"/>
                <a:chExt cx="357" cy="480"/>
              </a:xfrm>
            </p:grpSpPr>
            <p:sp>
              <p:nvSpPr>
                <p:cNvPr id="170000" name="Rectangle 32"/>
                <p:cNvSpPr>
                  <a:spLocks noChangeArrowheads="1"/>
                </p:cNvSpPr>
                <p:nvPr/>
              </p:nvSpPr>
              <p:spPr bwMode="auto">
                <a:xfrm>
                  <a:off x="3058" y="0"/>
                  <a:ext cx="271" cy="4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/>
                  <a:r>
                    <a:rPr kumimoji="1" lang="zh-CN" altLang="en-US" sz="2400" b="1" dirty="0">
                      <a:solidFill>
                        <a:schemeClr val="folHlink"/>
                      </a:solidFill>
                      <a:latin typeface="Times New Roman" pitchFamily="18" charset="0"/>
                    </a:rPr>
                    <a:t>外存</a:t>
                  </a:r>
                </a:p>
                <a:p>
                  <a:pPr algn="just" eaLnBrk="0" hangingPunct="0"/>
                  <a:r>
                    <a:rPr kumimoji="1" lang="zh-CN" altLang="en-US" sz="2400" b="1" dirty="0">
                      <a:solidFill>
                        <a:schemeClr val="folHlink"/>
                      </a:solidFill>
                      <a:latin typeface="Times New Roman" pitchFamily="18" charset="0"/>
                    </a:rPr>
                    <a:t>始址</a:t>
                  </a:r>
                </a:p>
                <a:p>
                  <a:pPr algn="just" eaLnBrk="0" hangingPunct="0"/>
                  <a:endParaRPr kumimoji="1" lang="en-US" altLang="zh-CN" sz="2400" b="1" dirty="0">
                    <a:latin typeface="Times New Roman" pitchFamily="18" charset="0"/>
                  </a:endParaRPr>
                </a:p>
              </p:txBody>
            </p:sp>
            <p:sp>
              <p:nvSpPr>
                <p:cNvPr id="170001" name="Rectangle 33"/>
                <p:cNvSpPr>
                  <a:spLocks noChangeArrowheads="1"/>
                </p:cNvSpPr>
                <p:nvPr/>
              </p:nvSpPr>
              <p:spPr bwMode="auto">
                <a:xfrm>
                  <a:off x="3015" y="0"/>
                  <a:ext cx="35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</p:grpSp>
        <p:sp>
          <p:nvSpPr>
            <p:cNvPr id="169990" name="Rectangle 34"/>
            <p:cNvSpPr>
              <a:spLocks noChangeArrowheads="1"/>
            </p:cNvSpPr>
            <p:nvPr/>
          </p:nvSpPr>
          <p:spPr bwMode="auto">
            <a:xfrm>
              <a:off x="-3" y="-3"/>
              <a:ext cx="3378" cy="486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537635" name="Rectangle 3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800" b="1" dirty="0" smtClean="0">
                <a:solidFill>
                  <a:schemeClr val="folHlink"/>
                </a:solidFill>
              </a:rPr>
              <a:t>5.5.1 </a:t>
            </a:r>
            <a:r>
              <a:rPr lang="zh-CN" altLang="en-US" b="1" dirty="0" smtClean="0">
                <a:solidFill>
                  <a:schemeClr val="folHlink"/>
                </a:solidFill>
              </a:rPr>
              <a:t>请求分段中的硬件支持</a:t>
            </a:r>
          </a:p>
        </p:txBody>
      </p:sp>
    </p:spTree>
    <p:extLst>
      <p:ext uri="{BB962C8B-B14F-4D97-AF65-F5344CB8AC3E}">
        <p14:creationId xmlns="" xmlns:p14="http://schemas.microsoft.com/office/powerpoint/2010/main" val="148470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2909888" y="785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53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539552" y="178074"/>
            <a:ext cx="8077200" cy="630654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200" b="1" dirty="0" smtClean="0">
                <a:solidFill>
                  <a:schemeClr val="folHlink"/>
                </a:solidFill>
              </a:rPr>
              <a:t>2</a:t>
            </a:r>
            <a:r>
              <a:rPr lang="zh-CN" altLang="en-US" sz="3200" b="1" dirty="0" smtClean="0">
                <a:solidFill>
                  <a:schemeClr val="folHlink"/>
                </a:solidFill>
              </a:rPr>
              <a:t>．请求分段系统的地址变换机构</a:t>
            </a:r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3059832" y="1196752"/>
            <a:ext cx="1944216" cy="381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逻辑地址访问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[s][w]</a:t>
            </a:r>
            <a:endParaRPr kumimoji="1" lang="zh-CN" altLang="en-US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2843808" y="2348880"/>
            <a:ext cx="2378698" cy="1008112"/>
            <a:chOff x="37" y="385"/>
            <a:chExt cx="1488" cy="1155"/>
          </a:xfrm>
        </p:grpSpPr>
        <p:sp>
          <p:nvSpPr>
            <p:cNvPr id="7" name="AutoShape 9"/>
            <p:cNvSpPr>
              <a:spLocks noChangeArrowheads="1"/>
            </p:cNvSpPr>
            <p:nvPr/>
          </p:nvSpPr>
          <p:spPr bwMode="auto">
            <a:xfrm>
              <a:off x="37" y="782"/>
              <a:ext cx="1488" cy="758"/>
            </a:xfrm>
            <a:prstGeom prst="diamond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1600" b="1" dirty="0" smtClean="0">
                  <a:solidFill>
                    <a:srgbClr val="FF0000"/>
                  </a:solidFill>
                  <a:latin typeface="Times New Roman" pitchFamily="18" charset="0"/>
                </a:rPr>
                <a:t>符合存取方式？</a:t>
              </a:r>
              <a:endParaRPr kumimoji="1" lang="zh-CN" altLang="en-US" sz="16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768" y="385"/>
              <a:ext cx="0" cy="38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2846242" y="4581128"/>
            <a:ext cx="2464770" cy="576064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修改访问字段，</a:t>
            </a:r>
            <a:endParaRPr kumimoji="1" lang="en-US" altLang="zh-CN" b="1" dirty="0" smtClean="0">
              <a:solidFill>
                <a:srgbClr val="FF0000"/>
              </a:solidFill>
              <a:latin typeface="Times New Roman" pitchFamily="18" charset="0"/>
            </a:endParaRPr>
          </a:p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如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A=1, 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或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M=1</a:t>
            </a:r>
            <a:endParaRPr kumimoji="1" lang="en-US" altLang="zh-CN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0" name="Line 40"/>
          <p:cNvSpPr>
            <a:spLocks noChangeShapeType="1"/>
          </p:cNvSpPr>
          <p:nvPr/>
        </p:nvSpPr>
        <p:spPr bwMode="auto">
          <a:xfrm>
            <a:off x="4070378" y="4232408"/>
            <a:ext cx="0" cy="34872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39"/>
          <p:cNvSpPr>
            <a:spLocks noChangeArrowheads="1"/>
          </p:cNvSpPr>
          <p:nvPr/>
        </p:nvSpPr>
        <p:spPr bwMode="auto">
          <a:xfrm>
            <a:off x="2555776" y="5424264"/>
            <a:ext cx="3026770" cy="571105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形成物理地址（段基址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+w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）</a:t>
            </a:r>
            <a:endParaRPr kumimoji="1" lang="en-US" altLang="zh-CN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cxnSp>
        <p:nvCxnSpPr>
          <p:cNvPr id="22" name="直接箭头连接符 21"/>
          <p:cNvCxnSpPr>
            <a:stCxn id="19" idx="2"/>
            <a:endCxn id="21" idx="0"/>
          </p:cNvCxnSpPr>
          <p:nvPr/>
        </p:nvCxnSpPr>
        <p:spPr bwMode="auto">
          <a:xfrm flipH="1">
            <a:off x="4069161" y="5157192"/>
            <a:ext cx="9466" cy="267072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21" idx="2"/>
          </p:cNvCxnSpPr>
          <p:nvPr/>
        </p:nvCxnSpPr>
        <p:spPr bwMode="auto">
          <a:xfrm>
            <a:off x="4069161" y="5995369"/>
            <a:ext cx="9466" cy="297184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AutoShape 7"/>
          <p:cNvSpPr>
            <a:spLocks noChangeArrowheads="1"/>
          </p:cNvSpPr>
          <p:nvPr/>
        </p:nvSpPr>
        <p:spPr bwMode="auto">
          <a:xfrm>
            <a:off x="3366796" y="6288360"/>
            <a:ext cx="1567678" cy="381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地址变换结束</a:t>
            </a:r>
            <a:endParaRPr kumimoji="1" lang="zh-CN" altLang="en-US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25" name="Group 8"/>
          <p:cNvGrpSpPr>
            <a:grpSpLocks/>
          </p:cNvGrpSpPr>
          <p:nvPr/>
        </p:nvGrpSpPr>
        <p:grpSpPr bwMode="auto">
          <a:xfrm>
            <a:off x="2918250" y="1560504"/>
            <a:ext cx="2232248" cy="788376"/>
            <a:chOff x="37" y="385"/>
            <a:chExt cx="1488" cy="1297"/>
          </a:xfrm>
        </p:grpSpPr>
        <p:sp>
          <p:nvSpPr>
            <p:cNvPr id="26" name="AutoShape 9"/>
            <p:cNvSpPr>
              <a:spLocks noChangeArrowheads="1"/>
            </p:cNvSpPr>
            <p:nvPr/>
          </p:nvSpPr>
          <p:spPr bwMode="auto">
            <a:xfrm>
              <a:off x="37" y="782"/>
              <a:ext cx="1488" cy="900"/>
            </a:xfrm>
            <a:prstGeom prst="diamond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1600" b="1" dirty="0" smtClean="0">
                  <a:solidFill>
                    <a:srgbClr val="FF0000"/>
                  </a:solidFill>
                  <a:latin typeface="Times New Roman" pitchFamily="18" charset="0"/>
                </a:rPr>
                <a:t>段号</a:t>
              </a:r>
              <a:r>
                <a:rPr kumimoji="1" lang="en-US" altLang="zh-CN" sz="1600" b="1" dirty="0" smtClean="0">
                  <a:solidFill>
                    <a:srgbClr val="FF0000"/>
                  </a:solidFill>
                  <a:latin typeface="Times New Roman" pitchFamily="18" charset="0"/>
                </a:rPr>
                <a:t>S&lt;=</a:t>
              </a:r>
              <a:r>
                <a:rPr kumimoji="1" lang="zh-CN" altLang="en-US" sz="1600" b="1" dirty="0" smtClean="0">
                  <a:solidFill>
                    <a:srgbClr val="FF0000"/>
                  </a:solidFill>
                  <a:latin typeface="Times New Roman" pitchFamily="18" charset="0"/>
                </a:rPr>
                <a:t>段长？</a:t>
              </a:r>
              <a:endParaRPr kumimoji="1" lang="zh-CN" altLang="en-US" sz="16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>
              <a:off x="768" y="385"/>
              <a:ext cx="0" cy="38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" name="Group 8"/>
          <p:cNvGrpSpPr>
            <a:grpSpLocks/>
          </p:cNvGrpSpPr>
          <p:nvPr/>
        </p:nvGrpSpPr>
        <p:grpSpPr bwMode="auto">
          <a:xfrm>
            <a:off x="2918250" y="3357562"/>
            <a:ext cx="2304256" cy="879467"/>
            <a:chOff x="37" y="385"/>
            <a:chExt cx="1488" cy="1356"/>
          </a:xfrm>
        </p:grpSpPr>
        <p:sp>
          <p:nvSpPr>
            <p:cNvPr id="29" name="AutoShape 9"/>
            <p:cNvSpPr>
              <a:spLocks noChangeArrowheads="1"/>
            </p:cNvSpPr>
            <p:nvPr/>
          </p:nvSpPr>
          <p:spPr bwMode="auto">
            <a:xfrm>
              <a:off x="37" y="782"/>
              <a:ext cx="1488" cy="959"/>
            </a:xfrm>
            <a:prstGeom prst="diamond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pPr algn="ctr"/>
              <a:r>
                <a:rPr kumimoji="1" lang="zh-CN" altLang="en-US" sz="1600" b="1" dirty="0" smtClean="0">
                  <a:solidFill>
                    <a:srgbClr val="FF0000"/>
                  </a:solidFill>
                  <a:latin typeface="Times New Roman" pitchFamily="18" charset="0"/>
                </a:rPr>
                <a:t>段</a:t>
              </a:r>
              <a:r>
                <a:rPr kumimoji="1" lang="en-US" altLang="zh-CN" sz="1600" b="1" dirty="0" smtClean="0">
                  <a:solidFill>
                    <a:srgbClr val="FF0000"/>
                  </a:solidFill>
                  <a:latin typeface="Times New Roman" pitchFamily="18" charset="0"/>
                </a:rPr>
                <a:t>S</a:t>
              </a:r>
              <a:r>
                <a:rPr kumimoji="1" lang="zh-CN" altLang="en-US" sz="1600" b="1" dirty="0" smtClean="0">
                  <a:solidFill>
                    <a:srgbClr val="FF0000"/>
                  </a:solidFill>
                  <a:latin typeface="Times New Roman" pitchFamily="18" charset="0"/>
                </a:rPr>
                <a:t>在主存？</a:t>
              </a:r>
              <a:endParaRPr kumimoji="1" lang="zh-CN" altLang="en-US" sz="16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>
              <a:off x="768" y="385"/>
              <a:ext cx="0" cy="38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7" name="Rectangle 39"/>
          <p:cNvSpPr>
            <a:spLocks noChangeArrowheads="1"/>
          </p:cNvSpPr>
          <p:nvPr/>
        </p:nvSpPr>
        <p:spPr bwMode="auto">
          <a:xfrm>
            <a:off x="5510538" y="1776528"/>
            <a:ext cx="1440160" cy="716368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分段越界</a:t>
            </a:r>
            <a:endParaRPr kumimoji="1" lang="en-US" altLang="zh-CN" b="1" dirty="0" smtClean="0">
              <a:solidFill>
                <a:srgbClr val="FF0000"/>
              </a:solidFill>
              <a:latin typeface="Times New Roman" pitchFamily="18" charset="0"/>
            </a:endParaRPr>
          </a:p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中断处理</a:t>
            </a:r>
            <a:endParaRPr kumimoji="1" lang="en-US" altLang="zh-CN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5582546" y="2712632"/>
            <a:ext cx="1440160" cy="716368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分段保护</a:t>
            </a:r>
            <a:endParaRPr kumimoji="1" lang="en-US" altLang="zh-CN" b="1" dirty="0" smtClean="0">
              <a:solidFill>
                <a:srgbClr val="FF0000"/>
              </a:solidFill>
              <a:latin typeface="Times New Roman" pitchFamily="18" charset="0"/>
            </a:endParaRPr>
          </a:p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中断处理</a:t>
            </a:r>
            <a:endParaRPr kumimoji="1" lang="en-US" altLang="zh-CN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cxnSp>
        <p:nvCxnSpPr>
          <p:cNvPr id="47" name="直接箭头连接符 46"/>
          <p:cNvCxnSpPr>
            <a:stCxn id="7" idx="3"/>
          </p:cNvCxnSpPr>
          <p:nvPr/>
        </p:nvCxnSpPr>
        <p:spPr bwMode="auto">
          <a:xfrm flipV="1">
            <a:off x="5222506" y="3026191"/>
            <a:ext cx="36004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49" name="直接箭头连接符 48"/>
          <p:cNvCxnSpPr>
            <a:stCxn id="26" idx="3"/>
          </p:cNvCxnSpPr>
          <p:nvPr/>
        </p:nvCxnSpPr>
        <p:spPr bwMode="auto">
          <a:xfrm flipV="1">
            <a:off x="5150498" y="2075349"/>
            <a:ext cx="36004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sp>
        <p:nvSpPr>
          <p:cNvPr id="53" name="Rectangle 39"/>
          <p:cNvSpPr>
            <a:spLocks noChangeArrowheads="1"/>
          </p:cNvSpPr>
          <p:nvPr/>
        </p:nvSpPr>
        <p:spPr bwMode="auto">
          <a:xfrm>
            <a:off x="5582546" y="3573016"/>
            <a:ext cx="1440160" cy="716368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 dirty="0">
                <a:solidFill>
                  <a:srgbClr val="FF0000"/>
                </a:solidFill>
                <a:latin typeface="Times New Roman" pitchFamily="18" charset="0"/>
              </a:rPr>
              <a:t>缺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段</a:t>
            </a:r>
            <a:endParaRPr kumimoji="1" lang="en-US" altLang="zh-CN" b="1" dirty="0" smtClean="0">
              <a:solidFill>
                <a:srgbClr val="FF0000"/>
              </a:solidFill>
              <a:latin typeface="Times New Roman" pitchFamily="18" charset="0"/>
            </a:endParaRPr>
          </a:p>
          <a:p>
            <a:pPr algn="ctr"/>
            <a:r>
              <a:rPr kumimoji="1" lang="zh-CN" altLang="en-US" b="1" dirty="0">
                <a:solidFill>
                  <a:srgbClr val="FF0000"/>
                </a:solidFill>
                <a:latin typeface="Times New Roman" pitchFamily="18" charset="0"/>
              </a:rPr>
              <a:t>中断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处理</a:t>
            </a:r>
            <a:endParaRPr kumimoji="1" lang="en-US" altLang="zh-CN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cxnSp>
        <p:nvCxnSpPr>
          <p:cNvPr id="54" name="直接箭头连接符 53"/>
          <p:cNvCxnSpPr/>
          <p:nvPr/>
        </p:nvCxnSpPr>
        <p:spPr bwMode="auto">
          <a:xfrm flipV="1">
            <a:off x="5222506" y="3933055"/>
            <a:ext cx="36004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sp>
        <p:nvSpPr>
          <p:cNvPr id="55" name="Rectangle 25"/>
          <p:cNvSpPr>
            <a:spLocks noChangeArrowheads="1"/>
          </p:cNvSpPr>
          <p:nvPr/>
        </p:nvSpPr>
        <p:spPr bwMode="auto">
          <a:xfrm>
            <a:off x="3666284" y="2326109"/>
            <a:ext cx="33214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1600" b="1" dirty="0" smtClean="0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kumimoji="1" lang="en-US" altLang="zh-CN" sz="16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6" name="Rectangle 25"/>
          <p:cNvSpPr>
            <a:spLocks noChangeArrowheads="1"/>
          </p:cNvSpPr>
          <p:nvPr/>
        </p:nvSpPr>
        <p:spPr bwMode="auto">
          <a:xfrm>
            <a:off x="3637120" y="3268061"/>
            <a:ext cx="33214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1600" b="1" dirty="0" smtClean="0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kumimoji="1" lang="en-US" altLang="zh-CN" sz="16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7" name="Rectangle 25"/>
          <p:cNvSpPr>
            <a:spLocks noChangeArrowheads="1"/>
          </p:cNvSpPr>
          <p:nvPr/>
        </p:nvSpPr>
        <p:spPr bwMode="auto">
          <a:xfrm>
            <a:off x="3719940" y="4214248"/>
            <a:ext cx="33214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r>
              <a:rPr kumimoji="1" lang="en-US" altLang="zh-CN" sz="1600" b="1" dirty="0" smtClean="0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kumimoji="1" lang="en-US" altLang="zh-CN" sz="16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8" name="Rectangle 25"/>
          <p:cNvSpPr>
            <a:spLocks noChangeArrowheads="1"/>
          </p:cNvSpPr>
          <p:nvPr/>
        </p:nvSpPr>
        <p:spPr bwMode="auto">
          <a:xfrm>
            <a:off x="5219776" y="2661094"/>
            <a:ext cx="2907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r>
              <a:rPr kumimoji="1" lang="en-US" altLang="zh-CN" sz="1600" b="1" dirty="0" smtClean="0">
                <a:solidFill>
                  <a:srgbClr val="000000"/>
                </a:solidFill>
                <a:latin typeface="Times New Roman" pitchFamily="18" charset="0"/>
              </a:rPr>
              <a:t>N</a:t>
            </a:r>
            <a:endParaRPr kumimoji="1" lang="en-US" altLang="zh-CN" sz="16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9" name="Rectangle 25"/>
          <p:cNvSpPr>
            <a:spLocks noChangeArrowheads="1"/>
          </p:cNvSpPr>
          <p:nvPr/>
        </p:nvSpPr>
        <p:spPr bwMode="auto">
          <a:xfrm>
            <a:off x="5258658" y="1772816"/>
            <a:ext cx="2907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r>
              <a:rPr kumimoji="1" lang="en-US" altLang="zh-CN" sz="1600" b="1" dirty="0" smtClean="0">
                <a:solidFill>
                  <a:srgbClr val="000000"/>
                </a:solidFill>
                <a:latin typeface="Times New Roman" pitchFamily="18" charset="0"/>
              </a:rPr>
              <a:t>N</a:t>
            </a:r>
            <a:endParaRPr kumimoji="1" lang="en-US" altLang="zh-CN" sz="16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0" name="Rectangle 25"/>
          <p:cNvSpPr>
            <a:spLocks noChangeArrowheads="1"/>
          </p:cNvSpPr>
          <p:nvPr/>
        </p:nvSpPr>
        <p:spPr bwMode="auto">
          <a:xfrm>
            <a:off x="5219776" y="3594501"/>
            <a:ext cx="2907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r>
              <a:rPr kumimoji="1" lang="en-US" altLang="zh-CN" sz="1600" b="1" dirty="0" smtClean="0">
                <a:solidFill>
                  <a:srgbClr val="000000"/>
                </a:solidFill>
                <a:latin typeface="Times New Roman" pitchFamily="18" charset="0"/>
              </a:rPr>
              <a:t>N</a:t>
            </a:r>
            <a:endParaRPr kumimoji="1" lang="en-US" altLang="zh-CN" sz="16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6744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19" grpId="0" animBg="1"/>
      <p:bldP spid="20" grpId="0" animBg="1"/>
      <p:bldP spid="21" grpId="0" animBg="1"/>
      <p:bldP spid="24" grpId="0" animBg="1"/>
      <p:bldP spid="37" grpId="0" animBg="1"/>
      <p:bldP spid="42" grpId="0" animBg="1"/>
      <p:bldP spid="53" grpId="0" animBg="1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1876425" y="1362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8629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533400" y="76200"/>
            <a:ext cx="8077200" cy="7524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200" b="1" dirty="0" smtClean="0">
                <a:solidFill>
                  <a:schemeClr val="folHlink"/>
                </a:solidFill>
              </a:rPr>
              <a:t>3</a:t>
            </a:r>
            <a:r>
              <a:rPr lang="zh-CN" altLang="en-US" sz="3200" b="1" dirty="0" smtClean="0">
                <a:solidFill>
                  <a:schemeClr val="folHlink"/>
                </a:solidFill>
              </a:rPr>
              <a:t>．缺段中断机构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752128" y="764704"/>
            <a:ext cx="1371600" cy="381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段不在内存</a:t>
            </a:r>
            <a:endParaRPr kumimoji="1" lang="zh-CN" altLang="en-US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7" name="Group 8"/>
          <p:cNvGrpSpPr>
            <a:grpSpLocks/>
          </p:cNvGrpSpPr>
          <p:nvPr/>
        </p:nvGrpSpPr>
        <p:grpSpPr bwMode="auto">
          <a:xfrm>
            <a:off x="252066" y="1988579"/>
            <a:ext cx="2362200" cy="1258911"/>
            <a:chOff x="37" y="385"/>
            <a:chExt cx="1488" cy="1155"/>
          </a:xfrm>
        </p:grpSpPr>
        <p:sp>
          <p:nvSpPr>
            <p:cNvPr id="8" name="AutoShape 9"/>
            <p:cNvSpPr>
              <a:spLocks noChangeArrowheads="1"/>
            </p:cNvSpPr>
            <p:nvPr/>
          </p:nvSpPr>
          <p:spPr bwMode="auto">
            <a:xfrm>
              <a:off x="37" y="782"/>
              <a:ext cx="1488" cy="758"/>
            </a:xfrm>
            <a:prstGeom prst="diamond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1600" b="1" dirty="0" smtClean="0">
                  <a:solidFill>
                    <a:srgbClr val="FF0000"/>
                  </a:solidFill>
                  <a:latin typeface="Times New Roman" pitchFamily="18" charset="0"/>
                </a:rPr>
                <a:t>内存中有合适的</a:t>
              </a:r>
              <a:endParaRPr kumimoji="1" lang="en-US" altLang="zh-CN" sz="1600" b="1" dirty="0" smtClean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ctr"/>
              <a:r>
                <a:rPr kumimoji="1" lang="zh-CN" altLang="en-US" sz="1600" b="1" dirty="0" smtClean="0">
                  <a:solidFill>
                    <a:srgbClr val="FF0000"/>
                  </a:solidFill>
                  <a:latin typeface="Times New Roman" pitchFamily="18" charset="0"/>
                </a:rPr>
                <a:t>空闲区吗</a:t>
              </a:r>
              <a:endParaRPr kumimoji="1" lang="zh-CN" altLang="en-US" sz="16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768" y="385"/>
              <a:ext cx="0" cy="38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11"/>
          <p:cNvGrpSpPr>
            <a:grpSpLocks/>
          </p:cNvGrpSpPr>
          <p:nvPr/>
        </p:nvGrpSpPr>
        <p:grpSpPr bwMode="auto">
          <a:xfrm>
            <a:off x="611560" y="1145704"/>
            <a:ext cx="1580456" cy="866502"/>
            <a:chOff x="3360" y="816"/>
            <a:chExt cx="864" cy="768"/>
          </a:xfrm>
        </p:grpSpPr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3360" y="1152"/>
              <a:ext cx="864" cy="43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zh-CN" altLang="en-US" b="1" dirty="0" smtClean="0">
                  <a:solidFill>
                    <a:srgbClr val="FF0000"/>
                  </a:solidFill>
                  <a:latin typeface="Times New Roman" pitchFamily="18" charset="0"/>
                </a:rPr>
                <a:t>阻塞请求进程</a:t>
              </a:r>
              <a:endParaRPr kumimoji="1" lang="zh-CN" altLang="en-US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3792" y="816"/>
              <a:ext cx="0" cy="336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" name="Line 16"/>
          <p:cNvSpPr>
            <a:spLocks noChangeShapeType="1"/>
          </p:cNvSpPr>
          <p:nvPr/>
        </p:nvSpPr>
        <p:spPr bwMode="auto">
          <a:xfrm>
            <a:off x="-4568208" y="2667000"/>
            <a:ext cx="0" cy="40005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" name="Group 17"/>
          <p:cNvGrpSpPr>
            <a:grpSpLocks/>
          </p:cNvGrpSpPr>
          <p:nvPr/>
        </p:nvGrpSpPr>
        <p:grpSpPr bwMode="auto">
          <a:xfrm>
            <a:off x="6358557" y="3246855"/>
            <a:ext cx="2461419" cy="1841501"/>
            <a:chOff x="4942" y="2105"/>
            <a:chExt cx="1546" cy="1160"/>
          </a:xfrm>
        </p:grpSpPr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4951" y="2880"/>
              <a:ext cx="1537" cy="385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zh-CN" altLang="en-US" b="1" dirty="0" smtClean="0">
                  <a:solidFill>
                    <a:srgbClr val="FF0000"/>
                  </a:solidFill>
                  <a:latin typeface="Times New Roman" pitchFamily="18" charset="0"/>
                </a:rPr>
                <a:t>淘汰一个或几个段</a:t>
              </a:r>
              <a:endParaRPr kumimoji="1" lang="en-US" altLang="zh-CN" b="1" dirty="0" smtClean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ctr"/>
              <a:r>
                <a:rPr kumimoji="1" lang="zh-CN" altLang="en-US" b="1" dirty="0" smtClean="0">
                  <a:solidFill>
                    <a:srgbClr val="FF0000"/>
                  </a:solidFill>
                  <a:latin typeface="Times New Roman" pitchFamily="18" charset="0"/>
                </a:rPr>
                <a:t>形成一个合适的空区</a:t>
              </a:r>
              <a:endParaRPr kumimoji="1" lang="zh-CN" altLang="en-US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4942" y="2105"/>
              <a:ext cx="20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600" b="1" dirty="0" smtClean="0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kumimoji="1" lang="en-US" altLang="zh-CN" sz="16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20" name="Group 21"/>
          <p:cNvGrpSpPr>
            <a:grpSpLocks/>
          </p:cNvGrpSpPr>
          <p:nvPr/>
        </p:nvGrpSpPr>
        <p:grpSpPr bwMode="auto">
          <a:xfrm>
            <a:off x="523528" y="3212976"/>
            <a:ext cx="1828800" cy="873036"/>
            <a:chOff x="1440" y="3936"/>
            <a:chExt cx="1152" cy="624"/>
          </a:xfrm>
        </p:grpSpPr>
        <p:grpSp>
          <p:nvGrpSpPr>
            <p:cNvPr id="21" name="Group 22"/>
            <p:cNvGrpSpPr>
              <a:grpSpLocks/>
            </p:cNvGrpSpPr>
            <p:nvPr/>
          </p:nvGrpSpPr>
          <p:grpSpPr bwMode="auto">
            <a:xfrm>
              <a:off x="1440" y="3936"/>
              <a:ext cx="1152" cy="624"/>
              <a:chOff x="192" y="3120"/>
              <a:chExt cx="1152" cy="624"/>
            </a:xfrm>
          </p:grpSpPr>
          <p:sp>
            <p:nvSpPr>
              <p:cNvPr id="23" name="Rectangle 23"/>
              <p:cNvSpPr>
                <a:spLocks noChangeArrowheads="1"/>
              </p:cNvSpPr>
              <p:nvPr/>
            </p:nvSpPr>
            <p:spPr bwMode="auto">
              <a:xfrm>
                <a:off x="192" y="3456"/>
                <a:ext cx="1152" cy="288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kumimoji="1" lang="zh-CN" altLang="en-US" b="1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从外存读入段</a:t>
                </a:r>
                <a:endParaRPr kumimoji="1" lang="zh-CN" altLang="en-US" b="1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4" name="Line 24"/>
              <p:cNvSpPr>
                <a:spLocks noChangeShapeType="1"/>
              </p:cNvSpPr>
              <p:nvPr/>
            </p:nvSpPr>
            <p:spPr bwMode="auto">
              <a:xfrm>
                <a:off x="768" y="3120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>
              <a:off x="1824" y="3984"/>
              <a:ext cx="20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600" b="1" dirty="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</a:p>
          </p:txBody>
        </p:sp>
      </p:grpSp>
      <p:sp>
        <p:nvSpPr>
          <p:cNvPr id="34" name="AutoShape 35"/>
          <p:cNvSpPr>
            <a:spLocks noChangeArrowheads="1"/>
          </p:cNvSpPr>
          <p:nvPr/>
        </p:nvSpPr>
        <p:spPr bwMode="auto">
          <a:xfrm>
            <a:off x="3750326" y="3142599"/>
            <a:ext cx="2362200" cy="942454"/>
          </a:xfrm>
          <a:prstGeom prst="diamond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内存中所有空闲</a:t>
            </a:r>
            <a:endParaRPr kumimoji="1" lang="en-US" altLang="zh-CN" b="1" dirty="0" smtClean="0">
              <a:solidFill>
                <a:srgbClr val="FF0000"/>
              </a:solidFill>
              <a:latin typeface="Times New Roman" pitchFamily="18" charset="0"/>
            </a:endParaRPr>
          </a:p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分区之和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&gt;=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段长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?</a:t>
            </a:r>
            <a:endParaRPr kumimoji="1" lang="zh-CN" altLang="en-US" sz="16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36" name="Group 37"/>
          <p:cNvGrpSpPr>
            <a:grpSpLocks/>
          </p:cNvGrpSpPr>
          <p:nvPr/>
        </p:nvGrpSpPr>
        <p:grpSpPr bwMode="auto">
          <a:xfrm>
            <a:off x="251520" y="4085053"/>
            <a:ext cx="2464770" cy="849313"/>
            <a:chOff x="1482" y="4550"/>
            <a:chExt cx="1104" cy="535"/>
          </a:xfrm>
        </p:grpSpPr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2016" y="4550"/>
              <a:ext cx="0" cy="15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1482" y="4797"/>
              <a:ext cx="1104" cy="288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zh-CN" altLang="en-US" b="1" dirty="0">
                  <a:solidFill>
                    <a:srgbClr val="FF0000"/>
                  </a:solidFill>
                  <a:latin typeface="Times New Roman" pitchFamily="18" charset="0"/>
                </a:rPr>
                <a:t>更新</a:t>
              </a:r>
              <a:r>
                <a:rPr kumimoji="1" lang="zh-CN" altLang="en-US" b="1" dirty="0" smtClean="0">
                  <a:solidFill>
                    <a:srgbClr val="FF0000"/>
                  </a:solidFill>
                  <a:latin typeface="Times New Roman" pitchFamily="18" charset="0"/>
                </a:rPr>
                <a:t>段表及内存空区链</a:t>
              </a:r>
              <a:endParaRPr kumimoji="1" lang="en-US" altLang="zh-CN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2016" y="4704"/>
              <a:ext cx="0" cy="93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" name="Group 47"/>
          <p:cNvGrpSpPr>
            <a:grpSpLocks/>
          </p:cNvGrpSpPr>
          <p:nvPr/>
        </p:nvGrpSpPr>
        <p:grpSpPr bwMode="auto">
          <a:xfrm flipV="1">
            <a:off x="1437927" y="3431704"/>
            <a:ext cx="3597962" cy="2666476"/>
            <a:chOff x="2016" y="1776"/>
            <a:chExt cx="2160" cy="1536"/>
          </a:xfrm>
        </p:grpSpPr>
        <p:sp>
          <p:nvSpPr>
            <p:cNvPr id="47" name="Line 48"/>
            <p:cNvSpPr>
              <a:spLocks noChangeShapeType="1"/>
            </p:cNvSpPr>
            <p:nvPr/>
          </p:nvSpPr>
          <p:spPr bwMode="auto">
            <a:xfrm flipH="1">
              <a:off x="3072" y="1776"/>
              <a:ext cx="1104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50"/>
            <p:cNvSpPr>
              <a:spLocks noChangeShapeType="1"/>
            </p:cNvSpPr>
            <p:nvPr/>
          </p:nvSpPr>
          <p:spPr bwMode="auto">
            <a:xfrm flipH="1">
              <a:off x="2016" y="3312"/>
              <a:ext cx="1056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3072" y="1776"/>
              <a:ext cx="0" cy="1536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" name="Rectangle 39"/>
          <p:cNvSpPr>
            <a:spLocks noChangeArrowheads="1"/>
          </p:cNvSpPr>
          <p:nvPr/>
        </p:nvSpPr>
        <p:spPr bwMode="auto">
          <a:xfrm>
            <a:off x="235022" y="5276056"/>
            <a:ext cx="2464770" cy="457200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唤醒请求进程</a:t>
            </a:r>
            <a:endParaRPr kumimoji="1" lang="en-US" altLang="zh-CN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cxnSp>
        <p:nvCxnSpPr>
          <p:cNvPr id="3" name="直接箭头连接符 2"/>
          <p:cNvCxnSpPr>
            <a:stCxn id="38" idx="2"/>
            <a:endCxn id="59" idx="0"/>
          </p:cNvCxnSpPr>
          <p:nvPr/>
        </p:nvCxnSpPr>
        <p:spPr bwMode="auto">
          <a:xfrm flipH="1">
            <a:off x="1467407" y="4934366"/>
            <a:ext cx="16498" cy="34169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59" idx="2"/>
          </p:cNvCxnSpPr>
          <p:nvPr/>
        </p:nvCxnSpPr>
        <p:spPr bwMode="auto">
          <a:xfrm>
            <a:off x="1467407" y="5733256"/>
            <a:ext cx="16498" cy="364924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3" name="AutoShape 7"/>
          <p:cNvSpPr>
            <a:spLocks noChangeArrowheads="1"/>
          </p:cNvSpPr>
          <p:nvPr/>
        </p:nvSpPr>
        <p:spPr bwMode="auto">
          <a:xfrm>
            <a:off x="757919" y="6072336"/>
            <a:ext cx="1371600" cy="381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返回</a:t>
            </a:r>
            <a:endParaRPr kumimoji="1" lang="zh-CN" altLang="en-US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cxnSp>
        <p:nvCxnSpPr>
          <p:cNvPr id="14337" name="肘形连接符 14336"/>
          <p:cNvCxnSpPr/>
          <p:nvPr/>
        </p:nvCxnSpPr>
        <p:spPr bwMode="auto">
          <a:xfrm>
            <a:off x="2619897" y="2835521"/>
            <a:ext cx="2311052" cy="307078"/>
          </a:xfrm>
          <a:prstGeom prst="bentConnector3">
            <a:avLst>
              <a:gd name="adj1" fmla="val 99550"/>
            </a:avLst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sp>
        <p:nvSpPr>
          <p:cNvPr id="73" name="Rectangle 25"/>
          <p:cNvSpPr>
            <a:spLocks noChangeArrowheads="1"/>
          </p:cNvSpPr>
          <p:nvPr/>
        </p:nvSpPr>
        <p:spPr bwMode="auto">
          <a:xfrm>
            <a:off x="3017664" y="2484320"/>
            <a:ext cx="33214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1600" b="1" dirty="0" smtClean="0">
                <a:solidFill>
                  <a:srgbClr val="000000"/>
                </a:solidFill>
                <a:latin typeface="Times New Roman" pitchFamily="18" charset="0"/>
              </a:rPr>
              <a:t>N</a:t>
            </a:r>
            <a:endParaRPr kumimoji="1" lang="en-US" altLang="zh-CN" sz="16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79" name="Group 17"/>
          <p:cNvGrpSpPr>
            <a:grpSpLocks/>
          </p:cNvGrpSpPr>
          <p:nvPr/>
        </p:nvGrpSpPr>
        <p:grpSpPr bwMode="auto">
          <a:xfrm>
            <a:off x="4127281" y="4067132"/>
            <a:ext cx="2057400" cy="1020764"/>
            <a:chOff x="5328" y="2676"/>
            <a:chExt cx="1296" cy="643"/>
          </a:xfrm>
        </p:grpSpPr>
        <p:sp>
          <p:nvSpPr>
            <p:cNvPr id="80" name="Rectangle 18"/>
            <p:cNvSpPr>
              <a:spLocks noChangeArrowheads="1"/>
            </p:cNvSpPr>
            <p:nvPr/>
          </p:nvSpPr>
          <p:spPr bwMode="auto">
            <a:xfrm>
              <a:off x="5328" y="2928"/>
              <a:ext cx="1296" cy="391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zh-CN" altLang="en-US" b="1" dirty="0" smtClean="0">
                  <a:solidFill>
                    <a:srgbClr val="FF0000"/>
                  </a:solidFill>
                  <a:latin typeface="Times New Roman" pitchFamily="18" charset="0"/>
                </a:rPr>
                <a:t>空区拼接，以形成</a:t>
              </a:r>
              <a:endParaRPr kumimoji="1" lang="en-US" altLang="zh-CN" b="1" dirty="0" smtClean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ctr"/>
              <a:r>
                <a:rPr kumimoji="1" lang="zh-CN" altLang="en-US" b="1" dirty="0">
                  <a:solidFill>
                    <a:srgbClr val="FF0000"/>
                  </a:solidFill>
                  <a:latin typeface="Times New Roman" pitchFamily="18" charset="0"/>
                </a:rPr>
                <a:t>一</a:t>
              </a:r>
              <a:r>
                <a:rPr kumimoji="1" lang="zh-CN" altLang="en-US" b="1" dirty="0" smtClean="0">
                  <a:solidFill>
                    <a:srgbClr val="FF0000"/>
                  </a:solidFill>
                  <a:latin typeface="Times New Roman" pitchFamily="18" charset="0"/>
                </a:rPr>
                <a:t>个合适的空区</a:t>
              </a:r>
              <a:endParaRPr kumimoji="1" lang="zh-CN" altLang="en-US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81" name="Line 19"/>
            <p:cNvSpPr>
              <a:spLocks noChangeShapeType="1"/>
            </p:cNvSpPr>
            <p:nvPr/>
          </p:nvSpPr>
          <p:spPr bwMode="auto">
            <a:xfrm>
              <a:off x="5834" y="2695"/>
              <a:ext cx="0" cy="233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Rectangle 20"/>
            <p:cNvSpPr>
              <a:spLocks noChangeArrowheads="1"/>
            </p:cNvSpPr>
            <p:nvPr/>
          </p:nvSpPr>
          <p:spPr bwMode="auto">
            <a:xfrm>
              <a:off x="5592" y="2676"/>
              <a:ext cx="20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600" b="1" dirty="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</a:p>
          </p:txBody>
        </p:sp>
      </p:grpSp>
      <p:cxnSp>
        <p:nvCxnSpPr>
          <p:cNvPr id="83" name="肘形连接符 82"/>
          <p:cNvCxnSpPr>
            <a:stCxn id="34" idx="3"/>
            <a:endCxn id="17" idx="0"/>
          </p:cNvCxnSpPr>
          <p:nvPr/>
        </p:nvCxnSpPr>
        <p:spPr bwMode="auto">
          <a:xfrm>
            <a:off x="6112526" y="3613826"/>
            <a:ext cx="1483905" cy="86334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  <p:sp>
        <p:nvSpPr>
          <p:cNvPr id="88" name="Line 49"/>
          <p:cNvSpPr>
            <a:spLocks noChangeShapeType="1"/>
          </p:cNvSpPr>
          <p:nvPr/>
        </p:nvSpPr>
        <p:spPr bwMode="auto">
          <a:xfrm flipV="1">
            <a:off x="7596431" y="5098252"/>
            <a:ext cx="0" cy="999929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4353" name="直接连接符 14352"/>
          <p:cNvCxnSpPr>
            <a:endCxn id="88" idx="0"/>
          </p:cNvCxnSpPr>
          <p:nvPr/>
        </p:nvCxnSpPr>
        <p:spPr bwMode="auto">
          <a:xfrm>
            <a:off x="5035889" y="6098180"/>
            <a:ext cx="2560542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13500000">
              <a:schemeClr val="bg2"/>
            </a:prstShdw>
          </a:effectLst>
        </p:spPr>
      </p:cxnSp>
      <p:cxnSp>
        <p:nvCxnSpPr>
          <p:cNvPr id="14355" name="直接箭头连接符 14354"/>
          <p:cNvCxnSpPr/>
          <p:nvPr/>
        </p:nvCxnSpPr>
        <p:spPr bwMode="auto">
          <a:xfrm flipH="1">
            <a:off x="4950143" y="5105211"/>
            <a:ext cx="1" cy="9999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13500000">
              <a:schemeClr val="bg2"/>
            </a:prstShdw>
          </a:effectLst>
        </p:spPr>
      </p:cxnSp>
    </p:spTree>
    <p:extLst>
      <p:ext uri="{BB962C8B-B14F-4D97-AF65-F5344CB8AC3E}">
        <p14:creationId xmlns="" xmlns:p14="http://schemas.microsoft.com/office/powerpoint/2010/main" val="420992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34" grpId="0" animBg="1"/>
      <p:bldP spid="59" grpId="0" animBg="1"/>
      <p:bldP spid="63" grpId="1" animBg="1"/>
      <p:bldP spid="73" grpId="0"/>
      <p:bldP spid="8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8" name="Rectangle 6"/>
          <p:cNvSpPr>
            <a:spLocks noGrp="1" noRot="1" noChangeArrowheads="1"/>
          </p:cNvSpPr>
          <p:nvPr>
            <p:ph type="title"/>
          </p:nvPr>
        </p:nvSpPr>
        <p:spPr>
          <a:xfrm>
            <a:off x="357158" y="0"/>
            <a:ext cx="8540750" cy="100010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 smtClean="0">
                <a:solidFill>
                  <a:schemeClr val="folHlink"/>
                </a:solidFill>
              </a:rPr>
              <a:t>分段的共享与保护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116013" y="1412875"/>
            <a:ext cx="1790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1.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共享段表 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419475" y="1125538"/>
            <a:ext cx="5562600" cy="12001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</a:rPr>
              <a:t> 为了实现分段共享，可在系统中配置一张共享段表</a:t>
            </a:r>
            <a:r>
              <a:rPr lang="zh-CN" altLang="en-US" sz="2400" b="1" dirty="0" smtClean="0">
                <a:latin typeface="Times New Roman" pitchFamily="18" charset="0"/>
              </a:rPr>
              <a:t>，每个共享</a:t>
            </a:r>
            <a:r>
              <a:rPr lang="zh-CN" altLang="en-US" sz="2400" b="1" dirty="0">
                <a:latin typeface="Times New Roman" pitchFamily="18" charset="0"/>
              </a:rPr>
              <a:t>段都在共享段表中占有一个表项。</a:t>
            </a:r>
            <a:endParaRPr lang="zh-CN" altLang="en-US" sz="2400" dirty="0">
              <a:latin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068388" y="2422525"/>
            <a:ext cx="5791200" cy="398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/>
            <a:r>
              <a:rPr lang="zh-CN" altLang="en-US" sz="2000" b="1" dirty="0">
                <a:latin typeface="Times New Roman" pitchFamily="18" charset="0"/>
              </a:rPr>
              <a:t>共享段表                                       共享段表项</a:t>
            </a:r>
            <a:endParaRPr lang="en-US" altLang="zh-CN" sz="2000" b="1" dirty="0">
              <a:latin typeface="Times New Roman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941638" y="2854325"/>
            <a:ext cx="4587875" cy="27781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/>
            <a:endParaRPr lang="zh-CN" altLang="en-US" sz="1600" dirty="0">
              <a:latin typeface="Times New Roman" pitchFamily="18" charset="0"/>
            </a:endParaRPr>
          </a:p>
          <a:p>
            <a:pPr algn="just" eaLnBrk="0" hangingPunct="0"/>
            <a:r>
              <a:rPr lang="zh-CN" altLang="en-US" sz="2000" dirty="0">
                <a:latin typeface="Times New Roman" pitchFamily="18" charset="0"/>
              </a:rPr>
              <a:t>  </a:t>
            </a:r>
            <a:r>
              <a:rPr lang="zh-CN" altLang="en-US" sz="2000" b="1" dirty="0">
                <a:latin typeface="Times New Roman" pitchFamily="18" charset="0"/>
              </a:rPr>
              <a:t>段名   段长  </a:t>
            </a:r>
            <a:r>
              <a:rPr lang="zh-CN" altLang="en-US" sz="2000" b="1" dirty="0" smtClean="0">
                <a:latin typeface="Times New Roman" pitchFamily="18" charset="0"/>
              </a:rPr>
              <a:t>内存</a:t>
            </a:r>
            <a:r>
              <a:rPr lang="zh-CN" altLang="en-US" sz="2000" b="1" dirty="0">
                <a:latin typeface="Times New Roman" pitchFamily="18" charset="0"/>
              </a:rPr>
              <a:t>地址 </a:t>
            </a:r>
            <a:r>
              <a:rPr lang="zh-CN" altLang="en-US" sz="2000" b="1" dirty="0" smtClean="0">
                <a:latin typeface="Times New Roman" pitchFamily="18" charset="0"/>
              </a:rPr>
              <a:t>存在位   </a:t>
            </a:r>
            <a:r>
              <a:rPr lang="zh-CN" altLang="en-US" sz="2000" b="1" dirty="0">
                <a:latin typeface="Times New Roman" pitchFamily="18" charset="0"/>
              </a:rPr>
              <a:t>外存地址</a:t>
            </a:r>
          </a:p>
          <a:p>
            <a:pPr algn="just" eaLnBrk="0" hangingPunct="0"/>
            <a:endParaRPr lang="zh-CN" altLang="en-US" sz="2000" b="1" dirty="0">
              <a:latin typeface="Times New Roman" pitchFamily="18" charset="0"/>
            </a:endParaRPr>
          </a:p>
          <a:p>
            <a:pPr algn="just" eaLnBrk="0" hangingPunct="0"/>
            <a:r>
              <a:rPr lang="zh-CN" altLang="en-US" sz="2000" b="1" dirty="0">
                <a:latin typeface="Times New Roman" pitchFamily="18" charset="0"/>
              </a:rPr>
              <a:t>            共享进程计数</a:t>
            </a:r>
            <a:r>
              <a:rPr lang="en-US" altLang="zh-CN" sz="2000" b="1" dirty="0">
                <a:latin typeface="Times New Roman" pitchFamily="18" charset="0"/>
              </a:rPr>
              <a:t>count</a:t>
            </a:r>
          </a:p>
          <a:p>
            <a:pPr algn="just" eaLnBrk="0" hangingPunct="0"/>
            <a:endParaRPr lang="zh-CN" altLang="en-US" sz="2000" b="1" dirty="0">
              <a:latin typeface="Times New Roman" pitchFamily="18" charset="0"/>
            </a:endParaRPr>
          </a:p>
          <a:p>
            <a:pPr algn="just" eaLnBrk="0" hangingPunct="0"/>
            <a:r>
              <a:rPr lang="zh-CN" altLang="en-US" sz="2000" b="1" dirty="0">
                <a:latin typeface="Times New Roman" pitchFamily="18" charset="0"/>
              </a:rPr>
              <a:t>  状态  进程名   进程号  段号  存取控制</a:t>
            </a:r>
          </a:p>
          <a:p>
            <a:pPr algn="just" eaLnBrk="0" hangingPunct="0"/>
            <a:endParaRPr lang="zh-CN" altLang="en-US" sz="1000" dirty="0">
              <a:latin typeface="Times New Roman" pitchFamily="18" charset="0"/>
            </a:endParaRPr>
          </a:p>
          <a:p>
            <a:pPr algn="just" eaLnBrk="0" hangingPunct="0"/>
            <a:r>
              <a:rPr lang="zh-CN" altLang="en-US" sz="2000" dirty="0">
                <a:latin typeface="Times New Roman" pitchFamily="18" charset="0"/>
              </a:rPr>
              <a:t>  </a:t>
            </a:r>
            <a:endParaRPr lang="zh-CN" altLang="en-US" sz="1000" dirty="0">
              <a:latin typeface="Times New Roman" pitchFamily="18" charset="0"/>
            </a:endParaRPr>
          </a:p>
          <a:p>
            <a:pPr algn="just" eaLnBrk="0" hangingPunct="0"/>
            <a:r>
              <a:rPr lang="zh-CN" altLang="en-US" sz="2000" dirty="0">
                <a:latin typeface="Times New Roman" pitchFamily="18" charset="0"/>
              </a:rPr>
              <a:t>     </a:t>
            </a:r>
            <a:r>
              <a:rPr lang="zh-CN" altLang="en-US" sz="2000" dirty="0">
                <a:latin typeface="宋体" pitchFamily="2" charset="-122"/>
              </a:rPr>
              <a:t>┇   ┇      ┇     ┇     ┇</a:t>
            </a:r>
            <a:endParaRPr lang="zh-CN" altLang="en-US" sz="2000" dirty="0">
              <a:latin typeface="Times New Roman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900113" y="2836863"/>
            <a:ext cx="1144587" cy="2895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0" tIns="108000" rIns="0" bIns="0"/>
          <a:lstStyle/>
          <a:p>
            <a:pPr algn="ctr" eaLnBrk="0" hangingPunct="0"/>
            <a:r>
              <a:rPr lang="zh-CN" altLang="en-US" sz="2000" b="1">
                <a:latin typeface="宋体" pitchFamily="2" charset="-122"/>
              </a:rPr>
              <a:t>表项1</a:t>
            </a:r>
          </a:p>
          <a:p>
            <a:pPr algn="ctr" eaLnBrk="0" hangingPunct="0"/>
            <a:endParaRPr lang="zh-CN" altLang="en-US" sz="2000" b="1">
              <a:latin typeface="宋体" pitchFamily="2" charset="-122"/>
            </a:endParaRPr>
          </a:p>
          <a:p>
            <a:pPr algn="ctr" eaLnBrk="0" hangingPunct="0"/>
            <a:r>
              <a:rPr lang="zh-CN" altLang="en-US" sz="2000" b="1">
                <a:latin typeface="宋体" pitchFamily="2" charset="-122"/>
              </a:rPr>
              <a:t>表项2</a:t>
            </a:r>
          </a:p>
          <a:p>
            <a:pPr algn="ctr" eaLnBrk="0" hangingPunct="0"/>
            <a:endParaRPr lang="zh-CN" altLang="en-US" sz="2000" b="1">
              <a:latin typeface="宋体" pitchFamily="2" charset="-122"/>
            </a:endParaRPr>
          </a:p>
          <a:p>
            <a:pPr algn="ctr" eaLnBrk="0" hangingPunct="0"/>
            <a:endParaRPr lang="zh-CN" altLang="en-US" sz="2000" b="1">
              <a:latin typeface="宋体" pitchFamily="2" charset="-122"/>
            </a:endParaRPr>
          </a:p>
          <a:p>
            <a:pPr algn="ctr" eaLnBrk="0" hangingPunct="0"/>
            <a:endParaRPr lang="zh-CN" altLang="en-US" sz="1400" b="1">
              <a:latin typeface="宋体" pitchFamily="2" charset="-122"/>
            </a:endParaRPr>
          </a:p>
          <a:p>
            <a:pPr algn="ctr" eaLnBrk="0" hangingPunct="0"/>
            <a:r>
              <a:rPr lang="zh-CN" altLang="en-US" sz="2000" b="1">
                <a:latin typeface="宋体" pitchFamily="2" charset="-122"/>
              </a:rPr>
              <a:t>┇</a:t>
            </a:r>
          </a:p>
          <a:p>
            <a:pPr algn="ctr" eaLnBrk="0" hangingPunct="0"/>
            <a:endParaRPr lang="zh-CN" altLang="en-US" sz="2000" b="1">
              <a:latin typeface="宋体" pitchFamily="2" charset="-122"/>
            </a:endParaRPr>
          </a:p>
          <a:p>
            <a:pPr algn="ctr" eaLnBrk="0" hangingPunct="0"/>
            <a:r>
              <a:rPr lang="zh-CN" altLang="en-US" sz="2000" b="1">
                <a:latin typeface="宋体" pitchFamily="2" charset="-122"/>
              </a:rPr>
              <a:t>表项</a:t>
            </a:r>
            <a:r>
              <a:rPr lang="en-US" altLang="zh-CN" sz="2000" b="1">
                <a:latin typeface="宋体" pitchFamily="2" charset="-122"/>
              </a:rPr>
              <a:t>n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900113" y="3446463"/>
            <a:ext cx="11445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900113" y="5122863"/>
            <a:ext cx="11445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900113" y="3979863"/>
            <a:ext cx="11445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900113" y="4589463"/>
            <a:ext cx="11445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2941638" y="3557588"/>
            <a:ext cx="45878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2941638" y="4124325"/>
            <a:ext cx="45878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 flipV="1">
            <a:off x="2941638" y="4894263"/>
            <a:ext cx="45847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 flipV="1">
            <a:off x="2043113" y="2800350"/>
            <a:ext cx="892175" cy="1179513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ysDot"/>
            <a:round/>
            <a:headEnd/>
            <a:tailEnd type="triangle" w="sm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2043113" y="4589463"/>
            <a:ext cx="908050" cy="1028700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ysDot"/>
            <a:round/>
            <a:headEnd/>
            <a:tailEnd type="triangle" w="sm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3643313" y="2854325"/>
            <a:ext cx="0" cy="7191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4348163" y="2854325"/>
            <a:ext cx="0" cy="7191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5508104" y="2854325"/>
            <a:ext cx="0" cy="7191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6372200" y="2854325"/>
            <a:ext cx="0" cy="7191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3643313" y="4132263"/>
            <a:ext cx="0" cy="7810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4557713" y="4149725"/>
            <a:ext cx="0" cy="7810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5472113" y="4132263"/>
            <a:ext cx="0" cy="7810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6157913" y="4114800"/>
            <a:ext cx="0" cy="7810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sm" len="med"/>
          </a:ln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450820" y="5724524"/>
            <a:ext cx="8353425" cy="1006475"/>
          </a:xfrm>
          <a:prstGeom prst="rect">
            <a:avLst/>
          </a:prstGeom>
          <a:solidFill>
            <a:srgbClr val="7030A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</a:pPr>
            <a:r>
              <a:rPr lang="zh-CN" altLang="en-US" sz="2200" b="1" dirty="0">
                <a:solidFill>
                  <a:schemeClr val="bg1"/>
                </a:solidFill>
              </a:rPr>
              <a:t>共享进程计数</a:t>
            </a:r>
            <a:r>
              <a:rPr lang="zh-CN" altLang="en-US" sz="2200" b="1" dirty="0" smtClean="0">
                <a:solidFill>
                  <a:schemeClr val="bg1"/>
                </a:solidFill>
              </a:rPr>
              <a:t>：</a:t>
            </a:r>
            <a:r>
              <a:rPr lang="en-US" altLang="zh-CN" sz="2200" b="1" dirty="0" smtClean="0">
                <a:solidFill>
                  <a:schemeClr val="bg1"/>
                </a:solidFill>
              </a:rPr>
              <a:t>count</a:t>
            </a:r>
            <a:r>
              <a:rPr lang="zh-CN" altLang="en-US" sz="2200" b="1" dirty="0" smtClean="0">
                <a:solidFill>
                  <a:schemeClr val="bg1"/>
                </a:solidFill>
              </a:rPr>
              <a:t>记录</a:t>
            </a:r>
            <a:r>
              <a:rPr lang="zh-CN" altLang="en-US" sz="2200" b="1" dirty="0">
                <a:solidFill>
                  <a:schemeClr val="bg1"/>
                </a:solidFill>
              </a:rPr>
              <a:t>有多少进程共享该段。</a:t>
            </a:r>
          </a:p>
          <a:p>
            <a:pPr algn="just">
              <a:lnSpc>
                <a:spcPct val="90000"/>
              </a:lnSpc>
            </a:pPr>
            <a:r>
              <a:rPr lang="zh-CN" altLang="en-US" sz="2200" b="1" dirty="0">
                <a:solidFill>
                  <a:schemeClr val="bg1"/>
                </a:solidFill>
              </a:rPr>
              <a:t>存取控制字段：对同一共享段，不同进程有不同的操作权限。</a:t>
            </a:r>
          </a:p>
          <a:p>
            <a:pPr algn="just">
              <a:lnSpc>
                <a:spcPct val="90000"/>
              </a:lnSpc>
            </a:pPr>
            <a:r>
              <a:rPr lang="zh-CN" altLang="en-US" sz="2200" b="1" dirty="0">
                <a:solidFill>
                  <a:schemeClr val="bg1"/>
                </a:solidFill>
              </a:rPr>
              <a:t>段号：共享段在不同进程中有不同的段号。</a:t>
            </a:r>
          </a:p>
        </p:txBody>
      </p:sp>
    </p:spTree>
    <p:extLst>
      <p:ext uri="{BB962C8B-B14F-4D97-AF65-F5344CB8AC3E}">
        <p14:creationId xmlns="" xmlns:p14="http://schemas.microsoft.com/office/powerpoint/2010/main" val="24865089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Rot="1" noChangeArrowheads="1"/>
          </p:cNvSpPr>
          <p:nvPr>
            <p:ph/>
          </p:nvPr>
        </p:nvSpPr>
        <p:spPr>
          <a:xfrm>
            <a:off x="457200" y="428604"/>
            <a:ext cx="8401080" cy="6124596"/>
          </a:xfrm>
        </p:spPr>
        <p:txBody>
          <a:bodyPr/>
          <a:lstStyle/>
          <a:p>
            <a:pPr marL="0" indent="0" algn="just" eaLnBrk="1" hangingPunct="1">
              <a:buFont typeface="Wingdings" pitchFamily="2" charset="2"/>
              <a:buNone/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．共享段的分配与回收</a:t>
            </a:r>
          </a:p>
          <a:p>
            <a:pPr marL="0" indent="0" algn="just" eaLnBrk="1" hangingPunct="1">
              <a:buFont typeface="Wingdings" pitchFamily="2" charset="2"/>
              <a:buNone/>
              <a:defRPr/>
            </a:pPr>
            <a:endParaRPr lang="en-US" altLang="zh-CN" b="1" dirty="0" smtClean="0"/>
          </a:p>
          <a:p>
            <a:pPr marL="0" indent="0" algn="just" eaLnBrk="1" hangingPunct="1">
              <a:buFont typeface="Wingdings" pitchFamily="2" charset="2"/>
              <a:buChar char="Ø"/>
              <a:defRPr/>
            </a:pPr>
            <a:r>
              <a:rPr lang="en-US" altLang="zh-CN" sz="2800" b="1" i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2800" b="1" i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共享段的创建</a:t>
            </a:r>
            <a:endParaRPr lang="en-US" altLang="zh-CN" sz="2800" b="1" i="1" u="sng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 algn="just" eaLnBrk="1" hangingPunct="1">
              <a:buNone/>
              <a:defRPr/>
            </a:pPr>
            <a:r>
              <a:rPr lang="zh-CN" altLang="en-US" sz="2400" b="1" i="1" u="sng" dirty="0" smtClean="0">
                <a:solidFill>
                  <a:srgbClr val="FF0000"/>
                </a:solidFill>
              </a:rPr>
              <a:t>第一次请求使用某共享段时，系统为共享段分配一物理区</a:t>
            </a:r>
            <a:r>
              <a:rPr lang="zh-CN" altLang="en-US" sz="2400" b="1" dirty="0" smtClean="0"/>
              <a:t>，在共享段表中增加一表项，同时将该区始址写入当前进程段表，</a:t>
            </a:r>
            <a:r>
              <a:rPr lang="en-US" altLang="zh-CN" sz="2400" b="1" dirty="0" smtClean="0"/>
              <a:t>count</a:t>
            </a:r>
            <a:r>
              <a:rPr lang="zh-CN" altLang="en-US" sz="2400" b="1" dirty="0" smtClean="0"/>
              <a:t>置为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；</a:t>
            </a:r>
            <a:endParaRPr lang="en-US" altLang="zh-CN" sz="2400" b="1" dirty="0" smtClean="0"/>
          </a:p>
          <a:p>
            <a:pPr marL="457200" indent="-457200" algn="just" eaLnBrk="1" hangingPunct="1">
              <a:buNone/>
              <a:defRPr/>
            </a:pPr>
            <a:endParaRPr lang="en-US" altLang="zh-CN" sz="2400" b="1" dirty="0" smtClean="0"/>
          </a:p>
          <a:p>
            <a:pPr marL="457200" indent="-457200" algn="just" eaLnBrk="1" hangingPunct="1">
              <a:buFont typeface="Wingdings" pitchFamily="2" charset="2"/>
              <a:buChar char="Ø"/>
              <a:defRPr/>
            </a:pPr>
            <a:r>
              <a:rPr lang="zh-CN" altLang="en-US" sz="2800" b="1" i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共享段的共享</a:t>
            </a:r>
            <a:endParaRPr lang="en-US" altLang="zh-CN" sz="2800" b="1" i="1" u="sng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indent="-457200" algn="just" eaLnBrk="1" hangingPunct="1">
              <a:buFont typeface="+mj-ea"/>
              <a:buAutoNum type="circleNumDbPlain"/>
              <a:defRPr/>
            </a:pPr>
            <a:r>
              <a:rPr lang="zh-CN" altLang="en-US" sz="2400" b="1" dirty="0" smtClean="0"/>
              <a:t>当又有其它进程需要调用该共享段时，</a:t>
            </a:r>
            <a:r>
              <a:rPr lang="zh-CN" altLang="en-US" sz="2400" b="1" i="1" u="sng" dirty="0" smtClean="0">
                <a:solidFill>
                  <a:srgbClr val="FF0000"/>
                </a:solidFill>
              </a:rPr>
              <a:t>无须再为该段分配内存</a:t>
            </a:r>
            <a:r>
              <a:rPr lang="zh-CN" altLang="en-US" sz="2400" b="1" dirty="0" smtClean="0"/>
              <a:t>，在其段表中增加一表项，填写该共享段的始址；</a:t>
            </a:r>
            <a:endParaRPr lang="en-US" altLang="zh-CN" sz="2400" b="1" dirty="0" smtClean="0"/>
          </a:p>
          <a:p>
            <a:pPr marL="457200" indent="-457200" algn="just" eaLnBrk="1" hangingPunct="1">
              <a:buFont typeface="+mj-ea"/>
              <a:buAutoNum type="circleNumDbPlain"/>
              <a:defRPr/>
            </a:pPr>
            <a:r>
              <a:rPr lang="zh-CN" altLang="en-US" sz="2400" b="1" dirty="0" smtClean="0"/>
              <a:t>在共享段的段表中，填入调用进程的进程名、存取控制等，</a:t>
            </a:r>
            <a:endParaRPr lang="en-US" altLang="zh-CN" sz="2400" b="1" dirty="0" smtClean="0"/>
          </a:p>
          <a:p>
            <a:pPr marL="457200" indent="-457200" algn="just" eaLnBrk="1" hangingPunct="1">
              <a:buFont typeface="+mj-ea"/>
              <a:buAutoNum type="circleNumDbPlain"/>
              <a:defRPr/>
            </a:pPr>
            <a:r>
              <a:rPr lang="en-US" altLang="zh-CN" sz="2400" b="1" dirty="0" smtClean="0"/>
              <a:t>count</a:t>
            </a:r>
            <a:r>
              <a:rPr lang="zh-CN" altLang="en-US" sz="2400" b="1" dirty="0" smtClean="0"/>
              <a:t>：＝</a:t>
            </a:r>
            <a:r>
              <a:rPr lang="en-US" altLang="zh-CN" sz="2400" b="1" dirty="0" smtClean="0"/>
              <a:t>count</a:t>
            </a:r>
            <a:r>
              <a:rPr lang="zh-CN" altLang="en-US" sz="2400" b="1" dirty="0" smtClean="0"/>
              <a:t>＋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，以表明有多个进程共享该段。 </a:t>
            </a:r>
          </a:p>
        </p:txBody>
      </p:sp>
    </p:spTree>
    <p:extLst>
      <p:ext uri="{BB962C8B-B14F-4D97-AF65-F5344CB8AC3E}">
        <p14:creationId xmlns="" xmlns:p14="http://schemas.microsoft.com/office/powerpoint/2010/main" val="266733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Rot="1" noChangeArrowheads="1"/>
          </p:cNvSpPr>
          <p:nvPr>
            <p:ph/>
          </p:nvPr>
        </p:nvSpPr>
        <p:spPr>
          <a:xfrm>
            <a:off x="457200" y="500042"/>
            <a:ext cx="8229600" cy="6053158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zh-CN" altLang="en-US" sz="2800" b="1" i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共享段的回收 </a:t>
            </a:r>
            <a:endParaRPr lang="zh-CN" altLang="en-US" sz="2400" b="1" i="1" u="sng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indent="-457200" eaLnBrk="1" hangingPunct="1">
              <a:buNone/>
              <a:defRPr/>
            </a:pPr>
            <a:endParaRPr lang="en-US" altLang="zh-CN" sz="2400" b="1" dirty="0" smtClean="0"/>
          </a:p>
          <a:p>
            <a:pPr marL="457200" indent="-457200" eaLnBrk="1" hangingPunct="1">
              <a:buNone/>
              <a:defRPr/>
            </a:pPr>
            <a:r>
              <a:rPr lang="zh-CN" altLang="en-US" sz="2800" b="1" dirty="0" smtClean="0"/>
              <a:t>当共享此段的某进程不再需要该段时，执行如下步骤：</a:t>
            </a:r>
            <a:endParaRPr lang="en-US" altLang="zh-CN" sz="2800" b="1" dirty="0" smtClean="0"/>
          </a:p>
          <a:p>
            <a:pPr marL="457200" indent="-457200" eaLnBrk="1" hangingPunct="1">
              <a:buFont typeface="+mj-ea"/>
              <a:buAutoNum type="circleNumDbPlain"/>
              <a:defRPr/>
            </a:pPr>
            <a:r>
              <a:rPr lang="en-US" altLang="zh-CN" sz="2800" b="1" dirty="0" smtClean="0"/>
              <a:t>count</a:t>
            </a:r>
            <a:r>
              <a:rPr lang="zh-CN" altLang="en-US" sz="2800" b="1" dirty="0" smtClean="0"/>
              <a:t>：</a:t>
            </a:r>
            <a:r>
              <a:rPr lang="en-US" altLang="zh-CN" sz="2800" b="1" dirty="0" smtClean="0"/>
              <a:t>=count-1</a:t>
            </a:r>
            <a:r>
              <a:rPr lang="zh-CN" altLang="en-US" sz="2800" b="1" dirty="0" smtClean="0"/>
              <a:t>；</a:t>
            </a:r>
            <a:endParaRPr lang="en-US" altLang="zh-CN" sz="2800" b="1" dirty="0" smtClean="0"/>
          </a:p>
          <a:p>
            <a:pPr marL="457200" indent="-457200" eaLnBrk="1" hangingPunct="1">
              <a:buFont typeface="+mj-ea"/>
              <a:buAutoNum type="circleNumDbPlain"/>
              <a:defRPr/>
            </a:pPr>
            <a:r>
              <a:rPr lang="zh-CN" altLang="en-US" sz="2800" b="1" dirty="0" smtClean="0"/>
              <a:t>若</a:t>
            </a:r>
            <a:r>
              <a:rPr lang="en-US" altLang="zh-CN" sz="2800" b="1" dirty="0" smtClean="0"/>
              <a:t>count = 0</a:t>
            </a:r>
            <a:r>
              <a:rPr lang="zh-CN" altLang="en-US" sz="2800" b="1" dirty="0" smtClean="0"/>
              <a:t>，则须由系统回收该共享段的物理内存，并删除在共享段表的表项；</a:t>
            </a:r>
            <a:endParaRPr lang="en-US" altLang="zh-CN" sz="2800" b="1" dirty="0" smtClean="0"/>
          </a:p>
          <a:p>
            <a:pPr marL="457200" indent="-457200" eaLnBrk="1" hangingPunct="1">
              <a:buFont typeface="+mj-ea"/>
              <a:buAutoNum type="circleNumDbPlain"/>
              <a:defRPr/>
            </a:pPr>
            <a:r>
              <a:rPr lang="zh-CN" altLang="en-US" sz="2800" b="1" dirty="0" smtClean="0"/>
              <a:t>若</a:t>
            </a:r>
            <a:r>
              <a:rPr lang="en-US" altLang="zh-CN" sz="2800" b="1" dirty="0" smtClean="0"/>
              <a:t>count != 0</a:t>
            </a:r>
            <a:r>
              <a:rPr lang="zh-CN" altLang="en-US" sz="2800" b="1" dirty="0" smtClean="0"/>
              <a:t>，则只是删除该进程在共享段表中的有关记录。</a:t>
            </a:r>
            <a:endParaRPr lang="en-US" altLang="zh-CN" sz="2800" b="1" dirty="0" smtClean="0"/>
          </a:p>
          <a:p>
            <a:pPr marL="457200" indent="-457200" eaLnBrk="1" hangingPunct="1">
              <a:buFont typeface="+mj-ea"/>
              <a:buAutoNum type="circleNumDbPlain"/>
              <a:defRPr/>
            </a:pPr>
            <a:endParaRPr lang="zh-CN" altLang="en-US" sz="2400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204291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4"/>
          <p:cNvSpPr txBox="1">
            <a:spLocks noChangeArrowheads="1"/>
          </p:cNvSpPr>
          <p:nvPr/>
        </p:nvSpPr>
        <p:spPr bwMode="auto">
          <a:xfrm>
            <a:off x="3500430" y="285728"/>
            <a:ext cx="234551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3200" b="1">
                <a:solidFill>
                  <a:srgbClr val="FF0000"/>
                </a:solidFill>
                <a:latin typeface="Times New Roman" pitchFamily="18" charset="0"/>
              </a:rPr>
              <a:t>3. 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itchFamily="18" charset="0"/>
              </a:rPr>
              <a:t>分段保护 </a:t>
            </a:r>
          </a:p>
        </p:txBody>
      </p:sp>
      <p:sp>
        <p:nvSpPr>
          <p:cNvPr id="110595" name="Text Box 5"/>
          <p:cNvSpPr txBox="1">
            <a:spLocks noChangeArrowheads="1"/>
          </p:cNvSpPr>
          <p:nvPr/>
        </p:nvSpPr>
        <p:spPr bwMode="auto">
          <a:xfrm>
            <a:off x="251520" y="980728"/>
            <a:ext cx="8629680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Tx/>
              <a:buAutoNum type="arabicParenR"/>
            </a:pPr>
            <a:r>
              <a:rPr kumimoji="1" lang="zh-CN" altLang="en-US" sz="28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越界检查 </a:t>
            </a:r>
            <a:endParaRPr kumimoji="1" lang="en-US" altLang="zh-CN" sz="28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kumimoji="1" lang="zh-CN" altLang="en-US" sz="2400" dirty="0" smtClean="0">
                <a:solidFill>
                  <a:srgbClr val="000000"/>
                </a:solidFill>
                <a:latin typeface="Times New Roman" pitchFamily="18" charset="0"/>
              </a:rPr>
              <a:t>如果</a:t>
            </a:r>
            <a:r>
              <a:rPr kumimoji="1" lang="zh-CN" altLang="en-US" sz="2400" dirty="0">
                <a:solidFill>
                  <a:srgbClr val="6600CC"/>
                </a:solidFill>
                <a:latin typeface="Times New Roman" pitchFamily="18" charset="0"/>
              </a:rPr>
              <a:t>段号等于或大于段表长度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，将发出地址越界中断信号。</a:t>
            </a:r>
            <a:endParaRPr kumimoji="1" lang="en-US" altLang="zh-CN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kumimoji="1" lang="zh-CN" altLang="en-US" sz="2400" i="1" dirty="0" smtClean="0">
                <a:solidFill>
                  <a:srgbClr val="FF0000"/>
                </a:solidFill>
                <a:latin typeface="Times New Roman" pitchFamily="18" charset="0"/>
              </a:rPr>
              <a:t>以此保证</a:t>
            </a:r>
            <a:r>
              <a:rPr kumimoji="1" lang="zh-CN" altLang="en-US" sz="2400" i="1" dirty="0">
                <a:solidFill>
                  <a:srgbClr val="FF0000"/>
                </a:solidFill>
                <a:latin typeface="Times New Roman" pitchFamily="18" charset="0"/>
              </a:rPr>
              <a:t>每个进程只能在自己的地址空间内运行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itchFamily="18" charset="0"/>
              </a:rPr>
              <a:t>。</a:t>
            </a:r>
            <a:endParaRPr kumimoji="1" lang="en-US" altLang="zh-CN" sz="2400" dirty="0" smtClean="0">
              <a:solidFill>
                <a:srgbClr val="000000"/>
              </a:solidFill>
              <a:latin typeface="Times New Roman" pitchFamily="18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endParaRPr kumimoji="1" lang="zh-CN" altLang="en-US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57200" indent="-457200"/>
            <a:r>
              <a:rPr kumimoji="1"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2</a:t>
            </a:r>
            <a:r>
              <a:rPr kumimoji="1" lang="en-US" altLang="zh-CN" sz="28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) </a:t>
            </a:r>
            <a:r>
              <a:rPr kumimoji="1" lang="zh-CN" altLang="en-US" sz="28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存取控制检查 ：</a:t>
            </a:r>
            <a:endParaRPr kumimoji="1" lang="en-US" altLang="zh-CN" sz="28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  <a:p>
            <a:pPr marL="457200" indent="-457200"/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           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itchFamily="18" charset="0"/>
              </a:rPr>
              <a:t>只读      只执行       读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/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Times New Roman" pitchFamily="18" charset="0"/>
              </a:rPr>
              <a:t>写</a:t>
            </a:r>
            <a:endParaRPr kumimoji="1" lang="en-US" altLang="zh-CN" sz="2400" dirty="0" smtClean="0">
              <a:solidFill>
                <a:srgbClr val="FF0000"/>
              </a:solidFill>
              <a:latin typeface="Times New Roman" pitchFamily="18" charset="0"/>
            </a:endParaRPr>
          </a:p>
          <a:p>
            <a:pPr marL="457200" indent="-457200"/>
            <a:endParaRPr kumimoji="1" lang="zh-CN" altLang="en-US" sz="2800" dirty="0">
              <a:solidFill>
                <a:srgbClr val="FF0000"/>
              </a:solidFill>
              <a:latin typeface="Times New Roman" pitchFamily="18" charset="0"/>
            </a:endParaRPr>
          </a:p>
          <a:p>
            <a:pPr marL="457200" indent="-457200"/>
            <a:r>
              <a:rPr kumimoji="1"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3) 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环保护机构 </a:t>
            </a:r>
            <a:endParaRPr kumimoji="1" lang="en-US" altLang="zh-CN" sz="28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</a:rPr>
              <a:t>低编号的环具有高优先权</a:t>
            </a:r>
            <a:r>
              <a:rPr lang="zh-CN" altLang="en-US" sz="2400" dirty="0" smtClean="0">
                <a:latin typeface="Times New Roman" pitchFamily="18" charset="0"/>
              </a:rPr>
              <a:t>。</a:t>
            </a:r>
            <a:endParaRPr lang="en-US" altLang="zh-CN" sz="2400" dirty="0" smtClean="0">
              <a:latin typeface="Times New Roman" pitchFamily="18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altLang="zh-CN" sz="2400" dirty="0" smtClean="0">
                <a:latin typeface="Times New Roman" pitchFamily="18" charset="0"/>
              </a:rPr>
              <a:t>OS</a:t>
            </a:r>
            <a:r>
              <a:rPr lang="zh-CN" altLang="en-US" sz="2400" dirty="0">
                <a:latin typeface="Times New Roman" pitchFamily="18" charset="0"/>
              </a:rPr>
              <a:t>核心处于</a:t>
            </a:r>
            <a:r>
              <a:rPr lang="en-US" altLang="zh-CN" sz="2400" dirty="0">
                <a:latin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</a:rPr>
              <a:t>环内</a:t>
            </a:r>
            <a:r>
              <a:rPr lang="zh-CN" altLang="en-US" sz="2400" dirty="0" smtClean="0">
                <a:latin typeface="Times New Roman" pitchFamily="18" charset="0"/>
              </a:rPr>
              <a:t>；</a:t>
            </a:r>
            <a:endParaRPr lang="en-US" altLang="zh-CN" sz="2400" dirty="0" smtClean="0">
              <a:latin typeface="Times New Roman" pitchFamily="18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zh-CN" altLang="en-US" sz="2400" dirty="0" smtClean="0">
                <a:latin typeface="Times New Roman" pitchFamily="18" charset="0"/>
              </a:rPr>
              <a:t>操作系统</a:t>
            </a:r>
            <a:r>
              <a:rPr lang="zh-CN" altLang="en-US" sz="2400" dirty="0">
                <a:latin typeface="Times New Roman" pitchFamily="18" charset="0"/>
              </a:rPr>
              <a:t>服务，占居中间环</a:t>
            </a:r>
            <a:r>
              <a:rPr lang="zh-CN" altLang="en-US" sz="2400" dirty="0" smtClean="0">
                <a:latin typeface="Times New Roman" pitchFamily="18" charset="0"/>
              </a:rPr>
              <a:t>；</a:t>
            </a:r>
            <a:endParaRPr lang="en-US" altLang="zh-CN" sz="2400" dirty="0" smtClean="0">
              <a:latin typeface="Times New Roman" pitchFamily="18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zh-CN" altLang="en-US" sz="2400" dirty="0" smtClean="0">
                <a:latin typeface="Times New Roman" pitchFamily="18" charset="0"/>
              </a:rPr>
              <a:t>而</a:t>
            </a:r>
            <a:r>
              <a:rPr lang="zh-CN" altLang="en-US" sz="2400" dirty="0">
                <a:latin typeface="Times New Roman" pitchFamily="18" charset="0"/>
              </a:rPr>
              <a:t>一般的应用程序在外环上。</a:t>
            </a:r>
            <a:endParaRPr lang="en-US" altLang="zh-CN" sz="2400" dirty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环保护的基本原则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4348162" cy="4459288"/>
          </a:xfrm>
        </p:spPr>
        <p:txBody>
          <a:bodyPr/>
          <a:lstStyle/>
          <a:p>
            <a:pPr algn="just"/>
            <a:r>
              <a:rPr lang="zh-CN" altLang="en-US" dirty="0" smtClean="0"/>
              <a:t>环保护的基本原则：</a:t>
            </a:r>
          </a:p>
          <a:p>
            <a:pPr lvl="1" algn="just"/>
            <a:r>
              <a:rPr lang="zh-CN" altLang="en-US" dirty="0" smtClean="0"/>
              <a:t>一个程序可以</a:t>
            </a:r>
            <a:r>
              <a:rPr lang="zh-CN" altLang="en-US" b="1" dirty="0" smtClean="0">
                <a:solidFill>
                  <a:srgbClr val="FF0000"/>
                </a:solidFill>
              </a:rPr>
              <a:t>访问</a:t>
            </a:r>
            <a:r>
              <a:rPr lang="zh-CN" altLang="en-US" dirty="0" smtClean="0"/>
              <a:t>驻留在相同环或较低特权环中的数据；</a:t>
            </a:r>
          </a:p>
          <a:p>
            <a:pPr lvl="1" algn="just"/>
            <a:r>
              <a:rPr lang="zh-CN" altLang="en-US" dirty="0" smtClean="0"/>
              <a:t>一个程序可以</a:t>
            </a:r>
            <a:r>
              <a:rPr lang="zh-CN" altLang="en-US" b="1" dirty="0" smtClean="0">
                <a:solidFill>
                  <a:srgbClr val="FF0000"/>
                </a:solidFill>
              </a:rPr>
              <a:t>调用</a:t>
            </a:r>
            <a:r>
              <a:rPr lang="zh-CN" altLang="en-US" dirty="0" smtClean="0"/>
              <a:t>驻留在相同环或较高特权环中的服务。</a:t>
            </a:r>
          </a:p>
        </p:txBody>
      </p:sp>
      <p:sp>
        <p:nvSpPr>
          <p:cNvPr id="111620" name="Oval 7"/>
          <p:cNvSpPr>
            <a:spLocks noChangeArrowheads="1"/>
          </p:cNvSpPr>
          <p:nvPr/>
        </p:nvSpPr>
        <p:spPr bwMode="auto">
          <a:xfrm>
            <a:off x="5791200" y="2628900"/>
            <a:ext cx="1993900" cy="19939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Ctr="1"/>
          <a:lstStyle/>
          <a:p>
            <a:pPr algn="ctr"/>
            <a:endParaRPr lang="zh-CN" altLang="en-US"/>
          </a:p>
        </p:txBody>
      </p:sp>
      <p:sp>
        <p:nvSpPr>
          <p:cNvPr id="111621" name="Oval 8"/>
          <p:cNvSpPr>
            <a:spLocks noChangeArrowheads="1"/>
          </p:cNvSpPr>
          <p:nvPr/>
        </p:nvSpPr>
        <p:spPr bwMode="auto">
          <a:xfrm>
            <a:off x="6324600" y="3162300"/>
            <a:ext cx="914400" cy="9144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zh-CN" altLang="en-US"/>
              <a:t>内核</a:t>
            </a:r>
          </a:p>
          <a:p>
            <a:pPr algn="ctr"/>
            <a:r>
              <a:rPr lang="zh-CN" altLang="en-US"/>
              <a:t>0级</a:t>
            </a:r>
          </a:p>
        </p:txBody>
      </p:sp>
      <p:sp>
        <p:nvSpPr>
          <p:cNvPr id="111622" name="Rectangle 11"/>
          <p:cNvSpPr>
            <a:spLocks noChangeArrowheads="1"/>
          </p:cNvSpPr>
          <p:nvPr/>
        </p:nvSpPr>
        <p:spPr bwMode="auto">
          <a:xfrm>
            <a:off x="6096000" y="2705100"/>
            <a:ext cx="1403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系统调用</a:t>
            </a:r>
          </a:p>
        </p:txBody>
      </p:sp>
      <p:sp>
        <p:nvSpPr>
          <p:cNvPr id="111623" name="Rectangle 12"/>
          <p:cNvSpPr>
            <a:spLocks noChangeArrowheads="1"/>
          </p:cNvSpPr>
          <p:nvPr/>
        </p:nvSpPr>
        <p:spPr bwMode="auto">
          <a:xfrm>
            <a:off x="6477000" y="4076700"/>
            <a:ext cx="655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1级</a:t>
            </a:r>
          </a:p>
        </p:txBody>
      </p:sp>
      <p:sp>
        <p:nvSpPr>
          <p:cNvPr id="111624" name="Oval 13"/>
          <p:cNvSpPr>
            <a:spLocks noChangeArrowheads="1"/>
          </p:cNvSpPr>
          <p:nvPr/>
        </p:nvSpPr>
        <p:spPr bwMode="auto">
          <a:xfrm>
            <a:off x="5232400" y="2095500"/>
            <a:ext cx="3073400" cy="30734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Ctr="1"/>
          <a:lstStyle/>
          <a:p>
            <a:pPr algn="ctr"/>
            <a:endParaRPr lang="zh-CN" altLang="en-US"/>
          </a:p>
        </p:txBody>
      </p:sp>
      <p:sp>
        <p:nvSpPr>
          <p:cNvPr id="111625" name="Rectangle 14"/>
          <p:cNvSpPr>
            <a:spLocks noChangeArrowheads="1"/>
          </p:cNvSpPr>
          <p:nvPr/>
        </p:nvSpPr>
        <p:spPr bwMode="auto">
          <a:xfrm>
            <a:off x="6248400" y="2095500"/>
            <a:ext cx="109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共享库</a:t>
            </a:r>
          </a:p>
        </p:txBody>
      </p:sp>
      <p:sp>
        <p:nvSpPr>
          <p:cNvPr id="111626" name="Rectangle 15"/>
          <p:cNvSpPr>
            <a:spLocks noChangeArrowheads="1"/>
          </p:cNvSpPr>
          <p:nvPr/>
        </p:nvSpPr>
        <p:spPr bwMode="auto">
          <a:xfrm>
            <a:off x="6507163" y="4610100"/>
            <a:ext cx="655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2级</a:t>
            </a:r>
          </a:p>
        </p:txBody>
      </p:sp>
      <p:sp>
        <p:nvSpPr>
          <p:cNvPr id="111627" name="Oval 16"/>
          <p:cNvSpPr>
            <a:spLocks noChangeArrowheads="1"/>
          </p:cNvSpPr>
          <p:nvPr/>
        </p:nvSpPr>
        <p:spPr bwMode="auto">
          <a:xfrm>
            <a:off x="4686300" y="1524000"/>
            <a:ext cx="4152900" cy="41529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Ctr="1"/>
          <a:lstStyle/>
          <a:p>
            <a:pPr algn="ctr"/>
            <a:endParaRPr lang="zh-CN" altLang="en-US"/>
          </a:p>
        </p:txBody>
      </p:sp>
      <p:sp>
        <p:nvSpPr>
          <p:cNvPr id="111628" name="Rectangle 17"/>
          <p:cNvSpPr>
            <a:spLocks noChangeArrowheads="1"/>
          </p:cNvSpPr>
          <p:nvPr/>
        </p:nvSpPr>
        <p:spPr bwMode="auto">
          <a:xfrm>
            <a:off x="6019800" y="1638300"/>
            <a:ext cx="1403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用户程序</a:t>
            </a:r>
          </a:p>
        </p:txBody>
      </p:sp>
      <p:sp>
        <p:nvSpPr>
          <p:cNvPr id="111629" name="Rectangle 18"/>
          <p:cNvSpPr>
            <a:spLocks noChangeArrowheads="1"/>
          </p:cNvSpPr>
          <p:nvPr/>
        </p:nvSpPr>
        <p:spPr bwMode="auto">
          <a:xfrm>
            <a:off x="6507163" y="5143500"/>
            <a:ext cx="655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3级</a:t>
            </a:r>
          </a:p>
        </p:txBody>
      </p:sp>
      <p:sp>
        <p:nvSpPr>
          <p:cNvPr id="111630" name="Rectangle 19"/>
          <p:cNvSpPr>
            <a:spLocks noChangeArrowheads="1"/>
          </p:cNvSpPr>
          <p:nvPr/>
        </p:nvSpPr>
        <p:spPr bwMode="auto">
          <a:xfrm>
            <a:off x="5029200" y="5753100"/>
            <a:ext cx="3717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Pentium</a:t>
            </a:r>
            <a:r>
              <a:rPr lang="zh-CN" altLang="en-US"/>
              <a:t>中的环形保护结构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4"/>
          <p:cNvSpPr txBox="1">
            <a:spLocks noChangeArrowheads="1"/>
          </p:cNvSpPr>
          <p:nvPr/>
        </p:nvSpPr>
        <p:spPr bwMode="auto">
          <a:xfrm>
            <a:off x="3733800" y="762000"/>
            <a:ext cx="20780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</a:rPr>
              <a:t>环保护机构 </a:t>
            </a:r>
          </a:p>
        </p:txBody>
      </p:sp>
      <p:graphicFrame>
        <p:nvGraphicFramePr>
          <p:cNvPr id="112643" name="Object 2"/>
          <p:cNvGraphicFramePr>
            <a:graphicFrameLocks noChangeAspect="1"/>
          </p:cNvGraphicFramePr>
          <p:nvPr/>
        </p:nvGraphicFramePr>
        <p:xfrm>
          <a:off x="0" y="1447800"/>
          <a:ext cx="9144000" cy="3746500"/>
        </p:xfrm>
        <a:graphic>
          <a:graphicData uri="http://schemas.openxmlformats.org/presentationml/2006/ole">
            <p:oleObj spid="_x0000_s216099" name="Visio" r:id="rId3" imgW="4023360" imgH="1645920" progId="">
              <p:embed/>
            </p:oleObj>
          </a:graphicData>
        </a:graphic>
      </p:graphicFrame>
      <p:sp>
        <p:nvSpPr>
          <p:cNvPr id="112644" name="矩形 3"/>
          <p:cNvSpPr>
            <a:spLocks noChangeArrowheads="1"/>
          </p:cNvSpPr>
          <p:nvPr/>
        </p:nvSpPr>
        <p:spPr bwMode="auto">
          <a:xfrm>
            <a:off x="755650" y="5229225"/>
            <a:ext cx="38782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000" b="1">
                <a:solidFill>
                  <a:srgbClr val="7030A0"/>
                </a:solidFill>
              </a:rPr>
              <a:t>对同环或更高级别环服务的调用</a:t>
            </a:r>
            <a:r>
              <a:rPr kumimoji="1" lang="zh-CN" altLang="en-US"/>
              <a:t>	</a:t>
            </a:r>
            <a:endParaRPr lang="zh-CN" altLang="en-US"/>
          </a:p>
        </p:txBody>
      </p:sp>
      <p:sp>
        <p:nvSpPr>
          <p:cNvPr id="112645" name="矩形 4"/>
          <p:cNvSpPr>
            <a:spLocks noChangeArrowheads="1"/>
          </p:cNvSpPr>
          <p:nvPr/>
        </p:nvSpPr>
        <p:spPr bwMode="auto">
          <a:xfrm>
            <a:off x="5484813" y="5229225"/>
            <a:ext cx="35194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711200" indent="-711200" algn="just">
              <a:buFont typeface="Monotype Sorts"/>
              <a:buNone/>
            </a:pPr>
            <a:r>
              <a:rPr kumimoji="1" lang="zh-CN" altLang="en-US" sz="2000" b="1">
                <a:solidFill>
                  <a:srgbClr val="7030A0"/>
                </a:solidFill>
              </a:rPr>
              <a:t>对同环或更低级环数据的访问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4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18</a:t>
            </a:r>
            <a:r>
              <a:rPr lang="zh-CN" altLang="en-US" dirty="0" smtClean="0"/>
              <a:t>，</a:t>
            </a:r>
            <a:r>
              <a:rPr lang="en-US" altLang="zh-CN" smtClean="0"/>
              <a:t>24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砖雕艺术">
  <a:themeElements>
    <a:clrScheme name="砖雕艺术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砖雕艺术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13500000">
            <a:schemeClr val="bg2"/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13500000">
            <a:schemeClr val="bg2"/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砖雕艺术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CDESIGNJ</Template>
  <TotalTime>3011</TotalTime>
  <Words>5711</Words>
  <Application>Microsoft Office PowerPoint</Application>
  <PresentationFormat>全屏显示(4:3)</PresentationFormat>
  <Paragraphs>622</Paragraphs>
  <Slides>72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75" baseType="lpstr">
      <vt:lpstr>砖雕艺术</vt:lpstr>
      <vt:lpstr>Visio</vt:lpstr>
      <vt:lpstr>VISIO</vt:lpstr>
      <vt:lpstr>第五章 虚拟存储器</vt:lpstr>
      <vt:lpstr>幻灯片 2</vt:lpstr>
      <vt:lpstr>5.1.1 虚拟存储器的引入</vt:lpstr>
      <vt:lpstr>幻灯片 4</vt:lpstr>
      <vt:lpstr>2.局部性原理</vt:lpstr>
      <vt:lpstr>幻灯片 6</vt:lpstr>
      <vt:lpstr>幻灯片 7</vt:lpstr>
      <vt:lpstr>3.虚拟存储的定义</vt:lpstr>
      <vt:lpstr>3. 虚拟存储的定义</vt:lpstr>
      <vt:lpstr>幻灯片 10</vt:lpstr>
      <vt:lpstr>幻灯片 11</vt:lpstr>
      <vt:lpstr>4. 虚拟存储器的特征 </vt:lpstr>
      <vt:lpstr>虚拟存储的典型问题 抖动（thrashing）</vt:lpstr>
      <vt:lpstr>5.1.3 虚拟存储管理的实现方法 </vt:lpstr>
      <vt:lpstr>幻灯片 15</vt:lpstr>
      <vt:lpstr>幻灯片 16</vt:lpstr>
      <vt:lpstr>幻灯片 17</vt:lpstr>
      <vt:lpstr>幻灯片 18</vt:lpstr>
      <vt:lpstr>5.2 请求分页存储管理方式 </vt:lpstr>
      <vt:lpstr>幻灯片 20</vt:lpstr>
      <vt:lpstr>幻灯片 21</vt:lpstr>
      <vt:lpstr>(3)．地址变换机构 </vt:lpstr>
      <vt:lpstr>几个问题</vt:lpstr>
      <vt:lpstr>5.2.2  请求分页中的内存分配</vt:lpstr>
      <vt:lpstr>幻灯片 25</vt:lpstr>
      <vt:lpstr>幻灯片 26</vt:lpstr>
      <vt:lpstr>幻灯片 27</vt:lpstr>
      <vt:lpstr>幻灯片 28</vt:lpstr>
      <vt:lpstr>幻灯片 29</vt:lpstr>
      <vt:lpstr>幻灯片 30</vt:lpstr>
      <vt:lpstr>5.2.3 页面调入策略</vt:lpstr>
      <vt:lpstr>1.系统应当在何时把一个页面装入内存？</vt:lpstr>
      <vt:lpstr>1）预调页方式</vt:lpstr>
      <vt:lpstr>请求调页</vt:lpstr>
      <vt:lpstr>2.从何处调入页面？</vt:lpstr>
      <vt:lpstr>幻灯片 36</vt:lpstr>
      <vt:lpstr>幻灯片 37</vt:lpstr>
      <vt:lpstr>幻灯片 38</vt:lpstr>
      <vt:lpstr>5.3 页面置换算法</vt:lpstr>
      <vt:lpstr>幻灯片 40</vt:lpstr>
      <vt:lpstr>1）.最佳(优)置换算法 </vt:lpstr>
      <vt:lpstr>最佳(优)置换算法举例:</vt:lpstr>
      <vt:lpstr>2）．先进先出（FIFO）页面置换算法</vt:lpstr>
      <vt:lpstr>3）.最近最久未使用（LRU）置换算法</vt:lpstr>
      <vt:lpstr>LRU置换算法的硬件支持</vt:lpstr>
      <vt:lpstr>幻灯片 46</vt:lpstr>
      <vt:lpstr>幻灯片 47</vt:lpstr>
      <vt:lpstr>2）栈 </vt:lpstr>
      <vt:lpstr>举例</vt:lpstr>
      <vt:lpstr>4）Clock置换算法 </vt:lpstr>
      <vt:lpstr>幻灯片 51</vt:lpstr>
      <vt:lpstr>幻灯片 52</vt:lpstr>
      <vt:lpstr>幻灯片 53</vt:lpstr>
      <vt:lpstr>幻灯片 54</vt:lpstr>
      <vt:lpstr>5）改进型Clock置换算法</vt:lpstr>
      <vt:lpstr>幻灯片 56</vt:lpstr>
      <vt:lpstr>5.4 “抖动”与工作集</vt:lpstr>
      <vt:lpstr>5.4.2 工作集</vt:lpstr>
      <vt:lpstr>2. 工作集的定义</vt:lpstr>
      <vt:lpstr>幻灯片 60</vt:lpstr>
      <vt:lpstr>采用工作集算法预防“抖动”</vt:lpstr>
      <vt:lpstr>5.5 请求分段存储管理方式</vt:lpstr>
      <vt:lpstr>5.5.1 请求分段中的硬件支持</vt:lpstr>
      <vt:lpstr>2．请求分段系统的地址变换机构</vt:lpstr>
      <vt:lpstr>3．缺段中断机构</vt:lpstr>
      <vt:lpstr>分段的共享与保护</vt:lpstr>
      <vt:lpstr>幻灯片 67</vt:lpstr>
      <vt:lpstr>幻灯片 68</vt:lpstr>
      <vt:lpstr>幻灯片 69</vt:lpstr>
      <vt:lpstr>环保护的基本原则</vt:lpstr>
      <vt:lpstr>幻灯片 71</vt:lpstr>
      <vt:lpstr>作业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QQQ</cp:lastModifiedBy>
  <cp:revision>137</cp:revision>
  <dcterms:created xsi:type="dcterms:W3CDTF">2012-09-20T02:42:50Z</dcterms:created>
  <dcterms:modified xsi:type="dcterms:W3CDTF">2019-05-10T03:55:11Z</dcterms:modified>
</cp:coreProperties>
</file>