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76"/>
  </p:notesMasterIdLst>
  <p:handoutMasterIdLst>
    <p:handoutMasterId r:id="rId77"/>
  </p:handoutMasterIdLst>
  <p:sldIdLst>
    <p:sldId id="1414" r:id="rId2"/>
    <p:sldId id="1415" r:id="rId3"/>
    <p:sldId id="1416" r:id="rId4"/>
    <p:sldId id="1417" r:id="rId5"/>
    <p:sldId id="1418" r:id="rId6"/>
    <p:sldId id="1419" r:id="rId7"/>
    <p:sldId id="1420" r:id="rId8"/>
    <p:sldId id="1421" r:id="rId9"/>
    <p:sldId id="1422" r:id="rId10"/>
    <p:sldId id="1423" r:id="rId11"/>
    <p:sldId id="1424" r:id="rId12"/>
    <p:sldId id="1425" r:id="rId13"/>
    <p:sldId id="1426" r:id="rId14"/>
    <p:sldId id="1427" r:id="rId15"/>
    <p:sldId id="1428" r:id="rId16"/>
    <p:sldId id="1429" r:id="rId17"/>
    <p:sldId id="1430" r:id="rId18"/>
    <p:sldId id="1431" r:id="rId19"/>
    <p:sldId id="1432" r:id="rId20"/>
    <p:sldId id="1433" r:id="rId21"/>
    <p:sldId id="1434" r:id="rId22"/>
    <p:sldId id="1435" r:id="rId23"/>
    <p:sldId id="1436" r:id="rId24"/>
    <p:sldId id="1437" r:id="rId25"/>
    <p:sldId id="1438" r:id="rId26"/>
    <p:sldId id="1439" r:id="rId27"/>
    <p:sldId id="1440" r:id="rId28"/>
    <p:sldId id="1441" r:id="rId29"/>
    <p:sldId id="1442" r:id="rId30"/>
    <p:sldId id="1443" r:id="rId31"/>
    <p:sldId id="1444" r:id="rId32"/>
    <p:sldId id="1445" r:id="rId33"/>
    <p:sldId id="1446" r:id="rId34"/>
    <p:sldId id="1447" r:id="rId35"/>
    <p:sldId id="1448" r:id="rId36"/>
    <p:sldId id="1449" r:id="rId37"/>
    <p:sldId id="1450" r:id="rId38"/>
    <p:sldId id="1451" r:id="rId39"/>
    <p:sldId id="1452" r:id="rId40"/>
    <p:sldId id="1453" r:id="rId41"/>
    <p:sldId id="1454" r:id="rId42"/>
    <p:sldId id="1455" r:id="rId43"/>
    <p:sldId id="1456" r:id="rId44"/>
    <p:sldId id="1457" r:id="rId45"/>
    <p:sldId id="1458" r:id="rId46"/>
    <p:sldId id="1459" r:id="rId47"/>
    <p:sldId id="1460" r:id="rId48"/>
    <p:sldId id="1461" r:id="rId49"/>
    <p:sldId id="1462" r:id="rId50"/>
    <p:sldId id="1463" r:id="rId51"/>
    <p:sldId id="1464" r:id="rId52"/>
    <p:sldId id="1465" r:id="rId53"/>
    <p:sldId id="1466" r:id="rId54"/>
    <p:sldId id="1467" r:id="rId55"/>
    <p:sldId id="1468" r:id="rId56"/>
    <p:sldId id="1469" r:id="rId57"/>
    <p:sldId id="1470" r:id="rId58"/>
    <p:sldId id="1471" r:id="rId59"/>
    <p:sldId id="1472" r:id="rId60"/>
    <p:sldId id="1473" r:id="rId61"/>
    <p:sldId id="1474" r:id="rId62"/>
    <p:sldId id="1475" r:id="rId63"/>
    <p:sldId id="1476" r:id="rId64"/>
    <p:sldId id="1477" r:id="rId65"/>
    <p:sldId id="1478" r:id="rId66"/>
    <p:sldId id="1479" r:id="rId67"/>
    <p:sldId id="1480" r:id="rId68"/>
    <p:sldId id="1481" r:id="rId69"/>
    <p:sldId id="1482" r:id="rId70"/>
    <p:sldId id="1483" r:id="rId71"/>
    <p:sldId id="1484" r:id="rId72"/>
    <p:sldId id="1485" r:id="rId73"/>
    <p:sldId id="1486" r:id="rId74"/>
    <p:sldId id="1487" r:id="rId75"/>
  </p:sldIdLst>
  <p:sldSz cx="9144000" cy="6858000" type="screen4x3"/>
  <p:notesSz cx="6858000" cy="9144000"/>
  <p:custDataLst>
    <p:tags r:id="rId78"/>
  </p:custDataLst>
  <p:defaultTextStyle>
    <a:defPPr rtl="0"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7" userDrawn="1">
          <p15:clr>
            <a:srgbClr val="A4A3A4"/>
          </p15:clr>
        </p15:guide>
        <p15:guide id="2" pos="5443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75739" autoAdjust="0"/>
  </p:normalViewPr>
  <p:slideViewPr>
    <p:cSldViewPr snapToGrid="0">
      <p:cViewPr varScale="1">
        <p:scale>
          <a:sx n="67" d="100"/>
          <a:sy n="67" d="100"/>
        </p:scale>
        <p:origin x="1963" y="58"/>
      </p:cViewPr>
      <p:guideLst>
        <p:guide pos="317"/>
        <p:guide pos="5443"/>
        <p:guide orient="horz" pos="414"/>
        <p:guide orient="horz"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25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176C01-2996-41EA-87C6-D94E8BA12DB2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2024年2月2日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A50F75F-AD11-4973-BAED-59A0098129E9}" type="datetime2">
              <a:rPr lang="zh-CN" altLang="en-US" smtClean="0"/>
              <a:pPr/>
              <a:t>2024年2月2日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869989-EB00-4EE7-BCB5-25BDC5BB29F8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fld id="{49CD1C7F-0836-45EF-B0D5-C8289C26A76C}" type="slidenum">
              <a:rPr kumimoji="0" lang="zh-CN" altLang="en-US" sz="1200" b="0" smtClean="0">
                <a:latin typeface="Arial" charset="0"/>
                <a:ea typeface="宋体" pitchFamily="2" charset="-122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  <a:defRPr/>
              </a:pPr>
              <a:t>1</a:t>
            </a:fld>
            <a:endParaRPr kumimoji="0" lang="en-US" altLang="zh-CN" sz="1200" b="0" dirty="0">
              <a:latin typeface="Arial" charset="0"/>
              <a:ea typeface="宋体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zh-CN" altLang="en-US" sz="120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73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altLang="zh-CN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584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4F3C37-BA99-4D68-A799-F5FD2C5856D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007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5DC455C-7966-4DC6-A29E-7720CE687374}" type="slidenum">
              <a:rPr lang="en-US" altLang="zh-CN" sz="1200" smtClean="0"/>
              <a:pPr/>
              <a:t>3</a:t>
            </a:fld>
            <a:endParaRPr lang="en-US" altLang="zh-CN" sz="1200" smtClean="0"/>
          </a:p>
        </p:txBody>
      </p:sp>
      <p:sp>
        <p:nvSpPr>
          <p:cNvPr id="200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0070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重要，强调：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1</a:t>
            </a:r>
            <a:r>
              <a:rPr lang="zh-CN" altLang="en-US" dirty="0" smtClean="0"/>
              <a:t>、任何用户的所有键盘命令，都是由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解释执行的。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2</a:t>
            </a:r>
            <a:r>
              <a:rPr lang="zh-CN" altLang="en-US" dirty="0" smtClean="0"/>
              <a:t>、每个用户登录进入操作系统后，系统都会为这个用户单独启动一个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来解释执行他发出的操作系统命令。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724178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D40E17-0FBA-4A42-90FC-379ED758F07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027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B8F7DD-8696-4ED2-91C0-17026743B37F}" type="slidenum">
              <a:rPr lang="en-US" altLang="zh-CN" sz="1200" smtClean="0"/>
              <a:pPr/>
              <a:t>4</a:t>
            </a:fld>
            <a:endParaRPr lang="en-US" altLang="zh-CN" sz="1200" smtClean="0"/>
          </a:p>
        </p:txBody>
      </p:sp>
      <p:sp>
        <p:nvSpPr>
          <p:cNvPr id="202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0275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 smtClean="0"/>
              <a:t>一般性介绍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40919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89815D7-7E7C-417B-A9E2-B2698CEE1793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048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3D5EA8-B6F1-4B1D-B3C3-C781A438F2DC}" type="slidenum">
              <a:rPr lang="en-US" altLang="zh-CN" sz="1200" smtClean="0"/>
              <a:pPr/>
              <a:t>5</a:t>
            </a:fld>
            <a:endParaRPr lang="en-US" altLang="zh-CN" sz="1200" smtClean="0"/>
          </a:p>
        </p:txBody>
      </p:sp>
      <p:sp>
        <p:nvSpPr>
          <p:cNvPr id="2048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0480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用户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的运行流程。一般性介绍。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40827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A3C08E6-5F51-40E5-B496-ABB128E308F7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068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E10F4BC-3AE4-4482-83A8-5DAAF0AEF988}" type="slidenum">
              <a:rPr lang="en-US" altLang="zh-CN" sz="1200" smtClean="0"/>
              <a:pPr/>
              <a:t>6</a:t>
            </a:fld>
            <a:endParaRPr lang="en-US" altLang="zh-CN" sz="1200" smtClean="0"/>
          </a:p>
        </p:txBody>
      </p:sp>
      <p:sp>
        <p:nvSpPr>
          <p:cNvPr id="206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0685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r>
              <a:rPr lang="zh-CN" altLang="en-US" dirty="0" smtClean="0"/>
              <a:t>重要，主讲</a:t>
            </a:r>
            <a:endParaRPr lang="en-US" altLang="zh-CN" dirty="0" smtClean="0"/>
          </a:p>
          <a:p>
            <a:pPr marL="228600" indent="-228600" eaLnBrk="1" hangingPunct="1"/>
            <a:endParaRPr lang="en-US" altLang="zh-CN" dirty="0" smtClean="0"/>
          </a:p>
          <a:p>
            <a:pPr marL="228600" indent="-228600" eaLnBrk="1" hangingPunct="1"/>
            <a:r>
              <a:rPr lang="en-US" altLang="zh-CN" dirty="0" err="1" smtClean="0"/>
              <a:t>fd</a:t>
            </a:r>
            <a:r>
              <a:rPr lang="zh-CN" altLang="en-US" dirty="0" smtClean="0"/>
              <a:t>：文件描述符（</a:t>
            </a:r>
            <a:r>
              <a:rPr lang="en-US" altLang="zh-CN" dirty="0" smtClean="0"/>
              <a:t>file  descriptor</a:t>
            </a:r>
            <a:r>
              <a:rPr lang="zh-CN" altLang="en-US" dirty="0" smtClean="0"/>
              <a:t>）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4283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E8B5A3-6337-4B8F-9D48-F47C6B46483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0889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34BDFD-ED4A-4DA5-888A-A050032505D6}" type="slidenum">
              <a:rPr lang="en-US" altLang="zh-CN" sz="1200" smtClean="0"/>
              <a:pPr/>
              <a:t>7</a:t>
            </a:fld>
            <a:endParaRPr lang="en-US" altLang="zh-CN" sz="1200" smtClean="0"/>
          </a:p>
        </p:txBody>
      </p:sp>
      <p:sp>
        <p:nvSpPr>
          <p:cNvPr id="208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0890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r>
              <a:rPr lang="zh-CN" altLang="en-US" dirty="0" smtClean="0"/>
              <a:t>重要，主讲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01586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DF305B4-E48E-4441-87D2-CF841F92EF5B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09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F157F2A-2CB2-4116-B791-A30CF537632B}" type="slidenum">
              <a:rPr lang="en-US" altLang="zh-CN" sz="1200" smtClean="0"/>
              <a:pPr/>
              <a:t>8</a:t>
            </a:fld>
            <a:endParaRPr lang="en-US" altLang="zh-CN" sz="1200" smtClean="0"/>
          </a:p>
        </p:txBody>
      </p:sp>
      <p:sp>
        <p:nvSpPr>
          <p:cNvPr id="210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1094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一般性介绍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814105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4FAF11F-4184-4823-BBD3-38F32FF27CF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29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E0ECE2-1CBA-4F4A-BBF7-C0B63F667F0D}" type="slidenum">
              <a:rPr lang="en-US" altLang="zh-CN" sz="1200" smtClean="0"/>
              <a:pPr/>
              <a:t>9</a:t>
            </a:fld>
            <a:endParaRPr lang="en-US" altLang="zh-CN" sz="1200" smtClean="0"/>
          </a:p>
        </p:txBody>
      </p:sp>
      <p:sp>
        <p:nvSpPr>
          <p:cNvPr id="21299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12997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重要，主讲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cat</a:t>
            </a:r>
            <a:r>
              <a:rPr lang="zh-CN" altLang="en-US" dirty="0" smtClean="0"/>
              <a:t>命令的输入来自标准输入文件（键盘），</a:t>
            </a:r>
            <a:r>
              <a:rPr lang="en-US" altLang="zh-CN" dirty="0" err="1" smtClean="0"/>
              <a:t>Ctrl+d</a:t>
            </a:r>
            <a:r>
              <a:rPr lang="zh-CN" altLang="en-US" dirty="0" smtClean="0"/>
              <a:t>结束键盘输入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75819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4FAF11F-4184-4823-BBD3-38F32FF27CF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29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E0ECE2-1CBA-4F4A-BBF7-C0B63F667F0D}" type="slidenum">
              <a:rPr lang="en-US" altLang="zh-CN" sz="1200" smtClean="0"/>
              <a:pPr/>
              <a:t>10</a:t>
            </a:fld>
            <a:endParaRPr lang="en-US" altLang="zh-CN" sz="1200" smtClean="0"/>
          </a:p>
        </p:txBody>
      </p:sp>
      <p:sp>
        <p:nvSpPr>
          <p:cNvPr id="21299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12997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 smtClean="0"/>
              <a:t>cat</a:t>
            </a:r>
            <a:r>
              <a:rPr lang="zh-CN" altLang="en-US" dirty="0" smtClean="0"/>
              <a:t>命令的输入来自标准输入文件（键盘）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74805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150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609600" indent="-609600">
              <a:lnSpc>
                <a:spcPct val="80000"/>
              </a:lnSpc>
              <a:buNone/>
              <a:defRPr/>
            </a:pPr>
            <a:r>
              <a:rPr lang="zh-CN" altLang="en-US" sz="1200" dirty="0" smtClean="0">
                <a:solidFill>
                  <a:srgbClr val="FF9966"/>
                </a:solidFill>
              </a:rPr>
              <a:t>一般性介绍</a:t>
            </a:r>
            <a:endParaRPr lang="en-US" altLang="zh-CN" sz="1200" dirty="0" smtClean="0">
              <a:solidFill>
                <a:srgbClr val="FF9966"/>
              </a:solidFill>
            </a:endParaRPr>
          </a:p>
          <a:p>
            <a:pPr marL="609600" indent="-609600">
              <a:lnSpc>
                <a:spcPct val="80000"/>
              </a:lnSpc>
              <a:buNone/>
              <a:defRPr/>
            </a:pPr>
            <a:endParaRPr lang="en-US" altLang="zh-CN" sz="1200" dirty="0" smtClean="0">
              <a:solidFill>
                <a:srgbClr val="FF9966"/>
              </a:solidFill>
            </a:endParaRP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zh-CN" altLang="en-US" sz="1200" dirty="0" smtClean="0">
                <a:solidFill>
                  <a:srgbClr val="FF9966"/>
                </a:solidFill>
              </a:rPr>
              <a:t>提示</a:t>
            </a:r>
            <a:r>
              <a:rPr lang="en-US" altLang="zh-CN" sz="1200" dirty="0" smtClean="0"/>
              <a:t>: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en-US" altLang="zh-CN" sz="1200" dirty="0" smtClean="0"/>
              <a:t>    . </a:t>
            </a:r>
            <a:r>
              <a:rPr lang="zh-CN" altLang="en-US" sz="1200" dirty="0" smtClean="0"/>
              <a:t>表中的命令形式适合所有的命令</a:t>
            </a:r>
            <a:r>
              <a:rPr lang="en-US" altLang="zh-CN" sz="1200" dirty="0" smtClean="0"/>
              <a:t>, </a:t>
            </a:r>
            <a:r>
              <a:rPr lang="zh-CN" altLang="en-US" sz="1200" dirty="0" smtClean="0"/>
              <a:t>并不仅限于</a:t>
            </a:r>
            <a:r>
              <a:rPr lang="en-US" altLang="zh-CN" sz="1200" dirty="0" smtClean="0"/>
              <a:t>cat</a:t>
            </a:r>
            <a:r>
              <a:rPr lang="zh-CN" altLang="en-US" sz="1200" dirty="0" smtClean="0"/>
              <a:t>命令</a:t>
            </a:r>
          </a:p>
          <a:p>
            <a:pPr marL="609600" indent="-609600">
              <a:lnSpc>
                <a:spcPct val="80000"/>
              </a:lnSpc>
              <a:buNone/>
              <a:defRPr/>
            </a:pPr>
            <a:r>
              <a:rPr lang="zh-CN" altLang="en-US" sz="1200" dirty="0" smtClean="0"/>
              <a:t>    </a:t>
            </a:r>
            <a:r>
              <a:rPr lang="en-US" altLang="zh-CN" sz="1200" dirty="0" smtClean="0"/>
              <a:t>. </a:t>
            </a:r>
            <a:r>
              <a:rPr lang="zh-CN" altLang="en-US" sz="1200" dirty="0" smtClean="0"/>
              <a:t>特别注意每条命令的格式和输入输出方向</a:t>
            </a:r>
          </a:p>
          <a:p>
            <a:endParaRPr lang="zh-CN" altLang="en-US" dirty="0" smtClean="0"/>
          </a:p>
        </p:txBody>
      </p:sp>
      <p:sp>
        <p:nvSpPr>
          <p:cNvPr id="215044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6C1EF6-0A82-4ABE-BE74-5642C8337A7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504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4F531EA-FF26-41EA-AFD0-252C2211BF19}" type="slidenum">
              <a:rPr lang="en-US" altLang="zh-CN" sz="1200" smtClean="0"/>
              <a:pPr/>
              <a:t>11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722639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170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重要，主讲</a:t>
            </a:r>
          </a:p>
        </p:txBody>
      </p:sp>
      <p:sp>
        <p:nvSpPr>
          <p:cNvPr id="21709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52BFA2-01D3-4B16-AD8F-BEFE389BA9B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709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8998AB-1E42-4753-BFDA-6DB215D38056}" type="slidenum">
              <a:rPr lang="en-US" altLang="zh-CN" sz="1200" smtClean="0"/>
              <a:pPr/>
              <a:t>12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037159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170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本例中“</a:t>
            </a:r>
            <a:r>
              <a:rPr lang="en-US" altLang="zh-CN" dirty="0" smtClean="0"/>
              <a:t>2&gt;</a:t>
            </a:r>
            <a:r>
              <a:rPr lang="en-US" altLang="zh-CN" baseline="0" dirty="0" smtClean="0"/>
              <a:t> &amp;1</a:t>
            </a:r>
            <a:r>
              <a:rPr lang="zh-CN" altLang="en-US" dirty="0" smtClean="0"/>
              <a:t>”表示把标准错误输出送到标准输出文件中去。由于前面先已把标准输出重定向到了</a:t>
            </a:r>
            <a:r>
              <a:rPr lang="en-US" altLang="zh-CN" dirty="0" err="1" smtClean="0"/>
              <a:t>count_log</a:t>
            </a:r>
            <a:r>
              <a:rPr lang="zh-CN" altLang="en-US" dirty="0" smtClean="0"/>
              <a:t>文件，所以本进程运行时如果有错误，则错误信息也送到</a:t>
            </a:r>
            <a:r>
              <a:rPr lang="en-US" altLang="zh-CN" dirty="0" err="1" smtClean="0"/>
              <a:t>count_log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中。</a:t>
            </a:r>
          </a:p>
        </p:txBody>
      </p:sp>
      <p:sp>
        <p:nvSpPr>
          <p:cNvPr id="21709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52BFA2-01D3-4B16-AD8F-BEFE389BA9B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709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D8998AB-1E42-4753-BFDA-6DB215D38056}" type="slidenum">
              <a:rPr lang="en-US" altLang="zh-CN" sz="1200" smtClean="0"/>
              <a:pPr/>
              <a:t>13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66444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F0C22C9-7384-45B9-8FBB-354BBF5599BF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1913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16975D-B73E-46A2-9793-EE624442A010}" type="slidenum">
              <a:rPr lang="en-US" altLang="zh-CN" sz="1200" smtClean="0"/>
              <a:pPr/>
              <a:t>14</a:t>
            </a:fld>
            <a:endParaRPr lang="en-US" altLang="zh-CN" sz="1200" smtClean="0"/>
          </a:p>
        </p:txBody>
      </p:sp>
      <p:sp>
        <p:nvSpPr>
          <p:cNvPr id="2191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1914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r>
              <a:rPr lang="zh-CN" altLang="en-US" dirty="0" smtClean="0"/>
              <a:t>重要，主讲</a:t>
            </a:r>
            <a:endParaRPr lang="en-US" altLang="zh-CN" dirty="0" smtClean="0"/>
          </a:p>
          <a:p>
            <a:pPr marL="228600" indent="-228600" eaLnBrk="1" hangingPunct="1"/>
            <a:endParaRPr lang="en-US" altLang="zh-CN" dirty="0" smtClean="0"/>
          </a:p>
          <a:p>
            <a:pPr marL="228600" indent="-228600" eaLnBrk="1" hangingPunct="1"/>
            <a:r>
              <a:rPr lang="zh-CN" altLang="en-US" dirty="0" smtClean="0"/>
              <a:t>如果用标准输出重定向需要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个命令行才能完成的功能，用管道则只用一个命令行（包含三条简单命令和两条管道的复合命令）即可完成。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323063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BE132E2-9027-48A9-B211-6052EFF92CC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11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A53F62-64D3-4224-9F29-C93EC56215E0}" type="slidenum">
              <a:rPr lang="en-US" altLang="zh-CN" sz="1200" smtClean="0"/>
              <a:pPr/>
              <a:t>15</a:t>
            </a:fld>
            <a:endParaRPr lang="en-US" altLang="zh-CN" sz="1200" smtClean="0"/>
          </a:p>
        </p:txBody>
      </p:sp>
      <p:sp>
        <p:nvSpPr>
          <p:cNvPr id="2211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118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64219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998DCF7-BFA0-4797-A754-84B248439E7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32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1A18680-0097-4A7F-A2C1-43F7E696D5B8}" type="slidenum">
              <a:rPr lang="en-US" altLang="zh-CN" sz="1200" smtClean="0"/>
              <a:pPr/>
              <a:t>16</a:t>
            </a:fld>
            <a:endParaRPr lang="en-US" altLang="zh-CN" sz="1200" smtClean="0"/>
          </a:p>
        </p:txBody>
      </p:sp>
      <p:sp>
        <p:nvSpPr>
          <p:cNvPr id="2232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323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一般性介绍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48141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AEDA91B-2615-4C8F-8F27-A9FD1937719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52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E8BD48-50A0-49D8-86F7-BE70DE6716EB}" type="slidenum">
              <a:rPr lang="en-US" altLang="zh-CN" sz="1200" smtClean="0"/>
              <a:pPr/>
              <a:t>17</a:t>
            </a:fld>
            <a:endParaRPr lang="en-US" altLang="zh-CN" sz="1200" smtClean="0"/>
          </a:p>
        </p:txBody>
      </p:sp>
      <p:sp>
        <p:nvSpPr>
          <p:cNvPr id="22528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5285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一般性介绍</a:t>
            </a:r>
            <a:endParaRPr lang="zh-CN" altLang="zh-CN" dirty="0" smtClean="0"/>
          </a:p>
          <a:p>
            <a:pPr marL="228600" indent="-228600" eaLnBrk="1" hangingPunct="1"/>
            <a:endParaRPr lang="en-US" altLang="zh-CN" dirty="0" smtClean="0"/>
          </a:p>
          <a:p>
            <a:pPr marL="228600" indent="-228600" eaLnBrk="1" hangingPunct="1"/>
            <a:endParaRPr lang="en-US" altLang="zh-CN" dirty="0" smtClean="0"/>
          </a:p>
          <a:p>
            <a:pPr marL="228600" indent="-228600" eaLnBrk="1" hangingPunct="1"/>
            <a:r>
              <a:rPr lang="zh-CN" altLang="en-US" dirty="0" smtClean="0"/>
              <a:t>许多版本的</a:t>
            </a:r>
            <a:r>
              <a:rPr lang="en-US" altLang="zh-CN" dirty="0" smtClean="0"/>
              <a:t>UNIX/Linux</a:t>
            </a:r>
            <a:r>
              <a:rPr lang="zh-CN" altLang="en-US" dirty="0" smtClean="0"/>
              <a:t>中，对第</a:t>
            </a:r>
            <a:r>
              <a:rPr lang="en-US" altLang="zh-CN" sz="1200" dirty="0" smtClean="0">
                <a:ea typeface="仿宋_GB2312" pitchFamily="49" charset="-122"/>
              </a:rPr>
              <a:t>②</a:t>
            </a:r>
            <a:r>
              <a:rPr lang="zh-CN" altLang="en-US" sz="1200" dirty="0" smtClean="0">
                <a:ea typeface="仿宋_GB2312" pitchFamily="49" charset="-122"/>
              </a:rPr>
              <a:t>类复合命令都是再建立一个子</a:t>
            </a:r>
            <a:r>
              <a:rPr lang="en-US" altLang="zh-CN" sz="1200" dirty="0" smtClean="0">
                <a:ea typeface="仿宋_GB2312" pitchFamily="49" charset="-122"/>
              </a:rPr>
              <a:t>shell</a:t>
            </a:r>
            <a:r>
              <a:rPr lang="zh-CN" altLang="en-US" sz="1200" dirty="0" smtClean="0">
                <a:ea typeface="仿宋_GB2312" pitchFamily="49" charset="-122"/>
              </a:rPr>
              <a:t>来专门解释执行括号中的命令组，括号中的命令组执行完毕后，该子</a:t>
            </a:r>
            <a:r>
              <a:rPr lang="en-US" altLang="zh-CN" sz="1200" dirty="0" smtClean="0">
                <a:ea typeface="仿宋_GB2312" pitchFamily="49" charset="-122"/>
              </a:rPr>
              <a:t>shell</a:t>
            </a:r>
            <a:r>
              <a:rPr lang="zh-CN" altLang="en-US" sz="1200" dirty="0" smtClean="0">
                <a:ea typeface="仿宋_GB2312" pitchFamily="49" charset="-122"/>
              </a:rPr>
              <a:t>也就结束。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49101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AEDA91B-2615-4C8F-8F27-A9FD1937719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52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E8BD48-50A0-49D8-86F7-BE70DE6716EB}" type="slidenum">
              <a:rPr lang="en-US" altLang="zh-CN" sz="1200" smtClean="0"/>
              <a:pPr/>
              <a:t>18</a:t>
            </a:fld>
            <a:endParaRPr lang="en-US" altLang="zh-CN" sz="1200" smtClean="0"/>
          </a:p>
        </p:txBody>
      </p:sp>
      <p:sp>
        <p:nvSpPr>
          <p:cNvPr id="22528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5285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r>
              <a:rPr lang="zh-CN" altLang="en-US" dirty="0" smtClean="0"/>
              <a:t>重要，主讲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46649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9FBB093-F975-4733-B458-B7C44A98290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73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4AA683D-3FAB-4DD8-A726-4B0F64508334}" type="slidenum">
              <a:rPr lang="en-US" altLang="zh-CN" sz="1200" smtClean="0"/>
              <a:pPr/>
              <a:t>19</a:t>
            </a:fld>
            <a:endParaRPr lang="en-US" altLang="zh-CN" sz="1200" smtClean="0"/>
          </a:p>
        </p:txBody>
      </p:sp>
      <p:sp>
        <p:nvSpPr>
          <p:cNvPr id="227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733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 smtClean="0"/>
              <a:t>8.4</a:t>
            </a:r>
            <a:r>
              <a:rPr lang="zh-CN" altLang="en-US" dirty="0" smtClean="0"/>
              <a:t>节重要，主讲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22249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FDCEAE3-0FF8-4296-BF41-8FCAECC1B4E9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293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692B23-7DB9-45D2-8D2E-6F3A69F6E258}" type="slidenum">
              <a:rPr lang="en-US" altLang="zh-CN" sz="1200" smtClean="0"/>
              <a:pPr/>
              <a:t>20</a:t>
            </a:fld>
            <a:endParaRPr lang="en-US" altLang="zh-CN" sz="1200" smtClean="0"/>
          </a:p>
        </p:txBody>
      </p:sp>
      <p:sp>
        <p:nvSpPr>
          <p:cNvPr id="2293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2938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注意：“</a:t>
            </a:r>
            <a:r>
              <a:rPr lang="en-US" altLang="zh-CN" dirty="0" smtClean="0"/>
              <a:t>IFS= </a:t>
            </a:r>
            <a:r>
              <a:rPr lang="zh-CN" altLang="en-US" dirty="0" smtClean="0"/>
              <a:t>” 等号后面不是没有内容，而是有一个不可见字符空格。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shell</a:t>
            </a:r>
            <a:r>
              <a:rPr lang="zh-CN" altLang="en-US" dirty="0" smtClean="0"/>
              <a:t>解释执行命令行上的命令名、命令行任选项、命令行参数之间的间隔，例如</a:t>
            </a:r>
            <a:r>
              <a:rPr lang="en-US" altLang="zh-CN" dirty="0" smtClean="0"/>
              <a:t>”ls  –l  </a:t>
            </a:r>
            <a:r>
              <a:rPr lang="en-US" altLang="zh-CN" dirty="0" err="1" smtClean="0"/>
              <a:t>abc</a:t>
            </a:r>
            <a:r>
              <a:rPr lang="en-US" altLang="zh-CN" dirty="0" smtClean="0"/>
              <a:t>”</a:t>
            </a:r>
            <a:r>
              <a:rPr lang="zh-CN" altLang="en-US" dirty="0" smtClean="0"/>
              <a:t>时，就是依据</a:t>
            </a:r>
            <a:r>
              <a:rPr lang="en-US" altLang="zh-CN" dirty="0" smtClean="0"/>
              <a:t>IFS</a:t>
            </a:r>
            <a:r>
              <a:rPr lang="zh-CN" altLang="en-US" dirty="0" smtClean="0"/>
              <a:t>变量的值来进行的。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924096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0D02601-59F8-42F9-BF72-D701F3D9F64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314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5690C81-0E50-4B2C-BE59-789CCB29A3C4}" type="slidenum">
              <a:rPr lang="en-US" altLang="zh-CN" sz="1200" smtClean="0"/>
              <a:pPr/>
              <a:t>21</a:t>
            </a:fld>
            <a:endParaRPr lang="en-US" altLang="zh-CN" sz="1200" smtClean="0"/>
          </a:p>
        </p:txBody>
      </p:sp>
      <p:sp>
        <p:nvSpPr>
          <p:cNvPr id="2314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3142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896059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EB937C4-023D-4D8F-A852-33676225552C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334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3521A5A-243A-4D23-9031-7C105D16536F}" type="slidenum">
              <a:rPr lang="en-US" altLang="zh-CN" sz="1200" smtClean="0"/>
              <a:pPr/>
              <a:t>22</a:t>
            </a:fld>
            <a:endParaRPr lang="en-US" altLang="zh-CN" sz="1200" smtClean="0"/>
          </a:p>
        </p:txBody>
      </p:sp>
      <p:sp>
        <p:nvSpPr>
          <p:cNvPr id="2334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3347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46982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2FACAE7-4B50-4BDB-B502-0B9DDEB4C0F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355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B2F09DB-BE1D-43CA-AD5C-18CA9ADC7714}" type="slidenum">
              <a:rPr lang="en-US" altLang="zh-CN" sz="1200" smtClean="0"/>
              <a:pPr/>
              <a:t>23</a:t>
            </a:fld>
            <a:endParaRPr lang="en-US" altLang="zh-CN" sz="1200" smtClean="0"/>
          </a:p>
        </p:txBody>
      </p:sp>
      <p:sp>
        <p:nvSpPr>
          <p:cNvPr id="2355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3552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倒数第二条命令：</a:t>
            </a:r>
            <a:r>
              <a:rPr lang="en-US" altLang="zh-CN" dirty="0" smtClean="0"/>
              <a:t>echo</a:t>
            </a:r>
            <a:r>
              <a:rPr lang="zh-CN" altLang="en-US" dirty="0" smtClean="0"/>
              <a:t>把命令名后面的四个字符串当成四个独立的命令行参数了，输出时缺省情况下各参数（值）之间只间隔一个空格。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最后一条命令：</a:t>
            </a:r>
            <a:r>
              <a:rPr lang="en-US" altLang="zh-CN" dirty="0" smtClean="0"/>
              <a:t>echo</a:t>
            </a:r>
            <a:r>
              <a:rPr lang="zh-CN" altLang="en-US" dirty="0" smtClean="0"/>
              <a:t>将后面双引号中的内容当成单独的一个命令行参数，因此照原样输出。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74316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3995712-4CA7-4B3A-9675-072EF731C8C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375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02D8C4-D7C2-4A6C-9638-8823BA715C00}" type="slidenum">
              <a:rPr lang="en-US" altLang="zh-CN" sz="1200" smtClean="0"/>
              <a:pPr/>
              <a:t>24</a:t>
            </a:fld>
            <a:endParaRPr lang="en-US" altLang="zh-CN" sz="1200" smtClean="0"/>
          </a:p>
        </p:txBody>
      </p:sp>
      <p:sp>
        <p:nvSpPr>
          <p:cNvPr id="2375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3757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6427788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396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23962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54B5A53-7F20-479E-81D5-B422D560BAB3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3962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F039B33-D567-4D70-A5C5-942350C28362}" type="slidenum">
              <a:rPr lang="en-US" altLang="zh-CN" sz="1200" smtClean="0"/>
              <a:pPr/>
              <a:t>25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764658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416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24166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C39B87-1BD0-49EB-BF4F-E5409479495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4166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DBAECE-9C13-4EF6-974C-A837EABBED6A}" type="slidenum">
              <a:rPr lang="en-US" altLang="zh-CN" sz="1200" smtClean="0"/>
              <a:pPr/>
              <a:t>26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1288345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416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24166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C39B87-1BD0-49EB-BF4F-E5409479495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4166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DBAECE-9C13-4EF6-974C-A837EABBED6A}" type="slidenum">
              <a:rPr lang="en-US" altLang="zh-CN" sz="1200" smtClean="0"/>
              <a:pPr/>
              <a:t>27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4299597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437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本小节一般性介绍</a:t>
            </a:r>
          </a:p>
        </p:txBody>
      </p:sp>
      <p:sp>
        <p:nvSpPr>
          <p:cNvPr id="24371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DB40B7-3CEB-4A61-9827-5856E4B1522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4371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CF57C4D-83DE-4463-B8C7-40BB5568FC59}" type="slidenum">
              <a:rPr lang="en-US" altLang="zh-CN" sz="1200" smtClean="0"/>
              <a:pPr/>
              <a:t>28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8586054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477F61-BF55-4E35-9B89-6A14A0B2DF5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457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93F3B6-F83A-4C13-97D8-EF28A756EAFC}" type="slidenum">
              <a:rPr lang="en-US" altLang="zh-CN" sz="1200" smtClean="0"/>
              <a:pPr/>
              <a:t>29</a:t>
            </a:fld>
            <a:endParaRPr lang="en-US" altLang="zh-CN" sz="1200" smtClean="0"/>
          </a:p>
        </p:txBody>
      </p:sp>
      <p:sp>
        <p:nvSpPr>
          <p:cNvPr id="2457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4576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一般性介绍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time</a:t>
            </a:r>
            <a:r>
              <a:rPr lang="zh-CN" altLang="en-US" dirty="0" smtClean="0"/>
              <a:t>命令可放在任何命令或可执行程序的前面，显示该命令的执行时间。常用在应用程序的性能调试期间使用。</a:t>
            </a:r>
            <a:endParaRPr lang="en-US" altLang="zh-CN" dirty="0" smtClean="0"/>
          </a:p>
          <a:p>
            <a:pPr marL="812800" indent="-8128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real  &gt;  user +  sys  </a:t>
            </a:r>
            <a:r>
              <a:rPr lang="zh-CN" altLang="en-US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是因为</a:t>
            </a:r>
            <a:r>
              <a:rPr lang="en-US" altLang="zh-CN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UNIX/Linux</a:t>
            </a:r>
            <a:r>
              <a:rPr lang="zh-CN" altLang="en-US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为多进程系统，</a:t>
            </a:r>
            <a:r>
              <a:rPr lang="en-US" altLang="zh-CN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real</a:t>
            </a:r>
            <a:r>
              <a:rPr lang="zh-CN" altLang="en-US" sz="1200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中包含了本进程在就绪态和睡眠态下的时间。</a:t>
            </a:r>
            <a:endParaRPr lang="en-US" altLang="zh-CN" sz="1200" b="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4137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498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本节一般性介绍</a:t>
            </a:r>
          </a:p>
        </p:txBody>
      </p:sp>
      <p:sp>
        <p:nvSpPr>
          <p:cNvPr id="24986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B6010E8-B693-4C16-A895-CBB005B7EBC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4986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F91C914-AC98-4B56-ACFC-B6DB16613AE6}" type="slidenum">
              <a:rPr lang="en-US" altLang="zh-CN" sz="1200" smtClean="0"/>
              <a:pPr/>
              <a:t>30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7451199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A3D9D5B-B9C3-4D41-96D0-AD813DFA24B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5190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7D2018-374B-43D6-8B67-7BEAA70C0069}" type="slidenum">
              <a:rPr lang="en-US" altLang="zh-CN" sz="1200" smtClean="0"/>
              <a:pPr/>
              <a:t>31</a:t>
            </a:fld>
            <a:endParaRPr lang="en-US" altLang="zh-CN" sz="1200" smtClean="0"/>
          </a:p>
        </p:txBody>
      </p:sp>
      <p:sp>
        <p:nvSpPr>
          <p:cNvPr id="2519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5190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9064339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539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25395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693978D-0268-4C07-A13D-36577C30F44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5395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46DEF94-5698-4590-9157-76229515FF8F}" type="slidenum">
              <a:rPr lang="en-US" altLang="zh-CN" sz="1200" smtClean="0"/>
              <a:pPr/>
              <a:t>32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4792009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E495588-79A0-489A-8DDE-6D999E97F8C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560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689743D-7C7F-4D48-9718-E3409074CD31}" type="slidenum">
              <a:rPr lang="en-US" altLang="zh-CN" sz="1200" smtClean="0"/>
              <a:pPr/>
              <a:t>33</a:t>
            </a:fld>
            <a:endParaRPr lang="en-US" altLang="zh-CN" sz="1200" smtClean="0"/>
          </a:p>
        </p:txBody>
      </p:sp>
      <p:sp>
        <p:nvSpPr>
          <p:cNvPr id="2560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5600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r>
              <a:rPr lang="en-US" altLang="zh-CN" dirty="0" err="1" smtClean="0"/>
              <a:t>ps</a:t>
            </a:r>
            <a:r>
              <a:rPr lang="zh-CN" altLang="en-US" dirty="0" smtClean="0"/>
              <a:t>命令较重要，适当多讲一下。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3821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580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终端号（</a:t>
            </a:r>
            <a:r>
              <a:rPr lang="en-US" altLang="zh-CN" dirty="0" smtClean="0"/>
              <a:t>TTY</a:t>
            </a:r>
            <a:r>
              <a:rPr lang="zh-CN" altLang="en-US" dirty="0" smtClean="0"/>
              <a:t>）显示为“？”的进程表示该进程是由操作系统自己建立的，而不是在某台终端上发键盘命令建立的。</a:t>
            </a:r>
          </a:p>
        </p:txBody>
      </p:sp>
      <p:sp>
        <p:nvSpPr>
          <p:cNvPr id="25805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A37C10-500B-419C-A924-8110978139C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5805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390E4CD-059A-4284-9B19-84367E4BBD6B}" type="slidenum">
              <a:rPr lang="en-US" altLang="zh-CN" sz="1200" smtClean="0"/>
              <a:pPr/>
              <a:t>34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4145996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600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26010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9F2CC09-CFF6-4D29-BBC7-3FC7ED77779F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6010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D54B09-06D8-499B-88D3-AC4947FCB232}" type="slidenum">
              <a:rPr lang="en-US" altLang="zh-CN" sz="1200" smtClean="0"/>
              <a:pPr/>
              <a:t>35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7837798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D191CBD-C4D0-45D8-8B5F-90A8A8F1CCE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621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054D10-3FC1-49A2-9FA2-D359AF2DE93A}" type="slidenum">
              <a:rPr lang="en-US" altLang="zh-CN" sz="1200" smtClean="0"/>
              <a:pPr/>
              <a:t>36</a:t>
            </a:fld>
            <a:endParaRPr lang="en-US" altLang="zh-CN" sz="1200" smtClean="0"/>
          </a:p>
        </p:txBody>
      </p:sp>
      <p:sp>
        <p:nvSpPr>
          <p:cNvPr id="262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26214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2023969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2641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26419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69B7B5F-6D12-49AD-8CF1-B8390192E4F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26419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1ED1661-69AD-491A-8FB7-BD4427687FBC}" type="slidenum">
              <a:rPr lang="en-US" altLang="zh-CN" sz="1200" smtClean="0"/>
              <a:pPr/>
              <a:t>37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558041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031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 smtClean="0"/>
              <a:t>4.7</a:t>
            </a:r>
            <a:r>
              <a:rPr lang="zh-CN" altLang="en-US" dirty="0" smtClean="0"/>
              <a:t>节为本章重点，主讲</a:t>
            </a:r>
          </a:p>
        </p:txBody>
      </p:sp>
      <p:sp>
        <p:nvSpPr>
          <p:cNvPr id="30310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304BBDF-315B-4A13-9CC6-EACD3195A074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0310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3D6D98C-E1F6-4896-B7F8-FC697C0F5CC3}" type="slidenum">
              <a:rPr lang="en-US" altLang="zh-CN" sz="1200" smtClean="0"/>
              <a:pPr/>
              <a:t>38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42615240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F7B0D60-64F1-45F5-B9A1-62A4E579DCF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051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3D82C90-9999-4410-B38E-A8E06D092030}" type="slidenum">
              <a:rPr lang="en-US" altLang="zh-CN" sz="1200" smtClean="0"/>
              <a:pPr/>
              <a:t>39</a:t>
            </a:fld>
            <a:endParaRPr lang="en-US" altLang="zh-CN" sz="1200" smtClean="0"/>
          </a:p>
        </p:txBody>
      </p:sp>
      <p:sp>
        <p:nvSpPr>
          <p:cNvPr id="305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0515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2830532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072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07204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C2909C-5F85-462A-8745-8DF019333D6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0720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E942C7F-D54B-437E-B0B6-DEEAC2024922}" type="slidenum">
              <a:rPr lang="en-US" altLang="zh-CN" sz="1200" smtClean="0"/>
              <a:pPr/>
              <a:t>40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8650614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85A618B-4BD4-4EF5-B5D0-CC18160E227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0925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F04CF1F-2AAE-41DD-8A19-3A461218347B}" type="slidenum">
              <a:rPr lang="en-US" altLang="zh-CN" sz="1200" smtClean="0"/>
              <a:pPr/>
              <a:t>41</a:t>
            </a:fld>
            <a:endParaRPr lang="en-US" altLang="zh-CN" sz="1200" smtClean="0"/>
          </a:p>
        </p:txBody>
      </p:sp>
      <p:sp>
        <p:nvSpPr>
          <p:cNvPr id="309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0925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8291354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112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dirty="0" smtClean="0"/>
              <a:t>Read</a:t>
            </a:r>
            <a:r>
              <a:rPr lang="zh-CN" altLang="en-US" dirty="0" smtClean="0"/>
              <a:t>语句后的变量个数少于读入的参数个数时：</a:t>
            </a:r>
            <a:r>
              <a:rPr lang="zh-CN" altLang="en-US" sz="1200" dirty="0" smtClean="0"/>
              <a:t>第一个参数赋给第一个变量</a:t>
            </a:r>
            <a:r>
              <a:rPr lang="en-US" altLang="zh-CN" sz="1200" dirty="0" smtClean="0"/>
              <a:t>, </a:t>
            </a:r>
            <a:r>
              <a:rPr lang="zh-CN" altLang="en-US" sz="1200" dirty="0" smtClean="0"/>
              <a:t>第二个参数赋给第二个变量</a:t>
            </a:r>
            <a:r>
              <a:rPr lang="en-US" altLang="zh-CN" sz="1200" dirty="0" smtClean="0"/>
              <a:t>, ……</a:t>
            </a:r>
            <a:r>
              <a:rPr lang="zh-CN" altLang="en-US" sz="1200" dirty="0" smtClean="0"/>
              <a:t>，把余下的所有参数赋给最后一个变量；</a:t>
            </a:r>
            <a:endParaRPr lang="en-US" altLang="zh-CN" sz="1200" dirty="0" smtClean="0"/>
          </a:p>
          <a:p>
            <a:r>
              <a:rPr lang="en-US" altLang="zh-CN" dirty="0" smtClean="0"/>
              <a:t>Read</a:t>
            </a:r>
            <a:r>
              <a:rPr lang="zh-CN" altLang="en-US" dirty="0" smtClean="0"/>
              <a:t>语句后的变量个数多于读入的参数个数时：</a:t>
            </a:r>
            <a:r>
              <a:rPr lang="zh-CN" altLang="en-US" sz="1200" dirty="0" smtClean="0"/>
              <a:t>第一个参数赋给第一个变量</a:t>
            </a:r>
            <a:r>
              <a:rPr lang="en-US" altLang="zh-CN" sz="1200" dirty="0" smtClean="0"/>
              <a:t>, </a:t>
            </a:r>
            <a:r>
              <a:rPr lang="zh-CN" altLang="en-US" sz="1200" dirty="0" smtClean="0"/>
              <a:t>第二个参数赋给第二个变量</a:t>
            </a:r>
            <a:r>
              <a:rPr lang="en-US" altLang="zh-CN" sz="1200" dirty="0" smtClean="0"/>
              <a:t>, ……</a:t>
            </a:r>
            <a:r>
              <a:rPr lang="zh-CN" altLang="en-US" sz="1200" dirty="0" smtClean="0"/>
              <a:t>，有多少参数就赋给多少个变量，最后剩下的变量没有对应的参数就是空变量（不包含任何值）。</a:t>
            </a:r>
            <a:endParaRPr lang="zh-CN" altLang="en-US" dirty="0" smtClean="0"/>
          </a:p>
        </p:txBody>
      </p:sp>
      <p:sp>
        <p:nvSpPr>
          <p:cNvPr id="31130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3B3F352-0991-4CE3-95C8-157BE5C965B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130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6D888E5-4EE7-4F88-B92A-29615F2F80CA}" type="slidenum">
              <a:rPr lang="en-US" altLang="zh-CN" sz="1200" smtClean="0"/>
              <a:pPr/>
              <a:t>42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2923863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133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31334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FF9088-131E-42E2-8794-3C32D67B0E10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33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C1051E-0670-4A28-9E87-B0D106DA1B47}" type="slidenum">
              <a:rPr lang="en-US" altLang="zh-CN" sz="1200" smtClean="0"/>
              <a:pPr/>
              <a:t>43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4672239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133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31334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FF9088-131E-42E2-8794-3C32D67B0E10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33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C1051E-0670-4A28-9E87-B0D106DA1B47}" type="slidenum">
              <a:rPr lang="en-US" altLang="zh-CN" sz="1200" smtClean="0"/>
              <a:pPr/>
              <a:t>44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7506630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133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1334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FF9088-131E-42E2-8794-3C32D67B0E10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33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FC1051E-0670-4A28-9E87-B0D106DA1B47}" type="slidenum">
              <a:rPr lang="en-US" altLang="zh-CN" sz="1200" smtClean="0"/>
              <a:pPr/>
              <a:t>45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1171598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7BCC226-DEA4-4575-B8EA-3512EAFE7503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53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C7BCE22-344D-4E3B-BA21-2AEF1F87A3AD}" type="slidenum">
              <a:rPr lang="en-US" altLang="zh-CN" sz="1200" smtClean="0"/>
              <a:pPr/>
              <a:t>46</a:t>
            </a:fld>
            <a:endParaRPr lang="en-US" altLang="zh-CN" sz="1200" smtClean="0"/>
          </a:p>
        </p:txBody>
      </p:sp>
      <p:sp>
        <p:nvSpPr>
          <p:cNvPr id="315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1539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72906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0196CD4-551F-4B5F-8891-6EEE679C045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74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B97F95-9213-42FC-B85A-CEF5B749788E}" type="slidenum">
              <a:rPr lang="en-US" altLang="zh-CN" sz="1200" smtClean="0"/>
              <a:pPr/>
              <a:t>47</a:t>
            </a:fld>
            <a:endParaRPr lang="en-US" altLang="zh-CN" sz="1200" smtClean="0"/>
          </a:p>
        </p:txBody>
      </p:sp>
      <p:sp>
        <p:nvSpPr>
          <p:cNvPr id="317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1744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 err="1" smtClean="0"/>
              <a:t>tput</a:t>
            </a:r>
            <a:r>
              <a:rPr lang="zh-CN" altLang="en-US" dirty="0" smtClean="0"/>
              <a:t>命令可简略性介绍，略讲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err="1" smtClean="0"/>
              <a:t>tput</a:t>
            </a:r>
            <a:r>
              <a:rPr lang="en-US" altLang="zh-CN" baseline="0" dirty="0" smtClean="0"/>
              <a:t> —— terminal put </a:t>
            </a:r>
            <a:r>
              <a:rPr lang="zh-CN" altLang="en-US" baseline="0" dirty="0" smtClean="0"/>
              <a:t>的简写，主要用于设置终端参数，功能较多，这里主要介绍常用的</a:t>
            </a:r>
            <a:r>
              <a:rPr lang="en-US" altLang="zh-CN" baseline="0" dirty="0" err="1" smtClean="0"/>
              <a:t>tput</a:t>
            </a:r>
            <a:r>
              <a:rPr lang="zh-CN" altLang="en-US" baseline="0" dirty="0" smtClean="0"/>
              <a:t>控制终端显示属性的部分功能。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259567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19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1949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6F0B70-2224-4445-959F-EC1E4644E58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1949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BD3D69C-46B6-458D-9F3E-A0CEC9EF6F78}" type="slidenum">
              <a:rPr lang="en-US" altLang="zh-CN" sz="1200" smtClean="0"/>
              <a:pPr/>
              <a:t>48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6999126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F7BCBB9-8258-40A2-98B0-0F136B7573A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2153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9CAB95-7F22-4E15-BA87-653E6894BD9C}" type="slidenum">
              <a:rPr lang="en-US" altLang="zh-CN" sz="1200" smtClean="0"/>
              <a:pPr/>
              <a:t>49</a:t>
            </a:fld>
            <a:endParaRPr lang="en-US" altLang="zh-CN" sz="1200" smtClean="0"/>
          </a:p>
        </p:txBody>
      </p:sp>
      <p:sp>
        <p:nvSpPr>
          <p:cNvPr id="321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2154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7642781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1D7E9F4-4D70-4F07-B44A-ED73135EBC7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235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C9FEA55-5F79-4A67-9526-726F56CE4D82}" type="slidenum">
              <a:rPr lang="en-US" altLang="zh-CN" sz="1200" smtClean="0"/>
              <a:pPr/>
              <a:t>50</a:t>
            </a:fld>
            <a:endParaRPr lang="en-US" altLang="zh-CN" sz="1200" smtClean="0"/>
          </a:p>
        </p:txBody>
      </p:sp>
      <p:sp>
        <p:nvSpPr>
          <p:cNvPr id="3235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2358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144633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BDB80E0-0782-47D6-8E3B-9CF738A021D7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256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01E3E3A-37E3-4C51-87B3-E9156F6C1024}" type="slidenum">
              <a:rPr lang="en-US" altLang="zh-CN" sz="1200" smtClean="0"/>
              <a:pPr/>
              <a:t>51</a:t>
            </a:fld>
            <a:endParaRPr lang="en-US" altLang="zh-CN" sz="1200" smtClean="0"/>
          </a:p>
        </p:txBody>
      </p:sp>
      <p:sp>
        <p:nvSpPr>
          <p:cNvPr id="325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2563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0827619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66EF58-D5EC-4491-9DAA-095B0CC3EE9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276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BF09D57-CC12-47D1-98B9-63EE956527B9}" type="slidenum">
              <a:rPr lang="en-US" altLang="zh-CN" sz="1200" smtClean="0"/>
              <a:pPr/>
              <a:t>52</a:t>
            </a:fld>
            <a:endParaRPr lang="en-US" altLang="zh-CN" sz="1200" smtClean="0"/>
          </a:p>
        </p:txBody>
      </p:sp>
      <p:sp>
        <p:nvSpPr>
          <p:cNvPr id="327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2768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2949545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297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2973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99CE787-EB19-4028-8A3B-65214E9F3B28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2973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C153FF9-145E-48A0-8799-D51553960043}" type="slidenum">
              <a:rPr lang="en-US" altLang="zh-CN" sz="1200" smtClean="0"/>
              <a:pPr/>
              <a:t>53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7771584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317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 smtClean="0"/>
          </a:p>
        </p:txBody>
      </p:sp>
      <p:sp>
        <p:nvSpPr>
          <p:cNvPr id="33178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D18EAA3-B7EB-4911-B2B3-7136E1CC263B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3178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F623DC3-9FD9-43E6-B598-8282DB637F1E}" type="slidenum">
              <a:rPr lang="en-US" altLang="zh-CN" sz="1200" smtClean="0"/>
              <a:pPr/>
              <a:t>54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9653668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5BA298C-496E-4FCA-A6B1-2BA90592040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338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200957-AE4E-4FCF-8978-34FB6E137E89}" type="slidenum">
              <a:rPr lang="en-US" altLang="zh-CN" sz="1200" smtClean="0"/>
              <a:pPr/>
              <a:t>55</a:t>
            </a:fld>
            <a:endParaRPr lang="en-US" altLang="zh-CN" sz="1200" smtClean="0"/>
          </a:p>
        </p:txBody>
      </p:sp>
      <p:sp>
        <p:nvSpPr>
          <p:cNvPr id="333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3382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6909530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2DB3423-8036-4126-BFA7-0770B2CBBE14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358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FE881B8-BD6A-471A-B756-FC5D8CA33BAE}" type="slidenum">
              <a:rPr lang="en-US" altLang="zh-CN" sz="1200" smtClean="0"/>
              <a:pPr/>
              <a:t>56</a:t>
            </a:fld>
            <a:endParaRPr lang="en-US" altLang="zh-CN" sz="1200" smtClean="0"/>
          </a:p>
        </p:txBody>
      </p:sp>
      <p:sp>
        <p:nvSpPr>
          <p:cNvPr id="335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3587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 smtClean="0"/>
              <a:t>prog2</a:t>
            </a:r>
            <a:r>
              <a:rPr lang="zh-CN" altLang="en-US" dirty="0" smtClean="0"/>
              <a:t>的主要缺点：逻辑上不精简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无论命令行参数是不是一个已存在的目录文件或普通文件，都要执行上下两部分判断。而</a:t>
            </a:r>
            <a:r>
              <a:rPr lang="en-US" altLang="zh-CN" dirty="0" smtClean="0"/>
              <a:t>prog3</a:t>
            </a:r>
            <a:r>
              <a:rPr lang="zh-CN" altLang="en-US" dirty="0" smtClean="0"/>
              <a:t>在功能上与</a:t>
            </a:r>
            <a:r>
              <a:rPr lang="en-US" altLang="zh-CN" dirty="0" smtClean="0"/>
              <a:t>prog2</a:t>
            </a:r>
            <a:r>
              <a:rPr lang="zh-CN" altLang="en-US" dirty="0" smtClean="0"/>
              <a:t>相同，但逻辑上就比</a:t>
            </a:r>
            <a:r>
              <a:rPr lang="en-US" altLang="zh-CN" dirty="0" smtClean="0"/>
              <a:t>prog2</a:t>
            </a:r>
            <a:r>
              <a:rPr lang="zh-CN" altLang="en-US" dirty="0" smtClean="0"/>
              <a:t>更清晰合理，避免了冗余的判断。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5249587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379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其他测试符的应用，详见教材相关</a:t>
            </a:r>
            <a:r>
              <a:rPr lang="zh-CN" altLang="en-US" baseline="0" dirty="0" smtClean="0"/>
              <a:t>章节。</a:t>
            </a:r>
            <a:endParaRPr lang="zh-CN" altLang="en-US" dirty="0" smtClean="0"/>
          </a:p>
        </p:txBody>
      </p:sp>
      <p:sp>
        <p:nvSpPr>
          <p:cNvPr id="337924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03CA3E6-8896-451F-9203-D0172108D839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3792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B40A751-F77C-427C-B84F-6597A2E683F7}" type="slidenum">
              <a:rPr lang="en-US" altLang="zh-CN" sz="1200" smtClean="0"/>
              <a:pPr/>
              <a:t>57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5425135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50DF346-1A2E-4EE9-BD96-3F1F6B3D7D1E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399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DC050F-3092-42B9-9E7C-99C512BC44B5}" type="slidenum">
              <a:rPr lang="en-US" altLang="zh-CN" sz="1200" smtClean="0"/>
              <a:pPr/>
              <a:t>58</a:t>
            </a:fld>
            <a:endParaRPr lang="en-US" altLang="zh-CN" sz="1200" smtClean="0"/>
          </a:p>
        </p:txBody>
      </p:sp>
      <p:sp>
        <p:nvSpPr>
          <p:cNvPr id="339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3997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大部分</a:t>
            </a:r>
            <a:r>
              <a:rPr lang="en-US" altLang="zh-CN" dirty="0" smtClean="0"/>
              <a:t>UNIX/Linux</a:t>
            </a:r>
            <a:r>
              <a:rPr lang="zh-CN" altLang="en-US" dirty="0" smtClean="0"/>
              <a:t>版本的都要求左方括号的右边和右方括号的左边至少有一个空格。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085891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7A01CE5-343C-4FF5-B20F-29D7A7CE3E83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420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80334EC-768C-4FAA-BD93-A1B8112CCA24}" type="slidenum">
              <a:rPr lang="en-US" altLang="zh-CN" sz="1200" smtClean="0"/>
              <a:pPr/>
              <a:t>59</a:t>
            </a:fld>
            <a:endParaRPr lang="en-US" altLang="zh-CN" sz="1200" smtClean="0"/>
          </a:p>
        </p:txBody>
      </p:sp>
      <p:sp>
        <p:nvSpPr>
          <p:cNvPr id="342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4202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case</a:t>
            </a:r>
            <a:r>
              <a:rPr lang="zh-CN" altLang="en-US" smtClean="0"/>
              <a:t>语句中，字符串变量是依次逐个匹配各个模式的，因此在前面的先检测，后面的后检测。</a:t>
            </a:r>
          </a:p>
        </p:txBody>
      </p:sp>
    </p:spTree>
    <p:extLst>
      <p:ext uri="{BB962C8B-B14F-4D97-AF65-F5344CB8AC3E}">
        <p14:creationId xmlns:p14="http://schemas.microsoft.com/office/powerpoint/2010/main" val="11660302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5350261-470B-4911-845D-72AF96722ABB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440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DF85C2-B598-41E1-B281-FD609E084E52}" type="slidenum">
              <a:rPr lang="en-US" altLang="zh-CN" sz="1200" smtClean="0"/>
              <a:pPr/>
              <a:t>60</a:t>
            </a:fld>
            <a:endParaRPr lang="en-US" altLang="zh-CN" sz="1200" smtClean="0"/>
          </a:p>
        </p:txBody>
      </p:sp>
      <p:sp>
        <p:nvSpPr>
          <p:cNvPr id="344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4406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170891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814E8CA-71C6-4AE5-AF74-813F5DFEFCA5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4611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C17801E-8987-4695-B992-DF11AEF31C4C}" type="slidenum">
              <a:rPr lang="en-US" altLang="zh-CN" sz="1200" smtClean="0"/>
              <a:pPr/>
              <a:t>61</a:t>
            </a:fld>
            <a:endParaRPr lang="en-US" altLang="zh-CN" sz="1200" smtClean="0"/>
          </a:p>
        </p:txBody>
      </p:sp>
      <p:sp>
        <p:nvSpPr>
          <p:cNvPr id="346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4611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zh-CN" sz="900" smtClean="0"/>
          </a:p>
        </p:txBody>
      </p:sp>
    </p:spTree>
    <p:extLst>
      <p:ext uri="{BB962C8B-B14F-4D97-AF65-F5344CB8AC3E}">
        <p14:creationId xmlns:p14="http://schemas.microsoft.com/office/powerpoint/2010/main" val="174755739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FD01D9E-98EB-4146-A751-4BB34D36D54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481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C74B14-8953-4B19-9EF7-4702FDD37E08}" type="slidenum">
              <a:rPr lang="en-US" altLang="zh-CN" sz="1200" smtClean="0"/>
              <a:pPr/>
              <a:t>62</a:t>
            </a:fld>
            <a:endParaRPr lang="en-US" altLang="zh-CN" sz="1200" smtClean="0"/>
          </a:p>
        </p:txBody>
      </p:sp>
      <p:sp>
        <p:nvSpPr>
          <p:cNvPr id="348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4816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6805855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502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5021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3F560D7-22A8-4942-9447-283DDF3665D6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5021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5AF3A95-F422-4D25-9C93-8441D38E051B}" type="slidenum">
              <a:rPr lang="en-US" altLang="zh-CN" sz="1200" smtClean="0"/>
              <a:pPr/>
              <a:t>63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2946087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9C15AA-5FF1-469A-84BB-78F491B95C90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522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E7E6478-5990-4DBE-A785-DBD28290A3EF}" type="slidenum">
              <a:rPr lang="en-US" altLang="zh-CN" sz="1200" smtClean="0"/>
              <a:pPr/>
              <a:t>64</a:t>
            </a:fld>
            <a:endParaRPr lang="en-US" altLang="zh-CN" sz="1200" smtClean="0"/>
          </a:p>
        </p:txBody>
      </p:sp>
      <p:sp>
        <p:nvSpPr>
          <p:cNvPr id="3522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5226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dirty="0" smtClean="0"/>
              <a:t>[number]</a:t>
            </a:r>
            <a:r>
              <a:rPr lang="en-US" altLang="zh-CN" baseline="0" dirty="0" smtClean="0"/>
              <a:t> —— </a:t>
            </a:r>
            <a:r>
              <a:rPr lang="zh-CN" altLang="en-US" baseline="0" dirty="0" smtClean="0"/>
              <a:t>命令行上的参数带方括号，表示该参数为任选，可有可无。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7430709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54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略讲</a:t>
            </a:r>
          </a:p>
        </p:txBody>
      </p:sp>
      <p:sp>
        <p:nvSpPr>
          <p:cNvPr id="35430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632E67B-C022-4B8B-95B7-6D72CCAC205B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5430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7086D38-1DA9-4592-85E7-1FBE9C3C3BCC}" type="slidenum">
              <a:rPr lang="en-US" altLang="zh-CN" sz="1200" smtClean="0"/>
              <a:pPr/>
              <a:t>65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616997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563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一般性介绍</a:t>
            </a:r>
          </a:p>
        </p:txBody>
      </p:sp>
      <p:sp>
        <p:nvSpPr>
          <p:cNvPr id="35635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CDC10BF-7603-4ABE-8C9D-42034682A61A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5635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CAFC067-A1D9-420C-85AA-33E49DB7EB10}" type="slidenum">
              <a:rPr lang="en-US" altLang="zh-CN" sz="1200" smtClean="0"/>
              <a:pPr/>
              <a:t>66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687644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030DE83-8416-4B47-8018-B7EA0DAAE63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5840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4394CBD-BF47-443A-826A-38FBB008A944}" type="slidenum">
              <a:rPr lang="en-US" altLang="zh-CN" sz="1200" smtClean="0"/>
              <a:pPr/>
              <a:t>67</a:t>
            </a:fld>
            <a:endParaRPr lang="en-US" altLang="zh-CN" sz="1200" smtClean="0"/>
          </a:p>
        </p:txBody>
      </p:sp>
      <p:sp>
        <p:nvSpPr>
          <p:cNvPr id="358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</p:spPr>
      </p:sp>
      <p:sp>
        <p:nvSpPr>
          <p:cNvPr id="35840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dirty="0" smtClean="0"/>
              <a:t>一般性介绍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0636741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604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200" dirty="0" smtClean="0"/>
              <a:t>略讲</a:t>
            </a:r>
            <a:endParaRPr lang="en-US" altLang="zh-CN" sz="1200" dirty="0" smtClean="0"/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endParaRPr lang="en-US" altLang="zh-CN" sz="1200" dirty="0" smtClean="0"/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 smtClean="0"/>
              <a:t>while</a:t>
            </a:r>
            <a:r>
              <a:rPr lang="zh-CN" altLang="en-US" sz="1200" dirty="0" smtClean="0"/>
              <a:t>语句后的表达式为</a:t>
            </a:r>
            <a:r>
              <a:rPr lang="en-US" altLang="zh-CN" sz="1200" dirty="0" smtClean="0"/>
              <a:t>true(</a:t>
            </a:r>
            <a:r>
              <a:rPr lang="zh-CN" altLang="en-US" sz="1200" dirty="0" smtClean="0"/>
              <a:t>真</a:t>
            </a:r>
            <a:r>
              <a:rPr lang="en-US" altLang="zh-CN" sz="1200" dirty="0" smtClean="0"/>
              <a:t>),   until</a:t>
            </a:r>
            <a:r>
              <a:rPr lang="zh-CN" altLang="en-US" sz="1200" dirty="0" smtClean="0"/>
              <a:t>语句后的表达式为</a:t>
            </a:r>
            <a:r>
              <a:rPr lang="en-US" altLang="zh-CN" sz="1200" dirty="0" smtClean="0"/>
              <a:t>false(</a:t>
            </a:r>
            <a:r>
              <a:rPr lang="zh-CN" altLang="en-US" sz="1200" dirty="0" smtClean="0"/>
              <a:t>假</a:t>
            </a:r>
            <a:r>
              <a:rPr lang="en-US" altLang="zh-CN" sz="1200" dirty="0" smtClean="0"/>
              <a:t>),   </a:t>
            </a:r>
            <a:r>
              <a:rPr lang="zh-CN" altLang="en-US" sz="1200" dirty="0" smtClean="0"/>
              <a:t>循环条件永远成立</a:t>
            </a:r>
            <a:r>
              <a:rPr lang="en-US" altLang="zh-CN" sz="1200" dirty="0" smtClean="0"/>
              <a:t>,  </a:t>
            </a:r>
            <a:r>
              <a:rPr lang="zh-CN" altLang="en-US" sz="1200" dirty="0" smtClean="0"/>
              <a:t>因此是无限循环。</a:t>
            </a:r>
            <a:endParaRPr lang="en-US" altLang="zh-CN" sz="1200" dirty="0" smtClean="0"/>
          </a:p>
        </p:txBody>
      </p:sp>
      <p:sp>
        <p:nvSpPr>
          <p:cNvPr id="360452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E408865-9FD7-4D7B-833C-C196B3A27FCD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6045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DFE7E79-B935-4C4E-B09F-6F72B0D6A2EA}" type="slidenum">
              <a:rPr lang="en-US" altLang="zh-CN" sz="1200" smtClean="0"/>
              <a:pPr/>
              <a:t>68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378520951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624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整个</a:t>
            </a:r>
            <a:r>
              <a:rPr lang="en-US" altLang="zh-CN" dirty="0" smtClean="0"/>
              <a:t>8.8</a:t>
            </a:r>
            <a:r>
              <a:rPr lang="zh-CN" altLang="en-US" dirty="0" smtClean="0"/>
              <a:t>节可略讲</a:t>
            </a:r>
          </a:p>
          <a:p>
            <a:endParaRPr lang="zh-CN" altLang="en-US" dirty="0" smtClean="0"/>
          </a:p>
        </p:txBody>
      </p:sp>
      <p:sp>
        <p:nvSpPr>
          <p:cNvPr id="362500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ED48F93-05F1-4A48-8E88-C9BFF3A72C43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6250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701E71-C5EB-40FA-9805-C721D6748F2B}" type="slidenum">
              <a:rPr lang="en-US" altLang="zh-CN" sz="1200" smtClean="0"/>
              <a:pPr/>
              <a:t>69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4144463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645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64548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41AA3A5-0D67-4649-829E-CF6AF314481C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645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5FDE9D5-6F92-4BB2-9413-BCC8D0072B5E}" type="slidenum">
              <a:rPr lang="en-US" altLang="zh-CN" sz="1200" smtClean="0"/>
              <a:pPr/>
              <a:t>70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11602273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665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66596" name="日期占位符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9DA161-CB5B-4B46-8F46-C52474F911F7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6659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EABBAEC-797E-4032-9BD5-5725EE2003FF}" type="slidenum">
              <a:rPr lang="en-US" altLang="zh-CN" sz="1200" smtClean="0"/>
              <a:pPr/>
              <a:t>71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6097826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F1FF938-A8FE-4079-9755-500E5C59A8B2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891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23E27A2-A525-41FF-A91F-9717FBFC927C}" type="slidenum">
              <a:rPr lang="en-US" altLang="zh-CN" sz="1200" smtClean="0"/>
              <a:pPr/>
              <a:t>72</a:t>
            </a:fld>
            <a:endParaRPr lang="en-US" altLang="zh-CN" sz="1200" smtClean="0"/>
          </a:p>
        </p:txBody>
      </p:sp>
      <p:sp>
        <p:nvSpPr>
          <p:cNvPr id="389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8912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smtClean="0"/>
              <a:t>8.9</a:t>
            </a:r>
            <a:r>
              <a:rPr lang="zh-CN" altLang="en-US" dirty="0" smtClean="0"/>
              <a:t>节可略讲</a:t>
            </a:r>
            <a:endParaRPr lang="en-US" altLang="zh-CN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功能：给一个文本文件中的每一行前面加上行号。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注意：</a:t>
            </a:r>
            <a:r>
              <a:rPr lang="en-US" altLang="zh-CN" dirty="0" smtClean="0"/>
              <a:t>while</a:t>
            </a:r>
            <a:r>
              <a:rPr lang="zh-CN" altLang="en-US" dirty="0" smtClean="0"/>
              <a:t>循环体的标准输入，被重定向为从管道中读。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          while</a:t>
            </a:r>
            <a:r>
              <a:rPr lang="zh-CN" altLang="en-US" dirty="0" smtClean="0"/>
              <a:t>循环体的标准输出，被重定向到了 </a:t>
            </a:r>
            <a:r>
              <a:rPr lang="en-US" altLang="zh-CN" dirty="0" err="1" smtClean="0"/>
              <a:t>tmp</a:t>
            </a:r>
            <a:r>
              <a:rPr lang="en-US" altLang="zh-CN" dirty="0" smtClean="0"/>
              <a:t>$$</a:t>
            </a:r>
            <a:r>
              <a:rPr lang="zh-CN" altLang="en-US" dirty="0" smtClean="0"/>
              <a:t>文件中，这里的</a:t>
            </a:r>
            <a:r>
              <a:rPr lang="en-US" altLang="zh-CN" dirty="0" smtClean="0"/>
              <a:t>$$</a:t>
            </a:r>
            <a:r>
              <a:rPr lang="zh-CN" altLang="en-US" dirty="0" smtClean="0"/>
              <a:t>就是当前进程的进程号，因为进程号的唯一性，所以多个用户同时运行该程序时，不会相互覆盖！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          while</a:t>
            </a:r>
            <a:r>
              <a:rPr lang="zh-CN" altLang="en-US" dirty="0" smtClean="0"/>
              <a:t>循环体内的</a:t>
            </a:r>
            <a:r>
              <a:rPr lang="en-US" altLang="zh-CN" dirty="0" smtClean="0"/>
              <a:t>echo</a:t>
            </a:r>
            <a:r>
              <a:rPr lang="zh-CN" altLang="en-US" dirty="0" smtClean="0"/>
              <a:t>语句的标准输出，被重定向到了当前进程的控制终端</a:t>
            </a:r>
            <a:r>
              <a:rPr lang="en-US" altLang="zh-CN" dirty="0" smtClean="0"/>
              <a:t>(/dev/</a:t>
            </a:r>
            <a:r>
              <a:rPr lang="en-US" altLang="zh-CN" dirty="0" err="1" smtClean="0"/>
              <a:t>tty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，即启动本进程的用户正在使用的终端。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563194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AD8C365-7DFC-4C17-A180-1B4526CB2A9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91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C7BF697-38B6-4517-8739-0B3385FE4546}" type="slidenum">
              <a:rPr lang="en-US" altLang="zh-CN" sz="1200" smtClean="0"/>
              <a:pPr/>
              <a:t>73</a:t>
            </a:fld>
            <a:endParaRPr lang="en-US" altLang="zh-CN" sz="1200" smtClean="0"/>
          </a:p>
        </p:txBody>
      </p:sp>
      <p:sp>
        <p:nvSpPr>
          <p:cNvPr id="391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11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92008404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0D2D712-DCF6-4F41-8DE2-469613A31B51}" type="datetime2">
              <a:rPr lang="zh-CN" altLang="en-US" sz="1200" smtClean="0"/>
              <a:pPr/>
              <a:t>2024年2月2日</a:t>
            </a:fld>
            <a:endParaRPr lang="en-US" altLang="zh-CN" sz="1200" smtClean="0"/>
          </a:p>
        </p:txBody>
      </p:sp>
      <p:sp>
        <p:nvSpPr>
          <p:cNvPr id="393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BFC7035-266A-40B7-8B49-BBBDCB1C85BC}" type="slidenum">
              <a:rPr lang="en-US" altLang="zh-CN" sz="1200" smtClean="0"/>
              <a:pPr/>
              <a:t>74</a:t>
            </a:fld>
            <a:endParaRPr lang="en-US" altLang="zh-CN" sz="1200" smtClean="0"/>
          </a:p>
        </p:txBody>
      </p:sp>
      <p:sp>
        <p:nvSpPr>
          <p:cNvPr id="393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93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 smtClean="0"/>
              <a:t>功能：程序从文件中每读入一行，就询问用户是否正确，如用户回答正确（以</a:t>
            </a:r>
            <a:r>
              <a:rPr lang="en-US" altLang="zh-CN" dirty="0" smtClean="0"/>
              <a:t>y</a:t>
            </a:r>
            <a:r>
              <a:rPr lang="zh-CN" altLang="en-US" dirty="0" smtClean="0"/>
              <a:t>或</a:t>
            </a:r>
            <a:r>
              <a:rPr lang="en-US" altLang="zh-CN" dirty="0" smtClean="0"/>
              <a:t>Y</a:t>
            </a:r>
            <a:r>
              <a:rPr lang="zh-CN" altLang="en-US" dirty="0" smtClean="0"/>
              <a:t>开头的字符串）就直接输出；否则就提示用户重新输入这行的内容，并输出。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说明：</a:t>
            </a:r>
            <a:r>
              <a:rPr lang="en-US" altLang="zh-CN" dirty="0" smtClean="0"/>
              <a:t>while</a:t>
            </a:r>
            <a:r>
              <a:rPr lang="zh-CN" altLang="en-US" dirty="0" smtClean="0"/>
              <a:t>循环体的标准输入被重定向为</a:t>
            </a:r>
            <a:r>
              <a:rPr lang="en-US" altLang="zh-CN" dirty="0" err="1" smtClean="0"/>
              <a:t>file.old</a:t>
            </a:r>
            <a:r>
              <a:rPr lang="zh-CN" altLang="en-US" dirty="0" smtClean="0"/>
              <a:t>语句，因放在</a:t>
            </a:r>
            <a:r>
              <a:rPr lang="en-US" altLang="zh-CN" dirty="0" smtClean="0"/>
              <a:t>done</a:t>
            </a:r>
            <a:r>
              <a:rPr lang="zh-CN" altLang="en-US" dirty="0" smtClean="0"/>
              <a:t>语句后面的，容易被忽略。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          while</a:t>
            </a:r>
            <a:r>
              <a:rPr lang="zh-CN" altLang="en-US" dirty="0" smtClean="0"/>
              <a:t>循环体内的</a:t>
            </a:r>
            <a:r>
              <a:rPr lang="en-US" altLang="zh-CN" dirty="0" smtClean="0"/>
              <a:t>read</a:t>
            </a:r>
            <a:r>
              <a:rPr lang="zh-CN" altLang="en-US" dirty="0" smtClean="0"/>
              <a:t>语句的标准输入已被重定向为当前键盘（</a:t>
            </a:r>
            <a:r>
              <a:rPr lang="en-US" altLang="zh-CN" dirty="0" smtClean="0"/>
              <a:t>/dev/</a:t>
            </a:r>
            <a:r>
              <a:rPr lang="en-US" altLang="zh-CN" dirty="0" err="1" smtClean="0"/>
              <a:t>tty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，而不是</a:t>
            </a:r>
            <a:r>
              <a:rPr lang="en-US" altLang="zh-CN" dirty="0" err="1" smtClean="0"/>
              <a:t>file.old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          while</a:t>
            </a:r>
            <a:r>
              <a:rPr lang="zh-CN" altLang="en-US" dirty="0" smtClean="0"/>
              <a:t>循环体的标准输出没有重定向，所以其中的提示类信息是显示在终端上的，但输出的文件内容，却被重定向到</a:t>
            </a:r>
            <a:r>
              <a:rPr lang="en-US" altLang="zh-CN" dirty="0" err="1" smtClean="0"/>
              <a:t>file.new</a:t>
            </a:r>
            <a:r>
              <a:rPr lang="zh-CN" altLang="en-US" dirty="0" smtClean="0"/>
              <a:t>中了。</a:t>
            </a:r>
            <a:endParaRPr lang="zh-CN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9070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7172" y="3421151"/>
            <a:ext cx="8196547" cy="1871475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algn="ctr">
              <a:lnSpc>
                <a:spcPct val="100000"/>
              </a:lnSpc>
              <a:defRPr sz="4050" cap="none" baseline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70384" y="5432564"/>
            <a:ext cx="7203233" cy="457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just">
              <a:spcBef>
                <a:spcPts val="0"/>
              </a:spcBef>
              <a:buNone/>
              <a:defRPr sz="15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rtl="0"/>
            <a:r>
              <a:rPr lang="zh-CN" altLang="en-US" noProof="0" dirty="0"/>
              <a:t>单击以编辑母版副标题样式</a:t>
            </a:r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971550" y="5294175"/>
            <a:ext cx="72009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F1902921-415F-4ADD-9856-C88A0B1996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11962" y="156092"/>
            <a:ext cx="6774147" cy="3623216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93920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 userDrawn="1"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3489110" y="0"/>
            <a:ext cx="5652776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453" y="256446"/>
            <a:ext cx="3015197" cy="1560870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0453" y="2103379"/>
            <a:ext cx="3010081" cy="409364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spcBef>
                <a:spcPts val="900"/>
              </a:spcBef>
              <a:buNone/>
              <a:defRPr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rtl="0"/>
            <a:r>
              <a:rPr lang="zh-CN" altLang="en-US" noProof="0" dirty="0"/>
              <a:t>编辑母版文本样式</a:t>
            </a:r>
          </a:p>
        </p:txBody>
      </p:sp>
      <p:cxnSp>
        <p:nvCxnSpPr>
          <p:cNvPr id="60" name="直接连接符 59"/>
          <p:cNvCxnSpPr>
            <a:cxnSpLocks/>
          </p:cNvCxnSpPr>
          <p:nvPr userDrawn="1"/>
        </p:nvCxnSpPr>
        <p:spPr>
          <a:xfrm>
            <a:off x="190453" y="1973877"/>
            <a:ext cx="300262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20184" y="7835016"/>
            <a:ext cx="4596023" cy="222436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prstClr val="black"/>
                </a:solidFill>
              </a:rPr>
              <a:t>添加页脚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11085" y="6390871"/>
            <a:ext cx="1541738" cy="334063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432DCC3-517C-49BA-ABA2-B2F6E7404DD7}" type="datetime2">
              <a:rPr lang="zh-CN" altLang="en-US" smtClean="0">
                <a:solidFill>
                  <a:prstClr val="white"/>
                </a:solidFill>
              </a:rPr>
              <a:pPr/>
              <a:t>2024年2月2日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8" name="幻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332979" y="6502497"/>
            <a:ext cx="689162" cy="222436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31375A4-56A4-47D6-9801-1991572033F7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sp>
        <p:nvSpPr>
          <p:cNvPr id="63" name="SmartArt 占位符 62">
            <a:extLst>
              <a:ext uri="{FF2B5EF4-FFF2-40B4-BE49-F238E27FC236}">
                <a16:creationId xmlns:a16="http://schemas.microsoft.com/office/drawing/2014/main" id="{3E98ACF1-74AC-4D1D-9784-D1507B787DC3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3724393" y="362927"/>
            <a:ext cx="5026151" cy="602793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70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2178" y="1311566"/>
            <a:ext cx="8077986" cy="5157643"/>
          </a:xfrm>
          <a:prstGeom prst="rect">
            <a:avLst/>
          </a:prstGeom>
        </p:spPr>
        <p:txBody>
          <a:bodyPr/>
          <a:lstStyle>
            <a:lvl1pPr eaLnBrk="1" hangingPunct="1">
              <a:lnSpc>
                <a:spcPct val="100000"/>
              </a:lnSpc>
              <a:defRPr sz="2400" b="1">
                <a:latin typeface="华文楷体" pitchFamily="2" charset="-122"/>
                <a:ea typeface="华文楷体" pitchFamily="2" charset="-122"/>
              </a:defRPr>
            </a:lvl1pPr>
            <a:lvl2pPr eaLnBrk="1" hangingPunct="1">
              <a:lnSpc>
                <a:spcPct val="100000"/>
              </a:lnSpc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eaLnBrk="1" hangingPunct="1">
              <a:lnSpc>
                <a:spcPct val="100000"/>
              </a:lnSpc>
              <a:defRPr sz="1800" b="1"/>
            </a:lvl3pPr>
            <a:lvl4pPr eaLnBrk="1" hangingPunct="1">
              <a:lnSpc>
                <a:spcPct val="100000"/>
              </a:lnSpc>
              <a:defRPr sz="1500" b="1"/>
            </a:lvl4pPr>
            <a:lvl5pPr eaLnBrk="1" hangingPunct="1">
              <a:lnSpc>
                <a:spcPct val="100000"/>
              </a:lnSpc>
              <a:defRPr sz="1350" b="1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C7C89A4-0A17-4593-B351-2547CD6E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348" y="188915"/>
            <a:ext cx="7190789" cy="549275"/>
          </a:xfrm>
          <a:prstGeom prst="rect">
            <a:avLst/>
          </a:prstGeom>
        </p:spPr>
        <p:txBody>
          <a:bodyPr/>
          <a:lstStyle>
            <a:lvl1pPr algn="ct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19CF1F-441D-4B69-8107-CBE2399D9980}"/>
              </a:ext>
            </a:extLst>
          </p:cNvPr>
          <p:cNvSpPr txBox="1"/>
          <p:nvPr userDrawn="1"/>
        </p:nvSpPr>
        <p:spPr>
          <a:xfrm>
            <a:off x="7524328" y="6444044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350" b="1" dirty="0">
                <a:solidFill>
                  <a:srgbClr val="333399">
                    <a:lumMod val="7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电子科技大学</a:t>
            </a:r>
          </a:p>
        </p:txBody>
      </p:sp>
      <p:pic>
        <p:nvPicPr>
          <p:cNvPr id="6" name="Picture 9" descr="徽记">
            <a:extLst>
              <a:ext uri="{FF2B5EF4-FFF2-40B4-BE49-F238E27FC236}">
                <a16:creationId xmlns:a16="http://schemas.microsoft.com/office/drawing/2014/main" id="{A13D5CF7-500E-49D2-96C3-F6515B1E78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" y="-1"/>
            <a:ext cx="107744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HAB00003">
            <a:extLst>
              <a:ext uri="{FF2B5EF4-FFF2-40B4-BE49-F238E27FC236}">
                <a16:creationId xmlns:a16="http://schemas.microsoft.com/office/drawing/2014/main" id="{D08F9635-4C75-4188-AB27-E6CD9ED569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48" y="911865"/>
            <a:ext cx="7487529" cy="174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2A2119-1AE2-4352-988F-01393E736B9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294036"/>
            <a:ext cx="270364" cy="556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19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双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902" y="1311566"/>
            <a:ext cx="3897191" cy="5157643"/>
          </a:xfrm>
          <a:prstGeom prst="rect">
            <a:avLst/>
          </a:prstGeom>
        </p:spPr>
        <p:txBody>
          <a:bodyPr/>
          <a:lstStyle>
            <a:lvl1pPr eaLnBrk="1" hangingPunct="1">
              <a:defRPr sz="2400" b="1">
                <a:latin typeface="华文楷体" pitchFamily="2" charset="-122"/>
                <a:ea typeface="华文楷体" pitchFamily="2" charset="-122"/>
              </a:defRPr>
            </a:lvl1pPr>
            <a:lvl2pPr eaLnBrk="1" hangingPunct="1">
              <a:defRPr sz="1800" b="1">
                <a:latin typeface="黑体" pitchFamily="2" charset="-122"/>
                <a:ea typeface="黑体" pitchFamily="2" charset="-122"/>
              </a:defRPr>
            </a:lvl2pPr>
            <a:lvl3pPr eaLnBrk="1" hangingPunct="1">
              <a:defRPr b="1"/>
            </a:lvl3pPr>
            <a:lvl4pPr eaLnBrk="1" hangingPunct="1">
              <a:defRPr b="1"/>
            </a:lvl4pPr>
            <a:lvl5pPr eaLnBrk="1" hangingPunct="1">
              <a:defRPr b="1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C7C89A4-0A17-4593-B351-2547CD6E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88915"/>
            <a:ext cx="7776357" cy="549275"/>
          </a:xfrm>
          <a:prstGeom prst="rect">
            <a:avLst/>
          </a:prstGeom>
        </p:spPr>
        <p:txBody>
          <a:bodyPr/>
          <a:lstStyle>
            <a:lvl1pPr algn="ctr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19CF1F-441D-4B69-8107-CBE2399D9980}"/>
              </a:ext>
            </a:extLst>
          </p:cNvPr>
          <p:cNvSpPr txBox="1"/>
          <p:nvPr userDrawn="1"/>
        </p:nvSpPr>
        <p:spPr>
          <a:xfrm>
            <a:off x="7524328" y="6444044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350" b="1" dirty="0">
                <a:solidFill>
                  <a:srgbClr val="333399">
                    <a:lumMod val="7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电子科技大学</a:t>
            </a:r>
          </a:p>
        </p:txBody>
      </p:sp>
      <p:pic>
        <p:nvPicPr>
          <p:cNvPr id="6" name="Picture 9" descr="徽记">
            <a:extLst>
              <a:ext uri="{FF2B5EF4-FFF2-40B4-BE49-F238E27FC236}">
                <a16:creationId xmlns:a16="http://schemas.microsoft.com/office/drawing/2014/main" id="{A13D5CF7-500E-49D2-96C3-F6515B1E78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97280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HAB00003">
            <a:extLst>
              <a:ext uri="{FF2B5EF4-FFF2-40B4-BE49-F238E27FC236}">
                <a16:creationId xmlns:a16="http://schemas.microsoft.com/office/drawing/2014/main" id="{D08F9635-4C75-4188-AB27-E6CD9ED569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08" y="911864"/>
            <a:ext cx="7505969" cy="17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martArt 占位符 7">
            <a:extLst>
              <a:ext uri="{FF2B5EF4-FFF2-40B4-BE49-F238E27FC236}">
                <a16:creationId xmlns:a16="http://schemas.microsoft.com/office/drawing/2014/main" id="{0459F0E7-C03B-4267-9E79-21788BF62AD8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5011341" y="1311565"/>
            <a:ext cx="4007969" cy="513247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20ED46-140B-4720-895A-4766D4AC8B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294036"/>
            <a:ext cx="270364" cy="556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4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626" y="0"/>
            <a:ext cx="3902075" cy="668780"/>
          </a:xfrm>
          <a:prstGeom prst="rect">
            <a:avLst/>
          </a:prstGeom>
        </p:spPr>
        <p:txBody>
          <a:bodyPr rtlCol="0"/>
          <a:lstStyle>
            <a:lvl1pPr>
              <a:lnSpc>
                <a:spcPct val="130000"/>
              </a:lnSpc>
              <a:defRPr sz="2400"/>
            </a:lvl1pPr>
          </a:lstStyle>
          <a:p>
            <a:pPr rt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276225" cy="668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2AD38CD-DEEA-4237-8C89-6CDAF7B3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83" y="993531"/>
            <a:ext cx="8427481" cy="5475677"/>
          </a:xfrm>
          <a:prstGeom prst="rect">
            <a:avLst/>
          </a:prstGeom>
        </p:spPr>
        <p:txBody>
          <a:bodyPr/>
          <a:lstStyle>
            <a:lvl1pPr eaLnBrk="1" hangingPunct="1">
              <a:lnSpc>
                <a:spcPct val="100000"/>
              </a:lnSpc>
              <a:defRPr sz="2400" b="1">
                <a:latin typeface="华文楷体" pitchFamily="2" charset="-122"/>
                <a:ea typeface="华文楷体" pitchFamily="2" charset="-122"/>
              </a:defRPr>
            </a:lvl1pPr>
            <a:lvl2pPr eaLnBrk="1" hangingPunct="1">
              <a:lnSpc>
                <a:spcPct val="100000"/>
              </a:lnSpc>
              <a:defRPr sz="21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eaLnBrk="1" hangingPunct="1">
              <a:lnSpc>
                <a:spcPct val="100000"/>
              </a:lnSpc>
              <a:defRPr sz="1800" b="1"/>
            </a:lvl3pPr>
            <a:lvl4pPr eaLnBrk="1" hangingPunct="1">
              <a:lnSpc>
                <a:spcPct val="100000"/>
              </a:lnSpc>
              <a:defRPr sz="1500" b="1"/>
            </a:lvl4pPr>
            <a:lvl5pPr eaLnBrk="1" hangingPunct="1">
              <a:lnSpc>
                <a:spcPct val="100000"/>
              </a:lnSpc>
              <a:defRPr sz="1350" b="1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0780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 userDrawn="1"/>
        </p:nvGrpSpPr>
        <p:grpSpPr bwMode="hidden">
          <a:xfrm>
            <a:off x="0" y="0"/>
            <a:ext cx="9144000" cy="6738256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8" name="直接连接符 147"/>
          <p:cNvCxnSpPr/>
          <p:nvPr userDrawn="1"/>
        </p:nvCxnSpPr>
        <p:spPr>
          <a:xfrm>
            <a:off x="457200" y="6172200"/>
            <a:ext cx="82296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90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>
              <a:lumMod val="7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514350" indent="-134541" algn="l" defTabSz="6858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685800" indent="-137160" algn="l" defTabSz="6858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857250" indent="-134541" algn="l" defTabSz="685800" rtl="0" eaLnBrk="1" latinLnBrk="0" hangingPunct="1">
        <a:lnSpc>
          <a:spcPct val="90000"/>
        </a:lnSpc>
        <a:spcBef>
          <a:spcPts val="45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028700" indent="-137160" algn="l" defTabSz="685800" rtl="0" eaLnBrk="1" latinLnBrk="0" hangingPunct="1">
        <a:lnSpc>
          <a:spcPct val="90000"/>
        </a:lnSpc>
        <a:spcBef>
          <a:spcPts val="45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4541" algn="l" defTabSz="685800" rtl="0" eaLnBrk="1" latinLnBrk="0" hangingPunct="1">
        <a:lnSpc>
          <a:spcPct val="90000"/>
        </a:lnSpc>
        <a:spcBef>
          <a:spcPts val="45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lnSpc>
          <a:spcPct val="90000"/>
        </a:lnSpc>
        <a:spcBef>
          <a:spcPts val="45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408509" indent="0" algn="l" defTabSz="685800" rtl="0" eaLnBrk="1" latinLnBrk="0" hangingPunct="1">
        <a:lnSpc>
          <a:spcPct val="90000"/>
        </a:lnSpc>
        <a:spcBef>
          <a:spcPts val="45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44211" y="3423113"/>
            <a:ext cx="8634845" cy="1403606"/>
          </a:xfrm>
        </p:spPr>
        <p:txBody>
          <a:bodyPr/>
          <a:lstStyle/>
          <a:p>
            <a:r>
              <a:rPr lang="zh-CN" altLang="en-US" sz="3600" dirty="0" smtClean="0">
                <a:sym typeface="+mn-lt"/>
              </a:rPr>
              <a:t>第八章 </a:t>
            </a:r>
            <a:r>
              <a:rPr lang="en-US" altLang="zh-CN" sz="3600" dirty="0"/>
              <a:t>shell</a:t>
            </a:r>
            <a:r>
              <a:rPr lang="zh-CN" altLang="zh-CN" sz="3600" dirty="0"/>
              <a:t>的交互功能与</a:t>
            </a:r>
            <a:r>
              <a:rPr lang="en-US" altLang="zh-CN" sz="3600" dirty="0"/>
              <a:t>shell</a:t>
            </a:r>
            <a:r>
              <a:rPr lang="zh-CN" altLang="zh-CN" sz="3600" dirty="0"/>
              <a:t>程序设计</a:t>
            </a:r>
            <a:endParaRPr lang="zh-CN" altLang="en-US" sz="3600" dirty="0">
              <a:sym typeface="+mn-lt"/>
            </a:endParaRPr>
          </a:p>
        </p:txBody>
      </p:sp>
      <p:sp>
        <p:nvSpPr>
          <p:cNvPr id="5" name="副标题 9"/>
          <p:cNvSpPr>
            <a:spLocks noGrp="1"/>
          </p:cNvSpPr>
          <p:nvPr>
            <p:ph type="subTitle" idx="1"/>
          </p:nvPr>
        </p:nvSpPr>
        <p:spPr>
          <a:xfrm>
            <a:off x="970384" y="5432564"/>
            <a:ext cx="7203233" cy="457200"/>
          </a:xfrm>
        </p:spPr>
        <p:txBody>
          <a:bodyPr/>
          <a:lstStyle/>
          <a:p>
            <a:pPr algn="ctr"/>
            <a:r>
              <a:rPr lang="zh-CN" altLang="en-US" b="1" dirty="0" smtClean="0">
                <a:sym typeface="+mn-lt"/>
              </a:rPr>
              <a:t>电子科技大学信息与软件工程学院</a:t>
            </a:r>
            <a:endParaRPr lang="zh-CN" altLang="en-US" b="1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219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397C91A-1A48-4645-B032-9B8C6DA7357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本章主要内容</a:t>
            </a:r>
            <a:endParaRPr lang="zh-CN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CA54E39-707D-4E47-BE53-6B7958DCAE0C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>
          <a:xfrm>
            <a:off x="712178" y="1311566"/>
            <a:ext cx="8077986" cy="3931766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shell</a:t>
            </a:r>
            <a:r>
              <a:rPr lang="zh-CN" altLang="en-US" dirty="0" smtClean="0"/>
              <a:t>的启动和功能简介</a:t>
            </a:r>
            <a:endParaRPr lang="zh-CN" altLang="en-US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shell</a:t>
            </a:r>
            <a:r>
              <a:rPr lang="zh-CN" altLang="zh-CN" dirty="0"/>
              <a:t>识别的命令</a:t>
            </a:r>
            <a:r>
              <a:rPr lang="zh-CN" altLang="zh-CN" dirty="0" smtClean="0"/>
              <a:t>形式</a:t>
            </a:r>
            <a:endParaRPr lang="zh-CN" altLang="en-US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zh-CN" dirty="0"/>
              <a:t>输入输出重定向和</a:t>
            </a:r>
            <a:r>
              <a:rPr lang="zh-CN" altLang="zh-CN" dirty="0" smtClean="0"/>
              <a:t>管道</a:t>
            </a:r>
            <a:endParaRPr lang="zh-CN" altLang="en-US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shell</a:t>
            </a:r>
            <a:r>
              <a:rPr lang="zh-CN" altLang="zh-CN" dirty="0" smtClean="0"/>
              <a:t>变量和</a:t>
            </a:r>
            <a:r>
              <a:rPr lang="zh-CN" altLang="zh-CN" dirty="0"/>
              <a:t>引用</a:t>
            </a:r>
            <a:r>
              <a:rPr lang="zh-CN" altLang="zh-CN" dirty="0" smtClean="0"/>
              <a:t>符</a:t>
            </a:r>
            <a:endParaRPr lang="en-US" altLang="zh-CN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Shell</a:t>
            </a:r>
            <a:r>
              <a:rPr lang="zh-CN" altLang="en-US" dirty="0" smtClean="0"/>
              <a:t>脚本</a:t>
            </a:r>
            <a:r>
              <a:rPr lang="zh-CN" altLang="zh-CN" dirty="0" smtClean="0"/>
              <a:t>程序</a:t>
            </a:r>
            <a:r>
              <a:rPr lang="zh-CN" altLang="zh-CN" dirty="0"/>
              <a:t>的建立与</a:t>
            </a:r>
            <a:r>
              <a:rPr lang="zh-CN" altLang="zh-CN" dirty="0" smtClean="0"/>
              <a:t>运行</a:t>
            </a:r>
            <a:endParaRPr lang="en-US" altLang="zh-CN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shell</a:t>
            </a:r>
            <a:r>
              <a:rPr lang="zh-CN" altLang="zh-CN" dirty="0"/>
              <a:t>的语句</a:t>
            </a:r>
            <a:r>
              <a:rPr lang="zh-CN" altLang="zh-CN" dirty="0" smtClean="0"/>
              <a:t>类别</a:t>
            </a:r>
            <a:endParaRPr lang="en-US" altLang="zh-CN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dirty="0" smtClean="0"/>
              <a:t>shell</a:t>
            </a:r>
            <a:r>
              <a:rPr lang="zh-CN" altLang="en-US" dirty="0" smtClean="0"/>
              <a:t>编程实例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44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b="1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310937BA-0552-4682-8016-D1DD84385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036" y="1317070"/>
            <a:ext cx="8500824" cy="3376613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sz="2700" dirty="0"/>
              <a:t>       </a:t>
            </a:r>
            <a:r>
              <a:rPr lang="en-US" altLang="zh-CN" b="1" dirty="0"/>
              <a:t>UNIX</a:t>
            </a:r>
            <a:r>
              <a:rPr lang="zh-CN" altLang="en-US" b="1" dirty="0"/>
              <a:t>系统中的</a:t>
            </a:r>
            <a:r>
              <a:rPr lang="en-US" altLang="zh-CN" b="1" dirty="0"/>
              <a:t>Shell</a:t>
            </a:r>
            <a:r>
              <a:rPr lang="zh-CN" altLang="en-US" b="1" dirty="0"/>
              <a:t>具有</a:t>
            </a:r>
            <a:r>
              <a:rPr lang="zh-CN" altLang="en-US" b="1" dirty="0">
                <a:solidFill>
                  <a:srgbClr val="FF0000"/>
                </a:solidFill>
              </a:rPr>
              <a:t>两大</a:t>
            </a:r>
            <a:r>
              <a:rPr lang="zh-CN" altLang="en-US" b="1" dirty="0"/>
              <a:t>功能</a:t>
            </a:r>
            <a:r>
              <a:rPr lang="en-US" altLang="zh-CN" b="1" dirty="0"/>
              <a:t>:</a:t>
            </a:r>
          </a:p>
          <a:p>
            <a:pPr marL="609600" indent="-609600">
              <a:buNone/>
              <a:defRPr/>
            </a:pPr>
            <a:r>
              <a:rPr lang="en-US" altLang="zh-CN" b="1" dirty="0"/>
              <a:t>     </a:t>
            </a:r>
            <a:r>
              <a:rPr lang="en-US" altLang="zh-CN" b="1" dirty="0">
                <a:solidFill>
                  <a:srgbClr val="FF0000"/>
                </a:solidFill>
              </a:rPr>
              <a:t> .</a:t>
            </a:r>
            <a:r>
              <a:rPr lang="en-US" altLang="zh-CN" b="1" dirty="0"/>
              <a:t>  </a:t>
            </a:r>
            <a:r>
              <a:rPr lang="zh-CN" altLang="en-US" b="1" dirty="0">
                <a:solidFill>
                  <a:srgbClr val="0000FF"/>
                </a:solidFill>
              </a:rPr>
              <a:t>命令解释器</a:t>
            </a:r>
            <a:r>
              <a:rPr lang="en-US" altLang="zh-CN" b="1" dirty="0"/>
              <a:t>:     </a:t>
            </a:r>
            <a:r>
              <a:rPr lang="zh-CN" altLang="en-US" b="1" dirty="0"/>
              <a:t>解释用户发出的各种</a:t>
            </a:r>
            <a:r>
              <a:rPr lang="zh-CN" altLang="en-US" b="1" dirty="0" smtClean="0"/>
              <a:t>操作系统</a:t>
            </a:r>
            <a:r>
              <a:rPr lang="zh-CN" altLang="en-US" b="1" dirty="0"/>
              <a:t>命令</a:t>
            </a:r>
          </a:p>
          <a:p>
            <a:pPr marL="609600" indent="-609600">
              <a:buNone/>
              <a:defRPr/>
            </a:pPr>
            <a:r>
              <a:rPr lang="zh-CN" altLang="en-US" b="1" dirty="0"/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b="1" dirty="0"/>
              <a:t>  </a:t>
            </a:r>
            <a:r>
              <a:rPr lang="zh-CN" altLang="en-US" b="1" dirty="0">
                <a:solidFill>
                  <a:srgbClr val="0000FF"/>
                </a:solidFill>
              </a:rPr>
              <a:t>程序设计语言</a:t>
            </a:r>
            <a:r>
              <a:rPr lang="en-US" altLang="zh-CN" b="1" dirty="0"/>
              <a:t>: </a:t>
            </a:r>
            <a:r>
              <a:rPr lang="zh-CN" altLang="en-US" b="1" dirty="0"/>
              <a:t>功能强大</a:t>
            </a:r>
            <a:r>
              <a:rPr lang="en-US" altLang="zh-CN" b="1" dirty="0"/>
              <a:t>, </a:t>
            </a:r>
            <a:r>
              <a:rPr lang="zh-CN" altLang="en-US" b="1" dirty="0"/>
              <a:t>可包容引用</a:t>
            </a:r>
            <a:r>
              <a:rPr lang="zh-CN" altLang="en-US" b="1" dirty="0" smtClean="0"/>
              <a:t>所有</a:t>
            </a:r>
            <a:r>
              <a:rPr lang="zh-CN" altLang="en-US" b="1" dirty="0"/>
              <a:t>的操作系统</a:t>
            </a:r>
            <a:r>
              <a:rPr lang="zh-CN" altLang="en-US" b="1" dirty="0" smtClean="0"/>
              <a:t>命令和</a:t>
            </a:r>
            <a:r>
              <a:rPr lang="zh-CN" altLang="en-US" dirty="0"/>
              <a:t>可执行</a:t>
            </a:r>
            <a:r>
              <a:rPr lang="zh-CN" altLang="en-US" b="1" dirty="0" smtClean="0"/>
              <a:t>程序。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1178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7" name="Rectangle 3">
            <a:extLst>
              <a:ext uri="{FF2B5EF4-FFF2-40B4-BE49-F238E27FC236}">
                <a16:creationId xmlns:a16="http://schemas.microsoft.com/office/drawing/2014/main" id="{219E7B7C-50AC-4D92-9FDC-01949EFBE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4880" y="1151573"/>
            <a:ext cx="7559040" cy="405765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1    </a:t>
            </a:r>
            <a:r>
              <a:rPr lang="en-US" altLang="zh-CN" b="1" dirty="0">
                <a:solidFill>
                  <a:srgbClr val="0000FF"/>
                </a:solidFill>
              </a:rPr>
              <a:t>shell </a:t>
            </a:r>
            <a:r>
              <a:rPr lang="zh-CN" altLang="en-US" b="1" dirty="0">
                <a:solidFill>
                  <a:srgbClr val="0000FF"/>
                </a:solidFill>
              </a:rPr>
              <a:t>的启动和终止</a:t>
            </a:r>
          </a:p>
          <a:p>
            <a:pPr marL="609600" indent="-609600">
              <a:buNone/>
              <a:defRPr/>
            </a:pPr>
            <a:endParaRPr lang="zh-CN" altLang="en-US" b="1" dirty="0">
              <a:solidFill>
                <a:schemeClr val="tx2"/>
              </a:solidFill>
            </a:endParaRPr>
          </a:p>
          <a:p>
            <a:pPr marL="609600" indent="-609600">
              <a:buNone/>
              <a:defRPr/>
            </a:pPr>
            <a:r>
              <a:rPr lang="zh-CN" altLang="en-US" dirty="0"/>
              <a:t>       用户登录</a:t>
            </a:r>
            <a:r>
              <a:rPr lang="en-US" altLang="zh-CN" dirty="0"/>
              <a:t>(login)</a:t>
            </a:r>
            <a:r>
              <a:rPr lang="zh-CN" altLang="en-US" dirty="0"/>
              <a:t>进入系统时</a:t>
            </a:r>
            <a:r>
              <a:rPr lang="en-US" altLang="zh-CN" dirty="0"/>
              <a:t>,  </a:t>
            </a:r>
            <a:r>
              <a:rPr lang="zh-CN" altLang="en-US" dirty="0"/>
              <a:t>系统根据</a:t>
            </a:r>
          </a:p>
          <a:p>
            <a:pPr marL="609600" indent="-609600">
              <a:buNone/>
              <a:defRPr/>
            </a:pPr>
            <a:r>
              <a:rPr lang="zh-CN" altLang="en-US" dirty="0"/>
              <a:t>                             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en-US" altLang="zh-CN" dirty="0" err="1">
                <a:solidFill>
                  <a:srgbClr val="0000FF"/>
                </a:solidFill>
              </a:rPr>
              <a:t>etc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en-US" altLang="zh-CN" dirty="0" err="1">
                <a:solidFill>
                  <a:srgbClr val="0000FF"/>
                </a:solidFill>
              </a:rPr>
              <a:t>passwd</a:t>
            </a:r>
            <a:endParaRPr lang="en-US" altLang="zh-CN" dirty="0">
              <a:solidFill>
                <a:srgbClr val="0000FF"/>
              </a:solidFill>
            </a:endParaRPr>
          </a:p>
          <a:p>
            <a:pPr marL="609600" indent="-609600">
              <a:buNone/>
              <a:defRPr/>
            </a:pPr>
            <a:r>
              <a:rPr lang="en-US" altLang="zh-CN" dirty="0"/>
              <a:t>      </a:t>
            </a:r>
            <a:r>
              <a:rPr lang="zh-CN" altLang="en-US" dirty="0"/>
              <a:t>文件中的配置参数</a:t>
            </a:r>
            <a:r>
              <a:rPr lang="en-US" altLang="zh-CN" dirty="0"/>
              <a:t>, </a:t>
            </a:r>
            <a:r>
              <a:rPr lang="zh-CN" altLang="en-US" dirty="0"/>
              <a:t>为该用户启动一个指定类型的</a:t>
            </a:r>
            <a:r>
              <a:rPr lang="en-US" altLang="zh-CN" dirty="0"/>
              <a:t>shell</a:t>
            </a:r>
            <a:r>
              <a:rPr lang="zh-CN" altLang="en-US" dirty="0"/>
              <a:t>进程</a:t>
            </a:r>
            <a:r>
              <a:rPr lang="en-US" altLang="zh-CN" dirty="0"/>
              <a:t>, </a:t>
            </a:r>
            <a:r>
              <a:rPr lang="zh-CN" altLang="en-US" dirty="0"/>
              <a:t>专门用于解释执行该用户发出的各种命令</a:t>
            </a:r>
            <a:r>
              <a:rPr lang="en-US" altLang="zh-CN" dirty="0"/>
              <a:t>. </a:t>
            </a:r>
            <a:r>
              <a:rPr lang="zh-CN" altLang="en-US" dirty="0"/>
              <a:t>当用户发出</a:t>
            </a:r>
            <a:r>
              <a:rPr lang="en-US" altLang="zh-CN" dirty="0"/>
              <a:t>exit</a:t>
            </a:r>
            <a:r>
              <a:rPr lang="zh-CN" altLang="en-US" dirty="0"/>
              <a:t>或</a:t>
            </a:r>
            <a:r>
              <a:rPr lang="en-US" altLang="zh-CN" dirty="0"/>
              <a:t>Logout</a:t>
            </a:r>
            <a:r>
              <a:rPr lang="zh-CN" altLang="en-US" dirty="0"/>
              <a:t>命令时</a:t>
            </a:r>
            <a:r>
              <a:rPr lang="en-US" altLang="zh-CN" dirty="0"/>
              <a:t>, </a:t>
            </a:r>
            <a:r>
              <a:rPr lang="zh-CN" altLang="en-US" dirty="0"/>
              <a:t>该</a:t>
            </a:r>
            <a:r>
              <a:rPr lang="en-US" altLang="zh-CN" dirty="0"/>
              <a:t>shell</a:t>
            </a:r>
            <a:r>
              <a:rPr lang="zh-CN" altLang="en-US" dirty="0"/>
              <a:t>程序终止运行</a:t>
            </a:r>
            <a:r>
              <a:rPr lang="en-US" altLang="zh-CN" dirty="0"/>
              <a:t>, </a:t>
            </a:r>
            <a:r>
              <a:rPr lang="zh-CN" altLang="en-US" dirty="0"/>
              <a:t>该用户退出系统</a:t>
            </a:r>
            <a:r>
              <a:rPr lang="en-US" altLang="zh-CN" dirty="0"/>
              <a:t>, </a:t>
            </a:r>
            <a:r>
              <a:rPr lang="zh-CN" altLang="en-US" dirty="0"/>
              <a:t>回到</a:t>
            </a:r>
            <a:r>
              <a:rPr lang="en-US" altLang="zh-CN" dirty="0" err="1"/>
              <a:t>getty</a:t>
            </a:r>
            <a:r>
              <a:rPr lang="zh-CN" altLang="en-US" dirty="0"/>
              <a:t>状态</a:t>
            </a:r>
            <a:r>
              <a:rPr lang="en-US" altLang="zh-CN" dirty="0"/>
              <a:t>.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1787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83A78AA8-6618-4EE3-A8DD-3EB6A9A86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97660" y="1472565"/>
            <a:ext cx="6057900" cy="51435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b="1" dirty="0"/>
              <a:t>                      </a:t>
            </a:r>
            <a:r>
              <a:rPr lang="en-US" altLang="zh-CN" sz="2100" dirty="0"/>
              <a:t>login</a:t>
            </a:r>
          </a:p>
        </p:txBody>
      </p:sp>
      <p:sp>
        <p:nvSpPr>
          <p:cNvPr id="203779" name="Rectangle 3"/>
          <p:cNvSpPr>
            <a:spLocks noChangeArrowheads="1"/>
          </p:cNvSpPr>
          <p:nvPr/>
        </p:nvSpPr>
        <p:spPr bwMode="auto">
          <a:xfrm>
            <a:off x="2912110" y="2244090"/>
            <a:ext cx="1428750" cy="3429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等待命令输入</a:t>
            </a:r>
          </a:p>
        </p:txBody>
      </p:sp>
      <p:sp>
        <p:nvSpPr>
          <p:cNvPr id="203780" name="Rectangle 4"/>
          <p:cNvSpPr>
            <a:spLocks noChangeArrowheads="1"/>
          </p:cNvSpPr>
          <p:nvPr/>
        </p:nvSpPr>
        <p:spPr bwMode="auto">
          <a:xfrm>
            <a:off x="2912110" y="3672840"/>
            <a:ext cx="1428750" cy="3429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分析命令</a:t>
            </a:r>
          </a:p>
        </p:txBody>
      </p:sp>
      <p:sp>
        <p:nvSpPr>
          <p:cNvPr id="203781" name="AutoShape 5"/>
          <p:cNvSpPr>
            <a:spLocks noChangeArrowheads="1"/>
          </p:cNvSpPr>
          <p:nvPr/>
        </p:nvSpPr>
        <p:spPr bwMode="auto">
          <a:xfrm>
            <a:off x="2854960" y="2815590"/>
            <a:ext cx="1543050" cy="571500"/>
          </a:xfrm>
          <a:prstGeom prst="flowChartDecision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退出命令</a:t>
            </a:r>
          </a:p>
        </p:txBody>
      </p:sp>
      <p:sp>
        <p:nvSpPr>
          <p:cNvPr id="203782" name="AutoShape 6"/>
          <p:cNvSpPr>
            <a:spLocks noChangeArrowheads="1"/>
          </p:cNvSpPr>
          <p:nvPr/>
        </p:nvSpPr>
        <p:spPr bwMode="auto">
          <a:xfrm>
            <a:off x="2797810" y="4244340"/>
            <a:ext cx="1714500" cy="514350"/>
          </a:xfrm>
          <a:prstGeom prst="flowChartDecision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2"/>
                </a:solidFill>
              </a:rPr>
              <a:t>产生子进程</a:t>
            </a:r>
          </a:p>
        </p:txBody>
      </p:sp>
      <p:sp>
        <p:nvSpPr>
          <p:cNvPr id="203783" name="AutoShape 7"/>
          <p:cNvSpPr>
            <a:spLocks noChangeArrowheads="1"/>
          </p:cNvSpPr>
          <p:nvPr/>
        </p:nvSpPr>
        <p:spPr bwMode="auto">
          <a:xfrm>
            <a:off x="2740660" y="5044440"/>
            <a:ext cx="1828800" cy="514350"/>
          </a:xfrm>
          <a:prstGeom prst="flowChartDecision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后台进程</a:t>
            </a:r>
          </a:p>
        </p:txBody>
      </p:sp>
      <p:sp>
        <p:nvSpPr>
          <p:cNvPr id="203784" name="AutoShape 8"/>
          <p:cNvSpPr>
            <a:spLocks noChangeArrowheads="1"/>
          </p:cNvSpPr>
          <p:nvPr/>
        </p:nvSpPr>
        <p:spPr bwMode="auto">
          <a:xfrm>
            <a:off x="3083560" y="5844540"/>
            <a:ext cx="1257300" cy="400050"/>
          </a:xfrm>
          <a:prstGeom prst="flowChartProcess">
            <a:avLst/>
          </a:prstGeom>
          <a:solidFill>
            <a:schemeClr val="tx2"/>
          </a:solidFill>
          <a:ln w="9525">
            <a:solidFill>
              <a:srgbClr val="99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等待子进程</a:t>
            </a:r>
          </a:p>
        </p:txBody>
      </p:sp>
      <p:sp>
        <p:nvSpPr>
          <p:cNvPr id="203785" name="Rectangle 9"/>
          <p:cNvSpPr>
            <a:spLocks noChangeArrowheads="1"/>
          </p:cNvSpPr>
          <p:nvPr/>
        </p:nvSpPr>
        <p:spPr bwMode="auto">
          <a:xfrm>
            <a:off x="5198110" y="5101590"/>
            <a:ext cx="1543050" cy="3429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chemeClr val="bg2"/>
                </a:solidFill>
              </a:rPr>
              <a:t>执行命令</a:t>
            </a:r>
          </a:p>
        </p:txBody>
      </p:sp>
      <p:sp>
        <p:nvSpPr>
          <p:cNvPr id="203786" name="Line 10"/>
          <p:cNvSpPr>
            <a:spLocks noChangeShapeType="1"/>
          </p:cNvSpPr>
          <p:nvPr/>
        </p:nvSpPr>
        <p:spPr bwMode="auto">
          <a:xfrm>
            <a:off x="3597910" y="195834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87" name="Line 11"/>
          <p:cNvSpPr>
            <a:spLocks noChangeShapeType="1"/>
          </p:cNvSpPr>
          <p:nvPr/>
        </p:nvSpPr>
        <p:spPr bwMode="auto">
          <a:xfrm>
            <a:off x="3597910" y="258699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88" name="Line 12"/>
          <p:cNvSpPr>
            <a:spLocks noChangeShapeType="1"/>
          </p:cNvSpPr>
          <p:nvPr/>
        </p:nvSpPr>
        <p:spPr bwMode="auto">
          <a:xfrm>
            <a:off x="3597910" y="338709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89" name="Line 13"/>
          <p:cNvSpPr>
            <a:spLocks noChangeShapeType="1"/>
          </p:cNvSpPr>
          <p:nvPr/>
        </p:nvSpPr>
        <p:spPr bwMode="auto">
          <a:xfrm>
            <a:off x="3655060" y="401574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0" name="Line 14"/>
          <p:cNvSpPr>
            <a:spLocks noChangeShapeType="1"/>
          </p:cNvSpPr>
          <p:nvPr/>
        </p:nvSpPr>
        <p:spPr bwMode="auto">
          <a:xfrm>
            <a:off x="3655060" y="475869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1" name="Line 15"/>
          <p:cNvSpPr>
            <a:spLocks noChangeShapeType="1"/>
          </p:cNvSpPr>
          <p:nvPr/>
        </p:nvSpPr>
        <p:spPr bwMode="auto">
          <a:xfrm>
            <a:off x="3655060" y="555879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2" name="Line 16"/>
          <p:cNvSpPr>
            <a:spLocks noChangeShapeType="1"/>
          </p:cNvSpPr>
          <p:nvPr/>
        </p:nvSpPr>
        <p:spPr bwMode="auto">
          <a:xfrm>
            <a:off x="4398010" y="3101340"/>
            <a:ext cx="400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3" name="Line 17"/>
          <p:cNvSpPr>
            <a:spLocks noChangeShapeType="1"/>
          </p:cNvSpPr>
          <p:nvPr/>
        </p:nvSpPr>
        <p:spPr bwMode="auto">
          <a:xfrm>
            <a:off x="4512310" y="4530090"/>
            <a:ext cx="1428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4" name="Line 18"/>
          <p:cNvSpPr>
            <a:spLocks noChangeShapeType="1"/>
          </p:cNvSpPr>
          <p:nvPr/>
        </p:nvSpPr>
        <p:spPr bwMode="auto">
          <a:xfrm>
            <a:off x="5941060" y="4530090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5" name="Line 19"/>
          <p:cNvSpPr>
            <a:spLocks noChangeShapeType="1"/>
          </p:cNvSpPr>
          <p:nvPr/>
        </p:nvSpPr>
        <p:spPr bwMode="auto">
          <a:xfrm>
            <a:off x="5941060" y="5444490"/>
            <a:ext cx="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6" name="Line 20"/>
          <p:cNvSpPr>
            <a:spLocks noChangeShapeType="1"/>
          </p:cNvSpPr>
          <p:nvPr/>
        </p:nvSpPr>
        <p:spPr bwMode="auto">
          <a:xfrm flipH="1">
            <a:off x="4340860" y="601599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7" name="Line 21"/>
          <p:cNvSpPr>
            <a:spLocks noChangeShapeType="1"/>
          </p:cNvSpPr>
          <p:nvPr/>
        </p:nvSpPr>
        <p:spPr bwMode="auto">
          <a:xfrm>
            <a:off x="2226310" y="207264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8" name="Line 22"/>
          <p:cNvSpPr>
            <a:spLocks noChangeShapeType="1"/>
          </p:cNvSpPr>
          <p:nvPr/>
        </p:nvSpPr>
        <p:spPr bwMode="auto">
          <a:xfrm flipH="1">
            <a:off x="2226310" y="6015990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799" name="Line 23"/>
          <p:cNvSpPr>
            <a:spLocks noChangeShapeType="1"/>
          </p:cNvSpPr>
          <p:nvPr/>
        </p:nvSpPr>
        <p:spPr bwMode="auto">
          <a:xfrm flipV="1">
            <a:off x="2226310" y="2072640"/>
            <a:ext cx="0" cy="394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800" name="Line 24"/>
          <p:cNvSpPr>
            <a:spLocks noChangeShapeType="1"/>
          </p:cNvSpPr>
          <p:nvPr/>
        </p:nvSpPr>
        <p:spPr bwMode="auto">
          <a:xfrm flipH="1">
            <a:off x="2226310" y="5273040"/>
            <a:ext cx="514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350"/>
          </a:p>
        </p:txBody>
      </p:sp>
      <p:sp>
        <p:nvSpPr>
          <p:cNvPr id="203801" name="Text Box 25"/>
          <p:cNvSpPr txBox="1">
            <a:spLocks noChangeArrowheads="1"/>
          </p:cNvSpPr>
          <p:nvPr/>
        </p:nvSpPr>
        <p:spPr bwMode="auto">
          <a:xfrm>
            <a:off x="4798060" y="2929890"/>
            <a:ext cx="914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cs typeface="Times New Roman" panose="02020603050405020304" pitchFamily="18" charset="0"/>
              </a:rPr>
              <a:t>getty</a:t>
            </a:r>
            <a:endParaRPr lang="en-US" altLang="zh-CN" sz="1800" b="1"/>
          </a:p>
        </p:txBody>
      </p:sp>
      <p:sp>
        <p:nvSpPr>
          <p:cNvPr id="203802" name="Text Box 26"/>
          <p:cNvSpPr txBox="1">
            <a:spLocks noChangeArrowheads="1"/>
          </p:cNvSpPr>
          <p:nvPr/>
        </p:nvSpPr>
        <p:spPr bwMode="auto">
          <a:xfrm>
            <a:off x="4283710" y="2815591"/>
            <a:ext cx="3429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500" b="1"/>
              <a:t>Y</a:t>
            </a:r>
          </a:p>
        </p:txBody>
      </p:sp>
      <p:sp>
        <p:nvSpPr>
          <p:cNvPr id="203803" name="Text Box 27"/>
          <p:cNvSpPr txBox="1">
            <a:spLocks noChangeArrowheads="1"/>
          </p:cNvSpPr>
          <p:nvPr/>
        </p:nvSpPr>
        <p:spPr bwMode="auto">
          <a:xfrm>
            <a:off x="3312160" y="3329941"/>
            <a:ext cx="4572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500" b="1"/>
              <a:t>N</a:t>
            </a:r>
          </a:p>
        </p:txBody>
      </p:sp>
      <p:sp>
        <p:nvSpPr>
          <p:cNvPr id="203804" name="Text Box 28"/>
          <p:cNvSpPr txBox="1">
            <a:spLocks noChangeArrowheads="1"/>
          </p:cNvSpPr>
          <p:nvPr/>
        </p:nvSpPr>
        <p:spPr bwMode="auto">
          <a:xfrm>
            <a:off x="4569460" y="4244341"/>
            <a:ext cx="99822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500" b="1" dirty="0"/>
              <a:t>子进程</a:t>
            </a:r>
          </a:p>
        </p:txBody>
      </p:sp>
      <p:sp>
        <p:nvSpPr>
          <p:cNvPr id="203805" name="Text Box 29"/>
          <p:cNvSpPr txBox="1">
            <a:spLocks noChangeArrowheads="1"/>
          </p:cNvSpPr>
          <p:nvPr/>
        </p:nvSpPr>
        <p:spPr bwMode="auto">
          <a:xfrm>
            <a:off x="3655060" y="4701541"/>
            <a:ext cx="914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500" b="1" dirty="0"/>
              <a:t>父进程</a:t>
            </a:r>
          </a:p>
        </p:txBody>
      </p:sp>
      <p:sp>
        <p:nvSpPr>
          <p:cNvPr id="203806" name="Text Box 30"/>
          <p:cNvSpPr txBox="1">
            <a:spLocks noChangeArrowheads="1"/>
          </p:cNvSpPr>
          <p:nvPr/>
        </p:nvSpPr>
        <p:spPr bwMode="auto">
          <a:xfrm>
            <a:off x="4512310" y="5730241"/>
            <a:ext cx="13144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500" b="1"/>
              <a:t>唤醒父进程</a:t>
            </a:r>
          </a:p>
        </p:txBody>
      </p:sp>
      <p:sp>
        <p:nvSpPr>
          <p:cNvPr id="203807" name="Text Box 31"/>
          <p:cNvSpPr txBox="1">
            <a:spLocks noChangeArrowheads="1"/>
          </p:cNvSpPr>
          <p:nvPr/>
        </p:nvSpPr>
        <p:spPr bwMode="auto">
          <a:xfrm>
            <a:off x="3369310" y="5501641"/>
            <a:ext cx="3429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500" b="1"/>
              <a:t>N</a:t>
            </a:r>
          </a:p>
        </p:txBody>
      </p:sp>
      <p:sp>
        <p:nvSpPr>
          <p:cNvPr id="203808" name="Text Box 32"/>
          <p:cNvSpPr txBox="1">
            <a:spLocks noChangeArrowheads="1"/>
          </p:cNvSpPr>
          <p:nvPr/>
        </p:nvSpPr>
        <p:spPr bwMode="auto">
          <a:xfrm>
            <a:off x="2512060" y="4987291"/>
            <a:ext cx="4000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500" b="1"/>
              <a:t>Y</a:t>
            </a:r>
          </a:p>
        </p:txBody>
      </p:sp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48907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AF8440D6-51CD-4A75-95C6-8C912DDA95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0" y="1101090"/>
            <a:ext cx="8100060" cy="51955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2   </a:t>
            </a:r>
            <a:r>
              <a:rPr lang="zh-CN" altLang="en-US" b="1" dirty="0">
                <a:solidFill>
                  <a:srgbClr val="0000FF"/>
                </a:solidFill>
              </a:rPr>
              <a:t>输入输出重定向和管道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zh-CN" altLang="en-US" dirty="0">
                <a:solidFill>
                  <a:srgbClr val="FF0000"/>
                </a:solidFill>
              </a:rPr>
              <a:t>标准输入：         键盘       </a:t>
            </a:r>
            <a:r>
              <a:rPr lang="en-US" altLang="zh-CN" dirty="0" err="1">
                <a:solidFill>
                  <a:srgbClr val="FF0000"/>
                </a:solidFill>
              </a:rPr>
              <a:t>fd</a:t>
            </a:r>
            <a:r>
              <a:rPr lang="en-US" altLang="zh-CN" dirty="0">
                <a:solidFill>
                  <a:srgbClr val="FF0000"/>
                </a:solidFill>
              </a:rPr>
              <a:t> = 0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标准输出：        荧光屏    </a:t>
            </a:r>
            <a:r>
              <a:rPr lang="en-US" altLang="zh-CN" dirty="0" err="1">
                <a:solidFill>
                  <a:srgbClr val="FF0000"/>
                </a:solidFill>
              </a:rPr>
              <a:t>fd</a:t>
            </a:r>
            <a:r>
              <a:rPr lang="en-US" altLang="zh-CN" dirty="0">
                <a:solidFill>
                  <a:srgbClr val="FF0000"/>
                </a:solidFill>
              </a:rPr>
              <a:t> = 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标准错误输出：荧光屏    </a:t>
            </a:r>
            <a:r>
              <a:rPr lang="en-US" altLang="zh-CN" dirty="0" err="1">
                <a:solidFill>
                  <a:srgbClr val="FF0000"/>
                </a:solidFill>
              </a:rPr>
              <a:t>fd</a:t>
            </a:r>
            <a:r>
              <a:rPr lang="en-US" altLang="zh-CN" dirty="0">
                <a:solidFill>
                  <a:srgbClr val="FF0000"/>
                </a:solidFill>
              </a:rPr>
              <a:t> = 2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如果一个进程在运行时需要输入输出数据，在缺省状况下是从标准输入上读入数据，向标准输出上输出结果。利用</a:t>
            </a:r>
            <a:r>
              <a:rPr lang="en-US" altLang="zh-CN" sz="2000" dirty="0"/>
              <a:t>shell</a:t>
            </a:r>
            <a:r>
              <a:rPr lang="zh-CN" altLang="en-US" sz="2000" dirty="0"/>
              <a:t>的重定向操作符，可以把进程的输入和</a:t>
            </a:r>
            <a:r>
              <a:rPr lang="en-US" altLang="zh-CN" sz="2000" dirty="0"/>
              <a:t>/</a:t>
            </a:r>
            <a:r>
              <a:rPr lang="zh-CN" altLang="en-US" sz="2000" dirty="0"/>
              <a:t>或输出数据重新定向的任意其它文件。例如：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$ cat  file         </a:t>
            </a:r>
            <a:r>
              <a:rPr lang="zh-CN" altLang="en-US" sz="2000" dirty="0"/>
              <a:t>运行结果（</a:t>
            </a:r>
            <a:r>
              <a:rPr lang="en-US" altLang="zh-CN" sz="2000" dirty="0"/>
              <a:t>file</a:t>
            </a:r>
            <a:r>
              <a:rPr lang="zh-CN" altLang="en-US" sz="2000" dirty="0"/>
              <a:t>的内容）送到标准输出荧光屏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$ </a:t>
            </a:r>
            <a:r>
              <a:rPr lang="en-US" altLang="zh-CN" sz="2000" dirty="0" err="1"/>
              <a:t>passwd</a:t>
            </a:r>
            <a:r>
              <a:rPr lang="en-US" altLang="zh-CN" sz="2000" dirty="0"/>
              <a:t>         </a:t>
            </a:r>
            <a:r>
              <a:rPr lang="zh-CN" altLang="en-US" sz="2000" dirty="0"/>
              <a:t>所需数据（新老口令）从标准输入键盘读入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$ ls  -Y  </a:t>
            </a:r>
            <a:r>
              <a:rPr lang="en-US" altLang="zh-CN" sz="2000" dirty="0" err="1"/>
              <a:t>abc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ls:  invalid  option – Y      </a:t>
            </a:r>
            <a:r>
              <a:rPr lang="zh-CN" altLang="en-US" sz="2000" dirty="0"/>
              <a:t>错误信息送到标准错误输出（荧光屏）上显示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3950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5506" name="Rectangle 1026">
            <a:extLst>
              <a:ext uri="{FF2B5EF4-FFF2-40B4-BE49-F238E27FC236}">
                <a16:creationId xmlns:a16="http://schemas.microsoft.com/office/drawing/2014/main" id="{70A8346E-E2C7-405E-89DF-E7B6891F8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120" y="1093469"/>
            <a:ext cx="8039100" cy="5353629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sz="2000" dirty="0" smtClean="0">
                <a:solidFill>
                  <a:srgbClr val="0000FF"/>
                </a:solidFill>
              </a:rPr>
              <a:t>8.2.1  </a:t>
            </a:r>
            <a:r>
              <a:rPr lang="zh-CN" altLang="en-US" sz="2000" dirty="0" smtClean="0">
                <a:solidFill>
                  <a:srgbClr val="0000FF"/>
                </a:solidFill>
              </a:rPr>
              <a:t>标准输出</a:t>
            </a:r>
            <a:r>
              <a:rPr lang="zh-CN" altLang="en-US" sz="2000" dirty="0">
                <a:solidFill>
                  <a:srgbClr val="0000FF"/>
                </a:solidFill>
              </a:rPr>
              <a:t>重定向</a:t>
            </a:r>
          </a:p>
          <a:p>
            <a:pPr marL="609600" indent="-609600">
              <a:buNone/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          </a:t>
            </a:r>
            <a:r>
              <a:rPr lang="en-US" altLang="zh-CN" sz="2000" dirty="0">
                <a:solidFill>
                  <a:srgbClr val="0000FF"/>
                </a:solidFill>
              </a:rPr>
              <a:t>command  &gt;   filename   </a:t>
            </a:r>
            <a:r>
              <a:rPr lang="zh-CN" altLang="en-US" sz="2000" dirty="0"/>
              <a:t>进程输出覆盖文件</a:t>
            </a:r>
            <a:r>
              <a:rPr lang="en-US" altLang="zh-CN" sz="2000" dirty="0"/>
              <a:t>filename   </a:t>
            </a:r>
          </a:p>
          <a:p>
            <a:pPr marL="609600" indent="-609600">
              <a:buNone/>
              <a:defRPr/>
            </a:pPr>
            <a:r>
              <a:rPr lang="en-US" altLang="zh-CN" sz="2000" dirty="0"/>
              <a:t>   </a:t>
            </a:r>
            <a:r>
              <a:rPr lang="zh-CN" altLang="en-US" sz="2000" dirty="0"/>
              <a:t>或  </a:t>
            </a:r>
            <a:r>
              <a:rPr lang="en-US" altLang="zh-CN" sz="2000" dirty="0">
                <a:solidFill>
                  <a:srgbClr val="0000FF"/>
                </a:solidFill>
              </a:rPr>
              <a:t>command  &gt;&gt;  filename   </a:t>
            </a:r>
            <a:r>
              <a:rPr lang="zh-CN" altLang="en-US" sz="2000" dirty="0"/>
              <a:t>进程输出追加到文件</a:t>
            </a:r>
            <a:r>
              <a:rPr lang="en-US" altLang="zh-CN" sz="2000" dirty="0"/>
              <a:t>filename</a:t>
            </a:r>
            <a:r>
              <a:rPr lang="zh-CN" altLang="en-US" sz="2000" dirty="0"/>
              <a:t>后面</a:t>
            </a:r>
            <a:r>
              <a:rPr lang="en-US" altLang="zh-CN" sz="2000" dirty="0"/>
              <a:t>, </a:t>
            </a:r>
            <a:r>
              <a:rPr lang="zh-CN" altLang="en-US" sz="2000" dirty="0"/>
              <a:t>不覆盖</a:t>
            </a:r>
            <a:r>
              <a:rPr lang="en-US" altLang="zh-CN" sz="2000" dirty="0"/>
              <a:t>filename</a:t>
            </a:r>
          </a:p>
          <a:p>
            <a:pPr marL="609600" indent="-609600">
              <a:buNone/>
              <a:defRPr/>
            </a:pPr>
            <a:r>
              <a:rPr lang="zh-CN" altLang="en-US" sz="2000" dirty="0"/>
              <a:t>例如</a:t>
            </a:r>
            <a:r>
              <a:rPr lang="en-US" altLang="zh-CN" sz="2000" dirty="0"/>
              <a:t>:</a:t>
            </a:r>
          </a:p>
          <a:p>
            <a:pPr marL="609600" indent="-609600">
              <a:buNone/>
              <a:defRPr/>
            </a:pPr>
            <a:r>
              <a:rPr lang="en-US" altLang="zh-CN" sz="2000" dirty="0"/>
              <a:t> $  cat  </a:t>
            </a:r>
            <a:r>
              <a:rPr lang="en-US" altLang="zh-CN" sz="2000" dirty="0" err="1"/>
              <a:t>myfile</a:t>
            </a:r>
            <a:r>
              <a:rPr lang="en-US" altLang="zh-CN" sz="2000" dirty="0"/>
              <a:t>         </a:t>
            </a:r>
          </a:p>
          <a:p>
            <a:pPr marL="609600" indent="-609600">
              <a:buNone/>
              <a:defRPr/>
            </a:pPr>
            <a:r>
              <a:rPr lang="en-US" altLang="zh-CN" sz="2000" dirty="0"/>
              <a:t>     </a:t>
            </a:r>
            <a:r>
              <a:rPr lang="zh-CN" altLang="en-US" sz="2000" dirty="0"/>
              <a:t>把文件</a:t>
            </a:r>
            <a:r>
              <a:rPr lang="en-US" altLang="zh-CN" sz="2000" dirty="0" err="1"/>
              <a:t>myfile</a:t>
            </a:r>
            <a:r>
              <a:rPr lang="zh-CN" altLang="en-US" sz="2000" dirty="0"/>
              <a:t>的内容输出到标准输出文件</a:t>
            </a:r>
            <a:r>
              <a:rPr lang="en-US" altLang="zh-CN" sz="2000" dirty="0"/>
              <a:t>----</a:t>
            </a:r>
            <a:r>
              <a:rPr lang="zh-CN" altLang="en-US" sz="2000" dirty="0"/>
              <a:t>荧光屏上</a:t>
            </a:r>
          </a:p>
          <a:p>
            <a:pPr marL="609600" indent="-609600">
              <a:buNone/>
              <a:defRPr/>
            </a:pPr>
            <a:r>
              <a:rPr lang="zh-CN" altLang="en-US" sz="2000" dirty="0"/>
              <a:t> </a:t>
            </a:r>
            <a:r>
              <a:rPr lang="en-US" altLang="zh-CN" sz="2000" dirty="0"/>
              <a:t>$  cat  </a:t>
            </a:r>
            <a:r>
              <a:rPr lang="en-US" altLang="zh-CN" sz="2000" dirty="0" err="1"/>
              <a:t>myfile</a:t>
            </a:r>
            <a:r>
              <a:rPr lang="en-US" altLang="zh-CN" sz="2000" dirty="0"/>
              <a:t>  &gt;  </a:t>
            </a:r>
            <a:r>
              <a:rPr lang="en-US" altLang="zh-CN" sz="2000" dirty="0" err="1"/>
              <a:t>newfile</a:t>
            </a:r>
            <a:endParaRPr lang="en-US" altLang="zh-CN" sz="2000" dirty="0"/>
          </a:p>
          <a:p>
            <a:pPr marL="609600" indent="-609600">
              <a:buNone/>
              <a:defRPr/>
            </a:pPr>
            <a:r>
              <a:rPr lang="en-US" altLang="zh-CN" sz="2000" dirty="0"/>
              <a:t>     </a:t>
            </a:r>
            <a:r>
              <a:rPr lang="zh-CN" altLang="en-US" sz="2000" dirty="0"/>
              <a:t>把文件</a:t>
            </a:r>
            <a:r>
              <a:rPr lang="en-US" altLang="zh-CN" sz="2000" dirty="0" err="1"/>
              <a:t>myfile</a:t>
            </a:r>
            <a:r>
              <a:rPr lang="zh-CN" altLang="en-US" sz="2000" dirty="0"/>
              <a:t>的内容输出到文件</a:t>
            </a:r>
            <a:r>
              <a:rPr lang="en-US" altLang="zh-CN" sz="2000" dirty="0" err="1"/>
              <a:t>newfile</a:t>
            </a:r>
            <a:r>
              <a:rPr lang="zh-CN" altLang="en-US" sz="2000" dirty="0"/>
              <a:t>中</a:t>
            </a:r>
            <a:r>
              <a:rPr lang="en-US" altLang="zh-CN" sz="2000" dirty="0"/>
              <a:t>(</a:t>
            </a:r>
            <a:r>
              <a:rPr lang="zh-CN" altLang="en-US" sz="2000" dirty="0"/>
              <a:t>标准输出已被重新定向到</a:t>
            </a:r>
            <a:r>
              <a:rPr lang="en-US" altLang="zh-CN" sz="2000" dirty="0" err="1"/>
              <a:t>newfile</a:t>
            </a:r>
            <a:r>
              <a:rPr lang="en-US" altLang="zh-CN" sz="2000" dirty="0"/>
              <a:t>).  </a:t>
            </a:r>
            <a:r>
              <a:rPr lang="zh-CN" altLang="en-US" sz="2000" dirty="0"/>
              <a:t>其结果相当于拷贝文件</a:t>
            </a:r>
            <a:r>
              <a:rPr lang="en-US" altLang="zh-CN" sz="2000" dirty="0"/>
              <a:t>.</a:t>
            </a:r>
          </a:p>
          <a:p>
            <a:pPr marL="609600" indent="-609600">
              <a:buNone/>
              <a:defRPr/>
            </a:pPr>
            <a:r>
              <a:rPr lang="en-US" altLang="zh-CN" sz="2000" dirty="0"/>
              <a:t>$  cat  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  &gt;&gt;  xyz</a:t>
            </a:r>
          </a:p>
          <a:p>
            <a:pPr marL="609600" indent="-609600">
              <a:buNone/>
              <a:defRPr/>
            </a:pPr>
            <a:r>
              <a:rPr lang="en-US" altLang="zh-CN" sz="2000" dirty="0"/>
              <a:t>    </a:t>
            </a:r>
            <a:r>
              <a:rPr lang="zh-CN" altLang="en-US" sz="2000" dirty="0"/>
              <a:t>把</a:t>
            </a:r>
            <a:r>
              <a:rPr lang="en-US" altLang="zh-CN" sz="2000" dirty="0" err="1"/>
              <a:t>abc</a:t>
            </a:r>
            <a:r>
              <a:rPr lang="zh-CN" altLang="en-US" sz="2000" dirty="0"/>
              <a:t>添加到</a:t>
            </a:r>
            <a:r>
              <a:rPr lang="en-US" altLang="zh-CN" sz="2000" dirty="0"/>
              <a:t>xyz</a:t>
            </a:r>
            <a:r>
              <a:rPr lang="zh-CN" altLang="en-US" sz="2000" dirty="0"/>
              <a:t>已有内容后面</a:t>
            </a:r>
            <a:r>
              <a:rPr lang="en-US" altLang="zh-CN" sz="2000" dirty="0"/>
              <a:t>, </a:t>
            </a:r>
            <a:r>
              <a:rPr lang="zh-CN" altLang="en-US" sz="2000" dirty="0"/>
              <a:t>而不是覆盖</a:t>
            </a:r>
            <a:r>
              <a:rPr lang="en-US" altLang="zh-CN" sz="2000" dirty="0"/>
              <a:t>xyz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08736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7325E82E-2662-4300-BCA6-2564EDF7F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7260" y="1127759"/>
            <a:ext cx="8077200" cy="5527684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zh-CN" altLang="en-US" sz="2200" dirty="0">
                <a:solidFill>
                  <a:srgbClr val="0000FF"/>
                </a:solidFill>
              </a:rPr>
              <a:t>应用举例</a:t>
            </a:r>
            <a:r>
              <a:rPr lang="en-US" altLang="zh-CN" sz="2200" dirty="0">
                <a:solidFill>
                  <a:srgbClr val="0000FF"/>
                </a:solidFill>
              </a:rPr>
              <a:t>:    </a:t>
            </a:r>
          </a:p>
          <a:p>
            <a:pPr marL="457200" indent="-457200">
              <a:buNone/>
              <a:defRPr/>
            </a:pPr>
            <a:r>
              <a:rPr lang="en-US" altLang="zh-CN" sz="2200" dirty="0">
                <a:solidFill>
                  <a:srgbClr val="FF0000"/>
                </a:solidFill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ea typeface="仿宋_GB2312" pitchFamily="49" charset="-122"/>
              </a:rPr>
              <a:t>①.</a:t>
            </a:r>
            <a:r>
              <a:rPr lang="en-US" altLang="zh-CN" sz="2200" dirty="0">
                <a:ea typeface="仿宋_GB2312" pitchFamily="49" charset="-122"/>
              </a:rPr>
              <a:t> </a:t>
            </a:r>
            <a:r>
              <a:rPr lang="zh-CN" altLang="en-US" sz="2200" dirty="0"/>
              <a:t>按字母顺序显示当前系统中所有已登录的用户</a:t>
            </a:r>
            <a:r>
              <a:rPr lang="en-US" altLang="zh-CN" sz="2200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sz="2200" dirty="0"/>
              <a:t>$ who  &gt;  temp1                                     </a:t>
            </a:r>
            <a:r>
              <a:rPr lang="zh-CN" altLang="en-US" sz="2200" dirty="0"/>
              <a:t>把当前登录用户的名单保存在</a:t>
            </a:r>
            <a:r>
              <a:rPr lang="en-US" altLang="zh-CN" sz="2200" dirty="0"/>
              <a:t>temp1</a:t>
            </a:r>
            <a:r>
              <a:rPr lang="zh-CN" altLang="en-US" sz="2200" dirty="0"/>
              <a:t>中</a:t>
            </a:r>
          </a:p>
          <a:p>
            <a:pPr marL="457200" indent="-457200">
              <a:buNone/>
              <a:defRPr/>
            </a:pPr>
            <a:r>
              <a:rPr lang="en-US" altLang="zh-CN" sz="2200" dirty="0"/>
              <a:t>$ sort  temp1  &gt;  temp2                          </a:t>
            </a:r>
            <a:r>
              <a:rPr lang="zh-CN" altLang="en-US" sz="2200" dirty="0"/>
              <a:t>把排序后的名单保存在</a:t>
            </a:r>
            <a:r>
              <a:rPr lang="en-US" altLang="zh-CN" sz="2200" dirty="0"/>
              <a:t>temp2</a:t>
            </a:r>
            <a:r>
              <a:rPr lang="zh-CN" altLang="en-US" sz="2200" dirty="0"/>
              <a:t>中</a:t>
            </a:r>
          </a:p>
          <a:p>
            <a:pPr marL="457200" indent="-457200">
              <a:buNone/>
              <a:defRPr/>
            </a:pPr>
            <a:r>
              <a:rPr lang="en-US" altLang="zh-CN" sz="2200" dirty="0"/>
              <a:t>$ more  temp2                                        </a:t>
            </a:r>
            <a:r>
              <a:rPr lang="zh-CN" altLang="en-US" sz="2200" dirty="0"/>
              <a:t>逐屏显示排好序的用户名单</a:t>
            </a:r>
          </a:p>
          <a:p>
            <a:pPr marL="457200" indent="-457200">
              <a:buNone/>
              <a:defRPr/>
            </a:pPr>
            <a:r>
              <a:rPr lang="en-US" altLang="zh-CN" sz="2200" dirty="0"/>
              <a:t>$ </a:t>
            </a:r>
            <a:r>
              <a:rPr lang="en-US" altLang="zh-CN" sz="2200" dirty="0" err="1"/>
              <a:t>rm</a:t>
            </a:r>
            <a:r>
              <a:rPr lang="en-US" altLang="zh-CN" sz="2200" dirty="0"/>
              <a:t>  temp1  temp2                                </a:t>
            </a:r>
            <a:r>
              <a:rPr lang="zh-CN" altLang="en-US" sz="2200" dirty="0"/>
              <a:t>删除不用的临时文件</a:t>
            </a:r>
            <a:endParaRPr lang="en-US" altLang="zh-CN" sz="2200" dirty="0"/>
          </a:p>
          <a:p>
            <a:pPr marL="457200" indent="-457200">
              <a:buNone/>
              <a:defRPr/>
            </a:pPr>
            <a:endParaRPr lang="en-US" altLang="zh-CN" sz="2200" dirty="0"/>
          </a:p>
          <a:p>
            <a:pPr marL="457200" indent="-457200">
              <a:buNone/>
              <a:defRPr/>
            </a:pPr>
            <a:r>
              <a:rPr lang="zh-CN" altLang="en-US" sz="2200" dirty="0">
                <a:ea typeface="仿宋_GB2312" pitchFamily="49" charset="-122"/>
              </a:rPr>
              <a:t> </a:t>
            </a:r>
            <a:r>
              <a:rPr lang="zh-CN" altLang="en-US" sz="2200" dirty="0">
                <a:solidFill>
                  <a:srgbClr val="FF0000"/>
                </a:solidFill>
                <a:ea typeface="仿宋_GB2312" pitchFamily="49" charset="-122"/>
              </a:rPr>
              <a:t>②</a:t>
            </a:r>
            <a:r>
              <a:rPr lang="en-US" altLang="zh-CN" sz="2200" dirty="0">
                <a:ea typeface="仿宋_GB2312" pitchFamily="49" charset="-122"/>
              </a:rPr>
              <a:t>.  </a:t>
            </a:r>
            <a:r>
              <a:rPr lang="zh-CN" altLang="en-US" sz="2200" dirty="0"/>
              <a:t>记录长时间运行程序的日志</a:t>
            </a:r>
            <a:r>
              <a:rPr lang="en-US" altLang="zh-CN" sz="2200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sz="2200" dirty="0"/>
              <a:t>$ </a:t>
            </a:r>
            <a:r>
              <a:rPr lang="en-US" altLang="zh-CN" sz="2200" dirty="0" err="1"/>
              <a:t>system_monitor</a:t>
            </a:r>
            <a:r>
              <a:rPr lang="en-US" altLang="zh-CN" sz="2200" dirty="0"/>
              <a:t>   &gt;&gt;  </a:t>
            </a:r>
            <a:r>
              <a:rPr lang="en-US" altLang="zh-CN" sz="2200" dirty="0" err="1"/>
              <a:t>run_log</a:t>
            </a:r>
            <a:r>
              <a:rPr lang="en-US" altLang="zh-CN" sz="2200" dirty="0"/>
              <a:t>           </a:t>
            </a:r>
            <a:r>
              <a:rPr lang="zh-CN" altLang="en-US" sz="2200" dirty="0"/>
              <a:t>运行中的信息累加</a:t>
            </a:r>
            <a:r>
              <a:rPr lang="en-US" altLang="zh-CN" sz="2200" dirty="0"/>
              <a:t>(</a:t>
            </a:r>
            <a:r>
              <a:rPr lang="zh-CN" altLang="en-US" sz="2200" dirty="0"/>
              <a:t>而不是覆盖</a:t>
            </a:r>
            <a:r>
              <a:rPr lang="en-US" altLang="zh-CN" sz="2200" dirty="0"/>
              <a:t>)</a:t>
            </a:r>
            <a:r>
              <a:rPr lang="zh-CN" altLang="en-US" sz="2200" dirty="0"/>
              <a:t>到文件</a:t>
            </a:r>
            <a:r>
              <a:rPr lang="en-US" altLang="zh-CN" sz="2200" dirty="0" err="1"/>
              <a:t>run_log</a:t>
            </a:r>
            <a:r>
              <a:rPr lang="zh-CN" altLang="en-US" sz="2200" dirty="0"/>
              <a:t>中</a:t>
            </a:r>
            <a:r>
              <a:rPr lang="en-US" altLang="zh-CN" sz="2200" dirty="0"/>
              <a:t>, </a:t>
            </a:r>
            <a:r>
              <a:rPr lang="zh-CN" altLang="en-US" sz="2200" dirty="0"/>
              <a:t>便于随时查询。</a:t>
            </a:r>
            <a:endParaRPr lang="en-US" altLang="zh-CN" sz="22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16095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1026">
            <a:extLst>
              <a:ext uri="{FF2B5EF4-FFF2-40B4-BE49-F238E27FC236}">
                <a16:creationId xmlns:a16="http://schemas.microsoft.com/office/drawing/2014/main" id="{63691738-525E-4B5B-B33F-1AE0EB24E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3338" y="1036121"/>
            <a:ext cx="7810500" cy="5581168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8.2.2   </a:t>
            </a:r>
            <a:r>
              <a:rPr lang="zh-CN" altLang="en-US" dirty="0" smtClean="0">
                <a:solidFill>
                  <a:srgbClr val="0000FF"/>
                </a:solidFill>
              </a:rPr>
              <a:t>标准输入</a:t>
            </a:r>
            <a:r>
              <a:rPr lang="zh-CN" altLang="en-US" dirty="0">
                <a:solidFill>
                  <a:srgbClr val="0000FF"/>
                </a:solidFill>
              </a:rPr>
              <a:t>重定向</a:t>
            </a:r>
          </a:p>
          <a:p>
            <a:pPr marL="457200" indent="-457200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</a:t>
            </a:r>
            <a:r>
              <a:rPr lang="en-US" altLang="zh-CN" dirty="0">
                <a:solidFill>
                  <a:srgbClr val="0000FF"/>
                </a:solidFill>
              </a:rPr>
              <a:t>command   &lt;   filename      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</a:t>
            </a:r>
            <a:r>
              <a:rPr lang="zh-CN" altLang="en-US" dirty="0"/>
              <a:t>进程的输入来自文件</a:t>
            </a:r>
            <a:r>
              <a:rPr lang="en-US" altLang="zh-CN" dirty="0"/>
              <a:t>filename,  </a:t>
            </a:r>
            <a:r>
              <a:rPr lang="zh-CN" altLang="en-US" dirty="0"/>
              <a:t>例如</a:t>
            </a:r>
            <a:r>
              <a:rPr lang="en-US" altLang="zh-CN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$ cat ↙           cat</a:t>
            </a:r>
            <a:r>
              <a:rPr lang="zh-CN" altLang="en-US" dirty="0"/>
              <a:t>命令后无文件名</a:t>
            </a:r>
            <a:r>
              <a:rPr lang="en-US" altLang="zh-CN" dirty="0"/>
              <a:t>, cat</a:t>
            </a:r>
            <a:r>
              <a:rPr lang="zh-CN" altLang="en-US" dirty="0"/>
              <a:t>等待键盘输入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 </a:t>
            </a:r>
            <a:r>
              <a:rPr lang="en-US" altLang="zh-CN" dirty="0" err="1"/>
              <a:t>abcde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/>
              <a:t> </a:t>
            </a:r>
            <a:r>
              <a:rPr lang="en-US" altLang="zh-CN" dirty="0" err="1"/>
              <a:t>abcde</a:t>
            </a:r>
            <a:r>
              <a:rPr lang="en-US" altLang="zh-CN" dirty="0"/>
              <a:t>                                                      </a:t>
            </a:r>
            <a:r>
              <a:rPr lang="zh-CN" altLang="en-US" dirty="0"/>
              <a:t>键盘输入内容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this is a test line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this is a test line                                     cat</a:t>
            </a:r>
            <a:r>
              <a:rPr lang="zh-CN" altLang="en-US" dirty="0"/>
              <a:t>进程输出内容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 </a:t>
            </a:r>
            <a:r>
              <a:rPr lang="en-US" altLang="zh-CN" dirty="0" err="1"/>
              <a:t>Ctrl+d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/>
              <a:t> $</a:t>
            </a:r>
          </a:p>
        </p:txBody>
      </p:sp>
      <p:sp>
        <p:nvSpPr>
          <p:cNvPr id="211971" name="Line 1027"/>
          <p:cNvSpPr>
            <a:spLocks noChangeShapeType="1"/>
          </p:cNvSpPr>
          <p:nvPr/>
        </p:nvSpPr>
        <p:spPr bwMode="auto">
          <a:xfrm>
            <a:off x="2088747" y="4051933"/>
            <a:ext cx="3305057" cy="8904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1972" name="Line 1028"/>
          <p:cNvSpPr>
            <a:spLocks noChangeShapeType="1"/>
          </p:cNvSpPr>
          <p:nvPr/>
        </p:nvSpPr>
        <p:spPr bwMode="auto">
          <a:xfrm flipV="1">
            <a:off x="3078866" y="4070991"/>
            <a:ext cx="2558004" cy="5473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1973" name="Line 1029"/>
          <p:cNvSpPr>
            <a:spLocks noChangeShapeType="1"/>
          </p:cNvSpPr>
          <p:nvPr/>
        </p:nvSpPr>
        <p:spPr bwMode="auto">
          <a:xfrm>
            <a:off x="2088747" y="3590486"/>
            <a:ext cx="3548123" cy="2891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11974" name="Line 1030"/>
          <p:cNvSpPr>
            <a:spLocks noChangeShapeType="1"/>
          </p:cNvSpPr>
          <p:nvPr/>
        </p:nvSpPr>
        <p:spPr bwMode="auto">
          <a:xfrm flipV="1">
            <a:off x="3078866" y="5133731"/>
            <a:ext cx="2314938" cy="347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86855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1026">
            <a:extLst>
              <a:ext uri="{FF2B5EF4-FFF2-40B4-BE49-F238E27FC236}">
                <a16:creationId xmlns:a16="http://schemas.microsoft.com/office/drawing/2014/main" id="{63691738-525E-4B5B-B33F-1AE0EB24E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70610"/>
            <a:ext cx="7810500" cy="5526960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8.2.2 </a:t>
            </a:r>
            <a:r>
              <a:rPr lang="zh-CN" altLang="en-US" dirty="0" smtClean="0">
                <a:solidFill>
                  <a:srgbClr val="0000FF"/>
                </a:solidFill>
              </a:rPr>
              <a:t>标准</a:t>
            </a:r>
            <a:r>
              <a:rPr lang="zh-CN" altLang="en-US" dirty="0">
                <a:solidFill>
                  <a:srgbClr val="0000FF"/>
                </a:solidFill>
              </a:rPr>
              <a:t>输入重定向</a:t>
            </a:r>
          </a:p>
          <a:p>
            <a:pPr marL="457200" indent="-457200">
              <a:buNone/>
              <a:defRPr/>
            </a:pP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/>
              <a:t>$ cat  &lt; </a:t>
            </a:r>
            <a:r>
              <a:rPr lang="en-US" altLang="zh-CN" dirty="0" err="1"/>
              <a:t>abc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 err="1"/>
              <a:t>aaaaaaaaaaaaaaa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 err="1"/>
              <a:t>bbbbbbbb</a:t>
            </a:r>
            <a:r>
              <a:rPr lang="en-US" altLang="zh-CN" dirty="0"/>
              <a:t>                         </a:t>
            </a:r>
          </a:p>
          <a:p>
            <a:pPr marL="457200" indent="-457200">
              <a:buNone/>
              <a:defRPr/>
            </a:pPr>
            <a:r>
              <a:rPr lang="en-US" altLang="zh-CN" dirty="0" err="1"/>
              <a:t>cccccccccccccccccc</a:t>
            </a:r>
            <a:r>
              <a:rPr lang="en-US" altLang="zh-CN" dirty="0"/>
              <a:t> </a:t>
            </a:r>
            <a:endParaRPr lang="zh-CN" altLang="en-US" dirty="0"/>
          </a:p>
          <a:p>
            <a:pPr marL="457200" indent="-457200">
              <a:buNone/>
              <a:defRPr/>
            </a:pPr>
            <a:r>
              <a:rPr lang="en-US" altLang="zh-CN" dirty="0"/>
              <a:t>$</a:t>
            </a:r>
          </a:p>
          <a:p>
            <a:pPr marL="457200" indent="-457200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cat</a:t>
            </a:r>
            <a:r>
              <a:rPr lang="zh-CN" altLang="en-US" dirty="0">
                <a:solidFill>
                  <a:srgbClr val="0000FF"/>
                </a:solidFill>
              </a:rPr>
              <a:t>进程的</a:t>
            </a:r>
            <a:r>
              <a:rPr lang="zh-CN" altLang="en-US" dirty="0">
                <a:solidFill>
                  <a:srgbClr val="FF0000"/>
                </a:solidFill>
              </a:rPr>
              <a:t>输入</a:t>
            </a:r>
            <a:r>
              <a:rPr lang="zh-CN" altLang="en-US" dirty="0">
                <a:solidFill>
                  <a:srgbClr val="0000FF"/>
                </a:solidFill>
              </a:rPr>
              <a:t>不是来自命令行参数，而是来自重定向文件</a:t>
            </a:r>
            <a:r>
              <a:rPr lang="en-US" altLang="zh-CN" dirty="0" err="1" smtClean="0">
                <a:solidFill>
                  <a:srgbClr val="0000FF"/>
                </a:solidFill>
              </a:rPr>
              <a:t>abc</a:t>
            </a:r>
            <a:r>
              <a:rPr lang="zh-CN" altLang="en-US" dirty="0" smtClean="0">
                <a:solidFill>
                  <a:srgbClr val="0000FF"/>
                </a:solidFill>
              </a:rPr>
              <a:t>，</a:t>
            </a:r>
            <a:r>
              <a:rPr lang="en-US" altLang="zh-CN" dirty="0" smtClean="0">
                <a:solidFill>
                  <a:srgbClr val="0000FF"/>
                </a:solidFill>
              </a:rPr>
              <a:t>cat</a:t>
            </a:r>
            <a:r>
              <a:rPr lang="zh-CN" altLang="en-US" dirty="0">
                <a:solidFill>
                  <a:srgbClr val="0000FF"/>
                </a:solidFill>
              </a:rPr>
              <a:t>进程的</a:t>
            </a:r>
            <a:r>
              <a:rPr lang="zh-CN" altLang="en-US" dirty="0">
                <a:solidFill>
                  <a:srgbClr val="FF0000"/>
                </a:solidFill>
              </a:rPr>
              <a:t>输出</a:t>
            </a:r>
            <a:r>
              <a:rPr lang="zh-CN" altLang="en-US" dirty="0">
                <a:solidFill>
                  <a:srgbClr val="0000FF"/>
                </a:solidFill>
              </a:rPr>
              <a:t>送到标准输出荧光屏</a:t>
            </a:r>
            <a:r>
              <a:rPr lang="zh-CN" altLang="en-US" dirty="0" smtClean="0">
                <a:solidFill>
                  <a:srgbClr val="0000FF"/>
                </a:solidFill>
              </a:rPr>
              <a:t>上。</a:t>
            </a:r>
            <a:endParaRPr lang="zh-CN" altLang="en-US" dirty="0">
              <a:solidFill>
                <a:srgbClr val="0000FF"/>
              </a:solidFill>
            </a:endParaRPr>
          </a:p>
          <a:p>
            <a:pPr marL="457200" indent="-457200">
              <a:buNone/>
              <a:defRPr/>
            </a:pPr>
            <a:endParaRPr lang="en-US" altLang="zh-CN" sz="1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61795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DCFC418A-43BB-4327-BD3C-A5F3109AE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4360" y="1145382"/>
            <a:ext cx="8313420" cy="4200049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None/>
              <a:defRPr/>
            </a:pPr>
            <a:r>
              <a:rPr lang="en-US" altLang="zh-CN" sz="2100" dirty="0"/>
              <a:t>     </a:t>
            </a:r>
            <a:r>
              <a:rPr lang="en-US" altLang="zh-CN" dirty="0" smtClean="0">
                <a:solidFill>
                  <a:srgbClr val="0000FF"/>
                </a:solidFill>
              </a:rPr>
              <a:t>8.2.3   </a:t>
            </a:r>
            <a:r>
              <a:rPr lang="zh-CN" altLang="en-US" dirty="0">
                <a:solidFill>
                  <a:srgbClr val="0000FF"/>
                </a:solidFill>
              </a:rPr>
              <a:t>常见标准输入输出重定向形式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defRPr/>
            </a:pPr>
            <a:endParaRPr lang="en-US" altLang="zh-CN" sz="2100" dirty="0"/>
          </a:p>
          <a:p>
            <a:pPr marL="457200" indent="-457200">
              <a:lnSpc>
                <a:spcPct val="80000"/>
              </a:lnSpc>
              <a:buNone/>
              <a:defRPr/>
            </a:pPr>
            <a:endParaRPr lang="en-US" altLang="zh-CN" sz="1800" dirty="0">
              <a:solidFill>
                <a:srgbClr val="FF9966"/>
              </a:solidFill>
            </a:endParaRPr>
          </a:p>
          <a:p>
            <a:pPr marL="457200" indent="-457200">
              <a:lnSpc>
                <a:spcPct val="80000"/>
              </a:lnSpc>
              <a:buNone/>
              <a:defRPr/>
            </a:pPr>
            <a:endParaRPr lang="en-US" altLang="zh-CN" sz="1800" dirty="0">
              <a:solidFill>
                <a:srgbClr val="FF9966"/>
              </a:solidFill>
            </a:endParaRPr>
          </a:p>
          <a:p>
            <a:pPr marL="457200" indent="-457200">
              <a:lnSpc>
                <a:spcPct val="80000"/>
              </a:lnSpc>
              <a:buNone/>
              <a:defRPr/>
            </a:pPr>
            <a:endParaRPr lang="en-US" altLang="zh-CN" sz="1800" dirty="0">
              <a:solidFill>
                <a:srgbClr val="FF9966"/>
              </a:solidFill>
            </a:endParaRPr>
          </a:p>
        </p:txBody>
      </p:sp>
      <p:graphicFrame>
        <p:nvGraphicFramePr>
          <p:cNvPr id="411651" name="Group 3">
            <a:extLst>
              <a:ext uri="{FF2B5EF4-FFF2-40B4-BE49-F238E27FC236}">
                <a16:creationId xmlns:a16="http://schemas.microsoft.com/office/drawing/2014/main" id="{7F7A80DE-567E-47B4-B86B-650C2688414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95400" y="2007988"/>
          <a:ext cx="6629401" cy="3168254"/>
        </p:xfrm>
        <a:graphic>
          <a:graphicData uri="http://schemas.openxmlformats.org/drawingml/2006/table">
            <a:tbl>
              <a:tblPr/>
              <a:tblGrid>
                <a:gridCol w="200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6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05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命  令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效果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键盘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屏幕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将键盘输入显示在屏幕上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6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     file1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屏幕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的内容显示在屏幕上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5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     file1  &gt;  file2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的内容写入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5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              &gt;  file2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键盘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键盘输入的内容写入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8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 &lt;  file1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屏幕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的内容显示在屏幕上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5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 &lt;  file1  &gt;  file2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file1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的内容写入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file2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21890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D0A758EF-340D-4F72-9AE3-E47A50BB2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85850"/>
            <a:ext cx="7734300" cy="5071882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8.2.4   </a:t>
            </a:r>
            <a:r>
              <a:rPr lang="zh-CN" altLang="en-US" dirty="0">
                <a:solidFill>
                  <a:srgbClr val="0000FF"/>
                </a:solidFill>
              </a:rPr>
              <a:t>标准错误输出重定向</a:t>
            </a:r>
            <a:r>
              <a:rPr lang="en-US" altLang="zh-CN" dirty="0" smtClean="0">
                <a:solidFill>
                  <a:srgbClr val="0000FF"/>
                </a:solidFill>
              </a:rPr>
              <a:t>:</a:t>
            </a:r>
            <a:r>
              <a:rPr lang="en-US" altLang="zh-CN" dirty="0" smtClean="0"/>
              <a:t>     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 smtClean="0">
                <a:solidFill>
                  <a:srgbClr val="0000FF"/>
                </a:solidFill>
              </a:rPr>
              <a:t>command   </a:t>
            </a:r>
            <a:r>
              <a:rPr lang="en-US" altLang="zh-CN" dirty="0">
                <a:solidFill>
                  <a:srgbClr val="0000FF"/>
                </a:solidFill>
              </a:rPr>
              <a:t>2&gt;   filename  </a:t>
            </a:r>
            <a:r>
              <a:rPr lang="en-US" altLang="zh-CN" dirty="0"/>
              <a:t>           </a:t>
            </a:r>
            <a:r>
              <a:rPr lang="en-US" altLang="zh-CN" dirty="0" smtClean="0"/>
              <a:t>( </a:t>
            </a:r>
            <a:r>
              <a:rPr lang="en-US" altLang="zh-CN" dirty="0">
                <a:solidFill>
                  <a:srgbClr val="FF3300"/>
                </a:solidFill>
              </a:rPr>
              <a:t>2</a:t>
            </a:r>
            <a:r>
              <a:rPr lang="zh-CN" altLang="en-US" dirty="0">
                <a:solidFill>
                  <a:srgbClr val="FF3300"/>
                </a:solidFill>
              </a:rPr>
              <a:t>和</a:t>
            </a:r>
            <a:r>
              <a:rPr lang="en-US" altLang="zh-CN" dirty="0">
                <a:solidFill>
                  <a:srgbClr val="FF3300"/>
                </a:solidFill>
              </a:rPr>
              <a:t>&gt;</a:t>
            </a:r>
            <a:r>
              <a:rPr lang="zh-CN" altLang="en-US" dirty="0">
                <a:solidFill>
                  <a:srgbClr val="FF3300"/>
                </a:solidFill>
              </a:rPr>
              <a:t>之间没有空格</a:t>
            </a:r>
            <a:r>
              <a:rPr lang="zh-CN" altLang="en-US" dirty="0"/>
              <a:t> </a:t>
            </a:r>
            <a:r>
              <a:rPr lang="en-US" altLang="zh-CN" dirty="0"/>
              <a:t>)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进程运行中的错误信息重定向到文件</a:t>
            </a:r>
            <a:r>
              <a:rPr lang="en-US" altLang="zh-CN" dirty="0"/>
              <a:t>filename,  </a:t>
            </a:r>
            <a:r>
              <a:rPr lang="zh-CN" altLang="en-US" dirty="0"/>
              <a:t>例如</a:t>
            </a:r>
            <a:r>
              <a:rPr lang="en-US" altLang="zh-CN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$ cc  -o  </a:t>
            </a:r>
            <a:r>
              <a:rPr lang="en-US" altLang="zh-CN" dirty="0" err="1"/>
              <a:t>core_prt</a:t>
            </a:r>
            <a:r>
              <a:rPr lang="en-US" altLang="zh-CN" dirty="0"/>
              <a:t>  </a:t>
            </a:r>
            <a:r>
              <a:rPr lang="en-US" altLang="zh-CN" dirty="0" err="1"/>
              <a:t>core.c</a:t>
            </a:r>
            <a:r>
              <a:rPr lang="en-US" altLang="zh-CN" dirty="0"/>
              <a:t>  2&gt;  err.log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在编译过程中如果出现</a:t>
            </a:r>
            <a:r>
              <a:rPr lang="en-US" altLang="zh-CN" dirty="0" err="1"/>
              <a:t>core.c</a:t>
            </a:r>
            <a:r>
              <a:rPr lang="zh-CN" altLang="en-US" dirty="0"/>
              <a:t>不存在或不能读、</a:t>
            </a:r>
            <a:r>
              <a:rPr lang="en-US" altLang="zh-CN" dirty="0" err="1"/>
              <a:t>core_prt</a:t>
            </a:r>
            <a:r>
              <a:rPr lang="zh-CN" altLang="en-US" dirty="0"/>
              <a:t>没有写权限等错误</a:t>
            </a:r>
            <a:r>
              <a:rPr lang="en-US" altLang="zh-CN" dirty="0"/>
              <a:t>, </a:t>
            </a:r>
            <a:r>
              <a:rPr lang="zh-CN" altLang="en-US" dirty="0"/>
              <a:t>则把错误信息保存在文件</a:t>
            </a:r>
            <a:r>
              <a:rPr lang="en-US" altLang="zh-CN" dirty="0"/>
              <a:t>err.log</a:t>
            </a:r>
            <a:r>
              <a:rPr lang="zh-CN" altLang="en-US" dirty="0"/>
              <a:t>中</a:t>
            </a:r>
            <a:r>
              <a:rPr lang="en-US" altLang="zh-CN" dirty="0"/>
              <a:t>.</a:t>
            </a:r>
          </a:p>
          <a:p>
            <a:pPr marL="457200" indent="-457200">
              <a:buNone/>
              <a:defRPr/>
            </a:pPr>
            <a:r>
              <a:rPr lang="en-US" altLang="zh-CN" dirty="0" smtClean="0"/>
              <a:t>$ </a:t>
            </a:r>
            <a:r>
              <a:rPr lang="en-US" altLang="zh-CN" dirty="0"/>
              <a:t>cat   file1  file2  &gt;  file3  2&gt;  </a:t>
            </a:r>
            <a:r>
              <a:rPr lang="en-US" altLang="zh-CN" dirty="0" err="1"/>
              <a:t>errfile</a:t>
            </a:r>
            <a:endParaRPr lang="en-US" altLang="zh-CN" dirty="0"/>
          </a:p>
          <a:p>
            <a:pPr marL="457200" indent="-457200"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如果命令运行正常</a:t>
            </a:r>
            <a:r>
              <a:rPr lang="en-US" altLang="zh-CN" dirty="0"/>
              <a:t>, </a:t>
            </a:r>
            <a:r>
              <a:rPr lang="zh-CN" altLang="en-US" dirty="0"/>
              <a:t>则把结果</a:t>
            </a:r>
            <a:r>
              <a:rPr lang="en-US" altLang="zh-CN" dirty="0"/>
              <a:t>(</a:t>
            </a:r>
            <a:r>
              <a:rPr lang="zh-CN" altLang="en-US" dirty="0"/>
              <a:t>连接</a:t>
            </a:r>
            <a:r>
              <a:rPr lang="en-US" altLang="zh-CN" dirty="0"/>
              <a:t>file1</a:t>
            </a:r>
            <a:r>
              <a:rPr lang="zh-CN" altLang="en-US" dirty="0"/>
              <a:t>和</a:t>
            </a:r>
            <a:r>
              <a:rPr lang="en-US" altLang="zh-CN" dirty="0"/>
              <a:t>file2)</a:t>
            </a:r>
            <a:r>
              <a:rPr lang="zh-CN" altLang="en-US" dirty="0"/>
              <a:t>存入</a:t>
            </a:r>
            <a:r>
              <a:rPr lang="en-US" altLang="zh-CN" dirty="0"/>
              <a:t>file3</a:t>
            </a:r>
            <a:r>
              <a:rPr lang="zh-CN" altLang="en-US" dirty="0"/>
              <a:t>中；如果出现错误</a:t>
            </a:r>
            <a:r>
              <a:rPr lang="en-US" altLang="zh-CN" dirty="0"/>
              <a:t>, </a:t>
            </a:r>
            <a:r>
              <a:rPr lang="zh-CN" altLang="en-US" dirty="0"/>
              <a:t>则把错误信息存放到</a:t>
            </a:r>
            <a:r>
              <a:rPr lang="en-US" altLang="zh-CN" dirty="0" err="1"/>
              <a:t>errfile</a:t>
            </a:r>
            <a:r>
              <a:rPr lang="zh-CN" altLang="en-US" dirty="0" smtClean="0"/>
              <a:t>中。</a:t>
            </a:r>
            <a:endParaRPr lang="en-US" altLang="zh-CN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05197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D0A758EF-340D-4F72-9AE3-E47A50BB2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85850"/>
            <a:ext cx="8031480" cy="4579620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8.2.4   </a:t>
            </a:r>
            <a:r>
              <a:rPr lang="zh-CN" altLang="en-US" dirty="0">
                <a:solidFill>
                  <a:srgbClr val="0000FF"/>
                </a:solidFill>
              </a:rPr>
              <a:t>标准错误输出重定向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       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$ </a:t>
            </a:r>
            <a:r>
              <a:rPr lang="en-US" altLang="zh-CN" dirty="0" err="1"/>
              <a:t>grep</a:t>
            </a:r>
            <a:r>
              <a:rPr lang="en-US" altLang="zh-CN" dirty="0"/>
              <a:t>  string6  </a:t>
            </a:r>
            <a:r>
              <a:rPr lang="en-US" altLang="zh-CN" dirty="0" err="1"/>
              <a:t>data_sav</a:t>
            </a:r>
            <a:r>
              <a:rPr lang="en-US" altLang="zh-CN" dirty="0"/>
              <a:t>   &gt;  </a:t>
            </a:r>
            <a:r>
              <a:rPr lang="en-US" altLang="zh-CN" dirty="0" err="1"/>
              <a:t>count_log</a:t>
            </a:r>
            <a:r>
              <a:rPr lang="en-US" altLang="zh-CN" dirty="0"/>
              <a:t>  2&gt; &amp;1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 </a:t>
            </a:r>
            <a:r>
              <a:rPr lang="zh-CN" altLang="en-US" dirty="0" smtClean="0"/>
              <a:t>把</a:t>
            </a:r>
            <a:r>
              <a:rPr lang="zh-CN" altLang="en-US" dirty="0"/>
              <a:t>进程的出错信息存放到标准输出</a:t>
            </a:r>
            <a:r>
              <a:rPr lang="en-US" altLang="zh-CN" dirty="0"/>
              <a:t>(</a:t>
            </a:r>
            <a:r>
              <a:rPr lang="zh-CN" altLang="en-US" dirty="0"/>
              <a:t>已重定向到</a:t>
            </a:r>
            <a:r>
              <a:rPr lang="en-US" altLang="zh-CN" dirty="0" err="1"/>
              <a:t>count_log</a:t>
            </a:r>
            <a:r>
              <a:rPr lang="en-US" altLang="zh-CN" dirty="0"/>
              <a:t>)</a:t>
            </a:r>
            <a:r>
              <a:rPr lang="zh-CN" altLang="en-US" dirty="0"/>
              <a:t>中</a:t>
            </a:r>
            <a:r>
              <a:rPr lang="en-US" altLang="zh-CN" dirty="0"/>
              <a:t>,  </a:t>
            </a:r>
            <a:r>
              <a:rPr lang="zh-CN" altLang="en-US" dirty="0"/>
              <a:t>即把标准输出和标准错误输出</a:t>
            </a:r>
            <a:r>
              <a:rPr lang="zh-CN" altLang="en-US" dirty="0" smtClean="0"/>
              <a:t>都重新定向到同一</a:t>
            </a:r>
            <a:r>
              <a:rPr lang="zh-CN" altLang="en-US" dirty="0"/>
              <a:t>个文件</a:t>
            </a:r>
            <a:r>
              <a:rPr lang="zh-CN" altLang="en-US" dirty="0" smtClean="0"/>
              <a:t>中。</a:t>
            </a:r>
            <a:endParaRPr lang="en-US" altLang="zh-CN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12811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28F9AACE-F26C-46A8-B713-496DDA4FD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9640" y="1093470"/>
            <a:ext cx="8214360" cy="5143500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8.2.5   </a:t>
            </a:r>
            <a:r>
              <a:rPr lang="zh-CN" altLang="en-US" dirty="0">
                <a:solidFill>
                  <a:srgbClr val="0000FF"/>
                </a:solidFill>
              </a:rPr>
              <a:t>管道 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管道用于连接两个命令</a:t>
            </a:r>
            <a:r>
              <a:rPr lang="en-US" altLang="zh-CN" dirty="0"/>
              <a:t>, </a:t>
            </a:r>
            <a:r>
              <a:rPr lang="zh-CN" altLang="en-US" dirty="0"/>
              <a:t>它把前一个命令的标准输出重定向给后一个命令</a:t>
            </a:r>
            <a:r>
              <a:rPr lang="zh-CN" altLang="en-US" dirty="0" smtClean="0"/>
              <a:t>作为其标准</a:t>
            </a:r>
            <a:r>
              <a:rPr lang="zh-CN" altLang="en-US" dirty="0"/>
              <a:t>输入</a:t>
            </a:r>
            <a:r>
              <a:rPr lang="en-US" altLang="zh-CN" dirty="0"/>
              <a:t>,  </a:t>
            </a:r>
            <a:r>
              <a:rPr lang="zh-CN" altLang="en-US" dirty="0"/>
              <a:t>其格式为</a:t>
            </a:r>
            <a:r>
              <a:rPr lang="en-US" altLang="zh-CN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             </a:t>
            </a:r>
            <a:r>
              <a:rPr lang="en-US" altLang="zh-CN" dirty="0" smtClean="0">
                <a:solidFill>
                  <a:srgbClr val="0000FF"/>
                </a:solidFill>
              </a:rPr>
              <a:t>command1  </a:t>
            </a:r>
            <a:r>
              <a:rPr lang="en-US" altLang="zh-CN" dirty="0">
                <a:solidFill>
                  <a:srgbClr val="0000FF"/>
                </a:solidFill>
              </a:rPr>
              <a:t>|   command2</a:t>
            </a:r>
          </a:p>
          <a:p>
            <a:pPr marL="457200" indent="-457200"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对</a:t>
            </a:r>
            <a:r>
              <a:rPr lang="en-US" altLang="zh-CN" dirty="0"/>
              <a:t>command1</a:t>
            </a:r>
            <a:r>
              <a:rPr lang="zh-CN" altLang="en-US" dirty="0"/>
              <a:t>来说标准输出被重新定向到管道</a:t>
            </a:r>
            <a:r>
              <a:rPr lang="en-US" altLang="zh-CN" dirty="0"/>
              <a:t>, </a:t>
            </a:r>
            <a:r>
              <a:rPr lang="zh-CN" altLang="en-US" dirty="0"/>
              <a:t>对</a:t>
            </a:r>
            <a:r>
              <a:rPr lang="en-US" altLang="zh-CN" dirty="0"/>
              <a:t>command2</a:t>
            </a:r>
            <a:r>
              <a:rPr lang="zh-CN" altLang="en-US" dirty="0"/>
              <a:t>来说标准输入也被重新定向为管道</a:t>
            </a:r>
            <a:r>
              <a:rPr lang="en-US" altLang="zh-CN" dirty="0"/>
              <a:t>.  </a:t>
            </a:r>
          </a:p>
          <a:p>
            <a:pPr marL="457200" indent="-457200">
              <a:buNone/>
              <a:defRPr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zh-CN" altLang="en-US" dirty="0" smtClean="0"/>
              <a:t>在前面的</a:t>
            </a:r>
            <a:r>
              <a:rPr lang="zh-CN" altLang="en-US" dirty="0"/>
              <a:t>例题 </a:t>
            </a:r>
            <a:r>
              <a:rPr lang="en-US" altLang="zh-CN" dirty="0"/>
              <a:t>" </a:t>
            </a:r>
            <a:r>
              <a:rPr lang="zh-CN" altLang="en-US" dirty="0"/>
              <a:t>按字母顺序显示当前系统中所有已登录的用户</a:t>
            </a:r>
            <a:r>
              <a:rPr lang="en-US" altLang="zh-CN" dirty="0"/>
              <a:t>"</a:t>
            </a:r>
          </a:p>
          <a:p>
            <a:pPr marL="457200" indent="-457200">
              <a:buNone/>
              <a:defRPr/>
            </a:pPr>
            <a:endParaRPr lang="en-US" altLang="zh-CN" dirty="0"/>
          </a:p>
        </p:txBody>
      </p:sp>
      <p:sp>
        <p:nvSpPr>
          <p:cNvPr id="413699" name="Text Box 3"/>
          <p:cNvSpPr txBox="1">
            <a:spLocks noChangeArrowheads="1"/>
          </p:cNvSpPr>
          <p:nvPr/>
        </p:nvSpPr>
        <p:spPr bwMode="auto">
          <a:xfrm>
            <a:off x="980440" y="4908880"/>
            <a:ext cx="312857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$ who  &gt; temp1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$ sort  temp1 &gt; temp2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$ more temp2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/>
              <a:t>$ </a:t>
            </a:r>
            <a:r>
              <a:rPr lang="en-US" altLang="zh-CN" sz="2000" b="1" dirty="0" err="1"/>
              <a:t>rm</a:t>
            </a:r>
            <a:r>
              <a:rPr lang="en-US" altLang="zh-CN" sz="2000" b="1" dirty="0"/>
              <a:t> temp1 temp2</a:t>
            </a:r>
          </a:p>
        </p:txBody>
      </p:sp>
      <p:sp>
        <p:nvSpPr>
          <p:cNvPr id="413700" name="AutoShape 4"/>
          <p:cNvSpPr>
            <a:spLocks noChangeArrowheads="1"/>
          </p:cNvSpPr>
          <p:nvPr/>
        </p:nvSpPr>
        <p:spPr bwMode="auto">
          <a:xfrm>
            <a:off x="4254902" y="5629982"/>
            <a:ext cx="971550" cy="342900"/>
          </a:xfrm>
          <a:prstGeom prst="rightArrow">
            <a:avLst>
              <a:gd name="adj1" fmla="val 50000"/>
              <a:gd name="adj2" fmla="val 708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100"/>
          </a:p>
        </p:txBody>
      </p:sp>
      <p:sp>
        <p:nvSpPr>
          <p:cNvPr id="413701" name="Text Box 5"/>
          <p:cNvSpPr txBox="1">
            <a:spLocks noChangeArrowheads="1"/>
          </p:cNvSpPr>
          <p:nvPr/>
        </p:nvSpPr>
        <p:spPr bwMode="auto">
          <a:xfrm>
            <a:off x="5804736" y="5536474"/>
            <a:ext cx="24003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/>
              <a:t>$</a:t>
            </a:r>
            <a:r>
              <a:rPr lang="en-US" altLang="zh-CN" sz="2000" b="1" dirty="0"/>
              <a:t> who | sort | more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1346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autoUpdateAnimBg="0"/>
      <p:bldP spid="413700" grpId="0" animBg="1"/>
      <p:bldP spid="41370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ACA30D71-8F45-4F17-AC52-AC3CE344D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020" y="1695450"/>
            <a:ext cx="7680960" cy="490212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例题</a:t>
            </a:r>
            <a:r>
              <a:rPr lang="en-US" altLang="zh-CN" dirty="0"/>
              <a:t>2: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$ who  |   </a:t>
            </a:r>
            <a:r>
              <a:rPr lang="en-US" altLang="zh-CN" dirty="0" err="1"/>
              <a:t>wc</a:t>
            </a:r>
            <a:r>
              <a:rPr lang="en-US" altLang="zh-CN" dirty="0"/>
              <a:t> –l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查看系统当前有几个用户在上机使用系统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$ </a:t>
            </a:r>
            <a:r>
              <a:rPr lang="en-US" altLang="zh-CN" dirty="0" err="1"/>
              <a:t>pr</a:t>
            </a:r>
            <a:r>
              <a:rPr lang="en-US" altLang="zh-CN" dirty="0"/>
              <a:t>   </a:t>
            </a:r>
            <a:r>
              <a:rPr lang="en-US" altLang="zh-CN" dirty="0" err="1"/>
              <a:t>myfile</a:t>
            </a:r>
            <a:r>
              <a:rPr lang="en-US" altLang="zh-CN" dirty="0"/>
              <a:t>  |  </a:t>
            </a:r>
            <a:r>
              <a:rPr lang="en-US" altLang="zh-CN" dirty="0" err="1"/>
              <a:t>lp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把文件</a:t>
            </a:r>
            <a:r>
              <a:rPr lang="en-US" altLang="zh-CN" dirty="0" err="1"/>
              <a:t>myfile</a:t>
            </a:r>
            <a:r>
              <a:rPr lang="zh-CN" altLang="en-US" dirty="0"/>
              <a:t>按标准打印格式处理</a:t>
            </a:r>
            <a:r>
              <a:rPr lang="zh-CN" altLang="en-US" dirty="0" smtClean="0"/>
              <a:t>后的结果</a:t>
            </a:r>
            <a:r>
              <a:rPr lang="en-US" altLang="zh-CN" dirty="0" smtClean="0"/>
              <a:t>, </a:t>
            </a:r>
            <a:r>
              <a:rPr lang="zh-CN" altLang="en-US" dirty="0"/>
              <a:t>送到打印机打印出来</a:t>
            </a:r>
            <a:r>
              <a:rPr lang="en-US" altLang="zh-CN" dirty="0"/>
              <a:t>(</a:t>
            </a:r>
            <a:r>
              <a:rPr lang="zh-CN" altLang="en-US" dirty="0"/>
              <a:t>原文件</a:t>
            </a:r>
            <a:r>
              <a:rPr lang="en-US" altLang="zh-CN" dirty="0" err="1"/>
              <a:t>myfile</a:t>
            </a:r>
            <a:r>
              <a:rPr lang="zh-CN" altLang="en-US" dirty="0"/>
              <a:t>并未作任何修改</a:t>
            </a:r>
            <a:r>
              <a:rPr lang="en-US" altLang="zh-CN" dirty="0"/>
              <a:t>).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$ </a:t>
            </a:r>
            <a:r>
              <a:rPr lang="en-US" altLang="zh-CN" dirty="0" err="1"/>
              <a:t>grep</a:t>
            </a:r>
            <a:r>
              <a:rPr lang="en-US" altLang="zh-CN" dirty="0"/>
              <a:t>  student  </a:t>
            </a:r>
            <a:r>
              <a:rPr lang="en-US" altLang="zh-CN" dirty="0" err="1"/>
              <a:t>user_list</a:t>
            </a:r>
            <a:r>
              <a:rPr lang="en-US" altLang="zh-CN" dirty="0"/>
              <a:t>  |  sort  &gt;  </a:t>
            </a:r>
            <a:r>
              <a:rPr lang="en-US" altLang="zh-CN" dirty="0" err="1"/>
              <a:t>stu_list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在包含所有用户名单的文件</a:t>
            </a:r>
            <a:r>
              <a:rPr lang="en-US" altLang="zh-CN" dirty="0" err="1"/>
              <a:t>user_list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查找包含</a:t>
            </a:r>
            <a:r>
              <a:rPr lang="en-US" altLang="zh-CN" dirty="0"/>
              <a:t>student</a:t>
            </a:r>
            <a:r>
              <a:rPr lang="zh-CN" altLang="en-US" dirty="0"/>
              <a:t>的行</a:t>
            </a:r>
            <a:r>
              <a:rPr lang="en-US" altLang="zh-CN" dirty="0"/>
              <a:t>,  </a:t>
            </a:r>
            <a:r>
              <a:rPr lang="zh-CN" altLang="en-US" dirty="0"/>
              <a:t>并把结果排序后存放在文件</a:t>
            </a:r>
            <a:r>
              <a:rPr lang="en-US" altLang="zh-CN" dirty="0" err="1"/>
              <a:t>stu_list</a:t>
            </a:r>
            <a:r>
              <a:rPr lang="zh-CN" altLang="en-US" dirty="0"/>
              <a:t>中</a:t>
            </a:r>
            <a:r>
              <a:rPr lang="en-US" altLang="zh-CN" dirty="0"/>
              <a:t>. (</a:t>
            </a:r>
            <a:r>
              <a:rPr lang="zh-CN" altLang="en-US" dirty="0"/>
              <a:t>管道</a:t>
            </a:r>
            <a:r>
              <a:rPr lang="zh-CN" altLang="en-US" dirty="0" smtClean="0"/>
              <a:t>和标准输出</a:t>
            </a:r>
            <a:r>
              <a:rPr lang="zh-CN" altLang="en-US" dirty="0"/>
              <a:t>重定向混合使用</a:t>
            </a:r>
            <a:r>
              <a:rPr lang="en-US" altLang="zh-CN" dirty="0"/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80440" y="1116619"/>
            <a:ext cx="3939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8.2.5  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管道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00373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>
            <a:extLst>
              <a:ext uri="{FF2B5EF4-FFF2-40B4-BE49-F238E27FC236}">
                <a16:creationId xmlns:a16="http://schemas.microsoft.com/office/drawing/2014/main" id="{0D0F22F0-7668-4064-847C-F3D72A630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1" y="1055370"/>
            <a:ext cx="7970519" cy="5380154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3    </a:t>
            </a:r>
            <a:r>
              <a:rPr lang="en-US" altLang="zh-CN" b="1" dirty="0">
                <a:solidFill>
                  <a:srgbClr val="0000FF"/>
                </a:solidFill>
              </a:rPr>
              <a:t>shell </a:t>
            </a:r>
            <a:r>
              <a:rPr lang="zh-CN" altLang="en-US" b="1" dirty="0">
                <a:solidFill>
                  <a:srgbClr val="0000FF"/>
                </a:solidFill>
              </a:rPr>
              <a:t>可识别的命令</a:t>
            </a:r>
            <a:r>
              <a:rPr lang="zh-CN" altLang="en-US" b="1" dirty="0" smtClean="0">
                <a:solidFill>
                  <a:srgbClr val="0000FF"/>
                </a:solidFill>
              </a:rPr>
              <a:t>形式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8.3.1</a:t>
            </a:r>
            <a:r>
              <a:rPr lang="en-US" altLang="zh-CN" dirty="0" smtClean="0"/>
              <a:t>  </a:t>
            </a:r>
            <a:r>
              <a:rPr lang="zh-CN" altLang="en-US" dirty="0">
                <a:solidFill>
                  <a:srgbClr val="0000FF"/>
                </a:solidFill>
              </a:rPr>
              <a:t>单条命令</a:t>
            </a:r>
            <a:r>
              <a:rPr lang="en-US" altLang="zh-CN" dirty="0"/>
              <a:t>:       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                  </a:t>
            </a:r>
            <a:r>
              <a:rPr lang="en-US" altLang="zh-CN" dirty="0" smtClean="0"/>
              <a:t>$ </a:t>
            </a:r>
            <a:r>
              <a:rPr lang="en-US" altLang="zh-CN" dirty="0"/>
              <a:t>cat   file1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这是最常用命令形式</a:t>
            </a:r>
            <a:r>
              <a:rPr lang="en-US" altLang="zh-CN" dirty="0"/>
              <a:t>, </a:t>
            </a:r>
            <a:r>
              <a:rPr lang="zh-CN" altLang="en-US" dirty="0"/>
              <a:t>本命令执行完成后出现</a:t>
            </a:r>
            <a:r>
              <a:rPr lang="en-US" altLang="zh-CN" dirty="0"/>
              <a:t>shell</a:t>
            </a:r>
            <a:r>
              <a:rPr lang="zh-CN" altLang="en-US" dirty="0"/>
              <a:t>提示符</a:t>
            </a:r>
            <a:r>
              <a:rPr lang="en-US" altLang="zh-CN" dirty="0"/>
              <a:t>, </a:t>
            </a:r>
            <a:r>
              <a:rPr lang="zh-CN" altLang="en-US" dirty="0"/>
              <a:t>再接收下一条键盘命令</a:t>
            </a:r>
            <a:r>
              <a:rPr lang="en-US" altLang="zh-CN" dirty="0"/>
              <a:t>.</a:t>
            </a:r>
          </a:p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8.3.2</a:t>
            </a:r>
            <a:r>
              <a:rPr lang="en-US" altLang="zh-CN" dirty="0" smtClean="0"/>
              <a:t>  </a:t>
            </a:r>
            <a:r>
              <a:rPr lang="zh-CN" altLang="en-US" dirty="0">
                <a:solidFill>
                  <a:srgbClr val="0000FF"/>
                </a:solidFill>
              </a:rPr>
              <a:t>多条命令</a:t>
            </a:r>
            <a:r>
              <a:rPr lang="en-US" altLang="zh-CN" dirty="0"/>
              <a:t>:   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                 $ </a:t>
            </a:r>
            <a:r>
              <a:rPr lang="en-US" altLang="zh-CN" dirty="0" err="1"/>
              <a:t>pwd</a:t>
            </a:r>
            <a:r>
              <a:rPr lang="en-US" altLang="zh-CN" dirty="0"/>
              <a:t>; who; date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第一条命令执行完成后</a:t>
            </a:r>
            <a:r>
              <a:rPr lang="en-US" altLang="zh-CN" dirty="0"/>
              <a:t>, (</a:t>
            </a:r>
            <a:r>
              <a:rPr lang="zh-CN" altLang="en-US" dirty="0"/>
              <a:t>无停顿</a:t>
            </a:r>
            <a:r>
              <a:rPr lang="en-US" altLang="zh-CN" dirty="0"/>
              <a:t>)</a:t>
            </a:r>
            <a:r>
              <a:rPr lang="zh-CN" altLang="en-US" dirty="0"/>
              <a:t>再执行第二条命令</a:t>
            </a:r>
            <a:r>
              <a:rPr lang="en-US" altLang="zh-CN" dirty="0"/>
              <a:t>, </a:t>
            </a:r>
            <a:r>
              <a:rPr lang="zh-CN" altLang="en-US" dirty="0"/>
              <a:t>如此下去</a:t>
            </a:r>
            <a:r>
              <a:rPr lang="en-US" altLang="zh-CN" dirty="0"/>
              <a:t>.  </a:t>
            </a:r>
            <a:r>
              <a:rPr lang="zh-CN" altLang="en-US" dirty="0"/>
              <a:t>运行功能和效果与在键盘上逐条输入命令并运行是完全一样的</a:t>
            </a:r>
            <a:r>
              <a:rPr lang="en-US" altLang="zh-CN" dirty="0"/>
              <a:t>, </a:t>
            </a:r>
            <a:r>
              <a:rPr lang="zh-CN" altLang="en-US" dirty="0"/>
              <a:t>其主要目的是提高键盘命令输入效率</a:t>
            </a:r>
            <a:r>
              <a:rPr lang="en-US" altLang="zh-CN" dirty="0"/>
              <a:t>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34745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B354E3A7-8165-41B8-994B-AFD04B0D5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078229"/>
            <a:ext cx="8039100" cy="5368869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8.3.3  </a:t>
            </a:r>
            <a:r>
              <a:rPr lang="zh-CN" altLang="en-US" dirty="0">
                <a:solidFill>
                  <a:srgbClr val="0000FF"/>
                </a:solidFill>
              </a:rPr>
              <a:t>复合命令</a:t>
            </a:r>
            <a:r>
              <a:rPr lang="en-US" altLang="zh-CN" dirty="0">
                <a:solidFill>
                  <a:srgbClr val="0000FF"/>
                </a:solidFill>
              </a:rPr>
              <a:t>:   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>
                <a:ea typeface="仿宋_GB2312" pitchFamily="49" charset="-122"/>
              </a:rPr>
              <a:t>①</a:t>
            </a:r>
            <a:r>
              <a:rPr lang="en-US" altLang="zh-CN" dirty="0"/>
              <a:t> $ </a:t>
            </a:r>
            <a:r>
              <a:rPr lang="en-US" altLang="zh-CN" dirty="0" err="1"/>
              <a:t>ps</a:t>
            </a:r>
            <a:r>
              <a:rPr lang="en-US" altLang="zh-CN" dirty="0"/>
              <a:t> –e | </a:t>
            </a:r>
            <a:r>
              <a:rPr lang="en-US" altLang="zh-CN" dirty="0" err="1"/>
              <a:t>grep</a:t>
            </a:r>
            <a:r>
              <a:rPr lang="en-US" altLang="zh-CN" dirty="0"/>
              <a:t> student2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管道前后的命令任意组合、同时运行</a:t>
            </a:r>
            <a:r>
              <a:rPr lang="en-US" altLang="zh-CN" dirty="0"/>
              <a:t>, </a:t>
            </a:r>
            <a:r>
              <a:rPr lang="zh-CN" altLang="en-US" dirty="0"/>
              <a:t>形成功能更强大灵活的复合命令</a:t>
            </a:r>
            <a:r>
              <a:rPr lang="en-US" altLang="zh-CN" dirty="0"/>
              <a:t>.</a:t>
            </a:r>
          </a:p>
          <a:p>
            <a:pPr marL="609600" indent="-609600">
              <a:buNone/>
              <a:defRPr/>
            </a:pPr>
            <a:endParaRPr lang="en-US" altLang="zh-CN" dirty="0"/>
          </a:p>
          <a:p>
            <a:pPr marL="609600" indent="-609600"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>
                <a:ea typeface="仿宋_GB2312" pitchFamily="49" charset="-122"/>
              </a:rPr>
              <a:t>②</a:t>
            </a:r>
            <a:r>
              <a:rPr lang="en-US" altLang="zh-CN" dirty="0"/>
              <a:t> $ (ls ; cat file3 ; </a:t>
            </a:r>
            <a:r>
              <a:rPr lang="en-US" altLang="zh-CN" dirty="0" err="1"/>
              <a:t>pwd</a:t>
            </a:r>
            <a:r>
              <a:rPr lang="en-US" altLang="zh-CN" dirty="0"/>
              <a:t>)  &gt;  </a:t>
            </a:r>
            <a:r>
              <a:rPr lang="en-US" altLang="zh-CN" dirty="0" err="1"/>
              <a:t>run_log</a:t>
            </a:r>
            <a:endParaRPr lang="en-US" altLang="zh-CN" dirty="0"/>
          </a:p>
          <a:p>
            <a:pPr marL="609600" indent="-609600">
              <a:buNone/>
              <a:defRPr/>
            </a:pPr>
            <a:r>
              <a:rPr lang="en-US" altLang="zh-CN" dirty="0"/>
              <a:t>              </a:t>
            </a:r>
            <a:r>
              <a:rPr lang="zh-CN" altLang="en-US" dirty="0"/>
              <a:t>括号内的命令任意组合、顺序执行，且由一个子</a:t>
            </a:r>
            <a:r>
              <a:rPr lang="en-US" altLang="zh-CN" dirty="0"/>
              <a:t>shell</a:t>
            </a:r>
            <a:r>
              <a:rPr lang="zh-CN" altLang="en-US" dirty="0"/>
              <a:t>来单独控制运行</a:t>
            </a:r>
            <a:r>
              <a:rPr lang="en-US" altLang="zh-CN" dirty="0"/>
              <a:t>, </a:t>
            </a:r>
            <a:r>
              <a:rPr lang="zh-CN" altLang="en-US" dirty="0"/>
              <a:t>相当于一个小的功能程序</a:t>
            </a:r>
            <a:r>
              <a:rPr lang="en-US" altLang="zh-CN" dirty="0"/>
              <a:t>.  </a:t>
            </a:r>
            <a:r>
              <a:rPr lang="zh-CN" altLang="en-US" dirty="0"/>
              <a:t>方便灵活</a:t>
            </a:r>
            <a:r>
              <a:rPr lang="en-US" altLang="zh-CN" dirty="0"/>
              <a:t>, </a:t>
            </a:r>
            <a:r>
              <a:rPr lang="zh-CN" altLang="en-US" dirty="0"/>
              <a:t>运行效率高</a:t>
            </a:r>
            <a:r>
              <a:rPr lang="en-US" altLang="zh-CN" dirty="0"/>
              <a:t>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08756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B354E3A7-8165-41B8-994B-AFD04B0D5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078230"/>
            <a:ext cx="8130540" cy="540385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8.3.4    </a:t>
            </a:r>
            <a:r>
              <a:rPr lang="zh-CN" altLang="en-US" dirty="0">
                <a:solidFill>
                  <a:srgbClr val="0000FF"/>
                </a:solidFill>
              </a:rPr>
              <a:t>后台命令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         </a:t>
            </a:r>
            <a:r>
              <a:rPr lang="en-US" altLang="zh-CN" dirty="0">
                <a:latin typeface="+mn-lt"/>
              </a:rPr>
              <a:t>$</a:t>
            </a:r>
            <a:r>
              <a:rPr lang="en-US" altLang="zh-CN" dirty="0"/>
              <a:t> ls –</a:t>
            </a:r>
            <a:r>
              <a:rPr lang="en-US" altLang="zh-CN" dirty="0" err="1"/>
              <a:t>lR</a:t>
            </a:r>
            <a:r>
              <a:rPr lang="en-US" altLang="zh-CN" dirty="0"/>
              <a:t>  &gt;  </a:t>
            </a:r>
            <a:r>
              <a:rPr lang="en-US" altLang="zh-CN" dirty="0" err="1"/>
              <a:t>file_list</a:t>
            </a:r>
            <a:r>
              <a:rPr lang="en-US" altLang="zh-CN" dirty="0"/>
              <a:t>  &amp;</a:t>
            </a:r>
          </a:p>
          <a:p>
            <a:pPr marL="609600" indent="-609600">
              <a:buNone/>
              <a:defRPr/>
            </a:pPr>
            <a:r>
              <a:rPr lang="en-CA" altLang="zh-CN" dirty="0">
                <a:solidFill>
                  <a:srgbClr val="0000FF"/>
                </a:solidFill>
              </a:rPr>
              <a:t>             </a:t>
            </a:r>
            <a:r>
              <a:rPr lang="en-CA" altLang="zh-CN" dirty="0" smtClean="0">
                <a:solidFill>
                  <a:srgbClr val="0000FF"/>
                </a:solidFill>
              </a:rPr>
              <a:t> </a:t>
            </a:r>
            <a:r>
              <a:rPr lang="en-CA" altLang="zh-CN" dirty="0" smtClean="0"/>
              <a:t>[</a:t>
            </a:r>
            <a:r>
              <a:rPr lang="en-CA" altLang="zh-CN" dirty="0"/>
              <a:t>1]   7981</a:t>
            </a:r>
          </a:p>
          <a:p>
            <a:pPr marL="609600" indent="-609600">
              <a:buNone/>
              <a:defRPr/>
            </a:pPr>
            <a:r>
              <a:rPr lang="en-CA" altLang="zh-CN" dirty="0"/>
              <a:t>             </a:t>
            </a:r>
            <a:r>
              <a:rPr lang="en-CA" altLang="zh-CN" dirty="0" smtClean="0"/>
              <a:t> </a:t>
            </a:r>
            <a:r>
              <a:rPr lang="en-CA" altLang="zh-CN" dirty="0" smtClean="0">
                <a:latin typeface="+mn-lt"/>
              </a:rPr>
              <a:t>$</a:t>
            </a:r>
            <a:r>
              <a:rPr lang="en-CA" altLang="zh-CN" dirty="0" smtClean="0"/>
              <a:t> </a:t>
            </a:r>
            <a:r>
              <a:rPr lang="en-US" altLang="zh-CN" dirty="0" smtClean="0"/>
              <a:t>       </a:t>
            </a:r>
          </a:p>
          <a:p>
            <a:pPr marL="609600" indent="-609600">
              <a:buNone/>
              <a:defRPr/>
            </a:pPr>
            <a:r>
              <a:rPr lang="zh-CN" altLang="en-US" dirty="0" smtClean="0"/>
              <a:t>普通</a:t>
            </a:r>
            <a:r>
              <a:rPr lang="zh-CN" altLang="en-US" dirty="0"/>
              <a:t>命令行的行尾加上</a:t>
            </a:r>
            <a:r>
              <a:rPr lang="en-US" altLang="zh-CN" dirty="0"/>
              <a:t>&amp;</a:t>
            </a:r>
            <a:r>
              <a:rPr lang="zh-CN" altLang="en-US" dirty="0"/>
              <a:t>符号，就表示该命令在后台执行。</a:t>
            </a:r>
            <a:endParaRPr lang="en-US" altLang="zh-CN" dirty="0"/>
          </a:p>
          <a:p>
            <a:pPr marL="609600" indent="-609600">
              <a:buNone/>
              <a:defRPr/>
            </a:pPr>
            <a:r>
              <a:rPr lang="en-US" altLang="zh-CN" dirty="0"/>
              <a:t> </a:t>
            </a:r>
            <a:r>
              <a:rPr lang="en-CA" altLang="zh-CN" dirty="0" smtClean="0">
                <a:solidFill>
                  <a:srgbClr val="0000FF"/>
                </a:solidFill>
              </a:rPr>
              <a:t>[</a:t>
            </a:r>
            <a:r>
              <a:rPr lang="en-CA" altLang="zh-CN" dirty="0">
                <a:solidFill>
                  <a:srgbClr val="0000FF"/>
                </a:solidFill>
              </a:rPr>
              <a:t>1]</a:t>
            </a:r>
            <a:r>
              <a:rPr lang="en-CA" altLang="zh-CN" dirty="0"/>
              <a:t>:  </a:t>
            </a:r>
            <a:r>
              <a:rPr lang="zh-CN" altLang="en-US" dirty="0"/>
              <a:t>当前</a:t>
            </a:r>
            <a:r>
              <a:rPr lang="en-US" altLang="zh-CN" dirty="0"/>
              <a:t>shell</a:t>
            </a:r>
            <a:r>
              <a:rPr lang="zh-CN" altLang="en-US" dirty="0"/>
              <a:t>的后台作业（进程）序号</a:t>
            </a:r>
            <a:endParaRPr lang="en-CA" altLang="zh-CN" dirty="0"/>
          </a:p>
          <a:p>
            <a:pPr marL="609600" indent="-609600">
              <a:buNone/>
              <a:defRPr/>
            </a:pPr>
            <a:r>
              <a:rPr lang="en-CA" altLang="zh-CN" dirty="0"/>
              <a:t> </a:t>
            </a:r>
            <a:r>
              <a:rPr lang="en-CA" altLang="zh-CN" dirty="0" smtClean="0">
                <a:solidFill>
                  <a:srgbClr val="0000FF"/>
                </a:solidFill>
              </a:rPr>
              <a:t>7981</a:t>
            </a:r>
            <a:r>
              <a:rPr lang="en-CA" altLang="zh-CN" dirty="0"/>
              <a:t>: </a:t>
            </a:r>
            <a:r>
              <a:rPr lang="zh-CN" altLang="en-US" dirty="0"/>
              <a:t>当前这个后台进程（</a:t>
            </a:r>
            <a:r>
              <a:rPr lang="en-US" altLang="zh-CN" dirty="0"/>
              <a:t>ls</a:t>
            </a:r>
            <a:r>
              <a:rPr lang="zh-CN" altLang="en-US" dirty="0"/>
              <a:t>进程）的进程号（</a:t>
            </a:r>
            <a:r>
              <a:rPr lang="en-US" altLang="zh-CN" dirty="0"/>
              <a:t>PID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609600" indent="-609600">
              <a:buNone/>
              <a:defRPr/>
            </a:pPr>
            <a:r>
              <a:rPr lang="en-US" altLang="zh-CN" dirty="0" smtClean="0"/>
              <a:t> </a:t>
            </a:r>
            <a:r>
              <a:rPr lang="en-US" altLang="zh-CN" dirty="0"/>
              <a:t>Shell</a:t>
            </a:r>
            <a:r>
              <a:rPr lang="zh-CN" altLang="en-US" dirty="0"/>
              <a:t>启动该后台进程后不再等待该进程结束，立即开始接受新的键盘命令</a:t>
            </a:r>
            <a:r>
              <a:rPr lang="en-US" altLang="zh-CN" dirty="0"/>
              <a:t>——</a:t>
            </a:r>
            <a:r>
              <a:rPr lang="zh-CN" altLang="en-US" dirty="0"/>
              <a:t>多进程并发</a:t>
            </a:r>
            <a:r>
              <a:rPr lang="en-US" altLang="zh-CN" dirty="0"/>
              <a:t>, </a:t>
            </a:r>
            <a:r>
              <a:rPr lang="zh-CN" altLang="en-US" dirty="0"/>
              <a:t>数量不限</a:t>
            </a:r>
            <a:r>
              <a:rPr lang="en-US" altLang="zh-CN" dirty="0"/>
              <a:t>, </a:t>
            </a:r>
            <a:r>
              <a:rPr lang="zh-CN" altLang="en-US" dirty="0"/>
              <a:t>充分利用系统</a:t>
            </a:r>
            <a:r>
              <a:rPr lang="zh-CN" altLang="en-US" dirty="0" smtClean="0"/>
              <a:t>资源。</a:t>
            </a:r>
            <a:endParaRPr lang="zh-CN" altLang="en-US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01497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0DB49303-C54B-46B5-8736-65788E199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7260" y="1070610"/>
            <a:ext cx="7703820" cy="46710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4    </a:t>
            </a:r>
            <a:r>
              <a:rPr lang="en-US" altLang="zh-CN" b="1" dirty="0">
                <a:solidFill>
                  <a:srgbClr val="0000FF"/>
                </a:solidFill>
              </a:rPr>
              <a:t>shell </a:t>
            </a:r>
            <a:r>
              <a:rPr lang="zh-CN" altLang="en-US" b="1" dirty="0">
                <a:solidFill>
                  <a:srgbClr val="0000FF"/>
                </a:solidFill>
              </a:rPr>
              <a:t>变量和引用符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        </a:t>
            </a:r>
            <a:endParaRPr lang="en-US" altLang="zh-CN" sz="21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r>
              <a:rPr lang="zh-CN" altLang="en-US" dirty="0"/>
              <a:t>每一个</a:t>
            </a:r>
            <a:r>
              <a:rPr lang="en-US" altLang="zh-CN" dirty="0"/>
              <a:t>shell</a:t>
            </a:r>
            <a:r>
              <a:rPr lang="zh-CN" altLang="en-US" dirty="0"/>
              <a:t>都可以设定一组变量来限定</a:t>
            </a:r>
            <a:r>
              <a:rPr lang="en-US" altLang="zh-CN" dirty="0"/>
              <a:t>shell</a:t>
            </a:r>
            <a:r>
              <a:rPr lang="zh-CN" altLang="en-US" dirty="0"/>
              <a:t>及其子程序的</a:t>
            </a:r>
            <a:r>
              <a:rPr lang="zh-CN" altLang="en-US" dirty="0">
                <a:solidFill>
                  <a:srgbClr val="0000FF"/>
                </a:solidFill>
              </a:rPr>
              <a:t>功能模式和取值范围</a:t>
            </a:r>
            <a:r>
              <a:rPr lang="en-US" altLang="zh-CN" dirty="0"/>
              <a:t>, </a:t>
            </a:r>
            <a:r>
              <a:rPr lang="zh-CN" altLang="en-US" dirty="0"/>
              <a:t>这些变量中有些是系统设定的</a:t>
            </a:r>
            <a:r>
              <a:rPr lang="en-US" altLang="zh-CN" dirty="0"/>
              <a:t>, </a:t>
            </a:r>
            <a:r>
              <a:rPr lang="zh-CN" altLang="en-US" dirty="0"/>
              <a:t>有些是由用户设定的</a:t>
            </a:r>
            <a:r>
              <a:rPr lang="en-US" altLang="zh-CN" dirty="0"/>
              <a:t>. </a:t>
            </a:r>
            <a:r>
              <a:rPr lang="zh-CN" altLang="en-US" dirty="0"/>
              <a:t>每个</a:t>
            </a:r>
            <a:r>
              <a:rPr lang="en-US" altLang="zh-CN" dirty="0"/>
              <a:t>shell</a:t>
            </a:r>
            <a:r>
              <a:rPr lang="zh-CN" altLang="en-US" dirty="0"/>
              <a:t>都可以有完全不同的变量设置</a:t>
            </a:r>
            <a:r>
              <a:rPr lang="en-US" altLang="zh-CN" dirty="0"/>
              <a:t>, </a:t>
            </a:r>
            <a:r>
              <a:rPr lang="zh-CN" altLang="en-US" dirty="0"/>
              <a:t>由此构成各具特色的运行环境。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</a:t>
            </a:r>
            <a:r>
              <a:rPr lang="zh-CN" altLang="en-US" dirty="0"/>
              <a:t>系统的</a:t>
            </a:r>
            <a:r>
              <a:rPr lang="zh-CN" altLang="en-US" dirty="0">
                <a:solidFill>
                  <a:srgbClr val="0000FF"/>
                </a:solidFill>
              </a:rPr>
              <a:t>基本环境变量</a:t>
            </a:r>
            <a:r>
              <a:rPr lang="zh-CN" altLang="en-US" dirty="0"/>
              <a:t>放在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/profile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用户环境变量放在用户主目录下的</a:t>
            </a:r>
            <a:r>
              <a:rPr lang="en-US" altLang="zh-CN" dirty="0"/>
              <a:t>.profile</a:t>
            </a:r>
            <a:r>
              <a:rPr lang="zh-CN" altLang="en-US" dirty="0"/>
              <a:t>文件中</a:t>
            </a:r>
            <a:r>
              <a:rPr lang="en-US" altLang="zh-CN" dirty="0"/>
              <a:t>, </a:t>
            </a:r>
            <a:r>
              <a:rPr lang="zh-CN" altLang="en-US" dirty="0"/>
              <a:t>用户</a:t>
            </a:r>
            <a:r>
              <a:rPr lang="en-US" altLang="zh-CN" dirty="0"/>
              <a:t>shell</a:t>
            </a:r>
            <a:r>
              <a:rPr lang="zh-CN" altLang="en-US" dirty="0"/>
              <a:t>启动时</a:t>
            </a:r>
            <a:r>
              <a:rPr lang="en-US" altLang="zh-CN" dirty="0"/>
              <a:t>, </a:t>
            </a:r>
            <a:r>
              <a:rPr lang="zh-CN" altLang="en-US" dirty="0"/>
              <a:t>先执行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/profile, </a:t>
            </a:r>
            <a:r>
              <a:rPr lang="zh-CN" altLang="en-US" dirty="0"/>
              <a:t>再执行用户主目录下的</a:t>
            </a:r>
            <a:r>
              <a:rPr lang="en-US" altLang="zh-CN" dirty="0"/>
              <a:t>.profile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环境变量可在</a:t>
            </a:r>
            <a:r>
              <a:rPr lang="en-US" altLang="zh-CN" dirty="0"/>
              <a:t>shell</a:t>
            </a:r>
            <a:r>
              <a:rPr lang="zh-CN" altLang="en-US" dirty="0"/>
              <a:t>运行时动态修改。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61463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B9287D01-C4B0-42FC-84FC-8DE2A716A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7376" y="1077651"/>
            <a:ext cx="8476623" cy="3505924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8.4.1  </a:t>
            </a:r>
            <a:r>
              <a:rPr lang="zh-CN" altLang="en-US" dirty="0">
                <a:solidFill>
                  <a:srgbClr val="0000FF"/>
                </a:solidFill>
              </a:rPr>
              <a:t>环境变量      常用的</a:t>
            </a:r>
            <a:r>
              <a:rPr lang="en-US" altLang="zh-CN" dirty="0">
                <a:solidFill>
                  <a:srgbClr val="0000FF"/>
                </a:solidFill>
              </a:rPr>
              <a:t>shell</a:t>
            </a:r>
            <a:r>
              <a:rPr lang="zh-CN" altLang="en-US" dirty="0">
                <a:solidFill>
                  <a:srgbClr val="0000FF"/>
                </a:solidFill>
              </a:rPr>
              <a:t>环境变量及实例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 smtClean="0"/>
              <a:t>HOME</a:t>
            </a:r>
            <a:r>
              <a:rPr lang="en-US" altLang="zh-CN" sz="2200" dirty="0"/>
              <a:t>=/</a:t>
            </a:r>
            <a:r>
              <a:rPr lang="en-US" altLang="zh-CN" sz="2200" dirty="0" err="1"/>
              <a:t>usr</a:t>
            </a:r>
            <a:r>
              <a:rPr lang="en-US" altLang="zh-CN" sz="2200" dirty="0"/>
              <a:t>/computer/student6        </a:t>
            </a:r>
            <a:r>
              <a:rPr lang="zh-CN" altLang="en-US" sz="2200" dirty="0"/>
              <a:t>用户主目录</a:t>
            </a:r>
            <a:r>
              <a:rPr lang="en-US" altLang="zh-CN" sz="2200" dirty="0"/>
              <a:t>, </a:t>
            </a:r>
            <a:r>
              <a:rPr lang="zh-CN" altLang="en-US" sz="2200" dirty="0"/>
              <a:t>注册时的初始目录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/>
              <a:t>PATH=/bin:/</a:t>
            </a:r>
            <a:r>
              <a:rPr lang="en-US" altLang="zh-CN" sz="2200" dirty="0" err="1"/>
              <a:t>usr</a:t>
            </a:r>
            <a:r>
              <a:rPr lang="en-US" altLang="zh-CN" sz="2200" dirty="0"/>
              <a:t>/bin:$HOME/bin:./                   </a:t>
            </a:r>
            <a:r>
              <a:rPr lang="zh-CN" altLang="en-US" sz="2200" dirty="0"/>
              <a:t>键盘命令的搜索路径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/>
              <a:t>SHELL=/bin/</a:t>
            </a:r>
            <a:r>
              <a:rPr lang="en-US" altLang="zh-CN" sz="2200" dirty="0" err="1"/>
              <a:t>sh</a:t>
            </a:r>
            <a:r>
              <a:rPr lang="en-US" altLang="zh-CN" sz="2200" dirty="0"/>
              <a:t>                                         </a:t>
            </a:r>
            <a:r>
              <a:rPr lang="zh-CN" altLang="en-US" sz="2200" dirty="0"/>
              <a:t>用户的初始</a:t>
            </a:r>
            <a:r>
              <a:rPr lang="en-US" altLang="zh-CN" sz="2200" dirty="0"/>
              <a:t>shell</a:t>
            </a:r>
            <a:r>
              <a:rPr lang="zh-CN" altLang="en-US" sz="2200" dirty="0"/>
              <a:t>的路径名称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/>
              <a:t>TERM=vt100                                                         </a:t>
            </a:r>
            <a:r>
              <a:rPr lang="zh-CN" altLang="en-US" sz="2200" dirty="0"/>
              <a:t>当前所用的终端类型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/>
              <a:t>PS1=$                                                                              shell</a:t>
            </a:r>
            <a:r>
              <a:rPr lang="zh-CN" altLang="en-US" sz="2200" dirty="0"/>
              <a:t>的主提示符</a:t>
            </a:r>
          </a:p>
          <a:p>
            <a:pPr marL="609600" indent="-609600">
              <a:lnSpc>
                <a:spcPct val="90000"/>
              </a:lnSpc>
              <a:buNone/>
              <a:defRPr/>
            </a:pPr>
            <a:r>
              <a:rPr lang="en-US" altLang="zh-CN" sz="2200" dirty="0"/>
              <a:t>IFS=                       </a:t>
            </a:r>
            <a:r>
              <a:rPr lang="zh-CN" altLang="en-US" sz="2200" dirty="0"/>
              <a:t>域分隔符</a:t>
            </a:r>
            <a:r>
              <a:rPr lang="en-US" altLang="zh-CN" sz="2200" dirty="0"/>
              <a:t>, </a:t>
            </a:r>
            <a:r>
              <a:rPr lang="zh-CN" altLang="en-US" sz="2200" dirty="0"/>
              <a:t>通常为空白符</a:t>
            </a:r>
            <a:r>
              <a:rPr lang="en-US" altLang="zh-CN" sz="2200" dirty="0"/>
              <a:t>, </a:t>
            </a:r>
            <a:r>
              <a:rPr lang="zh-CN" altLang="en-US" sz="2200" dirty="0"/>
              <a:t>用来分隔命令行各个域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86378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B45B5255-0E78-4B4B-B5BE-11422452B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9640" y="1047750"/>
            <a:ext cx="7696200" cy="49530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echo </a:t>
            </a:r>
            <a:r>
              <a:rPr lang="zh-CN" altLang="en-US" dirty="0">
                <a:solidFill>
                  <a:srgbClr val="0000FF"/>
                </a:solidFill>
              </a:rPr>
              <a:t>命令的使用</a:t>
            </a:r>
          </a:p>
          <a:p>
            <a:pPr marL="609600" indent="-609600"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</a:rPr>
              <a:t>           </a:t>
            </a:r>
            <a:r>
              <a:rPr lang="en-US" altLang="zh-CN" sz="2100" dirty="0">
                <a:solidFill>
                  <a:srgbClr val="0000FF"/>
                </a:solidFill>
              </a:rPr>
              <a:t>echo</a:t>
            </a:r>
            <a:r>
              <a:rPr lang="zh-CN" altLang="en-US" sz="2100" dirty="0"/>
              <a:t>命令的基本功能就是在标准输出上显示后面的字符串，或变量的值。当字符串中带空白符或其它控制字符时，用引号将其括起来。例如：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E8622"/>
                </a:solidFill>
                <a:latin typeface="+mn-lt"/>
              </a:rPr>
              <a:t>$ echo  12345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latin typeface="+mn-lt"/>
              </a:rPr>
              <a:t>12345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E8622"/>
                </a:solidFill>
                <a:latin typeface="+mn-lt"/>
              </a:rPr>
              <a:t>$ echo  "department computer"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latin typeface="+mn-lt"/>
              </a:rPr>
              <a:t>department computer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E8622"/>
                </a:solidFill>
                <a:latin typeface="+mn-lt"/>
              </a:rPr>
              <a:t>$ echo "My home directory is: $HOME"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latin typeface="+mn-lt"/>
              </a:rPr>
              <a:t>My home directory is:  /</a:t>
            </a:r>
            <a:r>
              <a:rPr lang="en-US" altLang="zh-CN" sz="2100" dirty="0" err="1">
                <a:latin typeface="+mn-lt"/>
              </a:rPr>
              <a:t>usr</a:t>
            </a:r>
            <a:r>
              <a:rPr lang="en-US" altLang="zh-CN" sz="2100" dirty="0">
                <a:latin typeface="+mn-lt"/>
              </a:rPr>
              <a:t>/teacher/</a:t>
            </a:r>
            <a:r>
              <a:rPr lang="en-US" altLang="zh-CN" sz="2100" dirty="0" err="1">
                <a:latin typeface="+mn-lt"/>
              </a:rPr>
              <a:t>david</a:t>
            </a:r>
            <a:endParaRPr lang="en-US" altLang="zh-CN" sz="2100" dirty="0">
              <a:latin typeface="+mn-lt"/>
            </a:endParaRP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E8622"/>
                </a:solidFill>
                <a:latin typeface="+mn-lt"/>
              </a:rPr>
              <a:t>$ echo –n "Input your choice (y/n) [  ]\b\b"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latin typeface="+mn-lt"/>
              </a:rPr>
              <a:t>Input your choice (y/n) [ _ ]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20789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7F0213B-B9A6-48AB-9256-D7DEB33C5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7260" y="1070609"/>
            <a:ext cx="7028180" cy="5422787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8.4.2   </a:t>
            </a:r>
            <a:r>
              <a:rPr lang="zh-CN" altLang="en-US" dirty="0">
                <a:solidFill>
                  <a:srgbClr val="0000FF"/>
                </a:solidFill>
              </a:rPr>
              <a:t>系统变量</a:t>
            </a:r>
          </a:p>
          <a:p>
            <a:pPr marL="609600" indent="-609600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常用系统变量</a:t>
            </a:r>
            <a:r>
              <a:rPr lang="en-US" altLang="zh-CN" dirty="0">
                <a:solidFill>
                  <a:srgbClr val="0000FF"/>
                </a:solidFill>
              </a:rPr>
              <a:t>: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$0           </a:t>
            </a:r>
            <a:r>
              <a:rPr lang="zh-CN" altLang="en-US" dirty="0">
                <a:latin typeface="+mn-lt"/>
              </a:rPr>
              <a:t>当前</a:t>
            </a:r>
            <a:r>
              <a:rPr lang="en-US" altLang="zh-CN" dirty="0">
                <a:latin typeface="+mn-lt"/>
              </a:rPr>
              <a:t>shell</a:t>
            </a:r>
            <a:r>
              <a:rPr lang="zh-CN" altLang="en-US" dirty="0">
                <a:latin typeface="+mn-lt"/>
              </a:rPr>
              <a:t>程序的名字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$1 ~ $9   </a:t>
            </a:r>
            <a:r>
              <a:rPr lang="zh-CN" altLang="en-US" dirty="0">
                <a:latin typeface="+mn-lt"/>
              </a:rPr>
              <a:t>命令行上的第一到第九个参数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$#           </a:t>
            </a:r>
            <a:r>
              <a:rPr lang="zh-CN" altLang="en-US" dirty="0">
                <a:latin typeface="+mn-lt"/>
              </a:rPr>
              <a:t>命令行上的参数个数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$*           </a:t>
            </a:r>
            <a:r>
              <a:rPr lang="zh-CN" altLang="en-US" dirty="0">
                <a:latin typeface="+mn-lt"/>
              </a:rPr>
              <a:t>命令行上的所有参数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$@         </a:t>
            </a:r>
            <a:r>
              <a:rPr lang="zh-CN" altLang="en-US" dirty="0">
                <a:latin typeface="+mn-lt"/>
              </a:rPr>
              <a:t>分别用双引号引用命令行上的所有参数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$$           </a:t>
            </a:r>
            <a:r>
              <a:rPr lang="zh-CN" altLang="en-US" dirty="0">
                <a:latin typeface="+mn-lt"/>
              </a:rPr>
              <a:t>当前进程的进程标识号</a:t>
            </a:r>
            <a:r>
              <a:rPr lang="en-US" altLang="zh-CN" dirty="0">
                <a:latin typeface="+mn-lt"/>
              </a:rPr>
              <a:t>(PID)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$?           </a:t>
            </a:r>
            <a:r>
              <a:rPr lang="zh-CN" altLang="en-US" dirty="0">
                <a:latin typeface="+mn-lt"/>
              </a:rPr>
              <a:t>上一条命令的退出状态</a:t>
            </a:r>
          </a:p>
          <a:p>
            <a:pPr marL="609600" indent="-609600">
              <a:lnSpc>
                <a:spcPts val="1950"/>
              </a:lnSpc>
              <a:buNone/>
              <a:defRPr/>
            </a:pPr>
            <a:r>
              <a:rPr lang="en-US" altLang="zh-CN" dirty="0">
                <a:latin typeface="+mn-lt"/>
              </a:rPr>
              <a:t>$!            </a:t>
            </a:r>
            <a:r>
              <a:rPr lang="zh-CN" altLang="en-US" dirty="0">
                <a:latin typeface="+mn-lt"/>
              </a:rPr>
              <a:t>最后一个后台进程的进程标识号</a:t>
            </a:r>
          </a:p>
          <a:p>
            <a:pPr marL="609600" indent="-609600">
              <a:buNone/>
              <a:defRPr/>
            </a:pPr>
            <a:r>
              <a:rPr lang="zh-CN" altLang="en-US" i="1" dirty="0">
                <a:solidFill>
                  <a:srgbClr val="FF0000"/>
                </a:solidFill>
              </a:rPr>
              <a:t>系统变量只能引用不能修改</a:t>
            </a:r>
            <a:r>
              <a:rPr lang="en-US" altLang="zh-CN" i="1" dirty="0">
                <a:solidFill>
                  <a:srgbClr val="FF0000"/>
                </a:solidFill>
              </a:rPr>
              <a:t>!  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2166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14851A00-EC55-4B75-9586-19FC92277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020" y="1101090"/>
            <a:ext cx="7955280" cy="489966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zh-CN" altLang="en-US" sz="2100" dirty="0"/>
              <a:t>系统变量应用举例：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echo aa  bb  cc  </a:t>
            </a:r>
            <a:r>
              <a:rPr lang="en-US" altLang="zh-CN" sz="2100" dirty="0" err="1">
                <a:solidFill>
                  <a:srgbClr val="0000FF"/>
                </a:solidFill>
                <a:latin typeface="+mn-lt"/>
              </a:rPr>
              <a:t>dd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 $$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aa  bb  cc  </a:t>
            </a:r>
            <a:r>
              <a:rPr lang="en-US" altLang="zh-CN" sz="2100" dirty="0" err="1">
                <a:latin typeface="+mn-lt"/>
              </a:rPr>
              <a:t>dd</a:t>
            </a:r>
            <a:r>
              <a:rPr lang="en-US" altLang="zh-CN" sz="2100" dirty="0">
                <a:latin typeface="+mn-lt"/>
              </a:rPr>
              <a:t>  2391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cat  file1  file2  &gt; file3  2&gt; </a:t>
            </a:r>
            <a:r>
              <a:rPr lang="en-US" altLang="zh-CN" sz="2100" dirty="0" err="1">
                <a:solidFill>
                  <a:srgbClr val="0000FF"/>
                </a:solidFill>
                <a:latin typeface="+mn-lt"/>
              </a:rPr>
              <a:t>errlog</a:t>
            </a:r>
            <a:endParaRPr lang="en-US" altLang="zh-CN" sz="2100" dirty="0">
              <a:solidFill>
                <a:srgbClr val="0000FF"/>
              </a:solidFill>
              <a:latin typeface="+mn-lt"/>
            </a:endParaRP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echo $?     </a:t>
            </a:r>
            <a:r>
              <a:rPr lang="en-US" altLang="zh-CN" sz="2100" dirty="0">
                <a:latin typeface="+mn-lt"/>
              </a:rPr>
              <a:t>(</a:t>
            </a:r>
            <a:r>
              <a:rPr lang="zh-CN" altLang="en-US" sz="2100" dirty="0">
                <a:latin typeface="+mn-lt"/>
              </a:rPr>
              <a:t>非</a:t>
            </a:r>
            <a:r>
              <a:rPr lang="en-US" altLang="zh-CN" sz="2100" dirty="0">
                <a:latin typeface="+mn-lt"/>
              </a:rPr>
              <a:t>0</a:t>
            </a:r>
            <a:r>
              <a:rPr lang="zh-CN" altLang="en-US" sz="2100" dirty="0">
                <a:latin typeface="+mn-lt"/>
              </a:rPr>
              <a:t>表示命令运行失败</a:t>
            </a:r>
            <a:r>
              <a:rPr lang="en-US" altLang="zh-CN" sz="2100" dirty="0">
                <a:latin typeface="+mn-lt"/>
              </a:rPr>
              <a:t>,  </a:t>
            </a:r>
            <a:r>
              <a:rPr lang="zh-CN" altLang="en-US" sz="2100" dirty="0">
                <a:latin typeface="+mn-lt"/>
              </a:rPr>
              <a:t>错误信息在 </a:t>
            </a:r>
            <a:r>
              <a:rPr lang="en-US" altLang="zh-CN" sz="2100" dirty="0" err="1">
                <a:latin typeface="+mn-lt"/>
              </a:rPr>
              <a:t>errlog</a:t>
            </a:r>
            <a:r>
              <a:rPr lang="en-US" altLang="zh-CN" sz="2100" dirty="0">
                <a:latin typeface="+mn-lt"/>
              </a:rPr>
              <a:t> </a:t>
            </a:r>
            <a:r>
              <a:rPr lang="zh-CN" altLang="en-US" sz="2100" dirty="0">
                <a:latin typeface="+mn-lt"/>
              </a:rPr>
              <a:t>文件中</a:t>
            </a:r>
            <a:r>
              <a:rPr lang="en-US" altLang="zh-CN" sz="2100" dirty="0">
                <a:latin typeface="+mn-lt"/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echo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FF6600"/>
                </a:solidFill>
                <a:latin typeface="+mn-lt"/>
              </a:rPr>
              <a:t>                                           </a:t>
            </a:r>
            <a:r>
              <a:rPr lang="en-US" altLang="zh-CN" sz="2100" dirty="0">
                <a:latin typeface="+mn-lt"/>
              </a:rPr>
              <a:t>(</a:t>
            </a:r>
            <a:r>
              <a:rPr lang="zh-CN" altLang="en-US" sz="2100" dirty="0">
                <a:latin typeface="+mn-lt"/>
              </a:rPr>
              <a:t>空行</a:t>
            </a:r>
            <a:r>
              <a:rPr lang="en-US" altLang="zh-CN" sz="2100" dirty="0">
                <a:latin typeface="+mn-lt"/>
              </a:rPr>
              <a:t>, </a:t>
            </a:r>
            <a:r>
              <a:rPr lang="zh-CN" altLang="en-US" sz="2100" dirty="0">
                <a:latin typeface="+mn-lt"/>
              </a:rPr>
              <a:t>即</a:t>
            </a:r>
            <a:r>
              <a:rPr lang="en-US" altLang="zh-CN" sz="2100" dirty="0">
                <a:latin typeface="+mn-lt"/>
              </a:rPr>
              <a:t>echo</a:t>
            </a:r>
            <a:r>
              <a:rPr lang="zh-CN" altLang="en-US" sz="2100" dirty="0">
                <a:latin typeface="+mn-lt"/>
              </a:rPr>
              <a:t>输出串尾隐含的换行符</a:t>
            </a:r>
            <a:r>
              <a:rPr lang="en-US" altLang="zh-CN" sz="2100" dirty="0">
                <a:latin typeface="+mn-lt"/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echo  This is         a       test.                         </a:t>
            </a:r>
            <a:r>
              <a:rPr lang="en-US" altLang="zh-CN" sz="2100" dirty="0">
                <a:latin typeface="+mn-lt"/>
              </a:rPr>
              <a:t>(</a:t>
            </a:r>
            <a:r>
              <a:rPr lang="zh-CN" altLang="en-US" sz="2100" dirty="0">
                <a:latin typeface="+mn-lt"/>
              </a:rPr>
              <a:t>单词间多个空格</a:t>
            </a:r>
            <a:r>
              <a:rPr lang="en-US" altLang="zh-CN" sz="2100" dirty="0">
                <a:latin typeface="+mn-lt"/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This is a test.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echo  "This is         a      test."         </a:t>
            </a:r>
            <a:r>
              <a:rPr lang="en-US" altLang="zh-CN" sz="2100" dirty="0">
                <a:latin typeface="+mn-lt"/>
              </a:rPr>
              <a:t>(</a:t>
            </a:r>
            <a:r>
              <a:rPr lang="zh-CN" altLang="en-US" sz="2100" dirty="0">
                <a:latin typeface="+mn-lt"/>
              </a:rPr>
              <a:t>用引号包括时结果如何</a:t>
            </a:r>
            <a:r>
              <a:rPr lang="en-US" altLang="zh-CN" sz="2100" dirty="0">
                <a:latin typeface="+mn-lt"/>
              </a:rPr>
              <a:t>?)</a:t>
            </a:r>
            <a:endParaRPr lang="en-US" altLang="zh-CN" sz="2100" dirty="0">
              <a:solidFill>
                <a:srgbClr val="FF6600"/>
              </a:solidFill>
              <a:latin typeface="+mn-lt"/>
            </a:endParaRPr>
          </a:p>
          <a:p>
            <a:pPr marL="609600" indent="-609600">
              <a:buNone/>
              <a:defRPr/>
            </a:pPr>
            <a:endParaRPr lang="en-US" altLang="zh-CN" sz="21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700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0211661F-0D60-43BB-93EC-21A6AB614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116330"/>
            <a:ext cx="8016240" cy="452628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8.4.3    </a:t>
            </a:r>
            <a:r>
              <a:rPr lang="zh-CN" altLang="en-US" dirty="0">
                <a:solidFill>
                  <a:srgbClr val="0000FF"/>
                </a:solidFill>
              </a:rPr>
              <a:t>局部变量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用户变量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/>
              <a:t>   </a:t>
            </a:r>
            <a:r>
              <a:rPr lang="zh-CN" altLang="en-US" sz="2100" dirty="0" smtClean="0"/>
              <a:t>局部变量</a:t>
            </a:r>
            <a:r>
              <a:rPr lang="zh-CN" altLang="en-US" sz="2100" dirty="0"/>
              <a:t>是由用户根据需要任意创建的</a:t>
            </a:r>
            <a:r>
              <a:rPr lang="en-US" altLang="zh-CN" sz="2100" dirty="0"/>
              <a:t>.  </a:t>
            </a:r>
            <a:r>
              <a:rPr lang="zh-CN" altLang="en-US" sz="2100" dirty="0"/>
              <a:t>变量名通常由一个</a:t>
            </a:r>
            <a:r>
              <a:rPr lang="zh-CN" altLang="en-US" sz="2100" dirty="0" smtClean="0"/>
              <a:t>字母后跟</a:t>
            </a:r>
            <a:r>
              <a:rPr lang="zh-CN" altLang="en-US" sz="2100" dirty="0"/>
              <a:t>零个到多个字母、数字或下划线组成。引用变量的值时，在变量名前面加</a:t>
            </a:r>
            <a:r>
              <a:rPr lang="zh-CN" altLang="en-US" sz="2100" dirty="0">
                <a:latin typeface="+mn-lt"/>
              </a:rPr>
              <a:t>上</a:t>
            </a:r>
            <a:r>
              <a:rPr lang="en-US" altLang="zh-CN" sz="2100" dirty="0">
                <a:latin typeface="+mn-lt"/>
              </a:rPr>
              <a:t>$</a:t>
            </a:r>
            <a:r>
              <a:rPr lang="zh-CN" altLang="en-US" sz="2100" dirty="0">
                <a:latin typeface="+mn-lt"/>
              </a:rPr>
              <a:t>符号</a:t>
            </a:r>
            <a:r>
              <a:rPr lang="en-US" altLang="zh-CN" sz="2100" dirty="0">
                <a:latin typeface="+mn-lt"/>
              </a:rPr>
              <a:t>.  </a:t>
            </a:r>
            <a:r>
              <a:rPr lang="zh-CN" altLang="en-US" sz="2100" dirty="0">
                <a:latin typeface="+mn-lt"/>
              </a:rPr>
              <a:t>例如</a:t>
            </a:r>
            <a:r>
              <a:rPr lang="en-US" altLang="zh-CN" sz="2100" dirty="0">
                <a:latin typeface="+mn-lt"/>
              </a:rPr>
              <a:t>: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$ AA=123                                                                 </a:t>
            </a:r>
            <a:r>
              <a:rPr lang="zh-CN" altLang="en-US" sz="2100" dirty="0">
                <a:latin typeface="+mn-lt"/>
              </a:rPr>
              <a:t>定义变量</a:t>
            </a:r>
            <a:r>
              <a:rPr lang="en-US" altLang="zh-CN" sz="2100" dirty="0">
                <a:latin typeface="+mn-lt"/>
              </a:rPr>
              <a:t>AA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$ echo  $AA                                                      </a:t>
            </a:r>
            <a:r>
              <a:rPr lang="zh-CN" altLang="en-US" sz="2100" dirty="0">
                <a:latin typeface="+mn-lt"/>
              </a:rPr>
              <a:t>引用变量</a:t>
            </a:r>
            <a:r>
              <a:rPr lang="en-US" altLang="zh-CN" sz="2100" dirty="0">
                <a:latin typeface="+mn-lt"/>
              </a:rPr>
              <a:t>AA</a:t>
            </a:r>
            <a:r>
              <a:rPr lang="zh-CN" altLang="en-US" sz="2100" dirty="0">
                <a:latin typeface="+mn-lt"/>
              </a:rPr>
              <a:t>的值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123                                                                          (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变量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AA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的值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$  B="this is a string"         </a:t>
            </a:r>
            <a:r>
              <a:rPr lang="zh-CN" altLang="en-US" sz="2100" dirty="0">
                <a:latin typeface="+mn-lt"/>
              </a:rPr>
              <a:t>定义变量</a:t>
            </a:r>
            <a:r>
              <a:rPr lang="en-US" altLang="zh-CN" sz="2100" dirty="0">
                <a:latin typeface="+mn-lt"/>
              </a:rPr>
              <a:t>B</a:t>
            </a:r>
            <a:r>
              <a:rPr lang="zh-CN" altLang="en-US" sz="2100" dirty="0">
                <a:latin typeface="+mn-lt"/>
              </a:rPr>
              <a:t>，</a:t>
            </a:r>
            <a:r>
              <a:rPr lang="en-US" altLang="zh-CN" sz="1800" dirty="0">
                <a:latin typeface="+mn-lt"/>
              </a:rPr>
              <a:t> (</a:t>
            </a:r>
            <a:r>
              <a:rPr lang="zh-CN" altLang="en-US" sz="1800" dirty="0">
                <a:latin typeface="+mn-lt"/>
              </a:rPr>
              <a:t>字符串中有空格时用引号</a:t>
            </a:r>
            <a:r>
              <a:rPr lang="en-US" altLang="zh-CN" sz="1800" dirty="0">
                <a:latin typeface="+mn-lt"/>
              </a:rPr>
              <a:t>)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latin typeface="+mn-lt"/>
              </a:rPr>
              <a:t>$  echo  $B                                                           </a:t>
            </a:r>
            <a:r>
              <a:rPr lang="zh-CN" altLang="en-US" sz="2100" dirty="0">
                <a:latin typeface="+mn-lt"/>
              </a:rPr>
              <a:t>引用变量</a:t>
            </a:r>
            <a:r>
              <a:rPr lang="en-US" altLang="zh-CN" sz="2100" dirty="0">
                <a:latin typeface="+mn-lt"/>
              </a:rPr>
              <a:t>B</a:t>
            </a:r>
            <a:r>
              <a:rPr lang="zh-CN" altLang="en-US" sz="2100" dirty="0">
                <a:latin typeface="+mn-lt"/>
              </a:rPr>
              <a:t>的值</a:t>
            </a:r>
          </a:p>
          <a:p>
            <a:pPr marL="609600" indent="-609600"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this is a string                                                          (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变量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B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的值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)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</a:t>
            </a:r>
            <a:r>
              <a:rPr lang="zh-CN" altLang="en-US" sz="2800" dirty="0"/>
              <a:t>八</a:t>
            </a:r>
            <a:r>
              <a:rPr lang="zh-CN" altLang="en-US" sz="2800" dirty="0" smtClean="0"/>
              <a:t>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56065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44305F79-D6A9-477A-937E-602F07749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028700"/>
            <a:ext cx="7985760" cy="475869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4.4    </a:t>
            </a:r>
            <a:r>
              <a:rPr lang="zh-CN" altLang="en-US" b="1" dirty="0">
                <a:solidFill>
                  <a:srgbClr val="0000FF"/>
                </a:solidFill>
              </a:rPr>
              <a:t>单引号、双引号、反撇号和花括号</a:t>
            </a: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latin typeface="+mn-lt"/>
              </a:rPr>
              <a:t>$ a="he is a student"</a:t>
            </a: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latin typeface="+mn-lt"/>
              </a:rPr>
              <a:t>$ echo "She said: $a"</a:t>
            </a: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She said: he is a student                          echo</a:t>
            </a:r>
            <a:r>
              <a:rPr lang="zh-CN" altLang="en-US" sz="1800" dirty="0">
                <a:solidFill>
                  <a:srgbClr val="0000FF"/>
                </a:solidFill>
                <a:latin typeface="+mn-lt"/>
              </a:rPr>
              <a:t>执行时，替换了变量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$a</a:t>
            </a:r>
            <a:r>
              <a:rPr lang="zh-CN" altLang="en-US" sz="1800" dirty="0">
                <a:solidFill>
                  <a:srgbClr val="0000FF"/>
                </a:solidFill>
                <a:latin typeface="+mn-lt"/>
              </a:rPr>
              <a:t>的值</a:t>
            </a: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latin typeface="+mn-lt"/>
              </a:rPr>
              <a:t>$ b='The value of a is $a'</a:t>
            </a: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latin typeface="+mn-lt"/>
              </a:rPr>
              <a:t>$ echo $b</a:t>
            </a: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The value of a is $a                                echo</a:t>
            </a:r>
            <a:r>
              <a:rPr lang="zh-CN" altLang="en-US" sz="1800" dirty="0">
                <a:solidFill>
                  <a:srgbClr val="0000FF"/>
                </a:solidFill>
                <a:latin typeface="+mn-lt"/>
              </a:rPr>
              <a:t>执行时，未替换了变量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$a</a:t>
            </a:r>
            <a:r>
              <a:rPr lang="zh-CN" altLang="en-US" sz="1800" dirty="0">
                <a:solidFill>
                  <a:srgbClr val="0000FF"/>
                </a:solidFill>
                <a:latin typeface="+mn-lt"/>
              </a:rPr>
              <a:t>的值</a:t>
            </a: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>
              <a:lnSpc>
                <a:spcPts val="1950"/>
              </a:lnSpc>
              <a:buNone/>
              <a:defRPr/>
            </a:pPr>
            <a:r>
              <a:rPr lang="en-US" altLang="zh-CN" sz="1800" dirty="0">
                <a:latin typeface="+mn-lt"/>
              </a:rPr>
              <a:t>   </a:t>
            </a:r>
            <a:r>
              <a:rPr lang="en-US" altLang="zh-CN" sz="1800" dirty="0">
                <a:solidFill>
                  <a:srgbClr val="FF0000"/>
                </a:solidFill>
                <a:latin typeface="+mn-lt"/>
              </a:rPr>
              <a:t>shell</a:t>
            </a:r>
            <a:r>
              <a:rPr lang="zh-CN" altLang="en-US" sz="1800" dirty="0">
                <a:solidFill>
                  <a:srgbClr val="FF0000"/>
                </a:solidFill>
                <a:latin typeface="+mn-lt"/>
              </a:rPr>
              <a:t>规定单引号禁止变量替换</a:t>
            </a:r>
            <a:r>
              <a:rPr lang="en-US" altLang="zh-CN" sz="1800" dirty="0">
                <a:solidFill>
                  <a:srgbClr val="FF0000"/>
                </a:solidFill>
                <a:latin typeface="+mn-lt"/>
              </a:rPr>
              <a:t>, </a:t>
            </a:r>
            <a:r>
              <a:rPr lang="zh-CN" altLang="en-US" sz="1800" dirty="0">
                <a:solidFill>
                  <a:srgbClr val="FF0000"/>
                </a:solidFill>
                <a:latin typeface="+mn-lt"/>
              </a:rPr>
              <a:t>元字符</a:t>
            </a:r>
            <a:r>
              <a:rPr lang="en-US" altLang="zh-CN" sz="1800" dirty="0">
                <a:solidFill>
                  <a:srgbClr val="FF0000"/>
                </a:solidFill>
                <a:latin typeface="+mn-lt"/>
              </a:rPr>
              <a:t>$</a:t>
            </a:r>
            <a:r>
              <a:rPr lang="zh-CN" altLang="en-US" sz="1800" dirty="0">
                <a:solidFill>
                  <a:srgbClr val="FF0000"/>
                </a:solidFill>
                <a:latin typeface="+mn-lt"/>
              </a:rPr>
              <a:t>和*等保持其符号本身</a:t>
            </a:r>
            <a:r>
              <a:rPr lang="en-US" altLang="zh-CN" sz="18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1800" dirty="0">
                <a:solidFill>
                  <a:srgbClr val="FF0000"/>
                </a:solidFill>
                <a:latin typeface="+mn-lt"/>
              </a:rPr>
              <a:t>而双引号允许元字符变量替换</a:t>
            </a:r>
            <a:r>
              <a:rPr lang="en-US" altLang="zh-CN" sz="1800" dirty="0">
                <a:solidFill>
                  <a:srgbClr val="FF0000"/>
                </a:solidFill>
                <a:latin typeface="+mn-lt"/>
              </a:rPr>
              <a:t>.</a:t>
            </a:r>
          </a:p>
          <a:p>
            <a:pPr>
              <a:lnSpc>
                <a:spcPts val="195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dirty="0">
                <a:latin typeface="+mn-lt"/>
              </a:rPr>
              <a:t>$ c="The value of a is $a"</a:t>
            </a:r>
          </a:p>
          <a:p>
            <a:pPr>
              <a:lnSpc>
                <a:spcPts val="195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dirty="0">
                <a:latin typeface="+mn-lt"/>
              </a:rPr>
              <a:t>$ echo $c</a:t>
            </a:r>
          </a:p>
          <a:p>
            <a:pPr>
              <a:lnSpc>
                <a:spcPts val="195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The value of a is he is a student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54525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>
            <a:extLst>
              <a:ext uri="{FF2B5EF4-FFF2-40B4-BE49-F238E27FC236}">
                <a16:creationId xmlns:a16="http://schemas.microsoft.com/office/drawing/2014/main" id="{10D8FCBD-1C82-4150-B692-F7A648160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7260" y="1697529"/>
            <a:ext cx="7612380" cy="302306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+mn-lt"/>
              </a:rPr>
              <a:t>$ a=date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+mn-lt"/>
              </a:rPr>
              <a:t>$ echo $a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date                                                              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(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变量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a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的值是字符串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date)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100" dirty="0">
                <a:latin typeface="+mn-lt"/>
              </a:rPr>
              <a:t>$ b=`date`                                  (</a:t>
            </a:r>
            <a:r>
              <a:rPr lang="zh-CN" altLang="en-US" sz="2100" dirty="0">
                <a:latin typeface="+mn-lt"/>
              </a:rPr>
              <a:t>反撇号中的字符串作为命令名</a:t>
            </a:r>
            <a:r>
              <a:rPr lang="en-US" altLang="zh-CN" sz="2100" dirty="0">
                <a:latin typeface="+mn-lt"/>
              </a:rPr>
              <a:t>)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100" dirty="0">
                <a:latin typeface="+mn-lt"/>
              </a:rPr>
              <a:t>$ echo $b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Sat Feb 1 16:28:19 Beijing 2003 </a:t>
            </a:r>
          </a:p>
          <a:p>
            <a:pPr>
              <a:lnSpc>
                <a:spcPct val="80000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                                     (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变量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b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的值是反撇号中命令的执行结果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37260" y="1055370"/>
            <a:ext cx="654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8.4.4   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单引号、双引号、反撇号和花括号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07199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4" name="Text Box 4"/>
          <p:cNvSpPr txBox="1">
            <a:spLocks noChangeArrowheads="1"/>
          </p:cNvSpPr>
          <p:nvPr/>
        </p:nvSpPr>
        <p:spPr bwMode="auto">
          <a:xfrm>
            <a:off x="937260" y="1774095"/>
            <a:ext cx="7978140" cy="2871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latin typeface="+mn-lt"/>
              </a:rPr>
              <a:t>$ c="There is a teach"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latin typeface="+mn-lt"/>
              </a:rPr>
              <a:t>$ echo "$</a:t>
            </a:r>
            <a:r>
              <a:rPr lang="en-US" altLang="zh-CN" sz="2100" b="1" dirty="0" err="1">
                <a:latin typeface="+mn-lt"/>
              </a:rPr>
              <a:t>cer</a:t>
            </a:r>
            <a:r>
              <a:rPr lang="en-US" altLang="zh-CN" sz="2100" b="1" dirty="0">
                <a:latin typeface="+mn-lt"/>
              </a:rPr>
              <a:t> reading room"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FF"/>
                </a:solidFill>
                <a:latin typeface="+mn-lt"/>
              </a:rPr>
              <a:t>reading room                          (</a:t>
            </a:r>
            <a:r>
              <a:rPr lang="zh-CN" altLang="en-US" sz="2100" b="1" dirty="0">
                <a:solidFill>
                  <a:srgbClr val="0000FF"/>
                </a:solidFill>
                <a:latin typeface="+mn-lt"/>
              </a:rPr>
              <a:t>未定义变量</a:t>
            </a:r>
            <a:r>
              <a:rPr lang="en-US" altLang="zh-CN" sz="2100" b="1" dirty="0" err="1">
                <a:solidFill>
                  <a:srgbClr val="0000FF"/>
                </a:solidFill>
                <a:latin typeface="+mn-lt"/>
              </a:rPr>
              <a:t>cer</a:t>
            </a:r>
            <a:r>
              <a:rPr lang="en-US" altLang="zh-CN" sz="2100" b="1" dirty="0">
                <a:solidFill>
                  <a:srgbClr val="0000FF"/>
                </a:solidFill>
                <a:latin typeface="+mn-lt"/>
              </a:rPr>
              <a:t>, </a:t>
            </a:r>
            <a:r>
              <a:rPr lang="zh-CN" altLang="en-US" sz="2100" b="1" dirty="0">
                <a:solidFill>
                  <a:srgbClr val="0000FF"/>
                </a:solidFill>
                <a:latin typeface="+mn-lt"/>
              </a:rPr>
              <a:t>其值用空串替代</a:t>
            </a:r>
            <a:r>
              <a:rPr lang="en-US" altLang="zh-CN" sz="2100" b="1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None/>
            </a:pPr>
            <a:endParaRPr lang="en-US" altLang="zh-CN" sz="2100" b="1" dirty="0"/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100" b="1" dirty="0"/>
              <a:t>$ echo "${c}</a:t>
            </a:r>
            <a:r>
              <a:rPr lang="en-US" altLang="zh-CN" sz="2100" b="1" dirty="0" err="1"/>
              <a:t>er</a:t>
            </a:r>
            <a:r>
              <a:rPr lang="en-US" altLang="zh-CN" sz="2100" b="1" dirty="0"/>
              <a:t> reading room"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100" b="1" dirty="0">
                <a:solidFill>
                  <a:srgbClr val="0000FF"/>
                </a:solidFill>
              </a:rPr>
              <a:t>There is a teacher reading room 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100" b="1" dirty="0">
                <a:solidFill>
                  <a:srgbClr val="0000FF"/>
                </a:solidFill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</a:rPr>
              <a:t>花括号将变量名和后面的字符串区分开</a:t>
            </a:r>
            <a:r>
              <a:rPr lang="en-US" altLang="zh-CN" sz="2100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37260" y="1055370"/>
            <a:ext cx="654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8.4.4   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单引号、双引号、反撇号和花括号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28838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>
            <a:extLst>
              <a:ext uri="{FF2B5EF4-FFF2-40B4-BE49-F238E27FC236}">
                <a16:creationId xmlns:a16="http://schemas.microsoft.com/office/drawing/2014/main" id="{C8E54199-9B9C-44F3-9DFC-702879CA8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680" y="1146810"/>
            <a:ext cx="7780020" cy="5219266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4.5   </a:t>
            </a:r>
            <a:r>
              <a:rPr lang="zh-CN" altLang="en-US" b="1" dirty="0">
                <a:solidFill>
                  <a:srgbClr val="0000FF"/>
                </a:solidFill>
              </a:rPr>
              <a:t>变量输出命令 </a:t>
            </a:r>
            <a:r>
              <a:rPr lang="en-US" altLang="zh-CN" b="1" dirty="0">
                <a:solidFill>
                  <a:srgbClr val="0000FF"/>
                </a:solidFill>
              </a:rPr>
              <a:t>export</a:t>
            </a:r>
          </a:p>
          <a:p>
            <a:pPr marL="457200" indent="-457200">
              <a:lnSpc>
                <a:spcPct val="90000"/>
              </a:lnSpc>
              <a:buNone/>
              <a:defRPr/>
            </a:pPr>
            <a:r>
              <a:rPr lang="en-US" altLang="zh-CN" sz="2100" dirty="0"/>
              <a:t>       </a:t>
            </a:r>
            <a:r>
              <a:rPr lang="zh-CN" altLang="en-US" sz="2100" dirty="0"/>
              <a:t>新的</a:t>
            </a:r>
            <a:r>
              <a:rPr lang="en-US" altLang="zh-CN" sz="2100" dirty="0"/>
              <a:t>shell</a:t>
            </a:r>
            <a:r>
              <a:rPr lang="zh-CN" altLang="en-US" sz="2100" dirty="0"/>
              <a:t>变量定义后或已有的</a:t>
            </a:r>
            <a:r>
              <a:rPr lang="en-US" altLang="zh-CN" sz="2100" dirty="0"/>
              <a:t>shell</a:t>
            </a:r>
            <a:r>
              <a:rPr lang="zh-CN" altLang="en-US" sz="2100" dirty="0"/>
              <a:t>变量修改值后</a:t>
            </a:r>
            <a:r>
              <a:rPr lang="en-US" altLang="zh-CN" sz="2100" dirty="0"/>
              <a:t>, </a:t>
            </a:r>
            <a:r>
              <a:rPr lang="zh-CN" altLang="en-US" sz="2100" dirty="0"/>
              <a:t>如果未经</a:t>
            </a:r>
            <a:r>
              <a:rPr lang="en-US" altLang="zh-CN" sz="2100" dirty="0"/>
              <a:t>export</a:t>
            </a:r>
            <a:r>
              <a:rPr lang="zh-CN" altLang="en-US" sz="2100" dirty="0"/>
              <a:t>命令输出</a:t>
            </a:r>
            <a:r>
              <a:rPr lang="en-US" altLang="zh-CN" sz="2100" dirty="0"/>
              <a:t>, </a:t>
            </a:r>
            <a:r>
              <a:rPr lang="zh-CN" altLang="en-US" sz="2100" dirty="0"/>
              <a:t>则只在当前的</a:t>
            </a:r>
            <a:r>
              <a:rPr lang="en-US" altLang="zh-CN" sz="2100" dirty="0"/>
              <a:t>shell</a:t>
            </a:r>
            <a:r>
              <a:rPr lang="zh-CN" altLang="en-US" sz="2100" dirty="0"/>
              <a:t>中起作用</a:t>
            </a:r>
            <a:r>
              <a:rPr lang="en-US" altLang="zh-CN" sz="2100" dirty="0"/>
              <a:t>, </a:t>
            </a:r>
            <a:r>
              <a:rPr lang="zh-CN" altLang="en-US" sz="2100" dirty="0"/>
              <a:t>对其各个子</a:t>
            </a:r>
            <a:r>
              <a:rPr lang="en-US" altLang="zh-CN" sz="2100" dirty="0"/>
              <a:t>shell</a:t>
            </a:r>
            <a:r>
              <a:rPr lang="zh-CN" altLang="en-US" sz="2100" dirty="0"/>
              <a:t>不产生任何影响</a:t>
            </a:r>
            <a:r>
              <a:rPr lang="en-US" altLang="zh-CN" sz="2100" dirty="0"/>
              <a:t>. </a:t>
            </a:r>
            <a:r>
              <a:rPr lang="zh-CN" altLang="en-US" sz="2100" dirty="0"/>
              <a:t>经过 </a:t>
            </a:r>
            <a:r>
              <a:rPr lang="en-US" altLang="zh-CN" sz="2100" dirty="0"/>
              <a:t>export </a:t>
            </a:r>
            <a:r>
              <a:rPr lang="zh-CN" altLang="en-US" sz="2100" dirty="0"/>
              <a:t>命令输出的变量才能对当前</a:t>
            </a:r>
            <a:r>
              <a:rPr lang="en-US" altLang="zh-CN" sz="2100" dirty="0"/>
              <a:t>shell</a:t>
            </a:r>
            <a:r>
              <a:rPr lang="zh-CN" altLang="en-US" sz="2100" dirty="0"/>
              <a:t>的各个子</a:t>
            </a:r>
            <a:r>
              <a:rPr lang="en-US" altLang="zh-CN" sz="2100" dirty="0"/>
              <a:t>shell</a:t>
            </a:r>
            <a:r>
              <a:rPr lang="zh-CN" altLang="en-US" sz="2100" dirty="0"/>
              <a:t>、以及子</a:t>
            </a:r>
            <a:r>
              <a:rPr lang="en-US" altLang="zh-CN" sz="2100" dirty="0"/>
              <a:t>shell</a:t>
            </a:r>
            <a:r>
              <a:rPr lang="zh-CN" altLang="en-US" sz="2100" dirty="0"/>
              <a:t>的子</a:t>
            </a:r>
            <a:r>
              <a:rPr lang="en-US" altLang="zh-CN" sz="2100" dirty="0"/>
              <a:t>shell</a:t>
            </a:r>
            <a:r>
              <a:rPr lang="zh-CN" altLang="en-US" sz="2100" dirty="0"/>
              <a:t>起作用。例如：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PATH=$PATH:./ 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$ export  PATH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zh-CN" altLang="en-US" sz="2100" dirty="0">
                <a:solidFill>
                  <a:srgbClr val="FF0000"/>
                </a:solidFill>
              </a:rPr>
              <a:t>说明</a:t>
            </a:r>
            <a:r>
              <a:rPr lang="en-US" altLang="zh-CN" sz="2100" dirty="0">
                <a:solidFill>
                  <a:srgbClr val="FF0000"/>
                </a:solidFill>
              </a:rPr>
              <a:t>:</a:t>
            </a:r>
            <a:r>
              <a:rPr lang="en-US" altLang="zh-CN" sz="2100" dirty="0"/>
              <a:t>  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1.    </a:t>
            </a:r>
            <a:r>
              <a:rPr lang="en-US" altLang="zh-CN" sz="2100" dirty="0"/>
              <a:t>export</a:t>
            </a:r>
            <a:r>
              <a:rPr lang="zh-CN" altLang="en-US" sz="2100" dirty="0"/>
              <a:t>后面的变量名前不加</a:t>
            </a:r>
            <a:r>
              <a:rPr lang="en-US" altLang="zh-CN" sz="2100" dirty="0">
                <a:latin typeface="+mn-lt"/>
              </a:rPr>
              <a:t>$</a:t>
            </a:r>
            <a:r>
              <a:rPr lang="zh-CN" altLang="en-US" sz="2100" dirty="0"/>
              <a:t>符号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2.    </a:t>
            </a:r>
            <a:r>
              <a:rPr lang="zh-CN" altLang="en-US" sz="2100" dirty="0"/>
              <a:t>经</a:t>
            </a:r>
            <a:r>
              <a:rPr lang="en-US" altLang="zh-CN" sz="2100" dirty="0"/>
              <a:t>export</a:t>
            </a:r>
            <a:r>
              <a:rPr lang="zh-CN" altLang="en-US" sz="2100" dirty="0"/>
              <a:t>输出给子</a:t>
            </a:r>
            <a:r>
              <a:rPr lang="en-US" altLang="zh-CN" sz="2100" dirty="0"/>
              <a:t>shell</a:t>
            </a:r>
            <a:r>
              <a:rPr lang="zh-CN" altLang="en-US" sz="2100" dirty="0"/>
              <a:t>的变量如果在子</a:t>
            </a:r>
            <a:r>
              <a:rPr lang="en-US" altLang="zh-CN" sz="2100" dirty="0"/>
              <a:t>shell</a:t>
            </a:r>
            <a:r>
              <a:rPr lang="zh-CN" altLang="en-US" sz="2100" dirty="0"/>
              <a:t>中被修改</a:t>
            </a:r>
            <a:r>
              <a:rPr lang="en-US" altLang="zh-CN" sz="2100" dirty="0"/>
              <a:t>, </a:t>
            </a:r>
            <a:r>
              <a:rPr lang="zh-CN" altLang="en-US" sz="2100" dirty="0"/>
              <a:t>则只影响子</a:t>
            </a:r>
            <a:r>
              <a:rPr lang="en-US" altLang="zh-CN" sz="2100" dirty="0"/>
              <a:t>shell, </a:t>
            </a:r>
            <a:r>
              <a:rPr lang="zh-CN" altLang="en-US" sz="2100" dirty="0"/>
              <a:t>不影响父</a:t>
            </a:r>
            <a:r>
              <a:rPr lang="en-US" altLang="zh-CN" sz="2100" dirty="0"/>
              <a:t>shell; </a:t>
            </a:r>
            <a:r>
              <a:rPr lang="zh-CN" altLang="en-US" sz="2100" dirty="0"/>
              <a:t>如果在子</a:t>
            </a:r>
            <a:r>
              <a:rPr lang="en-US" altLang="zh-CN" sz="2100" dirty="0"/>
              <a:t>shell</a:t>
            </a:r>
            <a:r>
              <a:rPr lang="zh-CN" altLang="en-US" sz="2100" dirty="0"/>
              <a:t>中被输出</a:t>
            </a:r>
            <a:r>
              <a:rPr lang="en-US" altLang="zh-CN" sz="2100" dirty="0"/>
              <a:t>,</a:t>
            </a:r>
            <a:r>
              <a:rPr lang="zh-CN" altLang="en-US" sz="2100" dirty="0"/>
              <a:t>则只影响子</a:t>
            </a:r>
            <a:r>
              <a:rPr lang="en-US" altLang="zh-CN" sz="2100" dirty="0"/>
              <a:t>shell</a:t>
            </a:r>
            <a:r>
              <a:rPr lang="zh-CN" altLang="en-US" sz="2100" dirty="0"/>
              <a:t>的子</a:t>
            </a:r>
            <a:r>
              <a:rPr lang="en-US" altLang="zh-CN" sz="2100" dirty="0"/>
              <a:t>shell</a:t>
            </a:r>
          </a:p>
          <a:p>
            <a:pPr marL="457200" indent="-4572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3.    </a:t>
            </a:r>
            <a:r>
              <a:rPr lang="en-US" altLang="zh-CN" sz="2100" dirty="0"/>
              <a:t>export</a:t>
            </a:r>
            <a:r>
              <a:rPr lang="zh-CN" altLang="en-US" sz="2100" dirty="0"/>
              <a:t>命令常用在</a:t>
            </a:r>
            <a:r>
              <a:rPr lang="en-US" altLang="zh-CN" sz="2100" dirty="0"/>
              <a:t>.profile</a:t>
            </a:r>
            <a:r>
              <a:rPr lang="zh-CN" altLang="en-US" sz="2100" dirty="0"/>
              <a:t>文件中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0957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>
            <a:extLst>
              <a:ext uri="{FF2B5EF4-FFF2-40B4-BE49-F238E27FC236}">
                <a16:creationId xmlns:a16="http://schemas.microsoft.com/office/drawing/2014/main" id="{A3CEB8D9-EBA5-4123-8FEA-2B2338E80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0" y="1078230"/>
            <a:ext cx="7825740" cy="484632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5    </a:t>
            </a:r>
            <a:r>
              <a:rPr lang="en-US" altLang="zh-CN" b="1" dirty="0">
                <a:solidFill>
                  <a:srgbClr val="0000FF"/>
                </a:solidFill>
              </a:rPr>
              <a:t>Shell</a:t>
            </a:r>
            <a:r>
              <a:rPr lang="zh-CN" altLang="en-US" b="1" dirty="0">
                <a:solidFill>
                  <a:srgbClr val="0000FF"/>
                </a:solidFill>
              </a:rPr>
              <a:t>的内部命令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</a:t>
            </a:r>
            <a:r>
              <a:rPr lang="en-US" altLang="zh-CN" sz="2100" dirty="0"/>
              <a:t>shell </a:t>
            </a:r>
            <a:r>
              <a:rPr lang="zh-CN" altLang="en-US" sz="2100" dirty="0"/>
              <a:t>的内部命令包含在</a:t>
            </a:r>
            <a:r>
              <a:rPr lang="en-US" altLang="zh-CN" sz="2100" dirty="0"/>
              <a:t>shell</a:t>
            </a:r>
            <a:r>
              <a:rPr lang="zh-CN" altLang="en-US" sz="2100" dirty="0"/>
              <a:t>内部</a:t>
            </a:r>
            <a:r>
              <a:rPr lang="en-US" altLang="zh-CN" sz="2100" dirty="0"/>
              <a:t>, </a:t>
            </a:r>
            <a:r>
              <a:rPr lang="zh-CN" altLang="en-US" sz="2100" dirty="0"/>
              <a:t>不是一条单独的操作系统命令</a:t>
            </a:r>
            <a:r>
              <a:rPr lang="en-US" altLang="zh-CN" sz="2100" dirty="0"/>
              <a:t>, </a:t>
            </a:r>
            <a:r>
              <a:rPr lang="zh-CN" altLang="en-US" sz="2100" dirty="0"/>
              <a:t>因此无法在文件系统中查找到</a:t>
            </a:r>
            <a:r>
              <a:rPr lang="en-US" altLang="zh-CN" sz="21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例如</a:t>
            </a:r>
            <a:r>
              <a:rPr lang="en-US" altLang="zh-CN" sz="21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cd</a:t>
            </a:r>
            <a:r>
              <a:rPr lang="en-US" altLang="zh-CN" sz="2100" dirty="0"/>
              <a:t>       </a:t>
            </a:r>
            <a:r>
              <a:rPr lang="zh-CN" altLang="en-US" sz="2100" dirty="0"/>
              <a:t>改变当前工作目录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 err="1">
                <a:solidFill>
                  <a:srgbClr val="FF0000"/>
                </a:solidFill>
              </a:rPr>
              <a:t>pwd</a:t>
            </a:r>
            <a:r>
              <a:rPr lang="en-US" altLang="zh-CN" sz="2100" dirty="0"/>
              <a:t>    </a:t>
            </a:r>
            <a:r>
              <a:rPr lang="zh-CN" altLang="en-US" sz="2100" dirty="0"/>
              <a:t>显示当前工作目录</a:t>
            </a:r>
          </a:p>
          <a:p>
            <a:pPr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time  </a:t>
            </a:r>
            <a:r>
              <a:rPr lang="zh-CN" altLang="en-US" sz="2100" dirty="0"/>
              <a:t>显示当前</a:t>
            </a:r>
            <a:r>
              <a:rPr lang="en-US" altLang="zh-CN" sz="2100" dirty="0"/>
              <a:t>shell</a:t>
            </a:r>
            <a:r>
              <a:rPr lang="zh-CN" altLang="en-US" sz="2100" dirty="0"/>
              <a:t>运行命令所花费的时间，例如：</a:t>
            </a:r>
            <a:endParaRPr lang="en-US" altLang="zh-CN" sz="2100" dirty="0"/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        $ time  ls –</a:t>
            </a:r>
            <a:r>
              <a:rPr lang="en-US" altLang="zh-CN" sz="2100" dirty="0" err="1">
                <a:solidFill>
                  <a:srgbClr val="0000FF"/>
                </a:solidFill>
                <a:latin typeface="+mn-lt"/>
              </a:rPr>
              <a:t>lR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/</a:t>
            </a:r>
            <a:r>
              <a:rPr lang="en-US" altLang="zh-CN" sz="2100" dirty="0" err="1">
                <a:solidFill>
                  <a:srgbClr val="0000FF"/>
                </a:solidFill>
                <a:latin typeface="+mn-lt"/>
              </a:rPr>
              <a:t>usr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 &gt;  </a:t>
            </a:r>
            <a:r>
              <a:rPr lang="en-US" altLang="zh-CN" sz="2100" dirty="0" err="1">
                <a:solidFill>
                  <a:srgbClr val="0000FF"/>
                </a:solidFill>
                <a:latin typeface="+mn-lt"/>
              </a:rPr>
              <a:t>flist</a:t>
            </a:r>
            <a:endParaRPr lang="en-US" altLang="zh-CN" sz="2100" dirty="0">
              <a:solidFill>
                <a:srgbClr val="0000FF"/>
              </a:solidFill>
              <a:latin typeface="+mn-lt"/>
            </a:endParaRP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         real    2m 17.32s     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该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ls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进程的总运行时间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         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user   0m 7.63s       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其中用户程序部分的运行时间</a:t>
            </a:r>
          </a:p>
          <a:p>
            <a:pPr marL="609600" indent="-609600">
              <a:lnSpc>
                <a:spcPts val="1875"/>
              </a:lnSpc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         </a:t>
            </a:r>
            <a:r>
              <a:rPr lang="en-US" altLang="zh-CN" sz="2100" dirty="0">
                <a:solidFill>
                  <a:srgbClr val="0000FF"/>
                </a:solidFill>
                <a:latin typeface="+mn-lt"/>
              </a:rPr>
              <a:t>sys     0m 6.79s       </a:t>
            </a:r>
            <a:r>
              <a:rPr lang="zh-CN" altLang="en-US" sz="2100" dirty="0">
                <a:solidFill>
                  <a:srgbClr val="0000FF"/>
                </a:solidFill>
                <a:latin typeface="+mn-lt"/>
              </a:rPr>
              <a:t>其中操作系统核心部分运行时间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7657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>
            <a:extLst>
              <a:ext uri="{FF2B5EF4-FFF2-40B4-BE49-F238E27FC236}">
                <a16:creationId xmlns:a16="http://schemas.microsoft.com/office/drawing/2014/main" id="{7FD8D104-2D1E-41A3-BB52-7FCAA5469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9640" y="1028699"/>
            <a:ext cx="7711440" cy="5210055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6    </a:t>
            </a:r>
            <a:r>
              <a:rPr lang="zh-CN" altLang="en-US" b="1" dirty="0">
                <a:solidFill>
                  <a:srgbClr val="0000FF"/>
                </a:solidFill>
              </a:rPr>
              <a:t>进程监控</a:t>
            </a:r>
          </a:p>
          <a:p>
            <a:pPr marL="457200" indent="-457200">
              <a:buNone/>
              <a:defRPr/>
            </a:pPr>
            <a:endParaRPr lang="zh-CN" altLang="en-US" sz="2100" dirty="0"/>
          </a:p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8.6.1  </a:t>
            </a:r>
            <a:r>
              <a:rPr lang="zh-CN" altLang="en-US" dirty="0">
                <a:solidFill>
                  <a:srgbClr val="0000FF"/>
                </a:solidFill>
              </a:rPr>
              <a:t>进程及进程状态</a:t>
            </a:r>
          </a:p>
          <a:p>
            <a:pPr marL="457200" indent="-457200">
              <a:buNone/>
              <a:defRPr/>
            </a:pPr>
            <a:r>
              <a:rPr lang="zh-CN" altLang="en-US" sz="2100" dirty="0"/>
              <a:t>      </a:t>
            </a:r>
            <a:r>
              <a:rPr lang="en-US" altLang="zh-CN" sz="2100" dirty="0"/>
              <a:t>UNIX/Linux</a:t>
            </a:r>
            <a:r>
              <a:rPr lang="zh-CN" altLang="en-US" sz="2100" dirty="0"/>
              <a:t>系统中的</a:t>
            </a:r>
            <a:r>
              <a:rPr lang="en-US" altLang="zh-CN" sz="2100" dirty="0"/>
              <a:t>“</a:t>
            </a:r>
            <a:r>
              <a:rPr lang="zh-CN" altLang="en-US" sz="2100" dirty="0">
                <a:solidFill>
                  <a:srgbClr val="FF0000"/>
                </a:solidFill>
              </a:rPr>
              <a:t>进程</a:t>
            </a:r>
            <a:r>
              <a:rPr lang="en-US" altLang="zh-CN" sz="2100" dirty="0"/>
              <a:t>”</a:t>
            </a:r>
            <a:r>
              <a:rPr lang="zh-CN" altLang="en-US" sz="2100" dirty="0"/>
              <a:t>是</a:t>
            </a:r>
            <a:r>
              <a:rPr lang="zh-CN" altLang="en-US" sz="2100" dirty="0">
                <a:solidFill>
                  <a:srgbClr val="0000FF"/>
                </a:solidFill>
              </a:rPr>
              <a:t>可运行程序在内存中的一次运行实例</a:t>
            </a:r>
            <a:r>
              <a:rPr lang="zh-CN" altLang="en-US" sz="2100" dirty="0"/>
              <a:t>。</a:t>
            </a:r>
            <a:endParaRPr lang="en-US" altLang="zh-CN" sz="2100" dirty="0"/>
          </a:p>
          <a:p>
            <a:pPr marL="457200" indent="-457200">
              <a:buNone/>
              <a:defRPr/>
            </a:pPr>
            <a:r>
              <a:rPr lang="zh-CN" altLang="en-US" sz="2100" dirty="0"/>
              <a:t>进程和程序的主要区别是</a:t>
            </a:r>
            <a:r>
              <a:rPr lang="en-US" altLang="zh-CN" sz="2100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sz="2100" dirty="0"/>
              <a:t>    . </a:t>
            </a:r>
            <a:r>
              <a:rPr lang="zh-CN" altLang="en-US" sz="2100" dirty="0"/>
              <a:t>进程是动态的</a:t>
            </a:r>
            <a:r>
              <a:rPr lang="en-US" altLang="zh-CN" sz="2100" dirty="0"/>
              <a:t>, </a:t>
            </a:r>
            <a:r>
              <a:rPr lang="zh-CN" altLang="en-US" sz="2100" dirty="0"/>
              <a:t>它有自己的生命周期和不同状态</a:t>
            </a:r>
            <a:r>
              <a:rPr lang="en-US" altLang="zh-CN" sz="2100" dirty="0"/>
              <a:t>; </a:t>
            </a:r>
            <a:r>
              <a:rPr lang="zh-CN" altLang="en-US" sz="2100" dirty="0"/>
              <a:t>而程序是静态的</a:t>
            </a:r>
            <a:r>
              <a:rPr lang="en-US" altLang="zh-CN" sz="2100" dirty="0"/>
              <a:t>, </a:t>
            </a:r>
            <a:r>
              <a:rPr lang="zh-CN" altLang="en-US" sz="2100" dirty="0"/>
              <a:t>通常存放在某种介质</a:t>
            </a:r>
            <a:r>
              <a:rPr lang="en-US" altLang="zh-CN" sz="2100" dirty="0"/>
              <a:t>(</a:t>
            </a:r>
            <a:r>
              <a:rPr lang="zh-CN" altLang="en-US" sz="2100" dirty="0"/>
              <a:t>如磁盘或纸张等</a:t>
            </a:r>
            <a:r>
              <a:rPr lang="en-US" altLang="zh-CN" sz="2100" dirty="0"/>
              <a:t>)</a:t>
            </a:r>
            <a:r>
              <a:rPr lang="zh-CN" altLang="en-US" sz="2100" dirty="0"/>
              <a:t>上。</a:t>
            </a:r>
            <a:endParaRPr lang="en-US" altLang="zh-CN" sz="2100" dirty="0"/>
          </a:p>
          <a:p>
            <a:pPr marL="457200" indent="-457200">
              <a:buNone/>
              <a:defRPr/>
            </a:pPr>
            <a:r>
              <a:rPr lang="en-US" altLang="zh-CN" sz="2100" dirty="0"/>
              <a:t>    . </a:t>
            </a:r>
            <a:r>
              <a:rPr lang="zh-CN" altLang="en-US" sz="2100" dirty="0"/>
              <a:t>进程具有运行控制结构和作用数据区</a:t>
            </a:r>
            <a:r>
              <a:rPr lang="en-US" altLang="zh-CN" sz="2100" dirty="0"/>
              <a:t>;</a:t>
            </a:r>
            <a:r>
              <a:rPr lang="zh-CN" altLang="en-US" sz="2100" dirty="0"/>
              <a:t>程序没有。</a:t>
            </a:r>
            <a:endParaRPr lang="en-US" altLang="zh-CN" sz="2100" dirty="0"/>
          </a:p>
          <a:p>
            <a:pPr marL="457200" indent="-457200">
              <a:buNone/>
              <a:defRPr/>
            </a:pPr>
            <a:r>
              <a:rPr lang="en-US" altLang="zh-CN" sz="2100" dirty="0"/>
              <a:t>    . </a:t>
            </a:r>
            <a:r>
              <a:rPr lang="zh-CN" altLang="en-US" sz="2100" dirty="0"/>
              <a:t>一个程序可以同时在内存中有多个运行实例</a:t>
            </a:r>
            <a:r>
              <a:rPr lang="en-US" altLang="zh-CN" sz="2100" dirty="0"/>
              <a:t>, </a:t>
            </a:r>
            <a:r>
              <a:rPr lang="zh-CN" altLang="en-US" sz="2100" dirty="0"/>
              <a:t>即同时作为多个进程的组成部分。</a:t>
            </a:r>
            <a:endParaRPr lang="en-US" altLang="zh-CN" sz="21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3612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>
            <a:extLst>
              <a:ext uri="{FF2B5EF4-FFF2-40B4-BE49-F238E27FC236}">
                <a16:creationId xmlns:a16="http://schemas.microsoft.com/office/drawing/2014/main" id="{F211E69C-7B46-4DEE-B6C8-B1EF4A2A0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1060" y="1733550"/>
            <a:ext cx="7680960" cy="4267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zh-CN" altLang="en-US" sz="2100" dirty="0"/>
              <a:t>每个进程运行时都有如下生命周期</a:t>
            </a:r>
            <a:r>
              <a:rPr lang="en-US" altLang="zh-CN" sz="21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>
                <a:solidFill>
                  <a:srgbClr val="0000FF"/>
                </a:solidFill>
              </a:rPr>
              <a:t>创建</a:t>
            </a:r>
            <a:r>
              <a:rPr lang="zh-CN" altLang="en-US" sz="2100" dirty="0">
                <a:solidFill>
                  <a:srgbClr val="0000FF"/>
                </a:solidFill>
                <a:sym typeface="Wingdings" panose="05000000000000000000" pitchFamily="2" charset="2"/>
              </a:rPr>
              <a:t>运行等待运行</a:t>
            </a:r>
            <a:r>
              <a:rPr lang="en-US" altLang="zh-CN" sz="2100" dirty="0">
                <a:solidFill>
                  <a:srgbClr val="0000FF"/>
                </a:solidFill>
                <a:sym typeface="Wingdings" panose="05000000000000000000" pitchFamily="2" charset="2"/>
              </a:rPr>
              <a:t>…</a:t>
            </a:r>
            <a:r>
              <a:rPr lang="zh-CN" altLang="en-US" sz="2100" dirty="0">
                <a:solidFill>
                  <a:srgbClr val="0000FF"/>
                </a:solidFill>
                <a:sym typeface="Wingdings" panose="05000000000000000000" pitchFamily="2" charset="2"/>
              </a:rPr>
              <a:t>等待运行结束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zh-CN" altLang="en-US" sz="2100" dirty="0"/>
              <a:t>生命周期大致分为三种状态</a:t>
            </a:r>
            <a:r>
              <a:rPr lang="en-US" altLang="zh-CN" sz="2100" dirty="0"/>
              <a:t>: 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. </a:t>
            </a:r>
            <a:r>
              <a:rPr lang="zh-CN" altLang="en-US" sz="2100" dirty="0">
                <a:solidFill>
                  <a:srgbClr val="FF0000"/>
                </a:solidFill>
              </a:rPr>
              <a:t>运行态    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zh-CN" altLang="en-US" sz="2100" dirty="0"/>
              <a:t>       进程正占用</a:t>
            </a:r>
            <a:r>
              <a:rPr lang="en-US" altLang="zh-CN" sz="2100" dirty="0"/>
              <a:t>CPU</a:t>
            </a:r>
            <a:r>
              <a:rPr lang="zh-CN" altLang="en-US" sz="2100" dirty="0"/>
              <a:t>和其它资源进行运算</a:t>
            </a:r>
            <a:r>
              <a:rPr lang="en-US" altLang="zh-CN" sz="2100" dirty="0"/>
              <a:t>.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. </a:t>
            </a:r>
            <a:r>
              <a:rPr lang="zh-CN" altLang="en-US" sz="2100" dirty="0">
                <a:solidFill>
                  <a:srgbClr val="FF0000"/>
                </a:solidFill>
              </a:rPr>
              <a:t>就绪态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zh-CN" altLang="en-US" sz="2100" dirty="0"/>
              <a:t>       进程已做好一切准备</a:t>
            </a:r>
            <a:r>
              <a:rPr lang="en-US" altLang="zh-CN" sz="2100" dirty="0"/>
              <a:t>, </a:t>
            </a:r>
            <a:r>
              <a:rPr lang="zh-CN" altLang="en-US" sz="2100" dirty="0"/>
              <a:t>等待获得</a:t>
            </a:r>
            <a:r>
              <a:rPr lang="en-US" altLang="zh-CN" sz="2100" dirty="0"/>
              <a:t>CPU</a:t>
            </a:r>
            <a:r>
              <a:rPr lang="zh-CN" altLang="en-US" sz="2100" dirty="0"/>
              <a:t>投入运行</a:t>
            </a:r>
            <a:r>
              <a:rPr lang="en-US" altLang="zh-CN" sz="2100" dirty="0"/>
              <a:t>.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. </a:t>
            </a:r>
            <a:r>
              <a:rPr lang="zh-CN" altLang="en-US" sz="2100" dirty="0">
                <a:solidFill>
                  <a:srgbClr val="FF0000"/>
                </a:solidFill>
              </a:rPr>
              <a:t>睡眠态</a:t>
            </a:r>
          </a:p>
          <a:p>
            <a:pPr>
              <a:lnSpc>
                <a:spcPts val="2100"/>
              </a:lnSpc>
              <a:buNone/>
              <a:defRPr/>
            </a:pPr>
            <a:r>
              <a:rPr lang="zh-CN" altLang="en-US" sz="2100" dirty="0"/>
              <a:t>       进程因等待输入输出或其它系统资源</a:t>
            </a:r>
            <a:r>
              <a:rPr lang="en-US" altLang="zh-CN" sz="2100" dirty="0"/>
              <a:t>, </a:t>
            </a:r>
            <a:r>
              <a:rPr lang="zh-CN" altLang="en-US" sz="2100" dirty="0"/>
              <a:t>而让出</a:t>
            </a:r>
            <a:r>
              <a:rPr lang="en-US" altLang="zh-CN" sz="2100" dirty="0"/>
              <a:t>CPU</a:t>
            </a:r>
            <a:r>
              <a:rPr lang="zh-CN" altLang="en-US" sz="2100" dirty="0"/>
              <a:t>资源</a:t>
            </a:r>
            <a:r>
              <a:rPr lang="en-US" altLang="zh-CN" sz="2100" dirty="0"/>
              <a:t>, </a:t>
            </a:r>
            <a:r>
              <a:rPr lang="zh-CN" altLang="en-US" sz="2100" dirty="0"/>
              <a:t>等待运行条件满足。</a:t>
            </a:r>
            <a:endParaRPr lang="en-US" altLang="zh-CN" sz="2100" dirty="0"/>
          </a:p>
        </p:txBody>
      </p:sp>
      <p:sp>
        <p:nvSpPr>
          <p:cNvPr id="2" name="文本框 1"/>
          <p:cNvSpPr txBox="1"/>
          <p:nvPr/>
        </p:nvSpPr>
        <p:spPr>
          <a:xfrm>
            <a:off x="952500" y="1101090"/>
            <a:ext cx="448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defRPr/>
            </a:pPr>
            <a:r>
              <a:rPr lang="en-US" altLang="zh-CN" sz="2400" dirty="0" smtClean="0">
                <a:solidFill>
                  <a:srgbClr val="0000FF"/>
                </a:solidFill>
              </a:rPr>
              <a:t>8.6.1  </a:t>
            </a:r>
            <a:r>
              <a:rPr lang="zh-CN" altLang="en-US" sz="2400" dirty="0">
                <a:solidFill>
                  <a:srgbClr val="0000FF"/>
                </a:solidFill>
              </a:rPr>
              <a:t>进程及进程状态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16801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0F651889-A2B5-4E26-8C8A-ED1439AD7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3100" y="857250"/>
            <a:ext cx="6057900" cy="51435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/>
              <a:t> </a:t>
            </a:r>
          </a:p>
        </p:txBody>
      </p:sp>
      <p:sp>
        <p:nvSpPr>
          <p:cNvPr id="252931" name="Oval 3"/>
          <p:cNvSpPr>
            <a:spLocks noChangeArrowheads="1"/>
          </p:cNvSpPr>
          <p:nvPr/>
        </p:nvSpPr>
        <p:spPr bwMode="auto">
          <a:xfrm>
            <a:off x="4171950" y="1607820"/>
            <a:ext cx="1428750" cy="857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2"/>
                </a:solidFill>
              </a:rPr>
              <a:t>运行态</a:t>
            </a:r>
          </a:p>
        </p:txBody>
      </p:sp>
      <p:sp>
        <p:nvSpPr>
          <p:cNvPr id="252932" name="Oval 4"/>
          <p:cNvSpPr>
            <a:spLocks noChangeArrowheads="1"/>
          </p:cNvSpPr>
          <p:nvPr/>
        </p:nvSpPr>
        <p:spPr bwMode="auto">
          <a:xfrm>
            <a:off x="6057900" y="4065270"/>
            <a:ext cx="1428750" cy="857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2"/>
                </a:solidFill>
              </a:rPr>
              <a:t>就绪态</a:t>
            </a:r>
          </a:p>
        </p:txBody>
      </p:sp>
      <p:sp>
        <p:nvSpPr>
          <p:cNvPr id="252933" name="Oval 5"/>
          <p:cNvSpPr>
            <a:spLocks noChangeArrowheads="1"/>
          </p:cNvSpPr>
          <p:nvPr/>
        </p:nvSpPr>
        <p:spPr bwMode="auto">
          <a:xfrm>
            <a:off x="2286000" y="4065270"/>
            <a:ext cx="1428750" cy="857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2"/>
                </a:solidFill>
              </a:rPr>
              <a:t>睡眠态</a:t>
            </a:r>
          </a:p>
        </p:txBody>
      </p:sp>
      <p:sp>
        <p:nvSpPr>
          <p:cNvPr id="252934" name="Freeform 6"/>
          <p:cNvSpPr>
            <a:spLocks/>
          </p:cNvSpPr>
          <p:nvPr/>
        </p:nvSpPr>
        <p:spPr bwMode="auto">
          <a:xfrm>
            <a:off x="2971800" y="2236470"/>
            <a:ext cx="1257300" cy="1828800"/>
          </a:xfrm>
          <a:custGeom>
            <a:avLst/>
            <a:gdLst>
              <a:gd name="T0" fmla="*/ 2147483646 w 1056"/>
              <a:gd name="T1" fmla="*/ 0 h 1536"/>
              <a:gd name="T2" fmla="*/ 2147483646 w 1056"/>
              <a:gd name="T3" fmla="*/ 2147483646 h 1536"/>
              <a:gd name="T4" fmla="*/ 2147483646 w 1056"/>
              <a:gd name="T5" fmla="*/ 2147483646 h 1536"/>
              <a:gd name="T6" fmla="*/ 2147483646 w 1056"/>
              <a:gd name="T7" fmla="*/ 2147483646 h 1536"/>
              <a:gd name="T8" fmla="*/ 2147483646 w 1056"/>
              <a:gd name="T9" fmla="*/ 2147483646 h 1536"/>
              <a:gd name="T10" fmla="*/ 2147483646 w 1056"/>
              <a:gd name="T11" fmla="*/ 2147483646 h 1536"/>
              <a:gd name="T12" fmla="*/ 0 w 1056"/>
              <a:gd name="T13" fmla="*/ 2147483646 h 1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56" h="1536">
                <a:moveTo>
                  <a:pt x="1056" y="0"/>
                </a:moveTo>
                <a:lnTo>
                  <a:pt x="738" y="223"/>
                </a:lnTo>
                <a:lnTo>
                  <a:pt x="455" y="468"/>
                </a:lnTo>
                <a:lnTo>
                  <a:pt x="269" y="713"/>
                </a:lnTo>
                <a:lnTo>
                  <a:pt x="124" y="1004"/>
                </a:lnTo>
                <a:lnTo>
                  <a:pt x="46" y="1219"/>
                </a:lnTo>
                <a:lnTo>
                  <a:pt x="0" y="153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35" name="Freeform 7"/>
          <p:cNvSpPr>
            <a:spLocks/>
          </p:cNvSpPr>
          <p:nvPr/>
        </p:nvSpPr>
        <p:spPr bwMode="auto">
          <a:xfrm>
            <a:off x="3657600" y="4636771"/>
            <a:ext cx="2400300" cy="236935"/>
          </a:xfrm>
          <a:custGeom>
            <a:avLst/>
            <a:gdLst>
              <a:gd name="T0" fmla="*/ 0 w 2016"/>
              <a:gd name="T1" fmla="*/ 0 h 199"/>
              <a:gd name="T2" fmla="*/ 2147483646 w 2016"/>
              <a:gd name="T3" fmla="*/ 2147483646 h 199"/>
              <a:gd name="T4" fmla="*/ 2147483646 w 2016"/>
              <a:gd name="T5" fmla="*/ 2147483646 h 199"/>
              <a:gd name="T6" fmla="*/ 2147483646 w 2016"/>
              <a:gd name="T7" fmla="*/ 2147483646 h 199"/>
              <a:gd name="T8" fmla="*/ 2147483646 w 2016"/>
              <a:gd name="T9" fmla="*/ 2147483646 h 199"/>
              <a:gd name="T10" fmla="*/ 2147483646 w 2016"/>
              <a:gd name="T11" fmla="*/ 2147483646 h 199"/>
              <a:gd name="T12" fmla="*/ 2147483646 w 2016"/>
              <a:gd name="T13" fmla="*/ 2147483646 h 199"/>
              <a:gd name="T14" fmla="*/ 2147483646 w 2016"/>
              <a:gd name="T15" fmla="*/ 2147483646 h 199"/>
              <a:gd name="T16" fmla="*/ 2147483646 w 2016"/>
              <a:gd name="T17" fmla="*/ 2147483646 h 1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016" h="199">
                <a:moveTo>
                  <a:pt x="0" y="0"/>
                </a:moveTo>
                <a:lnTo>
                  <a:pt x="241" y="91"/>
                </a:lnTo>
                <a:lnTo>
                  <a:pt x="514" y="150"/>
                </a:lnTo>
                <a:lnTo>
                  <a:pt x="797" y="199"/>
                </a:lnTo>
                <a:lnTo>
                  <a:pt x="1071" y="199"/>
                </a:lnTo>
                <a:lnTo>
                  <a:pt x="1344" y="179"/>
                </a:lnTo>
                <a:lnTo>
                  <a:pt x="1559" y="130"/>
                </a:lnTo>
                <a:lnTo>
                  <a:pt x="1783" y="91"/>
                </a:lnTo>
                <a:lnTo>
                  <a:pt x="2016" y="1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36" name="Freeform 8"/>
          <p:cNvSpPr>
            <a:spLocks/>
          </p:cNvSpPr>
          <p:nvPr/>
        </p:nvSpPr>
        <p:spPr bwMode="auto">
          <a:xfrm>
            <a:off x="5211366" y="2467452"/>
            <a:ext cx="960834" cy="1769269"/>
          </a:xfrm>
          <a:custGeom>
            <a:avLst/>
            <a:gdLst>
              <a:gd name="T0" fmla="*/ 0 w 807"/>
              <a:gd name="T1" fmla="*/ 0 h 1486"/>
              <a:gd name="T2" fmla="*/ 2147483646 w 807"/>
              <a:gd name="T3" fmla="*/ 2147483646 h 1486"/>
              <a:gd name="T4" fmla="*/ 2147483646 w 807"/>
              <a:gd name="T5" fmla="*/ 2147483646 h 1486"/>
              <a:gd name="T6" fmla="*/ 2147483646 w 807"/>
              <a:gd name="T7" fmla="*/ 2147483646 h 1486"/>
              <a:gd name="T8" fmla="*/ 2147483646 w 807"/>
              <a:gd name="T9" fmla="*/ 2147483646 h 14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07" h="1486">
                <a:moveTo>
                  <a:pt x="0" y="0"/>
                </a:moveTo>
                <a:lnTo>
                  <a:pt x="98" y="400"/>
                </a:lnTo>
                <a:lnTo>
                  <a:pt x="293" y="781"/>
                </a:lnTo>
                <a:lnTo>
                  <a:pt x="488" y="1132"/>
                </a:lnTo>
                <a:lnTo>
                  <a:pt x="807" y="148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37" name="Freeform 9"/>
          <p:cNvSpPr>
            <a:spLocks/>
          </p:cNvSpPr>
          <p:nvPr/>
        </p:nvSpPr>
        <p:spPr bwMode="auto">
          <a:xfrm>
            <a:off x="5486400" y="2293620"/>
            <a:ext cx="1200150" cy="1771650"/>
          </a:xfrm>
          <a:custGeom>
            <a:avLst/>
            <a:gdLst>
              <a:gd name="T0" fmla="*/ 2147483646 w 1008"/>
              <a:gd name="T1" fmla="*/ 2147483646 h 1488"/>
              <a:gd name="T2" fmla="*/ 2147483646 w 1008"/>
              <a:gd name="T3" fmla="*/ 2147483646 h 1488"/>
              <a:gd name="T4" fmla="*/ 2147483646 w 1008"/>
              <a:gd name="T5" fmla="*/ 2147483646 h 1488"/>
              <a:gd name="T6" fmla="*/ 2147483646 w 1008"/>
              <a:gd name="T7" fmla="*/ 2147483646 h 1488"/>
              <a:gd name="T8" fmla="*/ 0 w 1008"/>
              <a:gd name="T9" fmla="*/ 0 h 14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8" h="1488">
                <a:moveTo>
                  <a:pt x="1008" y="1488"/>
                </a:moveTo>
                <a:lnTo>
                  <a:pt x="843" y="1024"/>
                </a:lnTo>
                <a:lnTo>
                  <a:pt x="618" y="634"/>
                </a:lnTo>
                <a:lnTo>
                  <a:pt x="374" y="292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38" name="AutoShape 10"/>
          <p:cNvSpPr>
            <a:spLocks noChangeArrowheads="1"/>
          </p:cNvSpPr>
          <p:nvPr/>
        </p:nvSpPr>
        <p:spPr bwMode="auto">
          <a:xfrm>
            <a:off x="2228850" y="1950720"/>
            <a:ext cx="1200150" cy="971550"/>
          </a:xfrm>
          <a:prstGeom prst="cloudCallout">
            <a:avLst>
              <a:gd name="adj1" fmla="val -9426"/>
              <a:gd name="adj2" fmla="val 40074"/>
            </a:avLst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rgbClr val="0000FF"/>
                </a:solidFill>
              </a:rPr>
              <a:t>等待</a:t>
            </a:r>
            <a:r>
              <a:rPr lang="en-US" altLang="zh-CN" sz="1500" b="1" dirty="0">
                <a:solidFill>
                  <a:srgbClr val="0000FF"/>
                </a:solidFill>
              </a:rPr>
              <a:t>I/O</a:t>
            </a:r>
            <a:r>
              <a:rPr lang="zh-CN" altLang="en-US" sz="1500" b="1" dirty="0">
                <a:solidFill>
                  <a:srgbClr val="0000FF"/>
                </a:solidFill>
              </a:rPr>
              <a:t>或调用</a:t>
            </a:r>
            <a:r>
              <a:rPr lang="en-US" altLang="zh-CN" sz="1800" b="1" dirty="0">
                <a:solidFill>
                  <a:srgbClr val="0000FF"/>
                </a:solidFill>
              </a:rPr>
              <a:t>sleep</a:t>
            </a:r>
          </a:p>
        </p:txBody>
      </p:sp>
      <p:sp>
        <p:nvSpPr>
          <p:cNvPr id="252939" name="AutoShape 11"/>
          <p:cNvSpPr>
            <a:spLocks noChangeArrowheads="1"/>
          </p:cNvSpPr>
          <p:nvPr/>
        </p:nvSpPr>
        <p:spPr bwMode="auto">
          <a:xfrm>
            <a:off x="6400800" y="2007870"/>
            <a:ext cx="971550" cy="971550"/>
          </a:xfrm>
          <a:prstGeom prst="cloudCallout">
            <a:avLst>
              <a:gd name="adj1" fmla="val -17278"/>
              <a:gd name="adj2" fmla="val 27694"/>
            </a:avLst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rgbClr val="0000FF"/>
                </a:solidFill>
              </a:rPr>
              <a:t>得到</a:t>
            </a:r>
            <a:r>
              <a:rPr lang="en-US" altLang="zh-CN" sz="1500" b="1" dirty="0">
                <a:solidFill>
                  <a:srgbClr val="0000FF"/>
                </a:solidFill>
              </a:rPr>
              <a:t>CPU</a:t>
            </a:r>
          </a:p>
        </p:txBody>
      </p:sp>
      <p:sp>
        <p:nvSpPr>
          <p:cNvPr id="252940" name="AutoShape 12"/>
          <p:cNvSpPr>
            <a:spLocks noChangeArrowheads="1"/>
          </p:cNvSpPr>
          <p:nvPr/>
        </p:nvSpPr>
        <p:spPr bwMode="auto">
          <a:xfrm>
            <a:off x="4400550" y="3036570"/>
            <a:ext cx="971550" cy="971550"/>
          </a:xfrm>
          <a:prstGeom prst="cloudCallout">
            <a:avLst>
              <a:gd name="adj1" fmla="val -40565"/>
              <a:gd name="adj2" fmla="val -4903"/>
            </a:avLst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rgbClr val="0000FF"/>
                </a:solidFill>
              </a:rPr>
              <a:t>运行时间片到</a:t>
            </a:r>
          </a:p>
        </p:txBody>
      </p:sp>
      <p:sp>
        <p:nvSpPr>
          <p:cNvPr id="252941" name="AutoShape 13"/>
          <p:cNvSpPr>
            <a:spLocks noChangeArrowheads="1"/>
          </p:cNvSpPr>
          <p:nvPr/>
        </p:nvSpPr>
        <p:spPr bwMode="auto">
          <a:xfrm>
            <a:off x="4343400" y="4979670"/>
            <a:ext cx="1257300" cy="971550"/>
          </a:xfrm>
          <a:prstGeom prst="cloudCallout">
            <a:avLst>
              <a:gd name="adj1" fmla="val -34468"/>
              <a:gd name="adj2" fmla="val -30269"/>
            </a:avLst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b="1" dirty="0">
                <a:solidFill>
                  <a:srgbClr val="0000FF"/>
                </a:solidFill>
              </a:rPr>
              <a:t>I/O</a:t>
            </a:r>
            <a:r>
              <a:rPr lang="zh-CN" altLang="en-US" sz="1500" b="1" dirty="0">
                <a:solidFill>
                  <a:srgbClr val="0000FF"/>
                </a:solidFill>
              </a:rPr>
              <a:t>完成或睡眠时间到</a:t>
            </a:r>
          </a:p>
        </p:txBody>
      </p:sp>
      <p:sp>
        <p:nvSpPr>
          <p:cNvPr id="252942" name="Line 14"/>
          <p:cNvSpPr>
            <a:spLocks noChangeShapeType="1"/>
          </p:cNvSpPr>
          <p:nvPr/>
        </p:nvSpPr>
        <p:spPr bwMode="auto">
          <a:xfrm>
            <a:off x="3257550" y="2750820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43" name="Line 15"/>
          <p:cNvSpPr>
            <a:spLocks noChangeShapeType="1"/>
          </p:cNvSpPr>
          <p:nvPr/>
        </p:nvSpPr>
        <p:spPr bwMode="auto">
          <a:xfrm flipV="1">
            <a:off x="4972050" y="4865370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44" name="Line 16"/>
          <p:cNvSpPr>
            <a:spLocks noChangeShapeType="1"/>
          </p:cNvSpPr>
          <p:nvPr/>
        </p:nvSpPr>
        <p:spPr bwMode="auto">
          <a:xfrm flipV="1">
            <a:off x="5372100" y="3265170"/>
            <a:ext cx="11430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52945" name="Line 17"/>
          <p:cNvSpPr>
            <a:spLocks noChangeShapeType="1"/>
          </p:cNvSpPr>
          <p:nvPr/>
        </p:nvSpPr>
        <p:spPr bwMode="auto">
          <a:xfrm flipH="1">
            <a:off x="6229350" y="2807970"/>
            <a:ext cx="2286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" name="文本框 17"/>
          <p:cNvSpPr txBox="1"/>
          <p:nvPr/>
        </p:nvSpPr>
        <p:spPr>
          <a:xfrm>
            <a:off x="952500" y="1101090"/>
            <a:ext cx="448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defRPr/>
            </a:pPr>
            <a:r>
              <a:rPr lang="en-US" altLang="zh-CN" sz="2400" dirty="0" smtClean="0">
                <a:solidFill>
                  <a:srgbClr val="0000FF"/>
                </a:solidFill>
              </a:rPr>
              <a:t>8.6.1  </a:t>
            </a:r>
            <a:r>
              <a:rPr lang="zh-CN" altLang="en-US" sz="2400" dirty="0">
                <a:solidFill>
                  <a:srgbClr val="0000FF"/>
                </a:solidFill>
              </a:rPr>
              <a:t>进程及进程状态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52505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>
            <a:extLst>
              <a:ext uri="{FF2B5EF4-FFF2-40B4-BE49-F238E27FC236}">
                <a16:creationId xmlns:a16="http://schemas.microsoft.com/office/drawing/2014/main" id="{65520A3A-200B-49A0-9ACD-504DD11DC4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0" y="1078230"/>
            <a:ext cx="7818120" cy="482346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8.6.2   </a:t>
            </a:r>
            <a:r>
              <a:rPr lang="zh-CN" altLang="en-US" dirty="0">
                <a:solidFill>
                  <a:srgbClr val="0000FF"/>
                </a:solidFill>
              </a:rPr>
              <a:t>获取进程状态信息</a:t>
            </a:r>
            <a:r>
              <a:rPr lang="en-US" altLang="zh-CN" dirty="0">
                <a:solidFill>
                  <a:srgbClr val="0000FF"/>
                </a:solidFill>
              </a:rPr>
              <a:t>:   </a:t>
            </a:r>
            <a:r>
              <a:rPr lang="en-US" altLang="zh-CN" dirty="0" err="1">
                <a:solidFill>
                  <a:srgbClr val="0000FF"/>
                </a:solidFill>
              </a:rPr>
              <a:t>ps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命令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 不带参数的</a:t>
            </a:r>
            <a:r>
              <a:rPr lang="en-US" altLang="zh-CN" sz="2100" dirty="0" err="1"/>
              <a:t>ps</a:t>
            </a:r>
            <a:r>
              <a:rPr lang="zh-CN" altLang="en-US" sz="2100" dirty="0"/>
              <a:t>命令运行时</a:t>
            </a:r>
            <a:r>
              <a:rPr lang="en-US" altLang="zh-CN" sz="2100" dirty="0"/>
              <a:t>, </a:t>
            </a:r>
            <a:r>
              <a:rPr lang="zh-CN" altLang="en-US" sz="2100" dirty="0"/>
              <a:t>显示该用户当前活动进程的基本信息</a:t>
            </a:r>
            <a:r>
              <a:rPr lang="en-US" altLang="zh-CN" sz="21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$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ps</a:t>
            </a: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PID          TTY        TIME        COMMAND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612           tty08        0:37          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sh</a:t>
            </a: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931           tty08        0:01          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ps</a:t>
            </a: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$</a:t>
            </a:r>
          </a:p>
          <a:p>
            <a:pPr>
              <a:lnSpc>
                <a:spcPts val="18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PID                   </a:t>
            </a:r>
            <a:r>
              <a:rPr lang="zh-CN" altLang="en-US" sz="1800" dirty="0">
                <a:latin typeface="+mn-lt"/>
              </a:rPr>
              <a:t>进程标识号</a:t>
            </a:r>
            <a:r>
              <a:rPr lang="en-US" altLang="zh-CN" sz="1800" dirty="0">
                <a:latin typeface="+mn-lt"/>
              </a:rPr>
              <a:t>. </a:t>
            </a:r>
            <a:r>
              <a:rPr lang="zh-CN" altLang="en-US" sz="1800" dirty="0">
                <a:latin typeface="+mn-lt"/>
              </a:rPr>
              <a:t>系统每个进程在其生命周期都有一个唯一的</a:t>
            </a:r>
            <a:r>
              <a:rPr lang="en-US" altLang="zh-CN" sz="1800" dirty="0">
                <a:latin typeface="+mn-lt"/>
              </a:rPr>
              <a:t>PID.</a:t>
            </a:r>
          </a:p>
          <a:p>
            <a:pPr>
              <a:lnSpc>
                <a:spcPts val="18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TTY                 </a:t>
            </a:r>
            <a:r>
              <a:rPr lang="zh-CN" altLang="en-US" sz="1800" dirty="0">
                <a:latin typeface="+mn-lt"/>
              </a:rPr>
              <a:t>启动该进程的终端号</a:t>
            </a:r>
          </a:p>
          <a:p>
            <a:pPr>
              <a:lnSpc>
                <a:spcPts val="18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TIME               </a:t>
            </a:r>
            <a:r>
              <a:rPr lang="zh-CN" altLang="en-US" sz="1800" dirty="0">
                <a:latin typeface="+mn-lt"/>
              </a:rPr>
              <a:t>进程累计占用</a:t>
            </a:r>
            <a:r>
              <a:rPr lang="en-US" altLang="zh-CN" sz="1800" dirty="0">
                <a:latin typeface="+mn-lt"/>
              </a:rPr>
              <a:t>CPU</a:t>
            </a:r>
            <a:r>
              <a:rPr lang="zh-CN" altLang="en-US" sz="1800" dirty="0">
                <a:latin typeface="+mn-lt"/>
              </a:rPr>
              <a:t>的时间</a:t>
            </a:r>
          </a:p>
          <a:p>
            <a:pPr>
              <a:lnSpc>
                <a:spcPts val="18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COMMAND   </a:t>
            </a:r>
            <a:r>
              <a:rPr lang="zh-CN" altLang="en-US" sz="1800" dirty="0">
                <a:latin typeface="+mn-lt"/>
              </a:rPr>
              <a:t>产生该进程的命令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36354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7E62B434-6474-41CD-8568-81F047211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5820" y="1695449"/>
            <a:ext cx="7871460" cy="4554879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sz="2100" dirty="0"/>
              <a:t> </a:t>
            </a:r>
            <a:r>
              <a:rPr lang="en-US" altLang="zh-CN" sz="2100" dirty="0" err="1"/>
              <a:t>ps</a:t>
            </a:r>
            <a:r>
              <a:rPr lang="zh-CN" altLang="en-US" sz="2100" dirty="0"/>
              <a:t>命令的常用任选项</a:t>
            </a:r>
            <a:r>
              <a:rPr lang="en-US" altLang="zh-CN" sz="2100" dirty="0"/>
              <a:t> </a:t>
            </a:r>
            <a:r>
              <a:rPr lang="en-US" altLang="zh-CN" sz="2100" dirty="0">
                <a:solidFill>
                  <a:srgbClr val="FF0000"/>
                </a:solidFill>
              </a:rPr>
              <a:t>-e  (</a:t>
            </a:r>
            <a:r>
              <a:rPr lang="zh-CN" altLang="en-US" sz="2100" dirty="0">
                <a:solidFill>
                  <a:srgbClr val="FF0000"/>
                </a:solidFill>
              </a:rPr>
              <a:t>或</a:t>
            </a:r>
            <a:r>
              <a:rPr lang="en-US" altLang="zh-CN" sz="2100" dirty="0">
                <a:solidFill>
                  <a:srgbClr val="FF0000"/>
                </a:solidFill>
              </a:rPr>
              <a:t>-a)</a:t>
            </a:r>
            <a:r>
              <a:rPr lang="en-US" altLang="zh-CN" sz="2100" dirty="0"/>
              <a:t>     </a:t>
            </a:r>
            <a:r>
              <a:rPr lang="zh-CN" altLang="en-US" sz="2100" dirty="0"/>
              <a:t>显示系统中所有活动进程的信息</a:t>
            </a:r>
            <a:r>
              <a:rPr lang="en-US" altLang="zh-CN" sz="2100" dirty="0"/>
              <a:t>. 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-e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          TTY          TIME       COMMAND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                  ?          0:00        swapper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             ?          0:01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358             00          0:01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695             01          0:01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                ?          0:00        logger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732             03          0:00        vi</a:t>
            </a: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                ?          0:00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681             02          0:00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getty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623             03          0:01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csh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732             01          0:01        </a:t>
            </a:r>
            <a:r>
              <a:rPr lang="en-US" altLang="zh-CN" sz="18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endParaRPr lang="en-US" altLang="zh-CN" sz="1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975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14400" y="1040130"/>
            <a:ext cx="5615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0000FF"/>
                </a:solidFill>
              </a:rPr>
              <a:t>8.6.2   </a:t>
            </a:r>
            <a:r>
              <a:rPr lang="zh-CN" altLang="en-US" sz="2400" dirty="0">
                <a:solidFill>
                  <a:srgbClr val="0000FF"/>
                </a:solidFill>
              </a:rPr>
              <a:t>获取进程状态信息</a:t>
            </a:r>
            <a:r>
              <a:rPr lang="en-US" altLang="zh-CN" sz="2400" dirty="0">
                <a:solidFill>
                  <a:srgbClr val="0000FF"/>
                </a:solidFill>
              </a:rPr>
              <a:t>:   </a:t>
            </a:r>
            <a:r>
              <a:rPr lang="en-US" altLang="zh-CN" sz="2400" dirty="0" err="1">
                <a:solidFill>
                  <a:srgbClr val="0000FF"/>
                </a:solidFill>
              </a:rPr>
              <a:t>ps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命令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62272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23ECF9C5-8118-420B-BF72-C9192BB7E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611629"/>
            <a:ext cx="7700010" cy="492806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-f        </a:t>
            </a:r>
            <a:r>
              <a:rPr lang="zh-CN" altLang="en-US" sz="2100" dirty="0"/>
              <a:t>显示该进程的所有信息</a:t>
            </a:r>
            <a:r>
              <a:rPr lang="en-US" altLang="zh-CN" sz="2100" dirty="0"/>
              <a:t>. </a:t>
            </a:r>
            <a:r>
              <a:rPr lang="zh-CN" altLang="en-US" sz="2100" dirty="0"/>
              <a:t>例如</a:t>
            </a:r>
            <a:r>
              <a:rPr lang="en-US" altLang="zh-CN" sz="2100" dirty="0"/>
              <a:t>: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$ 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ps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-f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UID   PID    PPID    C    STIME      TTY    TIME     COMMAND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liu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 298    1          0    14:57:02    02      0:02     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sh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liu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    395    298     16   16:31:19    02      0:00      </a:t>
            </a:r>
            <a:r>
              <a:rPr lang="en-US" altLang="zh-CN" sz="1800" dirty="0" err="1">
                <a:solidFill>
                  <a:srgbClr val="0000FF"/>
                </a:solidFill>
                <a:latin typeface="+mn-lt"/>
              </a:rPr>
              <a:t>ps</a:t>
            </a:r>
            <a:r>
              <a:rPr lang="en-US" altLang="zh-CN" sz="1800" dirty="0">
                <a:solidFill>
                  <a:srgbClr val="0000FF"/>
                </a:solidFill>
                <a:latin typeface="+mn-lt"/>
              </a:rPr>
              <a:t>  -</a:t>
            </a:r>
            <a:r>
              <a:rPr lang="en-US" altLang="zh-CN" sz="1800" dirty="0" smtClean="0">
                <a:solidFill>
                  <a:srgbClr val="0000FF"/>
                </a:solidFill>
                <a:latin typeface="+mn-lt"/>
              </a:rPr>
              <a:t>f</a:t>
            </a:r>
          </a:p>
          <a:p>
            <a:pPr>
              <a:lnSpc>
                <a:spcPts val="1500"/>
              </a:lnSpc>
              <a:buNone/>
              <a:defRPr/>
            </a:pPr>
            <a:endParaRPr lang="en-US" altLang="zh-CN" sz="1800" dirty="0">
              <a:solidFill>
                <a:srgbClr val="0000FF"/>
              </a:solidFill>
              <a:latin typeface="+mn-lt"/>
            </a:endParaRPr>
          </a:p>
          <a:p>
            <a:pPr>
              <a:lnSpc>
                <a:spcPts val="900"/>
              </a:lnSpc>
              <a:buNone/>
              <a:defRPr/>
            </a:pPr>
            <a:r>
              <a:rPr lang="zh-CN" altLang="en-US" sz="1800" dirty="0">
                <a:latin typeface="+mn-lt"/>
              </a:rPr>
              <a:t>其中</a:t>
            </a:r>
            <a:r>
              <a:rPr lang="en-US" altLang="zh-CN" sz="1800" dirty="0">
                <a:latin typeface="+mn-lt"/>
              </a:rPr>
              <a:t>: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UID                    </a:t>
            </a:r>
            <a:r>
              <a:rPr lang="zh-CN" altLang="en-US" sz="1800" dirty="0">
                <a:latin typeface="+mn-lt"/>
              </a:rPr>
              <a:t>进程所有者的用户标识数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PID                    </a:t>
            </a:r>
            <a:r>
              <a:rPr lang="zh-CN" altLang="en-US" sz="1800" dirty="0">
                <a:latin typeface="+mn-lt"/>
              </a:rPr>
              <a:t>进程标识数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PPID                  </a:t>
            </a:r>
            <a:r>
              <a:rPr lang="zh-CN" altLang="en-US" sz="1800" dirty="0">
                <a:latin typeface="+mn-lt"/>
              </a:rPr>
              <a:t>本进程的父进程标识数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C                        </a:t>
            </a:r>
            <a:r>
              <a:rPr lang="zh-CN" altLang="en-US" sz="1800" dirty="0">
                <a:latin typeface="+mn-lt"/>
              </a:rPr>
              <a:t>进程调度参数</a:t>
            </a:r>
            <a:r>
              <a:rPr lang="en-US" altLang="zh-CN" sz="1800" dirty="0">
                <a:latin typeface="+mn-lt"/>
              </a:rPr>
              <a:t>, </a:t>
            </a:r>
            <a:r>
              <a:rPr lang="zh-CN" altLang="en-US" sz="1800" dirty="0">
                <a:latin typeface="+mn-lt"/>
              </a:rPr>
              <a:t>反映本进程使用</a:t>
            </a:r>
            <a:r>
              <a:rPr lang="en-US" altLang="zh-CN" sz="1800" dirty="0">
                <a:latin typeface="+mn-lt"/>
              </a:rPr>
              <a:t>CPU</a:t>
            </a:r>
            <a:r>
              <a:rPr lang="zh-CN" altLang="en-US" sz="1800" dirty="0">
                <a:latin typeface="+mn-lt"/>
              </a:rPr>
              <a:t>的状况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STIME              </a:t>
            </a:r>
            <a:r>
              <a:rPr lang="zh-CN" altLang="en-US" sz="1800" dirty="0">
                <a:latin typeface="+mn-lt"/>
              </a:rPr>
              <a:t>进程的启动时间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TTY                   </a:t>
            </a:r>
            <a:r>
              <a:rPr lang="zh-CN" altLang="en-US" sz="1800" dirty="0">
                <a:latin typeface="+mn-lt"/>
              </a:rPr>
              <a:t>启动进程的终端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TIME                 </a:t>
            </a:r>
            <a:r>
              <a:rPr lang="zh-CN" altLang="en-US" sz="1800" dirty="0">
                <a:latin typeface="+mn-lt"/>
              </a:rPr>
              <a:t>进程累计占用</a:t>
            </a:r>
            <a:r>
              <a:rPr lang="en-US" altLang="zh-CN" sz="1800" dirty="0">
                <a:latin typeface="+mn-lt"/>
              </a:rPr>
              <a:t>CPU</a:t>
            </a:r>
            <a:r>
              <a:rPr lang="zh-CN" altLang="en-US" sz="1800" dirty="0">
                <a:latin typeface="+mn-lt"/>
              </a:rPr>
              <a:t>的时间</a:t>
            </a:r>
          </a:p>
          <a:p>
            <a:pPr>
              <a:lnSpc>
                <a:spcPts val="900"/>
              </a:lnSpc>
              <a:buNone/>
              <a:defRPr/>
            </a:pPr>
            <a:r>
              <a:rPr lang="en-US" altLang="zh-CN" sz="1800" dirty="0">
                <a:latin typeface="+mn-lt"/>
              </a:rPr>
              <a:t>COMMAND      </a:t>
            </a:r>
            <a:r>
              <a:rPr lang="zh-CN" altLang="en-US" sz="1800" dirty="0">
                <a:latin typeface="+mn-lt"/>
              </a:rPr>
              <a:t>启动该进程的命令名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4400" y="1040130"/>
            <a:ext cx="5615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0000FF"/>
                </a:solidFill>
              </a:rPr>
              <a:t>8.6.2   </a:t>
            </a:r>
            <a:r>
              <a:rPr lang="zh-CN" altLang="en-US" sz="2400" dirty="0">
                <a:solidFill>
                  <a:srgbClr val="0000FF"/>
                </a:solidFill>
              </a:rPr>
              <a:t>获取进程状态信息</a:t>
            </a:r>
            <a:r>
              <a:rPr lang="en-US" altLang="zh-CN" sz="2400" dirty="0">
                <a:solidFill>
                  <a:srgbClr val="0000FF"/>
                </a:solidFill>
              </a:rPr>
              <a:t>:   </a:t>
            </a:r>
            <a:r>
              <a:rPr lang="en-US" altLang="zh-CN" sz="2400" dirty="0" err="1">
                <a:solidFill>
                  <a:srgbClr val="0000FF"/>
                </a:solidFill>
              </a:rPr>
              <a:t>ps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命令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87505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>
            <a:extLst>
              <a:ext uri="{FF2B5EF4-FFF2-40B4-BE49-F238E27FC236}">
                <a16:creationId xmlns:a16="http://schemas.microsoft.com/office/drawing/2014/main" id="{36893BDA-EF24-4822-8AC6-1AFA5DF2A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078230"/>
            <a:ext cx="7764780" cy="525312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8.6.3   </a:t>
            </a:r>
            <a:r>
              <a:rPr lang="zh-CN" altLang="en-US" dirty="0">
                <a:solidFill>
                  <a:srgbClr val="0000FF"/>
                </a:solidFill>
              </a:rPr>
              <a:t>暂停进程运行</a:t>
            </a:r>
            <a:r>
              <a:rPr lang="en-US" altLang="zh-CN" dirty="0">
                <a:solidFill>
                  <a:srgbClr val="0000FF"/>
                </a:solidFill>
              </a:rPr>
              <a:t>:   sleep </a:t>
            </a:r>
            <a:r>
              <a:rPr lang="zh-CN" altLang="en-US" dirty="0">
                <a:solidFill>
                  <a:srgbClr val="0000FF"/>
                </a:solidFill>
              </a:rPr>
              <a:t>命令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                     </a:t>
            </a:r>
            <a:r>
              <a:rPr lang="en-US" altLang="zh-CN" sz="2100" dirty="0">
                <a:solidFill>
                  <a:srgbClr val="0000FF"/>
                </a:solidFill>
              </a:rPr>
              <a:t>sleep  time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 sleep</a:t>
            </a:r>
            <a:r>
              <a:rPr lang="zh-CN" altLang="en-US" sz="2000" dirty="0">
                <a:latin typeface="Arial Narrow" panose="020B0606020202030204" pitchFamily="34" charset="0"/>
              </a:rPr>
              <a:t>命令使运行它的进程暂停</a:t>
            </a:r>
            <a:r>
              <a:rPr lang="en-US" altLang="zh-CN" sz="2000" dirty="0">
                <a:latin typeface="Arial Narrow" panose="020B0606020202030204" pitchFamily="34" charset="0"/>
              </a:rPr>
              <a:t>time</a:t>
            </a:r>
            <a:r>
              <a:rPr lang="zh-CN" altLang="en-US" sz="2000" dirty="0">
                <a:latin typeface="Arial Narrow" panose="020B0606020202030204" pitchFamily="34" charset="0"/>
              </a:rPr>
              <a:t>指定的秒数</a:t>
            </a:r>
            <a:r>
              <a:rPr lang="en-US" altLang="zh-CN" sz="2000" dirty="0">
                <a:latin typeface="Arial Narrow" panose="020B0606020202030204" pitchFamily="34" charset="0"/>
              </a:rPr>
              <a:t>.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zh-CN" altLang="en-US" sz="2000" dirty="0">
                <a:latin typeface="Arial Narrow" panose="020B0606020202030204" pitchFamily="34" charset="0"/>
              </a:rPr>
              <a:t>例如</a:t>
            </a:r>
            <a:r>
              <a:rPr lang="en-US" altLang="zh-CN" sz="2000" dirty="0">
                <a:latin typeface="Arial Narrow" panose="020B0606020202030204" pitchFamily="34" charset="0"/>
              </a:rPr>
              <a:t>: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$  sleep  5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    [</a:t>
            </a:r>
            <a:r>
              <a:rPr lang="zh-CN" altLang="en-US" sz="2000" dirty="0">
                <a:latin typeface="Arial Narrow" panose="020B0606020202030204" pitchFamily="34" charset="0"/>
              </a:rPr>
              <a:t>进程暂停</a:t>
            </a:r>
            <a:r>
              <a:rPr lang="en-US" altLang="zh-CN" sz="2000" dirty="0">
                <a:latin typeface="Arial Narrow" panose="020B0606020202030204" pitchFamily="34" charset="0"/>
              </a:rPr>
              <a:t>5</a:t>
            </a:r>
            <a:r>
              <a:rPr lang="zh-CN" altLang="en-US" sz="2000" dirty="0">
                <a:latin typeface="Arial Narrow" panose="020B0606020202030204" pitchFamily="34" charset="0"/>
              </a:rPr>
              <a:t>秒钟</a:t>
            </a:r>
            <a:r>
              <a:rPr lang="en-US" altLang="zh-CN" sz="2000" dirty="0">
                <a:latin typeface="Arial Narrow" panose="020B0606020202030204" pitchFamily="34" charset="0"/>
              </a:rPr>
              <a:t>, </a:t>
            </a:r>
            <a:r>
              <a:rPr lang="zh-CN" altLang="en-US" sz="2000" dirty="0">
                <a:latin typeface="Arial Narrow" panose="020B0606020202030204" pitchFamily="34" charset="0"/>
              </a:rPr>
              <a:t>什么也不作</a:t>
            </a:r>
            <a:r>
              <a:rPr lang="en-US" altLang="zh-CN" sz="2000" dirty="0">
                <a:latin typeface="Arial Narrow" panose="020B0606020202030204" pitchFamily="34" charset="0"/>
              </a:rPr>
              <a:t>]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$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$ sleep 10;  who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    [</a:t>
            </a:r>
            <a:r>
              <a:rPr lang="zh-CN" altLang="en-US" sz="2000" dirty="0">
                <a:solidFill>
                  <a:srgbClr val="0000FF"/>
                </a:solidFill>
                <a:latin typeface="Arial Narrow" panose="020B0606020202030204" pitchFamily="34" charset="0"/>
              </a:rPr>
              <a:t>进程暂停</a:t>
            </a:r>
            <a:r>
              <a:rPr lang="en-US" altLang="zh-CN" sz="2000" dirty="0">
                <a:solidFill>
                  <a:srgbClr val="0000FF"/>
                </a:solidFill>
                <a:latin typeface="Arial Narrow" panose="020B0606020202030204" pitchFamily="34" charset="0"/>
              </a:rPr>
              <a:t>10</a:t>
            </a:r>
            <a:r>
              <a:rPr lang="zh-CN" altLang="en-US" sz="2000" dirty="0">
                <a:solidFill>
                  <a:srgbClr val="0000FF"/>
                </a:solidFill>
                <a:latin typeface="Arial Narrow" panose="020B0606020202030204" pitchFamily="34" charset="0"/>
              </a:rPr>
              <a:t>秒钟后</a:t>
            </a:r>
            <a:r>
              <a:rPr lang="en-US" altLang="zh-CN" sz="2000" dirty="0">
                <a:solidFill>
                  <a:srgbClr val="0000FF"/>
                </a:solidFill>
                <a:latin typeface="Arial Narrow" panose="020B0606020202030204" pitchFamily="34" charset="0"/>
              </a:rPr>
              <a:t>, </a:t>
            </a:r>
            <a:r>
              <a:rPr lang="zh-CN" altLang="en-US" sz="2000" dirty="0">
                <a:solidFill>
                  <a:srgbClr val="0000FF"/>
                </a:solidFill>
                <a:latin typeface="Arial Narrow" panose="020B0606020202030204" pitchFamily="34" charset="0"/>
              </a:rPr>
              <a:t>显示系统中登录的用户名</a:t>
            </a:r>
            <a:r>
              <a:rPr lang="en-US" altLang="zh-CN" sz="2000" dirty="0">
                <a:latin typeface="Arial Narrow" panose="020B0606020202030204" pitchFamily="34" charset="0"/>
              </a:rPr>
              <a:t>]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$ echo "I am sleeping…"; sleep 100; echo "I am awake"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 I  am  sleeping …     [</a:t>
            </a:r>
            <a:r>
              <a:rPr lang="zh-CN" altLang="en-US" sz="2000" dirty="0">
                <a:latin typeface="Arial Narrow" panose="020B0606020202030204" pitchFamily="34" charset="0"/>
              </a:rPr>
              <a:t>等待</a:t>
            </a:r>
            <a:r>
              <a:rPr lang="en-US" altLang="zh-CN" sz="2000" dirty="0">
                <a:latin typeface="Arial Narrow" panose="020B0606020202030204" pitchFamily="34" charset="0"/>
              </a:rPr>
              <a:t>100</a:t>
            </a:r>
            <a:r>
              <a:rPr lang="zh-CN" altLang="en-US" sz="2000" dirty="0">
                <a:latin typeface="Arial Narrow" panose="020B0606020202030204" pitchFamily="34" charset="0"/>
              </a:rPr>
              <a:t>秒钟</a:t>
            </a:r>
            <a:r>
              <a:rPr lang="en-US" altLang="zh-CN" sz="2000" dirty="0">
                <a:latin typeface="Arial Narrow" panose="020B0606020202030204" pitchFamily="34" charset="0"/>
              </a:rPr>
              <a:t>]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 I  am  awake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2000" dirty="0">
                <a:latin typeface="Arial Narrow" panose="020B0606020202030204" pitchFamily="34" charset="0"/>
              </a:rPr>
              <a:t> $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37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id="{DD6FAACF-2F01-4479-B5EC-162D89719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019" y="1085850"/>
            <a:ext cx="8002061" cy="5210778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8.6.4   </a:t>
            </a:r>
            <a:r>
              <a:rPr lang="zh-CN" altLang="en-US" dirty="0">
                <a:solidFill>
                  <a:srgbClr val="0000FF"/>
                </a:solidFill>
              </a:rPr>
              <a:t>终止进程运行</a:t>
            </a:r>
            <a:r>
              <a:rPr lang="en-US" altLang="zh-CN" dirty="0">
                <a:solidFill>
                  <a:srgbClr val="0000FF"/>
                </a:solidFill>
              </a:rPr>
              <a:t>:    kill </a:t>
            </a:r>
            <a:r>
              <a:rPr lang="zh-CN" altLang="en-US" dirty="0">
                <a:solidFill>
                  <a:srgbClr val="0000FF"/>
                </a:solidFill>
              </a:rPr>
              <a:t>命令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zh-CN" altLang="en-US" sz="2000" dirty="0"/>
              <a:t>通常在三种情况下进程被终止运行</a:t>
            </a:r>
            <a:r>
              <a:rPr lang="en-US" altLang="zh-CN" sz="2000" dirty="0"/>
              <a:t>: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     . </a:t>
            </a:r>
            <a:r>
              <a:rPr lang="zh-CN" altLang="en-US" sz="2000" dirty="0"/>
              <a:t>进程运行完成</a:t>
            </a:r>
            <a:r>
              <a:rPr lang="en-US" altLang="zh-CN" sz="2000" dirty="0"/>
              <a:t>,  </a:t>
            </a:r>
            <a:r>
              <a:rPr lang="zh-CN" altLang="en-US" sz="2000" dirty="0"/>
              <a:t>自动消亡</a:t>
            </a:r>
            <a:r>
              <a:rPr lang="en-US" altLang="zh-CN" sz="2000" dirty="0"/>
              <a:t>;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     . </a:t>
            </a:r>
            <a:r>
              <a:rPr lang="zh-CN" altLang="en-US" sz="2000" dirty="0"/>
              <a:t>用户按</a:t>
            </a:r>
            <a:r>
              <a:rPr lang="en-US" altLang="zh-CN" sz="2000" dirty="0"/>
              <a:t>^c </a:t>
            </a:r>
            <a:r>
              <a:rPr lang="zh-CN" altLang="en-US" sz="2000" dirty="0"/>
              <a:t>或 </a:t>
            </a:r>
            <a:r>
              <a:rPr lang="en-US" altLang="zh-CN" sz="2000" dirty="0"/>
              <a:t>Del </a:t>
            </a:r>
            <a:r>
              <a:rPr lang="zh-CN" altLang="en-US" sz="2000" dirty="0"/>
              <a:t>等中断键</a:t>
            </a:r>
            <a:r>
              <a:rPr lang="en-US" altLang="zh-CN" sz="2000" dirty="0"/>
              <a:t>,  </a:t>
            </a:r>
            <a:r>
              <a:rPr lang="zh-CN" altLang="en-US" sz="2000" dirty="0"/>
              <a:t>强行终止前台进程的运行</a:t>
            </a:r>
            <a:r>
              <a:rPr lang="en-US" altLang="zh-CN" sz="2000" dirty="0"/>
              <a:t>;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     . </a:t>
            </a:r>
            <a:r>
              <a:rPr lang="zh-CN" altLang="en-US" sz="2000" dirty="0"/>
              <a:t>用户发出 </a:t>
            </a:r>
            <a:r>
              <a:rPr lang="en-US" altLang="zh-CN" sz="2000" dirty="0"/>
              <a:t>kill </a:t>
            </a:r>
            <a:r>
              <a:rPr lang="zh-CN" altLang="en-US" sz="2000" dirty="0"/>
              <a:t>命令</a:t>
            </a:r>
            <a:r>
              <a:rPr lang="en-US" altLang="zh-CN" sz="2000" dirty="0"/>
              <a:t>, </a:t>
            </a:r>
            <a:r>
              <a:rPr lang="zh-CN" altLang="en-US" sz="2000" dirty="0"/>
              <a:t>强行终止后台进程或键盘锁住了的前台进程的运行</a:t>
            </a:r>
            <a:r>
              <a:rPr lang="en-US" altLang="zh-CN" sz="2000" dirty="0"/>
              <a:t>.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kill </a:t>
            </a:r>
            <a:r>
              <a:rPr lang="zh-CN" altLang="en-US" sz="2000" dirty="0"/>
              <a:t>命令的三种常用格式为</a:t>
            </a:r>
            <a:r>
              <a:rPr lang="en-US" altLang="zh-CN" sz="2000" dirty="0"/>
              <a:t>: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>
                <a:solidFill>
                  <a:srgbClr val="FF0000"/>
                </a:solidFill>
              </a:rPr>
              <a:t>kill         PID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zh-CN" altLang="en-US" sz="2000" dirty="0"/>
              <a:t>正常结束进程</a:t>
            </a:r>
            <a:r>
              <a:rPr lang="en-US" altLang="zh-CN" sz="2000" dirty="0"/>
              <a:t>, </a:t>
            </a:r>
            <a:r>
              <a:rPr lang="zh-CN" altLang="en-US" sz="2000" dirty="0"/>
              <a:t>自动完成所有善后工作</a:t>
            </a:r>
            <a:r>
              <a:rPr lang="en-US" altLang="zh-CN" sz="2000" dirty="0"/>
              <a:t>, </a:t>
            </a:r>
            <a:r>
              <a:rPr lang="zh-CN" altLang="en-US" sz="2000" dirty="0"/>
              <a:t>作用类似于按 </a:t>
            </a:r>
            <a:r>
              <a:rPr lang="en-US" altLang="zh-CN" sz="2000" dirty="0"/>
              <a:t>Del </a:t>
            </a:r>
            <a:r>
              <a:rPr lang="zh-CN" altLang="en-US" sz="2000" dirty="0"/>
              <a:t>键</a:t>
            </a:r>
            <a:r>
              <a:rPr lang="en-US" altLang="zh-CN" sz="2000" dirty="0"/>
              <a:t>.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         kill   -1   PID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zh-CN" altLang="en-US" sz="2000" dirty="0"/>
              <a:t>先挂起该进程</a:t>
            </a:r>
            <a:r>
              <a:rPr lang="en-US" altLang="zh-CN" sz="2000" dirty="0"/>
              <a:t>, </a:t>
            </a:r>
            <a:r>
              <a:rPr lang="zh-CN" altLang="en-US" sz="2000" dirty="0"/>
              <a:t>终止子进程</a:t>
            </a:r>
            <a:r>
              <a:rPr lang="en-US" altLang="zh-CN" sz="2000" dirty="0"/>
              <a:t>, </a:t>
            </a:r>
            <a:r>
              <a:rPr lang="zh-CN" altLang="en-US" sz="2000" dirty="0"/>
              <a:t>完成善后工作</a:t>
            </a:r>
            <a:r>
              <a:rPr lang="en-US" altLang="zh-CN" sz="2000" dirty="0"/>
              <a:t>, </a:t>
            </a:r>
            <a:r>
              <a:rPr lang="zh-CN" altLang="en-US" sz="2000" dirty="0"/>
              <a:t>再终止该进程</a:t>
            </a:r>
            <a:r>
              <a:rPr lang="en-US" altLang="zh-CN" sz="2000" dirty="0"/>
              <a:t>.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en-US" altLang="zh-CN" sz="2000" dirty="0"/>
              <a:t>          </a:t>
            </a:r>
            <a:r>
              <a:rPr lang="en-US" altLang="zh-CN" sz="2000" dirty="0">
                <a:solidFill>
                  <a:srgbClr val="FF0000"/>
                </a:solidFill>
              </a:rPr>
              <a:t>kill   -9   PID</a:t>
            </a:r>
          </a:p>
          <a:p>
            <a:pPr marL="457200" indent="-457200">
              <a:lnSpc>
                <a:spcPts val="1500"/>
              </a:lnSpc>
              <a:buNone/>
              <a:defRPr/>
            </a:pPr>
            <a:r>
              <a:rPr lang="zh-CN" altLang="en-US" sz="2000" dirty="0"/>
              <a:t>立即强行终止该进程</a:t>
            </a:r>
            <a:r>
              <a:rPr lang="en-US" altLang="zh-CN" sz="2000" dirty="0"/>
              <a:t>, </a:t>
            </a:r>
            <a:r>
              <a:rPr lang="zh-CN" altLang="en-US" sz="2000" dirty="0"/>
              <a:t>不作任何善后工作</a:t>
            </a:r>
            <a:r>
              <a:rPr lang="en-US" altLang="zh-CN" sz="2000" dirty="0"/>
              <a:t>.  </a:t>
            </a:r>
            <a:r>
              <a:rPr lang="zh-CN" altLang="en-US" sz="2000" dirty="0"/>
              <a:t>可能出现资源浪费和</a:t>
            </a:r>
            <a:r>
              <a:rPr lang="en-US" altLang="zh-CN" sz="2000" dirty="0"/>
              <a:t>"</a:t>
            </a:r>
            <a:r>
              <a:rPr lang="zh-CN" altLang="en-US" sz="2000" dirty="0"/>
              <a:t>孤儿</a:t>
            </a:r>
            <a:r>
              <a:rPr lang="en-US" altLang="zh-CN" sz="2000" dirty="0"/>
              <a:t>"</a:t>
            </a:r>
            <a:r>
              <a:rPr lang="zh-CN" altLang="en-US" sz="2000" dirty="0"/>
              <a:t>进程</a:t>
            </a:r>
            <a:r>
              <a:rPr lang="en-US" altLang="zh-CN" sz="2000" dirty="0"/>
              <a:t>. 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94326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2970" y="1040130"/>
            <a:ext cx="5829300" cy="419100"/>
          </a:xfrm>
        </p:spPr>
        <p:txBody>
          <a:bodyPr/>
          <a:lstStyle/>
          <a:p>
            <a:pPr algn="l" eaLnBrk="1" hangingPunct="1"/>
            <a:r>
              <a:rPr lang="en-US" altLang="zh-CN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  shell </a:t>
            </a:r>
            <a:r>
              <a:rPr lang="zh-CN" altLang="en-US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BABD1566-F7EE-449A-AB19-5707AEFCB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3440" y="1772083"/>
            <a:ext cx="7330440" cy="400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7.1    </a:t>
            </a:r>
            <a:r>
              <a:rPr lang="en-US" altLang="zh-CN" b="1" dirty="0">
                <a:solidFill>
                  <a:srgbClr val="0000FF"/>
                </a:solidFill>
              </a:rPr>
              <a:t>shell </a:t>
            </a:r>
            <a:r>
              <a:rPr lang="zh-CN" altLang="en-US" b="1" dirty="0">
                <a:solidFill>
                  <a:srgbClr val="0000FF"/>
                </a:solidFill>
              </a:rPr>
              <a:t>编程的基本</a:t>
            </a:r>
            <a:r>
              <a:rPr lang="zh-CN" altLang="en-US" b="1" dirty="0" smtClean="0">
                <a:solidFill>
                  <a:srgbClr val="0000FF"/>
                </a:solidFill>
              </a:rPr>
              <a:t>过程</a:t>
            </a:r>
            <a:r>
              <a:rPr lang="zh-CN" altLang="en-US" dirty="0" smtClean="0">
                <a:solidFill>
                  <a:srgbClr val="0000FF"/>
                </a:solidFill>
              </a:rPr>
              <a:t>主要包含</a:t>
            </a:r>
            <a:r>
              <a:rPr lang="zh-CN" altLang="en-US" b="1" dirty="0" smtClean="0">
                <a:solidFill>
                  <a:srgbClr val="0000FF"/>
                </a:solidFill>
              </a:rPr>
              <a:t>以下</a:t>
            </a:r>
            <a:r>
              <a:rPr lang="zh-CN" altLang="en-US" b="1" dirty="0" smtClean="0">
                <a:solidFill>
                  <a:srgbClr val="FF0000"/>
                </a:solidFill>
              </a:rPr>
              <a:t>三</a:t>
            </a:r>
            <a:r>
              <a:rPr lang="zh-CN" altLang="en-US" b="1" dirty="0">
                <a:solidFill>
                  <a:srgbClr val="FF0000"/>
                </a:solidFill>
              </a:rPr>
              <a:t>步</a:t>
            </a:r>
            <a:r>
              <a:rPr lang="en-US" altLang="zh-CN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477188" name="Text Box 4"/>
          <p:cNvSpPr txBox="1">
            <a:spLocks noChangeArrowheads="1"/>
          </p:cNvSpPr>
          <p:nvPr/>
        </p:nvSpPr>
        <p:spPr bwMode="auto">
          <a:xfrm>
            <a:off x="853440" y="2228851"/>
            <a:ext cx="714756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668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24000" indent="-609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81200" indent="-609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438400" indent="-609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956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528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8100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672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FF0000"/>
                </a:solidFill>
              </a:rPr>
              <a:t>1. </a:t>
            </a:r>
            <a:r>
              <a:rPr lang="zh-CN" altLang="en-US" sz="2100" b="1" dirty="0">
                <a:solidFill>
                  <a:srgbClr val="FF0000"/>
                </a:solidFill>
              </a:rPr>
              <a:t>建立 </a:t>
            </a:r>
            <a:r>
              <a:rPr lang="en-US" altLang="zh-CN" sz="2100" b="1" dirty="0">
                <a:solidFill>
                  <a:srgbClr val="FF0000"/>
                </a:solidFill>
              </a:rPr>
              <a:t>shell </a:t>
            </a:r>
            <a:r>
              <a:rPr lang="zh-CN" altLang="en-US" sz="2100" b="1" dirty="0">
                <a:solidFill>
                  <a:srgbClr val="FF0000"/>
                </a:solidFill>
              </a:rPr>
              <a:t>文件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100" b="1" dirty="0"/>
              <a:t>       包含任意多行操作系统命令或</a:t>
            </a:r>
            <a:r>
              <a:rPr lang="en-US" altLang="zh-CN" sz="2100" b="1" dirty="0"/>
              <a:t>shell</a:t>
            </a:r>
            <a:r>
              <a:rPr lang="zh-CN" altLang="en-US" sz="2100" b="1" dirty="0"/>
              <a:t>命令的文本文件</a:t>
            </a:r>
            <a:r>
              <a:rPr lang="en-US" altLang="zh-CN" sz="2100" b="1" dirty="0"/>
              <a:t>;</a:t>
            </a:r>
          </a:p>
        </p:txBody>
      </p:sp>
      <p:sp>
        <p:nvSpPr>
          <p:cNvPr id="477189" name="Text Box 5"/>
          <p:cNvSpPr txBox="1">
            <a:spLocks noChangeArrowheads="1"/>
          </p:cNvSpPr>
          <p:nvPr/>
        </p:nvSpPr>
        <p:spPr bwMode="auto">
          <a:xfrm>
            <a:off x="853440" y="3219451"/>
            <a:ext cx="60007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668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24000" indent="-609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81200" indent="-609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438400" indent="-609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956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528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8100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672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FF0000"/>
                </a:solidFill>
              </a:rPr>
              <a:t>2. </a:t>
            </a:r>
            <a:r>
              <a:rPr lang="zh-CN" altLang="en-US" sz="2100" b="1" dirty="0">
                <a:solidFill>
                  <a:srgbClr val="FF0000"/>
                </a:solidFill>
              </a:rPr>
              <a:t>赋予</a:t>
            </a:r>
            <a:r>
              <a:rPr lang="en-US" altLang="zh-CN" sz="2100" b="1" dirty="0">
                <a:solidFill>
                  <a:srgbClr val="FF0000"/>
                </a:solidFill>
              </a:rPr>
              <a:t>shell</a:t>
            </a:r>
            <a:r>
              <a:rPr lang="zh-CN" altLang="en-US" sz="2100" b="1" dirty="0">
                <a:solidFill>
                  <a:srgbClr val="FF0000"/>
                </a:solidFill>
              </a:rPr>
              <a:t>文件执行权限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/>
              <a:t>        </a:t>
            </a:r>
            <a:r>
              <a:rPr lang="zh-CN" altLang="en-US" sz="2100" b="1" dirty="0"/>
              <a:t>用</a:t>
            </a:r>
            <a:r>
              <a:rPr lang="en-US" altLang="zh-CN" sz="2100" b="1" dirty="0" err="1"/>
              <a:t>chmod</a:t>
            </a:r>
            <a:r>
              <a:rPr lang="zh-CN" altLang="en-US" sz="2100" b="1" dirty="0"/>
              <a:t>命令修改权限</a:t>
            </a:r>
            <a:r>
              <a:rPr lang="en-US" altLang="zh-CN" sz="2100" b="1" dirty="0"/>
              <a:t>;</a:t>
            </a:r>
          </a:p>
        </p:txBody>
      </p:sp>
      <p:sp>
        <p:nvSpPr>
          <p:cNvPr id="477190" name="Text Box 6"/>
          <p:cNvSpPr txBox="1">
            <a:spLocks noChangeArrowheads="1"/>
          </p:cNvSpPr>
          <p:nvPr/>
        </p:nvSpPr>
        <p:spPr bwMode="auto">
          <a:xfrm>
            <a:off x="853440" y="4203235"/>
            <a:ext cx="600075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66800" indent="-609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24000" indent="-609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81200" indent="-609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438400" indent="-609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956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528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8100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67200" indent="-609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FF0000"/>
                </a:solidFill>
              </a:rPr>
              <a:t>3. </a:t>
            </a:r>
            <a:r>
              <a:rPr lang="zh-CN" altLang="en-US" sz="2100" b="1" dirty="0">
                <a:solidFill>
                  <a:srgbClr val="FF0000"/>
                </a:solidFill>
              </a:rPr>
              <a:t>执行</a:t>
            </a:r>
            <a:r>
              <a:rPr lang="en-US" altLang="zh-CN" sz="2100" b="1" dirty="0">
                <a:solidFill>
                  <a:srgbClr val="FF0000"/>
                </a:solidFill>
              </a:rPr>
              <a:t>shell</a:t>
            </a:r>
            <a:r>
              <a:rPr lang="zh-CN" altLang="en-US" sz="2100" b="1" dirty="0">
                <a:solidFill>
                  <a:srgbClr val="FF0000"/>
                </a:solidFill>
              </a:rPr>
              <a:t>文件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100" b="1" dirty="0"/>
              <a:t>       直接在命令行上调用该</a:t>
            </a:r>
            <a:r>
              <a:rPr lang="en-US" altLang="zh-CN" sz="2100" b="1" dirty="0"/>
              <a:t>shell</a:t>
            </a:r>
            <a:r>
              <a:rPr lang="zh-CN" altLang="en-US" sz="2100" b="1" dirty="0"/>
              <a:t>程序</a:t>
            </a:r>
            <a:r>
              <a:rPr lang="en-US" altLang="zh-CN" sz="2100" b="1" dirty="0"/>
              <a:t>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80440" y="325120"/>
            <a:ext cx="6985000" cy="438150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 smtClean="0"/>
              <a:t>shell</a:t>
            </a:r>
            <a:r>
              <a:rPr lang="zh-CN" altLang="zh-CN" sz="2800" dirty="0" smtClean="0"/>
              <a:t>的交互功能与</a:t>
            </a:r>
            <a:r>
              <a:rPr lang="en-US" altLang="zh-CN" sz="2800" dirty="0" smtClean="0"/>
              <a:t>shell</a:t>
            </a:r>
            <a:r>
              <a:rPr lang="zh-CN" altLang="zh-CN" sz="2800" dirty="0" smtClean="0"/>
              <a:t>程序设计</a:t>
            </a:r>
            <a:endParaRPr lang="zh-CN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67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7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7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8" grpId="0" autoUpdateAnimBg="0"/>
      <p:bldP spid="477189" grpId="0" autoUpdateAnimBg="0"/>
      <p:bldP spid="47719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>
            <a:extLst>
              <a:ext uri="{FF2B5EF4-FFF2-40B4-BE49-F238E27FC236}">
                <a16:creationId xmlns:a16="http://schemas.microsoft.com/office/drawing/2014/main" id="{AB7AD865-8EC8-4380-9792-1E8639E03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020" y="1085850"/>
            <a:ext cx="6057900" cy="1784033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7.2   </a:t>
            </a:r>
            <a:r>
              <a:rPr lang="zh-CN" altLang="en-US" b="1" dirty="0">
                <a:solidFill>
                  <a:srgbClr val="0000FF"/>
                </a:solidFill>
              </a:rPr>
              <a:t>实例</a:t>
            </a:r>
            <a:r>
              <a:rPr lang="en-US" altLang="zh-CN" b="1" dirty="0">
                <a:solidFill>
                  <a:srgbClr val="0000FF"/>
                </a:solidFill>
              </a:rPr>
              <a:t>:</a:t>
            </a:r>
          </a:p>
          <a:p>
            <a:pPr marL="457200" indent="-457200"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</a:t>
            </a: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shell</a:t>
            </a: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可用任何建立文本文件的方法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</a:p>
          <a:p>
            <a:pPr marL="457200" indent="-457200"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$ cat  prog1</a:t>
            </a:r>
          </a:p>
          <a:p>
            <a:pPr marL="457200" indent="-457200"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     who  |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grep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 $1</a:t>
            </a:r>
          </a:p>
          <a:p>
            <a:pPr marL="457200" indent="-457200">
              <a:buNone/>
              <a:defRPr/>
            </a:pPr>
            <a:endParaRPr lang="en-US" altLang="zh-CN" sz="1800" dirty="0"/>
          </a:p>
        </p:txBody>
      </p:sp>
      <p:sp>
        <p:nvSpPr>
          <p:cNvPr id="478211" name="Text Box 3">
            <a:extLst>
              <a:ext uri="{FF2B5EF4-FFF2-40B4-BE49-F238E27FC236}">
                <a16:creationId xmlns:a16="http://schemas.microsoft.com/office/drawing/2014/main" id="{FBEDD170-B22F-434A-9DCC-84D6808F6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" y="2948941"/>
            <a:ext cx="6057900" cy="67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赋予执行权限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:  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初始文本文件无执行权限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$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chmod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740  prog1</a:t>
            </a:r>
          </a:p>
        </p:txBody>
      </p:sp>
      <p:sp>
        <p:nvSpPr>
          <p:cNvPr id="478212" name="Text Box 4">
            <a:extLst>
              <a:ext uri="{FF2B5EF4-FFF2-40B4-BE49-F238E27FC236}">
                <a16:creationId xmlns:a16="http://schemas.microsoft.com/office/drawing/2014/main" id="{5C38345C-2565-46B9-987C-A9792FD7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" y="3678945"/>
            <a:ext cx="6172200" cy="128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执行该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shell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$ prog1  student5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prog1: not found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(shell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在标准搜索目录中找不到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prog1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78213" name="Text Box 5">
            <a:extLst>
              <a:ext uri="{FF2B5EF4-FFF2-40B4-BE49-F238E27FC236}">
                <a16:creationId xmlns:a16="http://schemas.microsoft.com/office/drawing/2014/main" id="{4D7E6275-2756-49E6-AAF7-3E986BA1A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" y="4939290"/>
            <a:ext cx="5429250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指定路径或修改环境变量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PATH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后执行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shell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$ ./prog1  student5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student5   tty06   Feb 8   09:12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32536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8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autoUpdateAnimBg="0"/>
      <p:bldP spid="478212" grpId="0" autoUpdateAnimBg="0"/>
      <p:bldP spid="47821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>
            <a:extLst>
              <a:ext uri="{FF2B5EF4-FFF2-40B4-BE49-F238E27FC236}">
                <a16:creationId xmlns:a16="http://schemas.microsoft.com/office/drawing/2014/main" id="{374E5672-E2D4-4DFD-8D9A-3D1BA0AA3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085850"/>
            <a:ext cx="7856220" cy="459486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7.3   </a:t>
            </a:r>
            <a:r>
              <a:rPr lang="en-US" altLang="zh-CN" b="1" dirty="0">
                <a:solidFill>
                  <a:srgbClr val="0000FF"/>
                </a:solidFill>
              </a:rPr>
              <a:t>shell </a:t>
            </a:r>
            <a:r>
              <a:rPr lang="zh-CN" altLang="en-US" b="1" dirty="0">
                <a:solidFill>
                  <a:srgbClr val="0000FF"/>
                </a:solidFill>
              </a:rPr>
              <a:t>程序和语句</a:t>
            </a:r>
          </a:p>
          <a:p>
            <a:pPr marL="609600" indent="-609600">
              <a:buNone/>
              <a:defRPr/>
            </a:pPr>
            <a:r>
              <a:rPr lang="zh-CN" altLang="en-US" sz="2100" dirty="0"/>
              <a:t> </a:t>
            </a:r>
            <a:r>
              <a:rPr lang="en-US" altLang="zh-CN" sz="2100" dirty="0"/>
              <a:t>shell </a:t>
            </a:r>
            <a:r>
              <a:rPr lang="zh-CN" altLang="en-US" sz="2100" dirty="0"/>
              <a:t>程序由零至多条</a:t>
            </a:r>
            <a:r>
              <a:rPr lang="en-US" altLang="zh-CN" sz="2100" dirty="0"/>
              <a:t>shell</a:t>
            </a:r>
            <a:r>
              <a:rPr lang="zh-CN" altLang="en-US" sz="2100" dirty="0"/>
              <a:t>语句构成</a:t>
            </a:r>
            <a:r>
              <a:rPr lang="en-US" altLang="zh-CN" sz="2100" dirty="0"/>
              <a:t>.  shell</a:t>
            </a:r>
            <a:r>
              <a:rPr lang="zh-CN" altLang="en-US" sz="2100" dirty="0"/>
              <a:t>语句包括三大类</a:t>
            </a:r>
            <a:r>
              <a:rPr lang="en-US" altLang="zh-CN" sz="2100" dirty="0"/>
              <a:t>: </a:t>
            </a:r>
            <a:r>
              <a:rPr lang="zh-CN" altLang="en-US" sz="2100" dirty="0"/>
              <a:t>功能性语句、结构性语句和说明性语句</a:t>
            </a:r>
            <a:r>
              <a:rPr lang="en-US" altLang="zh-CN" sz="2100" dirty="0"/>
              <a:t>.</a:t>
            </a:r>
          </a:p>
          <a:p>
            <a:pPr marL="609600" indent="-609600">
              <a:buNone/>
              <a:defRPr/>
            </a:pPr>
            <a:r>
              <a:rPr lang="zh-CN" altLang="en-US" sz="2100" dirty="0">
                <a:solidFill>
                  <a:srgbClr val="FF0000"/>
                </a:solidFill>
              </a:rPr>
              <a:t>说明性语句</a:t>
            </a:r>
            <a:r>
              <a:rPr lang="zh-CN" altLang="en-US" sz="2100" dirty="0"/>
              <a:t>：</a:t>
            </a:r>
          </a:p>
          <a:p>
            <a:pPr marL="609600" indent="-609600">
              <a:buNone/>
              <a:defRPr/>
            </a:pPr>
            <a:r>
              <a:rPr lang="zh-CN" altLang="en-US" sz="2100" dirty="0"/>
              <a:t>         以</a:t>
            </a:r>
            <a:r>
              <a:rPr lang="en-US" altLang="zh-CN" sz="2100" dirty="0"/>
              <a:t>#</a:t>
            </a:r>
            <a:r>
              <a:rPr lang="zh-CN" altLang="en-US" sz="2100" dirty="0"/>
              <a:t>号开始到行尾的部分，不被解释执行。</a:t>
            </a:r>
          </a:p>
          <a:p>
            <a:pPr marL="609600" indent="-609600">
              <a:buNone/>
              <a:defRPr/>
            </a:pPr>
            <a:r>
              <a:rPr lang="zh-CN" altLang="en-US" sz="2100" dirty="0">
                <a:solidFill>
                  <a:srgbClr val="FF0000"/>
                </a:solidFill>
              </a:rPr>
              <a:t>功能性语句</a:t>
            </a:r>
            <a:r>
              <a:rPr lang="en-US" altLang="zh-CN" sz="2100" dirty="0"/>
              <a:t>: </a:t>
            </a:r>
          </a:p>
          <a:p>
            <a:pPr marL="609600" indent="-609600">
              <a:buNone/>
              <a:defRPr/>
            </a:pPr>
            <a:r>
              <a:rPr lang="en-US" altLang="zh-CN" sz="2100" dirty="0"/>
              <a:t>         </a:t>
            </a:r>
            <a:r>
              <a:rPr lang="zh-CN" altLang="en-US" sz="2100" dirty="0"/>
              <a:t>任意的操作系统命令、</a:t>
            </a:r>
            <a:r>
              <a:rPr lang="en-US" altLang="zh-CN" sz="2100" dirty="0"/>
              <a:t>shell</a:t>
            </a:r>
            <a:r>
              <a:rPr lang="zh-CN" altLang="en-US" sz="2100" dirty="0"/>
              <a:t>内部命令、自编程序、其它</a:t>
            </a:r>
            <a:r>
              <a:rPr lang="en-US" altLang="zh-CN" sz="2100" dirty="0"/>
              <a:t>shell</a:t>
            </a:r>
            <a:r>
              <a:rPr lang="zh-CN" altLang="en-US" sz="2100" dirty="0"/>
              <a:t>程序名等。</a:t>
            </a:r>
          </a:p>
          <a:p>
            <a:pPr marL="609600" indent="-609600">
              <a:buNone/>
              <a:defRPr/>
            </a:pPr>
            <a:r>
              <a:rPr lang="zh-CN" altLang="en-US" sz="2100" dirty="0">
                <a:solidFill>
                  <a:srgbClr val="FF0000"/>
                </a:solidFill>
              </a:rPr>
              <a:t>结构性语句</a:t>
            </a:r>
            <a:r>
              <a:rPr lang="zh-CN" altLang="en-US" sz="2100" dirty="0"/>
              <a:t>：</a:t>
            </a:r>
          </a:p>
          <a:p>
            <a:pPr marL="609600" indent="-609600">
              <a:buNone/>
              <a:defRPr/>
            </a:pPr>
            <a:r>
              <a:rPr lang="zh-CN" altLang="en-US" sz="2100" dirty="0"/>
              <a:t>         条件测试语句、多路分支语句、循环语句、循环控制语句等。</a:t>
            </a:r>
            <a:r>
              <a:rPr lang="zh-CN" altLang="en-US" dirty="0"/>
              <a:t>             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29800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>
            <a:extLst>
              <a:ext uri="{FF2B5EF4-FFF2-40B4-BE49-F238E27FC236}">
                <a16:creationId xmlns:a16="http://schemas.microsoft.com/office/drawing/2014/main" id="{9D6A0F34-B1E3-43DA-8DF0-49DD7D5C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680" y="1085849"/>
            <a:ext cx="7795260" cy="5395973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7.3.1   </a:t>
            </a:r>
            <a:r>
              <a:rPr lang="zh-CN" altLang="en-US" b="1" dirty="0">
                <a:solidFill>
                  <a:srgbClr val="0000FF"/>
                </a:solidFill>
              </a:rPr>
              <a:t>说明性语句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dirty="0">
                <a:solidFill>
                  <a:srgbClr val="0000FF"/>
                </a:solidFill>
              </a:rPr>
              <a:t>注释行</a:t>
            </a:r>
            <a:r>
              <a:rPr lang="en-US" altLang="zh-CN" b="1" dirty="0" smtClean="0">
                <a:solidFill>
                  <a:srgbClr val="0000FF"/>
                </a:solidFill>
              </a:rPr>
              <a:t>)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609600" indent="-609600">
              <a:lnSpc>
                <a:spcPct val="70000"/>
              </a:lnSpc>
              <a:buNone/>
              <a:defRPr/>
            </a:pPr>
            <a:r>
              <a:rPr lang="zh-CN" altLang="en-US" b="1" dirty="0"/>
              <a:t> </a:t>
            </a:r>
            <a:r>
              <a:rPr lang="zh-CN" altLang="en-US" sz="1800" dirty="0"/>
              <a:t>注释行可以出现在程序中的任何位置</a:t>
            </a:r>
            <a:r>
              <a:rPr lang="en-US" altLang="zh-CN" sz="1800" dirty="0"/>
              <a:t>,</a:t>
            </a:r>
            <a:r>
              <a:rPr lang="zh-CN" altLang="en-US" sz="1800" dirty="0"/>
              <a:t>既可以单独占用一行</a:t>
            </a:r>
            <a:r>
              <a:rPr lang="en-US" altLang="zh-CN" sz="1800" dirty="0"/>
              <a:t>,  </a:t>
            </a:r>
            <a:r>
              <a:rPr lang="zh-CN" altLang="en-US" sz="1800" dirty="0"/>
              <a:t>也可以接在执行语句的后面</a:t>
            </a:r>
            <a:r>
              <a:rPr lang="en-US" altLang="zh-CN" sz="1800" dirty="0"/>
              <a:t>. </a:t>
            </a:r>
            <a:r>
              <a:rPr lang="zh-CN" altLang="en-US" sz="1800" dirty="0"/>
              <a:t>以</a:t>
            </a:r>
            <a:r>
              <a:rPr lang="en-US" altLang="zh-CN" sz="1800" dirty="0"/>
              <a:t>#</a:t>
            </a:r>
            <a:r>
              <a:rPr lang="zh-CN" altLang="en-US" sz="1800" dirty="0"/>
              <a:t>号开始到所在行的行尾部分，都不被解释执行</a:t>
            </a:r>
            <a:r>
              <a:rPr lang="en-US" altLang="zh-CN" sz="1800" dirty="0"/>
              <a:t>. </a:t>
            </a:r>
            <a:r>
              <a:rPr lang="zh-CN" altLang="en-US" sz="1800" dirty="0"/>
              <a:t>例如</a:t>
            </a:r>
            <a:r>
              <a:rPr lang="en-US" altLang="zh-CN" sz="1800" dirty="0"/>
              <a:t>: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#! /bin/</a:t>
            </a:r>
            <a:r>
              <a:rPr lang="en-US" altLang="zh-CN" sz="1800" dirty="0" err="1"/>
              <a:t>sh</a:t>
            </a:r>
            <a:r>
              <a:rPr lang="en-US" altLang="zh-CN" sz="1800" dirty="0"/>
              <a:t> 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# 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# </a:t>
            </a:r>
            <a:r>
              <a:rPr lang="zh-CN" altLang="en-US" sz="1800" dirty="0"/>
              <a:t>本程序说明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#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command_1 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command_2                        # command_2</a:t>
            </a:r>
            <a:r>
              <a:rPr lang="zh-CN" altLang="en-US" sz="1800" dirty="0"/>
              <a:t>的语句说明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……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# </a:t>
            </a:r>
            <a:r>
              <a:rPr lang="zh-CN" altLang="en-US" sz="1800" dirty="0"/>
              <a:t>下面程序段的说明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 err="1"/>
              <a:t>command_m</a:t>
            </a:r>
            <a:endParaRPr lang="en-US" altLang="zh-CN" sz="1800" dirty="0"/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……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 err="1"/>
              <a:t>command_n</a:t>
            </a:r>
            <a:r>
              <a:rPr lang="en-US" altLang="zh-CN" sz="1800" dirty="0"/>
              <a:t>                       # </a:t>
            </a:r>
            <a:r>
              <a:rPr lang="en-US" altLang="zh-CN" sz="1800" dirty="0" err="1"/>
              <a:t>command_n</a:t>
            </a:r>
            <a:r>
              <a:rPr lang="zh-CN" altLang="en-US" sz="1800" dirty="0"/>
              <a:t>语句的说明</a:t>
            </a:r>
          </a:p>
          <a:p>
            <a:pPr marL="609600" indent="-609600">
              <a:lnSpc>
                <a:spcPts val="1200"/>
              </a:lnSpc>
              <a:buNone/>
              <a:defRPr/>
            </a:pPr>
            <a:r>
              <a:rPr lang="en-US" altLang="zh-CN" sz="1800" dirty="0"/>
              <a:t>……</a:t>
            </a:r>
          </a:p>
        </p:txBody>
      </p:sp>
      <p:sp>
        <p:nvSpPr>
          <p:cNvPr id="481283" name="AutoShape 3"/>
          <p:cNvSpPr>
            <a:spLocks noChangeArrowheads="1"/>
          </p:cNvSpPr>
          <p:nvPr/>
        </p:nvSpPr>
        <p:spPr bwMode="auto">
          <a:xfrm>
            <a:off x="2129790" y="2156460"/>
            <a:ext cx="4743450" cy="342900"/>
          </a:xfrm>
          <a:prstGeom prst="leftArrowCallout">
            <a:avLst>
              <a:gd name="adj1" fmla="val 37500"/>
              <a:gd name="adj2" fmla="val 25000"/>
              <a:gd name="adj3" fmla="val 275706"/>
              <a:gd name="adj4" fmla="val 800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1"/>
                </a:solidFill>
              </a:rPr>
              <a:t>告诉</a:t>
            </a:r>
            <a:r>
              <a:rPr lang="en-US" altLang="zh-CN" sz="1500" b="1" dirty="0">
                <a:solidFill>
                  <a:schemeClr val="bg1"/>
                </a:solidFill>
              </a:rPr>
              <a:t>OS</a:t>
            </a:r>
            <a:r>
              <a:rPr lang="zh-CN" altLang="en-US" sz="1500" b="1" dirty="0">
                <a:solidFill>
                  <a:schemeClr val="bg1"/>
                </a:solidFill>
              </a:rPr>
              <a:t>用哪种类型的</a:t>
            </a:r>
            <a:r>
              <a:rPr lang="en-US" altLang="zh-CN" sz="1500" b="1" dirty="0">
                <a:solidFill>
                  <a:schemeClr val="bg1"/>
                </a:solidFill>
              </a:rPr>
              <a:t>shell</a:t>
            </a:r>
            <a:r>
              <a:rPr lang="zh-CN" altLang="en-US" sz="1500" b="1" dirty="0">
                <a:solidFill>
                  <a:schemeClr val="bg1"/>
                </a:solidFill>
              </a:rPr>
              <a:t>来解释执行该程序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97264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>
            <a:extLst>
              <a:ext uri="{FF2B5EF4-FFF2-40B4-BE49-F238E27FC236}">
                <a16:creationId xmlns:a16="http://schemas.microsoft.com/office/drawing/2014/main" id="{3383D9CD-932E-4636-9A3D-178062C6F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0" y="1085850"/>
            <a:ext cx="7818120" cy="4800600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7.3.2   </a:t>
            </a:r>
            <a:r>
              <a:rPr lang="zh-CN" altLang="en-US" b="1" dirty="0">
                <a:solidFill>
                  <a:srgbClr val="0000FF"/>
                </a:solidFill>
              </a:rPr>
              <a:t>几个常用的功能性语句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zh-CN" altLang="en-US" b="1" dirty="0">
                <a:solidFill>
                  <a:srgbClr val="0000FF"/>
                </a:solidFill>
              </a:rPr>
              <a:t>命令</a:t>
            </a:r>
            <a:r>
              <a:rPr lang="en-US" altLang="zh-CN" b="1" dirty="0" smtClean="0">
                <a:solidFill>
                  <a:srgbClr val="0000FF"/>
                </a:solidFill>
              </a:rPr>
              <a:t>) 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57200" indent="-457200"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1</a:t>
            </a:r>
            <a:r>
              <a:rPr lang="zh-CN" altLang="en-US" sz="2100" dirty="0">
                <a:solidFill>
                  <a:srgbClr val="FF0000"/>
                </a:solidFill>
              </a:rPr>
              <a:t>、</a:t>
            </a:r>
            <a:r>
              <a:rPr lang="en-US" altLang="zh-CN" sz="2100" dirty="0">
                <a:solidFill>
                  <a:srgbClr val="FF0000"/>
                </a:solidFill>
              </a:rPr>
              <a:t>read</a:t>
            </a:r>
            <a:r>
              <a:rPr lang="zh-CN" altLang="en-US" sz="2100" dirty="0">
                <a:solidFill>
                  <a:srgbClr val="FF0000"/>
                </a:solidFill>
              </a:rPr>
              <a:t>命令</a:t>
            </a:r>
          </a:p>
          <a:p>
            <a:pPr marL="457200" indent="-457200">
              <a:buNone/>
              <a:defRPr/>
            </a:pPr>
            <a:r>
              <a:rPr lang="zh-CN" altLang="en-US" sz="2100" dirty="0"/>
              <a:t>     </a:t>
            </a:r>
            <a:r>
              <a:rPr lang="en-US" altLang="zh-CN" sz="2100" dirty="0"/>
              <a:t>read</a:t>
            </a:r>
            <a:r>
              <a:rPr lang="zh-CN" altLang="en-US" sz="2100" dirty="0"/>
              <a:t>从标准输入读入一行</a:t>
            </a:r>
            <a:r>
              <a:rPr lang="en-US" altLang="zh-CN" sz="2100" dirty="0"/>
              <a:t>, </a:t>
            </a:r>
            <a:r>
              <a:rPr lang="zh-CN" altLang="en-US" sz="2100" dirty="0"/>
              <a:t>并赋值给后面的变量</a:t>
            </a:r>
            <a:r>
              <a:rPr lang="en-US" altLang="zh-CN" sz="2100" dirty="0"/>
              <a:t>, </a:t>
            </a:r>
            <a:r>
              <a:rPr lang="zh-CN" altLang="en-US" sz="2100" dirty="0"/>
              <a:t>其语法为</a:t>
            </a:r>
            <a:r>
              <a:rPr lang="en-US" altLang="zh-CN" sz="2100" dirty="0"/>
              <a:t>:</a:t>
            </a:r>
          </a:p>
          <a:p>
            <a:pPr marL="457200" indent="-457200">
              <a:buNone/>
              <a:defRPr/>
            </a:pPr>
            <a:r>
              <a:rPr lang="en-US" altLang="zh-CN" sz="2100" dirty="0"/>
              <a:t>   .   read  </a:t>
            </a:r>
            <a:r>
              <a:rPr lang="en-US" altLang="zh-CN" sz="2100" dirty="0" err="1"/>
              <a:t>var</a:t>
            </a:r>
            <a:endParaRPr lang="en-US" altLang="zh-CN" sz="2100" dirty="0"/>
          </a:p>
          <a:p>
            <a:pPr marL="457200" indent="-457200"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/>
              <a:t>把读入的数据全部赋给</a:t>
            </a:r>
            <a:r>
              <a:rPr lang="en-US" altLang="zh-CN" sz="2100" dirty="0" err="1"/>
              <a:t>var</a:t>
            </a:r>
            <a:endParaRPr lang="en-US" altLang="zh-CN" sz="2100" dirty="0"/>
          </a:p>
          <a:p>
            <a:pPr marL="457200" indent="-457200">
              <a:buNone/>
              <a:defRPr/>
            </a:pPr>
            <a:r>
              <a:rPr lang="en-US" altLang="zh-CN" sz="2100" dirty="0"/>
              <a:t>   .   read  var1  var2  var3</a:t>
            </a:r>
          </a:p>
          <a:p>
            <a:pPr marL="457200" indent="-457200"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/>
              <a:t>把读入行中的第一个参数赋给</a:t>
            </a:r>
            <a:r>
              <a:rPr lang="en-US" altLang="zh-CN" sz="2100" dirty="0"/>
              <a:t>var1, </a:t>
            </a:r>
            <a:r>
              <a:rPr lang="zh-CN" altLang="en-US" sz="2100" dirty="0"/>
              <a:t>第二个参数赋给</a:t>
            </a:r>
            <a:r>
              <a:rPr lang="en-US" altLang="zh-CN" sz="2100" dirty="0"/>
              <a:t>var2, ……</a:t>
            </a:r>
            <a:r>
              <a:rPr lang="zh-CN" altLang="en-US" sz="2100" dirty="0"/>
              <a:t>，把其余所有的参数赋给最后一个变量</a:t>
            </a:r>
            <a:r>
              <a:rPr lang="en-US" altLang="zh-CN" sz="2100" dirty="0"/>
              <a:t>.</a:t>
            </a:r>
          </a:p>
          <a:p>
            <a:pPr marL="457200" indent="-457200">
              <a:buNone/>
              <a:defRPr/>
            </a:pPr>
            <a:r>
              <a:rPr lang="en-US" altLang="zh-CN" sz="2100" dirty="0"/>
              <a:t>        </a:t>
            </a:r>
            <a:r>
              <a:rPr lang="zh-CN" altLang="en-US" sz="2100" dirty="0"/>
              <a:t>如果执行</a:t>
            </a:r>
            <a:r>
              <a:rPr lang="en-US" altLang="zh-CN" sz="2100" dirty="0"/>
              <a:t>read</a:t>
            </a:r>
            <a:r>
              <a:rPr lang="zh-CN" altLang="en-US" sz="2100" dirty="0"/>
              <a:t>语句时标准输入无数据</a:t>
            </a:r>
            <a:r>
              <a:rPr lang="en-US" altLang="zh-CN" sz="2100" dirty="0"/>
              <a:t>, </a:t>
            </a:r>
            <a:r>
              <a:rPr lang="zh-CN" altLang="en-US" sz="2100" dirty="0"/>
              <a:t>则程序在此停留等侯</a:t>
            </a:r>
            <a:r>
              <a:rPr lang="en-US" altLang="zh-CN" sz="2100" dirty="0"/>
              <a:t>, </a:t>
            </a:r>
            <a:r>
              <a:rPr lang="zh-CN" altLang="en-US" sz="2100" dirty="0"/>
              <a:t>直到数据的到来或被终止运行</a:t>
            </a:r>
            <a:r>
              <a:rPr lang="en-US" altLang="zh-CN" sz="2100" dirty="0"/>
              <a:t>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729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>
            <a:extLst>
              <a:ext uri="{FF2B5EF4-FFF2-40B4-BE49-F238E27FC236}">
                <a16:creationId xmlns:a16="http://schemas.microsoft.com/office/drawing/2014/main" id="{ADC53D41-24A6-43AA-85AA-EBBF0D3BC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680" y="1657350"/>
            <a:ext cx="7726680" cy="3505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read</a:t>
            </a:r>
            <a:r>
              <a:rPr lang="zh-CN" altLang="en-US" sz="2100" dirty="0"/>
              <a:t>应用实例（命令行执行）</a:t>
            </a:r>
            <a:endParaRPr lang="en-US" altLang="zh-CN" sz="2100" dirty="0"/>
          </a:p>
          <a:p>
            <a:pPr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read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zh-CN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读取标准输入（键盘）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zh-CN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输入的内容赋给后面的变量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buNone/>
              <a:defRPr/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en-US" altLang="zh-CN" sz="21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 name   age</a:t>
            </a:r>
          </a:p>
          <a:p>
            <a:pPr>
              <a:buNone/>
              <a:defRPr/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yilan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  23                                                </a:t>
            </a:r>
            <a:r>
              <a:rPr lang="zh-CN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从键盘输入的内容</a:t>
            </a:r>
            <a:endParaRPr lang="en-US" altLang="zh-CN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defRPr/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en-US" altLang="zh-CN" sz="21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 "student  $name  is  $age  years  old"</a:t>
            </a:r>
          </a:p>
          <a:p>
            <a:pPr>
              <a:buNone/>
              <a:defRPr/>
            </a:pP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      student  </a:t>
            </a:r>
            <a:r>
              <a:rPr lang="en-US" altLang="zh-CN" sz="2100" dirty="0" err="1">
                <a:latin typeface="Arial" panose="020B0604020202020204" pitchFamily="34" charset="0"/>
                <a:cs typeface="Arial" panose="020B0604020202020204" pitchFamily="34" charset="0"/>
              </a:rPr>
              <a:t>yilan</a:t>
            </a:r>
            <a:r>
              <a:rPr lang="en-US" altLang="zh-CN" sz="2100" dirty="0">
                <a:latin typeface="Arial" panose="020B0604020202020204" pitchFamily="34" charset="0"/>
                <a:cs typeface="Arial" panose="020B0604020202020204" pitchFamily="34" charset="0"/>
              </a:rPr>
              <a:t>  is  23  years old           </a:t>
            </a:r>
            <a:r>
              <a:rPr lang="zh-CN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屏幕显示的内容</a:t>
            </a:r>
            <a:endParaRPr lang="en-US" altLang="zh-C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4714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>
            <a:extLst>
              <a:ext uri="{FF2B5EF4-FFF2-40B4-BE49-F238E27FC236}">
                <a16:creationId xmlns:a16="http://schemas.microsoft.com/office/drawing/2014/main" id="{ADC53D41-24A6-43AA-85AA-EBBF0D3BC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120" y="1703070"/>
            <a:ext cx="7665720" cy="410718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read</a:t>
            </a:r>
            <a:r>
              <a:rPr lang="zh-CN" altLang="en-US" b="1" dirty="0" smtClean="0"/>
              <a:t>应用实例（</a:t>
            </a:r>
            <a:r>
              <a:rPr lang="en-US" altLang="zh-CN" b="1" dirty="0" smtClean="0"/>
              <a:t>shell</a:t>
            </a:r>
            <a:r>
              <a:rPr lang="zh-CN" altLang="en-US" b="1" dirty="0" smtClean="0"/>
              <a:t>脚本程序）</a:t>
            </a:r>
            <a:endParaRPr lang="zh-CN" altLang="en-US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# </a:t>
            </a:r>
            <a:r>
              <a:rPr lang="en-US" altLang="zh-CN" dirty="0">
                <a:solidFill>
                  <a:srgbClr val="0000FF"/>
                </a:solidFill>
              </a:rPr>
              <a:t>example1</a:t>
            </a:r>
            <a:r>
              <a:rPr lang="en-US" altLang="zh-CN" dirty="0"/>
              <a:t>  for read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echo  -n "Input  your  name: 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read  username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echo  "Your name is  $username</a:t>
            </a:r>
            <a:r>
              <a:rPr lang="en-US" altLang="zh-CN" dirty="0" smtClean="0"/>
              <a:t>"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5073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>
            <a:extLst>
              <a:ext uri="{FF2B5EF4-FFF2-40B4-BE49-F238E27FC236}">
                <a16:creationId xmlns:a16="http://schemas.microsoft.com/office/drawing/2014/main" id="{ADC53D41-24A6-43AA-85AA-EBBF0D3BC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120" y="1703070"/>
            <a:ext cx="7612380" cy="3657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read</a:t>
            </a:r>
            <a:r>
              <a:rPr lang="zh-CN" altLang="en-US" b="1" dirty="0" smtClean="0"/>
              <a:t>应用实例（</a:t>
            </a:r>
            <a:r>
              <a:rPr lang="en-US" altLang="zh-CN" b="1" dirty="0" smtClean="0"/>
              <a:t>shell</a:t>
            </a:r>
            <a:r>
              <a:rPr lang="zh-CN" altLang="en-US" b="1" dirty="0" smtClean="0"/>
              <a:t>脚本程序）</a:t>
            </a:r>
            <a:endParaRPr lang="zh-CN" altLang="en-US" b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#</a:t>
            </a:r>
            <a:r>
              <a:rPr lang="en-US" altLang="zh-CN" sz="1800" dirty="0">
                <a:solidFill>
                  <a:srgbClr val="0000FF"/>
                </a:solidFill>
              </a:rPr>
              <a:t>example2</a:t>
            </a:r>
            <a:r>
              <a:rPr lang="en-US" altLang="zh-CN" sz="1800" dirty="0"/>
              <a:t>  for  read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–n  "Input  date  with  format  </a:t>
            </a:r>
            <a:r>
              <a:rPr lang="en-US" altLang="zh-CN" sz="1800" dirty="0" err="1"/>
              <a:t>yyyy</a:t>
            </a:r>
            <a:r>
              <a:rPr lang="en-US" altLang="zh-CN" sz="1800" dirty="0"/>
              <a:t>  mm </a:t>
            </a:r>
            <a:r>
              <a:rPr lang="en-US" altLang="zh-CN" sz="1800" dirty="0" err="1"/>
              <a:t>dd</a:t>
            </a:r>
            <a:r>
              <a:rPr lang="en-US" altLang="zh-CN" sz="1800" dirty="0"/>
              <a:t>: 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read  year  month  day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 "Today  is  $year/$month/$day,  right?"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 -n "Press  any  key  to  confirm  and  continue"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read  answer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"I  know  the  date,  bye!"</a:t>
            </a:r>
          </a:p>
        </p:txBody>
      </p:sp>
      <p:sp>
        <p:nvSpPr>
          <p:cNvPr id="3" name="矩形 2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80023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>
            <a:extLst>
              <a:ext uri="{FF2B5EF4-FFF2-40B4-BE49-F238E27FC236}">
                <a16:creationId xmlns:a16="http://schemas.microsoft.com/office/drawing/2014/main" id="{5FE481C1-F55D-4E72-99EB-C6011AFE8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667" y="1703069"/>
            <a:ext cx="7581900" cy="4709305"/>
          </a:xfrm>
        </p:spPr>
        <p:txBody>
          <a:bodyPr/>
          <a:lstStyle/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2100" dirty="0">
                <a:solidFill>
                  <a:srgbClr val="FF0000"/>
                </a:solidFill>
              </a:rPr>
              <a:t>2</a:t>
            </a:r>
            <a:r>
              <a:rPr lang="zh-CN" altLang="en-US" sz="2100" dirty="0">
                <a:solidFill>
                  <a:srgbClr val="FF0000"/>
                </a:solidFill>
              </a:rPr>
              <a:t>、</a:t>
            </a:r>
            <a:r>
              <a:rPr lang="en-US" altLang="zh-CN" sz="2100" dirty="0">
                <a:solidFill>
                  <a:srgbClr val="FF0000"/>
                </a:solidFill>
              </a:rPr>
              <a:t>  expr </a:t>
            </a:r>
            <a:r>
              <a:rPr lang="zh-CN" altLang="en-US" sz="2100" dirty="0">
                <a:solidFill>
                  <a:srgbClr val="FF0000"/>
                </a:solidFill>
              </a:rPr>
              <a:t>命令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zh-CN" altLang="en-US" sz="1500" dirty="0"/>
              <a:t>       算术运算命令</a:t>
            </a:r>
            <a:r>
              <a:rPr lang="en-US" altLang="zh-CN" sz="1500" dirty="0"/>
              <a:t>expr</a:t>
            </a:r>
            <a:r>
              <a:rPr lang="zh-CN" altLang="en-US" sz="1500" dirty="0"/>
              <a:t>主要用于进行简单的整数运算，包括加</a:t>
            </a:r>
            <a:r>
              <a:rPr lang="en-US" altLang="zh-CN" sz="1500" dirty="0"/>
              <a:t>(+)</a:t>
            </a:r>
            <a:r>
              <a:rPr lang="zh-CN" altLang="en-US" sz="1500" dirty="0"/>
              <a:t>、减（</a:t>
            </a:r>
            <a:r>
              <a:rPr lang="en-US" altLang="zh-CN" sz="1500" dirty="0"/>
              <a:t>-</a:t>
            </a:r>
            <a:r>
              <a:rPr lang="zh-CN" altLang="en-US" sz="1500" dirty="0"/>
              <a:t>）、乘（</a:t>
            </a:r>
            <a:r>
              <a:rPr lang="en-US" altLang="zh-CN" sz="1500" dirty="0"/>
              <a:t>\*)</a:t>
            </a:r>
            <a:r>
              <a:rPr lang="zh-CN" altLang="en-US" sz="1500" dirty="0"/>
              <a:t>、整除（</a:t>
            </a:r>
            <a:r>
              <a:rPr lang="en-US" altLang="zh-CN" sz="1500" dirty="0"/>
              <a:t>/</a:t>
            </a:r>
            <a:r>
              <a:rPr lang="zh-CN" altLang="en-US" sz="1500" dirty="0"/>
              <a:t>）和求模（</a:t>
            </a:r>
            <a:r>
              <a:rPr lang="en-US" altLang="zh-CN" sz="1500" dirty="0"/>
              <a:t>%</a:t>
            </a:r>
            <a:r>
              <a:rPr lang="zh-CN" altLang="en-US" sz="1500" dirty="0"/>
              <a:t>）等操作。例如</a:t>
            </a:r>
            <a:r>
              <a:rPr lang="en-US" altLang="zh-CN" sz="1500" dirty="0"/>
              <a:t>: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expr  12  +  5  \*  3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27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expr  3  -  8  /  2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-1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expr   25  %  4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1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</a:t>
            </a:r>
            <a:r>
              <a:rPr lang="en-US" altLang="zh-CN" sz="1500" dirty="0" err="1"/>
              <a:t>num</a:t>
            </a:r>
            <a:r>
              <a:rPr lang="en-US" altLang="zh-CN" sz="1500" dirty="0"/>
              <a:t>=9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sum=`expr  $</a:t>
            </a:r>
            <a:r>
              <a:rPr lang="en-US" altLang="zh-CN" sz="1500" dirty="0" err="1"/>
              <a:t>num</a:t>
            </a:r>
            <a:r>
              <a:rPr lang="en-US" altLang="zh-CN" sz="1500" dirty="0"/>
              <a:t>  \*  6 `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$ echo  $sum</a:t>
            </a:r>
          </a:p>
          <a:p>
            <a:pPr marL="457200" indent="-457200">
              <a:lnSpc>
                <a:spcPts val="1350"/>
              </a:lnSpc>
              <a:buNone/>
              <a:defRPr/>
            </a:pPr>
            <a:r>
              <a:rPr lang="en-US" altLang="zh-CN" sz="1500" dirty="0"/>
              <a:t>54</a:t>
            </a:r>
          </a:p>
        </p:txBody>
      </p:sp>
      <p:sp>
        <p:nvSpPr>
          <p:cNvPr id="485379" name="AutoShape 3"/>
          <p:cNvSpPr>
            <a:spLocks noChangeArrowheads="1"/>
          </p:cNvSpPr>
          <p:nvPr/>
        </p:nvSpPr>
        <p:spPr bwMode="auto">
          <a:xfrm>
            <a:off x="4343400" y="2518410"/>
            <a:ext cx="3657600" cy="285750"/>
          </a:xfrm>
          <a:prstGeom prst="leftArrowCallout">
            <a:avLst>
              <a:gd name="adj1" fmla="val 25000"/>
              <a:gd name="adj2" fmla="val 13333"/>
              <a:gd name="adj3" fmla="val 213333"/>
              <a:gd name="adj4" fmla="val 831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反斜线去掉*号的元字符含义</a:t>
            </a:r>
          </a:p>
        </p:txBody>
      </p:sp>
      <p:sp>
        <p:nvSpPr>
          <p:cNvPr id="485380" name="AutoShape 4"/>
          <p:cNvSpPr>
            <a:spLocks noChangeArrowheads="1"/>
          </p:cNvSpPr>
          <p:nvPr/>
        </p:nvSpPr>
        <p:spPr bwMode="auto">
          <a:xfrm>
            <a:off x="4629150" y="5031081"/>
            <a:ext cx="3371850" cy="285750"/>
          </a:xfrm>
          <a:prstGeom prst="leftArrowCallout">
            <a:avLst>
              <a:gd name="adj1" fmla="val 25000"/>
              <a:gd name="adj2" fmla="val 13333"/>
              <a:gd name="adj3" fmla="val 196667"/>
              <a:gd name="adj4" fmla="val 831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反撇号引用命令的运行结果</a:t>
            </a:r>
          </a:p>
        </p:txBody>
      </p:sp>
      <p:sp>
        <p:nvSpPr>
          <p:cNvPr id="5" name="矩形 4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19893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 animBg="1" autoUpdateAnimBg="0"/>
      <p:bldP spid="485380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>
            <a:extLst>
              <a:ext uri="{FF2B5EF4-FFF2-40B4-BE49-F238E27FC236}">
                <a16:creationId xmlns:a16="http://schemas.microsoft.com/office/drawing/2014/main" id="{1BEAE57F-0865-453C-BF35-A174CE8C3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667" y="1604010"/>
            <a:ext cx="7873433" cy="4970410"/>
          </a:xfrm>
        </p:spPr>
        <p:txBody>
          <a:bodyPr/>
          <a:lstStyle/>
          <a:p>
            <a:pPr marL="457200" indent="-457200">
              <a:buNone/>
              <a:defRPr/>
            </a:pPr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tput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命令</a:t>
            </a:r>
          </a:p>
          <a:p>
            <a:pPr marL="457200" indent="-457200">
              <a:buNone/>
              <a:defRPr/>
            </a:pPr>
            <a:r>
              <a:rPr lang="zh-CN" altLang="en-US" sz="1800" dirty="0"/>
              <a:t>       </a:t>
            </a:r>
            <a:r>
              <a:rPr lang="en-US" altLang="zh-CN" sz="2000" dirty="0" err="1"/>
              <a:t>tput</a:t>
            </a:r>
            <a:r>
              <a:rPr lang="zh-CN" altLang="en-US" sz="2000" dirty="0"/>
              <a:t>命令主要用于设置终端工作模式</a:t>
            </a:r>
            <a:r>
              <a:rPr lang="en-US" altLang="zh-CN" sz="2000" dirty="0"/>
              <a:t>,  </a:t>
            </a:r>
            <a:r>
              <a:rPr lang="zh-CN" altLang="en-US" sz="2000" dirty="0"/>
              <a:t>或读出终端控制字符。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tput</a:t>
            </a:r>
            <a:r>
              <a:rPr lang="zh-CN" altLang="en-US" sz="2000" dirty="0"/>
              <a:t>命令与终端控制代码数据库</a:t>
            </a:r>
            <a:r>
              <a:rPr lang="en-US" altLang="zh-CN" sz="2000" dirty="0" err="1"/>
              <a:t>terminfo</a:t>
            </a:r>
            <a:r>
              <a:rPr lang="zh-CN" altLang="en-US" sz="2000" dirty="0"/>
              <a:t>相连</a:t>
            </a:r>
            <a:r>
              <a:rPr lang="en-US" altLang="zh-CN" sz="2000" dirty="0"/>
              <a:t>, </a:t>
            </a:r>
            <a:r>
              <a:rPr lang="zh-CN" altLang="en-US" sz="2000" dirty="0"/>
              <a:t>根据</a:t>
            </a:r>
            <a:r>
              <a:rPr lang="en-US" altLang="zh-CN" sz="2000" dirty="0"/>
              <a:t>shell</a:t>
            </a:r>
            <a:r>
              <a:rPr lang="zh-CN" altLang="en-US" sz="2000" dirty="0"/>
              <a:t>环境变量</a:t>
            </a:r>
            <a:r>
              <a:rPr lang="en-US" altLang="zh-CN" sz="2000" dirty="0"/>
              <a:t>TERM</a:t>
            </a:r>
            <a:r>
              <a:rPr lang="zh-CN" altLang="en-US" sz="2000" dirty="0"/>
              <a:t>的值</a:t>
            </a:r>
            <a:r>
              <a:rPr lang="en-US" altLang="zh-CN" sz="2000" dirty="0"/>
              <a:t>, </a:t>
            </a:r>
            <a:r>
              <a:rPr lang="zh-CN" altLang="en-US" sz="2000" dirty="0"/>
              <a:t>读出这种终端的指定功能控制代码。常用的终端显示功能控制符如下表</a:t>
            </a:r>
            <a:r>
              <a:rPr lang="en-US" altLang="zh-CN" sz="2000" dirty="0"/>
              <a:t>:</a:t>
            </a:r>
          </a:p>
        </p:txBody>
      </p:sp>
      <p:graphicFrame>
        <p:nvGraphicFramePr>
          <p:cNvPr id="487427" name="Group 3">
            <a:extLst>
              <a:ext uri="{FF2B5EF4-FFF2-40B4-BE49-F238E27FC236}">
                <a16:creationId xmlns:a16="http://schemas.microsoft.com/office/drawing/2014/main" id="{5A79870E-7DC6-4D2C-A3AE-69CB3619A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742642"/>
              </p:ext>
            </p:extLst>
          </p:nvPr>
        </p:nvGraphicFramePr>
        <p:xfrm>
          <a:off x="1660003" y="3692576"/>
          <a:ext cx="6042661" cy="2525559"/>
        </p:xfrm>
        <a:graphic>
          <a:graphicData uri="http://schemas.openxmlformats.org/drawingml/2006/table">
            <a:tbl>
              <a:tblPr/>
              <a:tblGrid>
                <a:gridCol w="888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24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选项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功    能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选项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功    能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bel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终端响铃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el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光标位置到行末清字符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blink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闪烁显示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smso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启动突出显示模式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bold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粗体字显示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smul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启动下划线模式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clear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清屏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rmso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结束突出显示模式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cup  r c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光标移到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 </a:t>
                      </a: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行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c </a:t>
                      </a: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列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rmul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结束下划线模式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dim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显示变暗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rev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反白显示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0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ed</a:t>
                      </a:r>
                    </a:p>
                  </a:txBody>
                  <a:tcPr marL="68580" marR="68580" marT="34284" marB="342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光标位置到屏幕底清屏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sgr0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defRPr kumimoji="1"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关闭所有属性</a:t>
                      </a:r>
                    </a:p>
                  </a:txBody>
                  <a:tcPr marL="68580" marR="68580" marT="34284" marB="342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25606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>
            <a:extLst>
              <a:ext uri="{FF2B5EF4-FFF2-40B4-BE49-F238E27FC236}">
                <a16:creationId xmlns:a16="http://schemas.microsoft.com/office/drawing/2014/main" id="{AA0DB7F4-74A5-41BD-B361-AD336AAB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4880" y="1672590"/>
            <a:ext cx="7627620" cy="4244340"/>
          </a:xfrm>
        </p:spPr>
        <p:txBody>
          <a:bodyPr/>
          <a:lstStyle/>
          <a:p>
            <a:pPr>
              <a:lnSpc>
                <a:spcPts val="1500"/>
              </a:lnSpc>
              <a:buNone/>
              <a:defRPr/>
            </a:pPr>
            <a:r>
              <a:rPr lang="en-US" altLang="zh-CN" sz="2100" dirty="0" err="1">
                <a:solidFill>
                  <a:srgbClr val="0000FF"/>
                </a:solidFill>
              </a:rPr>
              <a:t>tput</a:t>
            </a:r>
            <a:r>
              <a:rPr lang="zh-CN" altLang="en-US" sz="1800" dirty="0"/>
              <a:t>应用实例</a:t>
            </a:r>
            <a:r>
              <a:rPr lang="en-US" altLang="zh-CN" sz="1800" dirty="0"/>
              <a:t>1: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/>
              <a:t>#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/>
              <a:t># program1   for   </a:t>
            </a:r>
            <a:r>
              <a:rPr lang="en-US" altLang="zh-CN" sz="1800" dirty="0" err="1"/>
              <a:t>tput</a:t>
            </a:r>
            <a:endParaRPr lang="en-US" altLang="zh-CN" sz="1800" dirty="0"/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/>
              <a:t>#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/>
              <a:t>tput</a:t>
            </a:r>
            <a:r>
              <a:rPr lang="en-US" altLang="zh-CN" sz="1800" dirty="0"/>
              <a:t>  clear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/>
              <a:t>tput</a:t>
            </a:r>
            <a:r>
              <a:rPr lang="en-US" altLang="zh-CN" sz="1800" dirty="0"/>
              <a:t>  cup  11  30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/>
              <a:t>tput</a:t>
            </a:r>
            <a:r>
              <a:rPr lang="en-US" altLang="zh-CN" sz="1800" dirty="0"/>
              <a:t>  rev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/>
              <a:t>echo  "Hello,  everybody!"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 err="1"/>
              <a:t>tput</a:t>
            </a:r>
            <a:r>
              <a:rPr lang="en-US" altLang="zh-CN" sz="1800" dirty="0"/>
              <a:t>  sgr0</a:t>
            </a:r>
          </a:p>
          <a:p>
            <a:pPr>
              <a:lnSpc>
                <a:spcPts val="1650"/>
              </a:lnSpc>
              <a:buNone/>
              <a:defRPr/>
            </a:pPr>
            <a:r>
              <a:rPr lang="en-US" altLang="zh-CN" sz="1800" dirty="0" err="1"/>
              <a:t>tput</a:t>
            </a:r>
            <a:r>
              <a:rPr lang="en-US" altLang="zh-CN" sz="1800" dirty="0"/>
              <a:t>  cup  24  1</a:t>
            </a:r>
          </a:p>
          <a:p>
            <a:pPr>
              <a:lnSpc>
                <a:spcPts val="1650"/>
              </a:lnSpc>
              <a:buNone/>
              <a:defRPr/>
            </a:pPr>
            <a:r>
              <a:rPr lang="zh-CN" altLang="en-US" sz="1800" dirty="0"/>
              <a:t>该程序先清屏</a:t>
            </a:r>
            <a:r>
              <a:rPr lang="en-US" altLang="zh-CN" sz="1800" dirty="0"/>
              <a:t>,  </a:t>
            </a:r>
            <a:r>
              <a:rPr lang="zh-CN" altLang="en-US" sz="1800" dirty="0"/>
              <a:t>并在屏幕中央位置</a:t>
            </a:r>
            <a:r>
              <a:rPr lang="en-US" altLang="zh-CN" sz="1800" dirty="0"/>
              <a:t>(11</a:t>
            </a:r>
            <a:r>
              <a:rPr lang="zh-CN" altLang="en-US" sz="1800" dirty="0"/>
              <a:t>行</a:t>
            </a:r>
            <a:r>
              <a:rPr lang="en-US" altLang="zh-CN" sz="1800" dirty="0"/>
              <a:t>30</a:t>
            </a:r>
            <a:r>
              <a:rPr lang="zh-CN" altLang="en-US" sz="1800" dirty="0"/>
              <a:t>列</a:t>
            </a:r>
            <a:r>
              <a:rPr lang="en-US" altLang="zh-CN" sz="1800" dirty="0"/>
              <a:t>)</a:t>
            </a:r>
            <a:r>
              <a:rPr lang="zh-CN" altLang="en-US" sz="1800" dirty="0"/>
              <a:t>用反极性显示字符串</a:t>
            </a:r>
            <a:r>
              <a:rPr lang="en-US" altLang="zh-CN" sz="1800" dirty="0"/>
              <a:t>“Hello,  everybody!”,  </a:t>
            </a:r>
            <a:r>
              <a:rPr lang="zh-CN" altLang="en-US" sz="1800" dirty="0"/>
              <a:t>恢复正常显示极性后光标停留在屏幕左下角。</a:t>
            </a:r>
            <a:endParaRPr lang="en-US" altLang="zh-CN" sz="1800" dirty="0"/>
          </a:p>
        </p:txBody>
      </p:sp>
      <p:sp>
        <p:nvSpPr>
          <p:cNvPr id="3" name="矩形 2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55677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>
            <a:extLst>
              <a:ext uri="{FF2B5EF4-FFF2-40B4-BE49-F238E27FC236}">
                <a16:creationId xmlns:a16="http://schemas.microsoft.com/office/drawing/2014/main" id="{7330CF0A-493D-4208-ADBF-3C3F466B6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4770" y="1756410"/>
            <a:ext cx="7741920" cy="4244340"/>
          </a:xfrm>
        </p:spPr>
        <p:txBody>
          <a:bodyPr/>
          <a:lstStyle/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tput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应用实例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2: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#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# program2   for 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bell=`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bel`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s_uline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=`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smul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`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e_uline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=`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rmul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`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clear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echo  $bell   $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s_uline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tput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  cup  10  20</a:t>
            </a:r>
          </a:p>
          <a:p>
            <a:pPr>
              <a:lnSpc>
                <a:spcPts val="1125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echo  "Computer  Department"</a:t>
            </a:r>
          </a:p>
          <a:p>
            <a:pPr>
              <a:lnSpc>
                <a:spcPts val="1500"/>
              </a:lnSpc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echo  $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e_uline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1875"/>
              </a:lnSpc>
              <a:buNone/>
              <a:defRPr/>
            </a:pPr>
            <a:r>
              <a:rPr lang="zh-CN" altLang="en-US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功能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: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响一声铃后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在清空的屏幕中央以下划线模式显示字符串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“Computer  Department”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，完成后重置正常显示模式。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27667" y="1134040"/>
            <a:ext cx="506927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8.7.3.2 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几个常用的功能性语句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endParaRPr lang="zh-CN" altLang="en-US" sz="21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25154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154C67EC-120D-49B9-BEE8-2F8BC9DF6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780" y="1093470"/>
            <a:ext cx="7688580" cy="47434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</a:rPr>
              <a:t>8.</a:t>
            </a:r>
            <a:r>
              <a:rPr lang="en-US" altLang="zh-CN" b="1" dirty="0" smtClean="0">
                <a:solidFill>
                  <a:srgbClr val="0000FF"/>
                </a:solidFill>
              </a:rPr>
              <a:t>7.4   </a:t>
            </a:r>
            <a:r>
              <a:rPr lang="zh-CN" altLang="en-US" b="1" dirty="0">
                <a:solidFill>
                  <a:srgbClr val="0000FF"/>
                </a:solidFill>
              </a:rPr>
              <a:t>结构性</a:t>
            </a:r>
            <a:r>
              <a:rPr lang="zh-CN" altLang="en-US" b="1" dirty="0" smtClean="0">
                <a:solidFill>
                  <a:srgbClr val="0000FF"/>
                </a:solidFill>
              </a:rPr>
              <a:t>语句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 结构性语句主要根据程序的运行状态</a:t>
            </a:r>
            <a:r>
              <a:rPr lang="zh-CN" altLang="en-US" b="1" dirty="0" smtClean="0"/>
              <a:t>、输入数据</a:t>
            </a:r>
            <a:r>
              <a:rPr lang="zh-CN" altLang="en-US" b="1" dirty="0"/>
              <a:t>、变量的取值、控制信号以及</a:t>
            </a:r>
            <a:r>
              <a:rPr lang="zh-CN" altLang="en-US" b="1" dirty="0" smtClean="0"/>
              <a:t>运行时间</a:t>
            </a:r>
            <a:r>
              <a:rPr lang="zh-CN" altLang="en-US" b="1" dirty="0"/>
              <a:t>等因素来控制程序的运行流程。主要</a:t>
            </a:r>
            <a:r>
              <a:rPr lang="zh-CN" altLang="en-US" b="1" dirty="0" smtClean="0"/>
              <a:t>包括以下几类语句：</a:t>
            </a:r>
            <a:endParaRPr lang="en-US" altLang="zh-CN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/>
              <a:t>  条件</a:t>
            </a:r>
            <a:r>
              <a:rPr lang="zh-CN" altLang="en-US" b="1" dirty="0"/>
              <a:t>测试语句（两路分支</a:t>
            </a:r>
            <a:r>
              <a:rPr lang="zh-CN" altLang="en-US" b="1" dirty="0" smtClean="0"/>
              <a:t>）</a:t>
            </a:r>
            <a:endParaRPr lang="en-US" altLang="zh-CN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/>
              <a:t>  多</a:t>
            </a:r>
            <a:r>
              <a:rPr lang="zh-CN" altLang="en-US" b="1" dirty="0"/>
              <a:t>路</a:t>
            </a:r>
            <a:r>
              <a:rPr lang="zh-CN" altLang="en-US" b="1" dirty="0" smtClean="0"/>
              <a:t>分支语句</a:t>
            </a:r>
            <a:endParaRPr lang="en-US" altLang="zh-CN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/>
              <a:t>  循环语句</a:t>
            </a:r>
            <a:endParaRPr lang="en-US" altLang="zh-CN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/>
              <a:t>  循环控制语句</a:t>
            </a:r>
            <a:endParaRPr lang="en-US" altLang="zh-CN" b="1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 smtClean="0"/>
              <a:t>无</a:t>
            </a:r>
            <a:r>
              <a:rPr lang="zh-CN" altLang="en-US" b="1" dirty="0"/>
              <a:t>任何结构性语句的</a:t>
            </a:r>
            <a:r>
              <a:rPr lang="en-US" altLang="zh-CN" b="1" dirty="0" smtClean="0"/>
              <a:t>shell</a:t>
            </a:r>
            <a:r>
              <a:rPr lang="zh-CN" altLang="en-US" b="1" dirty="0" smtClean="0"/>
              <a:t>脚本程序</a:t>
            </a:r>
            <a:r>
              <a:rPr lang="zh-CN" altLang="en-US" b="1" dirty="0"/>
              <a:t>是一种</a:t>
            </a:r>
            <a:r>
              <a:rPr lang="zh-CN" altLang="en-US" b="1" dirty="0" smtClean="0"/>
              <a:t>特例</a:t>
            </a:r>
            <a:r>
              <a:rPr lang="zh-CN" altLang="en-US" b="1" dirty="0"/>
              <a:t>。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344078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>
            <a:extLst>
              <a:ext uri="{FF2B5EF4-FFF2-40B4-BE49-F238E27FC236}">
                <a16:creationId xmlns:a16="http://schemas.microsoft.com/office/drawing/2014/main" id="{5CDBD4C9-BA2E-43EB-B843-BA2B1CA07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634490"/>
            <a:ext cx="7734300" cy="399288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语法结构</a:t>
            </a:r>
            <a:r>
              <a:rPr lang="en-US" altLang="zh-CN" sz="21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</a:t>
            </a:r>
            <a:r>
              <a:rPr lang="en-US" altLang="zh-CN" sz="2100" dirty="0">
                <a:solidFill>
                  <a:srgbClr val="0000FF"/>
                </a:solidFill>
              </a:rPr>
              <a:t>if    </a:t>
            </a:r>
            <a:r>
              <a:rPr lang="zh-CN" altLang="en-US" sz="2100" dirty="0">
                <a:solidFill>
                  <a:srgbClr val="0000FF"/>
                </a:solidFill>
              </a:rPr>
              <a:t>表达式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</a:rPr>
              <a:t>         </a:t>
            </a:r>
            <a:r>
              <a:rPr lang="en-US" altLang="zh-CN" sz="2100" dirty="0">
                <a:solidFill>
                  <a:srgbClr val="0000FF"/>
                </a:solidFill>
              </a:rPr>
              <a:t>then  </a:t>
            </a:r>
            <a:r>
              <a:rPr lang="zh-CN" altLang="en-US" sz="2100" dirty="0">
                <a:solidFill>
                  <a:srgbClr val="0000FF"/>
                </a:solidFill>
              </a:rPr>
              <a:t>命令表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</a:rPr>
              <a:t>         </a:t>
            </a:r>
            <a:r>
              <a:rPr lang="en-US" altLang="zh-CN" sz="2100" dirty="0">
                <a:solidFill>
                  <a:srgbClr val="0000FF"/>
                </a:solidFill>
              </a:rPr>
              <a:t>fi  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如果表达式为真</a:t>
            </a:r>
            <a:r>
              <a:rPr lang="en-US" altLang="zh-CN" sz="2100" dirty="0"/>
              <a:t>, </a:t>
            </a:r>
            <a:r>
              <a:rPr lang="zh-CN" altLang="en-US" sz="2100" dirty="0"/>
              <a:t>则执行命令表中的命令</a:t>
            </a:r>
            <a:r>
              <a:rPr lang="en-US" altLang="zh-CN" sz="2100" dirty="0"/>
              <a:t>; </a:t>
            </a:r>
            <a:r>
              <a:rPr lang="zh-CN" altLang="en-US" sz="2100" dirty="0"/>
              <a:t>否则退出</a:t>
            </a:r>
            <a:r>
              <a:rPr lang="en-US" altLang="zh-CN" sz="2100" dirty="0"/>
              <a:t>if</a:t>
            </a:r>
            <a:r>
              <a:rPr lang="zh-CN" altLang="en-US" sz="2100" dirty="0"/>
              <a:t>语句</a:t>
            </a:r>
            <a:r>
              <a:rPr lang="en-US" altLang="zh-CN" sz="2100" dirty="0"/>
              <a:t>, </a:t>
            </a:r>
            <a:r>
              <a:rPr lang="zh-CN" altLang="en-US" sz="2100" dirty="0"/>
              <a:t>即执行</a:t>
            </a:r>
            <a:r>
              <a:rPr lang="en-US" altLang="zh-CN" sz="2100" dirty="0"/>
              <a:t>fi</a:t>
            </a:r>
            <a:r>
              <a:rPr lang="zh-CN" altLang="en-US" sz="2100" dirty="0"/>
              <a:t>后面的语句。</a:t>
            </a:r>
            <a:r>
              <a:rPr lang="en-US" altLang="zh-CN" sz="2100" dirty="0"/>
              <a:t> if</a:t>
            </a:r>
            <a:r>
              <a:rPr lang="zh-CN" altLang="en-US" sz="2100" dirty="0"/>
              <a:t>和</a:t>
            </a:r>
            <a:r>
              <a:rPr lang="en-US" altLang="zh-CN" sz="2100" dirty="0"/>
              <a:t>fi</a:t>
            </a:r>
            <a:r>
              <a:rPr lang="zh-CN" altLang="en-US" sz="2100" dirty="0"/>
              <a:t>是条件语句的语句括号</a:t>
            </a:r>
            <a:r>
              <a:rPr lang="en-US" altLang="zh-CN" sz="2100" dirty="0"/>
              <a:t>, </a:t>
            </a:r>
            <a:r>
              <a:rPr lang="zh-CN" altLang="en-US" sz="2100" dirty="0"/>
              <a:t>必须成对使用。</a:t>
            </a:r>
            <a:endParaRPr lang="en-US" altLang="zh-CN" sz="21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命令表中的命令可以是一条</a:t>
            </a:r>
            <a:r>
              <a:rPr lang="en-US" altLang="zh-CN" sz="2100" dirty="0"/>
              <a:t>, </a:t>
            </a:r>
            <a:r>
              <a:rPr lang="zh-CN" altLang="en-US" sz="2100" dirty="0"/>
              <a:t>也可以是若干条</a:t>
            </a:r>
            <a:r>
              <a:rPr lang="en-US" altLang="zh-CN" sz="2100" dirty="0"/>
              <a:t>; </a:t>
            </a:r>
            <a:r>
              <a:rPr lang="zh-CN" altLang="en-US" sz="2100" dirty="0"/>
              <a:t>既可以直接在</a:t>
            </a:r>
            <a:r>
              <a:rPr lang="en-US" altLang="zh-CN" sz="2100" dirty="0"/>
              <a:t>then</a:t>
            </a:r>
            <a:r>
              <a:rPr lang="zh-CN" altLang="en-US" sz="2100" dirty="0"/>
              <a:t>语句后面写</a:t>
            </a:r>
            <a:r>
              <a:rPr lang="en-US" altLang="zh-CN" sz="2100" dirty="0"/>
              <a:t>, </a:t>
            </a:r>
            <a:r>
              <a:rPr lang="zh-CN" altLang="en-US" sz="2100" dirty="0"/>
              <a:t>也可以提行书写。</a:t>
            </a:r>
            <a:endParaRPr lang="en-US" altLang="zh-CN" sz="2100" dirty="0"/>
          </a:p>
        </p:txBody>
      </p:sp>
      <p:sp>
        <p:nvSpPr>
          <p:cNvPr id="2" name="矩形 1"/>
          <p:cNvSpPr/>
          <p:nvPr/>
        </p:nvSpPr>
        <p:spPr>
          <a:xfrm>
            <a:off x="876300" y="1088320"/>
            <a:ext cx="77343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if...then...fi</a:t>
            </a:r>
            <a:endParaRPr lang="zh-CN" altLang="en-US" sz="21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23677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729315F6-EE2A-4ACE-8815-C2AE94E01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920" y="1634490"/>
            <a:ext cx="7917180" cy="436626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if</a:t>
            </a:r>
            <a:r>
              <a:rPr lang="zh-CN" altLang="en-US" sz="1800" dirty="0"/>
              <a:t>语句应用实例</a:t>
            </a:r>
            <a:endParaRPr lang="en-US" altLang="zh-CN" sz="1800" dirty="0"/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800" dirty="0"/>
              <a:t>    shell</a:t>
            </a:r>
            <a:r>
              <a:rPr lang="zh-CN" altLang="en-US" sz="1800" dirty="0"/>
              <a:t>程序</a:t>
            </a:r>
            <a:r>
              <a:rPr lang="en-US" altLang="zh-CN" sz="1800" dirty="0"/>
              <a:t>prog2, </a:t>
            </a:r>
            <a:r>
              <a:rPr lang="zh-CN" altLang="en-US" sz="1800" dirty="0"/>
              <a:t>测试命令行参数是否为一个已存在的文件或目录。</a:t>
            </a:r>
            <a:r>
              <a:rPr lang="en-US" altLang="zh-CN" sz="1800" dirty="0"/>
              <a:t> </a:t>
            </a:r>
            <a:r>
              <a:rPr lang="zh-CN" altLang="en-US" sz="1800" dirty="0"/>
              <a:t>用法为</a:t>
            </a:r>
            <a:r>
              <a:rPr lang="en-US" altLang="zh-CN" sz="1800" dirty="0"/>
              <a:t>: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800" dirty="0"/>
              <a:t>               </a:t>
            </a:r>
            <a:r>
              <a:rPr lang="en-US" altLang="zh-CN" sz="1800" dirty="0">
                <a:solidFill>
                  <a:srgbClr val="0000FF"/>
                </a:solidFill>
              </a:rPr>
              <a:t>prog2   file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800" dirty="0"/>
              <a:t>prog2</a:t>
            </a:r>
            <a:r>
              <a:rPr lang="zh-CN" altLang="en-US" sz="1800" dirty="0"/>
              <a:t>脚本内容如下</a:t>
            </a:r>
            <a:r>
              <a:rPr lang="en-US" altLang="zh-CN" sz="1800" dirty="0"/>
              <a:t>:  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#The statement of  if…then…fi             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注释语句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if [  -f   $1  ]                                              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测试命令行第一个参数是否为文件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		echo "File  $1  exists"              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引用变量值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if [  -d   $HOME/$1  ]                              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测试参数是否为目录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		echo "File  $1  is  a  directory"         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引用变量值</a:t>
            </a: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350"/>
              </a:lnSpc>
              <a:buNone/>
              <a:defRPr/>
            </a:pPr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</a:p>
        </p:txBody>
      </p:sp>
      <p:sp>
        <p:nvSpPr>
          <p:cNvPr id="3" name="矩形 2"/>
          <p:cNvSpPr/>
          <p:nvPr/>
        </p:nvSpPr>
        <p:spPr>
          <a:xfrm>
            <a:off x="876300" y="1088320"/>
            <a:ext cx="77343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if...then...fi</a:t>
            </a:r>
            <a:endParaRPr lang="zh-CN" altLang="en-US" sz="21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55598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87D95EED-4059-4C8E-8DFB-7D1C6B77D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1540" y="1581150"/>
            <a:ext cx="7719060" cy="32575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执行</a:t>
            </a:r>
            <a:r>
              <a:rPr lang="en-US" altLang="zh-CN" sz="1800" dirty="0"/>
              <a:t>prog2</a:t>
            </a:r>
            <a:r>
              <a:rPr lang="zh-CN" altLang="en-US" sz="1800" dirty="0"/>
              <a:t>程序</a:t>
            </a:r>
            <a:r>
              <a:rPr lang="en-US" altLang="zh-CN" sz="18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$ prog2   prog1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 prog1 exists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prog2; $1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prog1, 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是一个已存在的文件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$ prog2   backup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 backup is  directory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prog2;  $1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backup,</a:t>
            </a:r>
            <a:r>
              <a:rPr lang="zh-CN" altLang="en-US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是一个已存在的目录</a:t>
            </a:r>
            <a:r>
              <a:rPr lang="en-US" altLang="zh-CN" sz="1800" dirty="0">
                <a:solidFill>
                  <a:srgbClr val="FF99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98691" name="Text Box 3">
            <a:extLst>
              <a:ext uri="{FF2B5EF4-FFF2-40B4-BE49-F238E27FC236}">
                <a16:creationId xmlns:a16="http://schemas.microsoft.com/office/drawing/2014/main" id="{6972740E-B1CB-43B3-9298-04708C775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4766310"/>
            <a:ext cx="7734300" cy="10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如果不带参数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或大于一个参数运行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prog2,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$  prog2      (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$ prog2  file1   file2)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将会出现什么结果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</a:p>
        </p:txBody>
      </p:sp>
      <p:sp>
        <p:nvSpPr>
          <p:cNvPr id="4" name="矩形 3"/>
          <p:cNvSpPr/>
          <p:nvPr/>
        </p:nvSpPr>
        <p:spPr>
          <a:xfrm>
            <a:off x="876300" y="1088320"/>
            <a:ext cx="77343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if...then...fi</a:t>
            </a:r>
            <a:endParaRPr lang="zh-CN" altLang="en-US" sz="21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73916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>
            <a:extLst>
              <a:ext uri="{FF2B5EF4-FFF2-40B4-BE49-F238E27FC236}">
                <a16:creationId xmlns:a16="http://schemas.microsoft.com/office/drawing/2014/main" id="{451B4409-0CDC-475C-9A6A-3C0A199DB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9640" y="1680210"/>
            <a:ext cx="7680960" cy="39433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语法结构为</a:t>
            </a:r>
            <a:r>
              <a:rPr lang="en-US" altLang="zh-CN" sz="21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</a:t>
            </a:r>
            <a:r>
              <a:rPr lang="en-US" altLang="zh-CN" sz="2100" dirty="0">
                <a:solidFill>
                  <a:srgbClr val="0000FF"/>
                </a:solidFill>
              </a:rPr>
              <a:t>if      </a:t>
            </a:r>
            <a:r>
              <a:rPr lang="zh-CN" altLang="en-US" sz="2100" dirty="0">
                <a:solidFill>
                  <a:srgbClr val="0000FF"/>
                </a:solidFill>
              </a:rPr>
              <a:t>表达式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>
                <a:solidFill>
                  <a:srgbClr val="0000FF"/>
                </a:solidFill>
              </a:rPr>
              <a:t>        </a:t>
            </a:r>
            <a:r>
              <a:rPr lang="en-US" altLang="zh-CN" sz="2100" dirty="0">
                <a:solidFill>
                  <a:srgbClr val="0000FF"/>
                </a:solidFill>
              </a:rPr>
              <a:t>then </a:t>
            </a:r>
            <a:r>
              <a:rPr lang="zh-CN" altLang="en-US" sz="2100" dirty="0">
                <a:solidFill>
                  <a:srgbClr val="0000FF"/>
                </a:solidFill>
              </a:rPr>
              <a:t>命令表</a:t>
            </a:r>
            <a:r>
              <a:rPr lang="en-US" altLang="zh-CN" sz="2100" dirty="0">
                <a:solidFill>
                  <a:srgbClr val="0000FF"/>
                </a:solidFill>
              </a:rPr>
              <a:t>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</a:rPr>
              <a:t>        else  </a:t>
            </a:r>
            <a:r>
              <a:rPr lang="zh-CN" altLang="en-US" sz="2100" dirty="0">
                <a:solidFill>
                  <a:srgbClr val="0000FF"/>
                </a:solidFill>
              </a:rPr>
              <a:t>命令表</a:t>
            </a:r>
            <a:r>
              <a:rPr lang="en-US" altLang="zh-CN" sz="2100" dirty="0">
                <a:solidFill>
                  <a:srgbClr val="0000FF"/>
                </a:solidFill>
              </a:rPr>
              <a:t>2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>
                <a:solidFill>
                  <a:srgbClr val="0000FF"/>
                </a:solidFill>
              </a:rPr>
              <a:t>        fi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如果表达式为真</a:t>
            </a:r>
            <a:r>
              <a:rPr lang="en-US" altLang="zh-CN" sz="2100" dirty="0"/>
              <a:t>, </a:t>
            </a:r>
            <a:r>
              <a:rPr lang="zh-CN" altLang="en-US" sz="2100" dirty="0"/>
              <a:t>则执行命令表</a:t>
            </a:r>
            <a:r>
              <a:rPr lang="en-US" altLang="zh-CN" sz="2100" dirty="0"/>
              <a:t>1</a:t>
            </a:r>
            <a:r>
              <a:rPr lang="zh-CN" altLang="en-US" sz="2100" dirty="0"/>
              <a:t>中的命令</a:t>
            </a:r>
            <a:r>
              <a:rPr lang="en-US" altLang="zh-CN" sz="2100" dirty="0"/>
              <a:t>, </a:t>
            </a:r>
            <a:r>
              <a:rPr lang="zh-CN" altLang="en-US" sz="2100" dirty="0"/>
              <a:t>退出</a:t>
            </a:r>
            <a:r>
              <a:rPr lang="en-US" altLang="zh-CN" sz="2100" dirty="0"/>
              <a:t>if</a:t>
            </a:r>
            <a:r>
              <a:rPr lang="zh-CN" altLang="en-US" sz="2100" dirty="0"/>
              <a:t>语句</a:t>
            </a:r>
            <a:r>
              <a:rPr lang="en-US" altLang="zh-CN" sz="2100" dirty="0"/>
              <a:t>; </a:t>
            </a:r>
            <a:r>
              <a:rPr lang="zh-CN" altLang="en-US" sz="2100" dirty="0"/>
              <a:t>否则执行命令表</a:t>
            </a:r>
            <a:r>
              <a:rPr lang="en-US" altLang="zh-CN" sz="2100" dirty="0"/>
              <a:t>2</a:t>
            </a:r>
            <a:r>
              <a:rPr lang="zh-CN" altLang="en-US" sz="2100" dirty="0"/>
              <a:t>中的语句</a:t>
            </a:r>
            <a:r>
              <a:rPr lang="en-US" altLang="zh-CN" sz="2100" dirty="0"/>
              <a:t>, </a:t>
            </a:r>
            <a:r>
              <a:rPr lang="zh-CN" altLang="en-US" sz="2100" dirty="0"/>
              <a:t>退出</a:t>
            </a:r>
            <a:r>
              <a:rPr lang="en-US" altLang="zh-CN" sz="2100" dirty="0"/>
              <a:t>if</a:t>
            </a:r>
            <a:r>
              <a:rPr lang="zh-CN" altLang="en-US" sz="2100" dirty="0"/>
              <a:t>语句。</a:t>
            </a:r>
            <a:endParaRPr lang="en-US" altLang="zh-CN" sz="2100" dirty="0"/>
          </a:p>
        </p:txBody>
      </p:sp>
      <p:sp>
        <p:nvSpPr>
          <p:cNvPr id="499715" name="Text Box 3">
            <a:extLst>
              <a:ext uri="{FF2B5EF4-FFF2-40B4-BE49-F238E27FC236}">
                <a16:creationId xmlns:a16="http://schemas.microsoft.com/office/drawing/2014/main" id="{588B57DC-FF61-4F64-9C7C-BE086E29E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" y="5277311"/>
            <a:ext cx="6057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注意</a:t>
            </a:r>
            <a:r>
              <a:rPr lang="en-US" altLang="zh-CN" b="1" dirty="0">
                <a:solidFill>
                  <a:srgbClr val="FF0000"/>
                </a:solidFill>
              </a:rPr>
              <a:t>: </a:t>
            </a:r>
            <a:r>
              <a:rPr lang="zh-CN" altLang="en-US" b="1" dirty="0">
                <a:solidFill>
                  <a:srgbClr val="FF0000"/>
                </a:solidFill>
              </a:rPr>
              <a:t>无论表达式是否为真</a:t>
            </a:r>
            <a:r>
              <a:rPr lang="en-US" altLang="zh-CN" b="1" dirty="0">
                <a:solidFill>
                  <a:srgbClr val="FF0000"/>
                </a:solidFill>
              </a:rPr>
              <a:t>, </a:t>
            </a:r>
            <a:r>
              <a:rPr lang="zh-CN" altLang="en-US" b="1" dirty="0">
                <a:solidFill>
                  <a:srgbClr val="FF0000"/>
                </a:solidFill>
              </a:rPr>
              <a:t>都有特定的语句要执行。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6300" y="1088320"/>
            <a:ext cx="77343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if...then...else...fi</a:t>
            </a:r>
            <a:endParaRPr lang="zh-CN" altLang="en-US" sz="21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52504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9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5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349D0984-4FDB-482F-A0B9-B6256417B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695450"/>
            <a:ext cx="7696200" cy="4531730"/>
          </a:xfrm>
        </p:spPr>
        <p:txBody>
          <a:bodyPr/>
          <a:lstStyle/>
          <a:p>
            <a:pPr>
              <a:lnSpc>
                <a:spcPts val="750"/>
              </a:lnSpc>
              <a:buNone/>
              <a:defRPr/>
            </a:pPr>
            <a:r>
              <a:rPr lang="zh-CN" altLang="en-US" sz="1800" dirty="0"/>
              <a:t>应用实例</a:t>
            </a:r>
            <a:r>
              <a:rPr lang="en-US" altLang="zh-CN" sz="1800" dirty="0"/>
              <a:t>:    shell</a:t>
            </a:r>
            <a:r>
              <a:rPr lang="zh-CN" altLang="en-US" sz="1800" dirty="0"/>
              <a:t>程序</a:t>
            </a:r>
            <a:r>
              <a:rPr lang="en-US" altLang="zh-CN" sz="1800" dirty="0"/>
              <a:t>prog3,  </a:t>
            </a:r>
            <a:r>
              <a:rPr lang="zh-CN" altLang="en-US" sz="1800" dirty="0"/>
              <a:t>用法为</a:t>
            </a:r>
            <a:r>
              <a:rPr lang="en-US" altLang="zh-CN" sz="1800" dirty="0"/>
              <a:t>: 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                </a:t>
            </a:r>
            <a:r>
              <a:rPr lang="en-US" altLang="zh-CN" sz="1800" dirty="0">
                <a:solidFill>
                  <a:srgbClr val="0000FF"/>
                </a:solidFill>
              </a:rPr>
              <a:t>prog3   file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prog3</a:t>
            </a:r>
            <a:r>
              <a:rPr lang="zh-CN" altLang="en-US" sz="1800" dirty="0"/>
              <a:t>的内容如下</a:t>
            </a:r>
            <a:r>
              <a:rPr lang="en-US" altLang="zh-CN" sz="1800" dirty="0"/>
              <a:t>: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#The statement of if…then…else…fi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if [  -d  $1  ]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then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echo "$1  is  a  directory"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exit                                                (</a:t>
            </a:r>
            <a:r>
              <a:rPr lang="zh-CN" altLang="en-US" sz="1800" dirty="0">
                <a:solidFill>
                  <a:srgbClr val="FF0000"/>
                </a:solidFill>
              </a:rPr>
              <a:t>立即退出当前的</a:t>
            </a:r>
            <a:r>
              <a:rPr lang="en-US" altLang="zh-CN" sz="1800" dirty="0">
                <a:solidFill>
                  <a:srgbClr val="FF0000"/>
                </a:solidFill>
              </a:rPr>
              <a:t>shell</a:t>
            </a:r>
            <a:r>
              <a:rPr lang="zh-CN" altLang="en-US" sz="1800" dirty="0">
                <a:solidFill>
                  <a:srgbClr val="FF0000"/>
                </a:solidFill>
              </a:rPr>
              <a:t>程序</a:t>
            </a:r>
            <a:r>
              <a:rPr lang="en-US" altLang="zh-CN" sz="1800" dirty="0"/>
              <a:t>)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else 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if  [  -f   $1  ]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then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	echo  "$1  is  a  common  file"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else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	echo  "unknown"  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		fi</a:t>
            </a:r>
          </a:p>
          <a:p>
            <a:pPr>
              <a:lnSpc>
                <a:spcPts val="750"/>
              </a:lnSpc>
              <a:buNone/>
              <a:defRPr/>
            </a:pPr>
            <a:r>
              <a:rPr lang="en-US" altLang="zh-CN" sz="1800" dirty="0"/>
              <a:t>fi</a:t>
            </a:r>
          </a:p>
        </p:txBody>
      </p:sp>
      <p:sp>
        <p:nvSpPr>
          <p:cNvPr id="500739" name="Text Box 3">
            <a:extLst>
              <a:ext uri="{FF2B5EF4-FFF2-40B4-BE49-F238E27FC236}">
                <a16:creationId xmlns:a16="http://schemas.microsoft.com/office/drawing/2014/main" id="{37BB7135-E76C-4546-AF46-AB3323881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882" y="6418812"/>
            <a:ext cx="6172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（如果没有</a:t>
            </a:r>
            <a:r>
              <a:rPr lang="en-US" altLang="zh-CN" b="1" dirty="0">
                <a:solidFill>
                  <a:srgbClr val="FF0000"/>
                </a:solidFill>
              </a:rPr>
              <a:t>exit</a:t>
            </a:r>
            <a:r>
              <a:rPr lang="zh-CN" altLang="en-US" b="1" dirty="0">
                <a:solidFill>
                  <a:srgbClr val="FF0000"/>
                </a:solidFill>
              </a:rPr>
              <a:t>语句，程序的执行结果有什么不同？</a:t>
            </a:r>
            <a:r>
              <a:rPr lang="zh-CN" altLang="en-US" sz="1350" b="1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6300" y="1088320"/>
            <a:ext cx="77343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1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条件语句 </a:t>
            </a:r>
            <a:r>
              <a:rPr lang="en-US" altLang="zh-CN" sz="21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if...then...else...fi</a:t>
            </a:r>
            <a:endParaRPr lang="zh-CN" altLang="en-US" sz="21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840794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9EBCF58E-DFD3-4F99-8C71-2DB338233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60" y="1113790"/>
            <a:ext cx="6057900" cy="39560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运行</a:t>
            </a:r>
            <a:r>
              <a:rPr lang="en-US" altLang="zh-CN" b="1" dirty="0"/>
              <a:t>prog3</a:t>
            </a:r>
            <a:r>
              <a:rPr lang="zh-CN" altLang="en-US" b="1" dirty="0"/>
              <a:t>程序</a:t>
            </a:r>
            <a:r>
              <a:rPr lang="en-US" altLang="zh-CN" b="1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1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$ prog3  backup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backup  is  a  directory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$ prog3  prog1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prog1  is  a  common  file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$ prog3  </a:t>
            </a:r>
            <a:r>
              <a:rPr lang="en-US" altLang="zh-CN" sz="2100" dirty="0" err="1"/>
              <a:t>abc</a:t>
            </a:r>
            <a:endParaRPr lang="en-US" altLang="zh-CN" sz="21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unknown</a:t>
            </a:r>
          </a:p>
        </p:txBody>
      </p:sp>
      <p:sp>
        <p:nvSpPr>
          <p:cNvPr id="502787" name="Text Box 3"/>
          <p:cNvSpPr txBox="1">
            <a:spLocks noChangeArrowheads="1"/>
          </p:cNvSpPr>
          <p:nvPr/>
        </p:nvSpPr>
        <p:spPr bwMode="auto">
          <a:xfrm>
            <a:off x="980440" y="5297171"/>
            <a:ext cx="6802120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/>
              <a:t>prog3</a:t>
            </a:r>
            <a:r>
              <a:rPr lang="zh-CN" altLang="en-US" sz="2100" b="1" dirty="0"/>
              <a:t>是对</a:t>
            </a:r>
            <a:r>
              <a:rPr lang="en-US" altLang="zh-CN" sz="2100" b="1" dirty="0"/>
              <a:t>prog2</a:t>
            </a:r>
            <a:r>
              <a:rPr lang="zh-CN" altLang="en-US" sz="2100" b="1" dirty="0"/>
              <a:t>的优化</a:t>
            </a:r>
            <a:r>
              <a:rPr lang="en-US" altLang="zh-CN" sz="2100" b="1" dirty="0"/>
              <a:t>, </a:t>
            </a:r>
            <a:r>
              <a:rPr lang="zh-CN" altLang="en-US" sz="2100" b="1" dirty="0"/>
              <a:t>逻辑结构更加清晰合理</a:t>
            </a:r>
            <a:r>
              <a:rPr lang="en-US" altLang="zh-CN" sz="2100" b="1" dirty="0"/>
              <a:t>!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100" b="1" dirty="0">
                <a:solidFill>
                  <a:srgbClr val="0000FF"/>
                </a:solidFill>
              </a:rPr>
              <a:t>prog2</a:t>
            </a:r>
            <a:r>
              <a:rPr lang="zh-CN" altLang="en-US" sz="2100" b="1" dirty="0">
                <a:solidFill>
                  <a:srgbClr val="0000FF"/>
                </a:solidFill>
              </a:rPr>
              <a:t>的主要缺点是什么</a:t>
            </a:r>
            <a:r>
              <a:rPr lang="en-US" altLang="zh-CN" sz="2100" b="1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97767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7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5448A0CD-61CD-445E-9D97-6BCBCA4A7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440" y="1164590"/>
            <a:ext cx="7526020" cy="5419090"/>
          </a:xfrm>
        </p:spPr>
        <p:txBody>
          <a:bodyPr/>
          <a:lstStyle/>
          <a:p>
            <a:pPr>
              <a:buNone/>
              <a:defRPr/>
            </a:pPr>
            <a:r>
              <a:rPr lang="en-US" altLang="zh-CN" dirty="0" smtClean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8.7.4  </a:t>
            </a:r>
            <a:r>
              <a:rPr lang="zh-CN" altLang="en-US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结构性语句 </a:t>
            </a:r>
            <a:r>
              <a:rPr lang="en-US" altLang="zh-CN" dirty="0" smtClean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—— </a:t>
            </a:r>
            <a:r>
              <a:rPr lang="zh-CN" altLang="en-US" dirty="0" smtClean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测试</a:t>
            </a:r>
            <a:r>
              <a:rPr lang="zh-CN" altLang="en-US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语句 </a:t>
            </a:r>
            <a:r>
              <a:rPr lang="en-US" altLang="zh-CN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test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test</a:t>
            </a:r>
            <a:r>
              <a:rPr lang="zh-CN" altLang="en-US" b="1" dirty="0"/>
              <a:t>语句可测试三种对象</a:t>
            </a:r>
            <a:r>
              <a:rPr lang="en-US" altLang="zh-CN" b="1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    </a:t>
            </a:r>
            <a:r>
              <a:rPr lang="zh-CN" altLang="en-US" b="1" dirty="0">
                <a:solidFill>
                  <a:srgbClr val="FF0000"/>
                </a:solidFill>
              </a:rPr>
              <a:t>字符串     整数     文件属性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每种测试对象都有若干测试操作符，例如</a:t>
            </a:r>
            <a:r>
              <a:rPr lang="en-US" altLang="zh-CN" b="1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0000FF"/>
                </a:solidFill>
              </a:rPr>
              <a:t>test  "$answer"  =  "yes"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zh-CN" altLang="en-US" b="1" dirty="0"/>
              <a:t>变量</a:t>
            </a:r>
            <a:r>
              <a:rPr lang="en-US" altLang="zh-CN" b="1" dirty="0"/>
              <a:t>answer</a:t>
            </a:r>
            <a:r>
              <a:rPr lang="zh-CN" altLang="en-US" b="1" dirty="0"/>
              <a:t>的值是否为字符串</a:t>
            </a:r>
            <a:r>
              <a:rPr lang="en-US" altLang="zh-CN" b="1" dirty="0"/>
              <a:t>yes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0000FF"/>
                </a:solidFill>
              </a:rPr>
              <a:t>test  $</a:t>
            </a:r>
            <a:r>
              <a:rPr lang="en-US" altLang="zh-CN" b="1" dirty="0" err="1">
                <a:solidFill>
                  <a:srgbClr val="0000FF"/>
                </a:solidFill>
              </a:rPr>
              <a:t>num</a:t>
            </a:r>
            <a:r>
              <a:rPr lang="en-US" altLang="zh-CN" b="1" dirty="0">
                <a:solidFill>
                  <a:srgbClr val="0000FF"/>
                </a:solidFill>
              </a:rPr>
              <a:t> –</a:t>
            </a:r>
            <a:r>
              <a:rPr lang="en-US" altLang="zh-CN" b="1" dirty="0" err="1">
                <a:solidFill>
                  <a:srgbClr val="0000FF"/>
                </a:solidFill>
              </a:rPr>
              <a:t>eq</a:t>
            </a:r>
            <a:r>
              <a:rPr lang="en-US" altLang="zh-CN" b="1" dirty="0">
                <a:solidFill>
                  <a:srgbClr val="0000FF"/>
                </a:solidFill>
              </a:rPr>
              <a:t>  18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zh-CN" altLang="en-US" b="1" dirty="0"/>
              <a:t>变量</a:t>
            </a:r>
            <a:r>
              <a:rPr lang="en-US" altLang="zh-CN" b="1" dirty="0" err="1"/>
              <a:t>num</a:t>
            </a:r>
            <a:r>
              <a:rPr lang="zh-CN" altLang="en-US" b="1" dirty="0"/>
              <a:t>的值是否为整数</a:t>
            </a:r>
            <a:r>
              <a:rPr lang="en-US" altLang="zh-CN" b="1" dirty="0"/>
              <a:t>18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en-US" altLang="zh-CN" b="1" dirty="0">
                <a:solidFill>
                  <a:srgbClr val="0000FF"/>
                </a:solidFill>
              </a:rPr>
              <a:t>test  -d  </a:t>
            </a:r>
            <a:r>
              <a:rPr lang="en-US" altLang="zh-CN" b="1" dirty="0" err="1">
                <a:solidFill>
                  <a:srgbClr val="0000FF"/>
                </a:solidFill>
              </a:rPr>
              <a:t>tmp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 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   </a:t>
            </a:r>
            <a:r>
              <a:rPr lang="zh-CN" altLang="en-US" b="1" dirty="0"/>
              <a:t>测试</a:t>
            </a:r>
            <a:r>
              <a:rPr lang="en-US" altLang="zh-CN" b="1" dirty="0" err="1"/>
              <a:t>tmp</a:t>
            </a:r>
            <a:r>
              <a:rPr lang="zh-CN" altLang="en-US" b="1" dirty="0"/>
              <a:t>是否为一个目录名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25860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8CED7F92-798A-4A9A-95E5-ABC7E043F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160" y="1737360"/>
            <a:ext cx="8143240" cy="5120640"/>
          </a:xfrm>
        </p:spPr>
        <p:txBody>
          <a:bodyPr/>
          <a:lstStyle/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test</a:t>
            </a:r>
            <a:r>
              <a:rPr lang="zh-CN" altLang="en-US" b="1" dirty="0"/>
              <a:t>命令的应用</a:t>
            </a:r>
            <a:r>
              <a:rPr lang="en-US" altLang="zh-CN" b="1" dirty="0"/>
              <a:t>: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</a:t>
            </a:r>
            <a:r>
              <a:rPr lang="en-US" altLang="zh-CN" sz="2100" dirty="0" smtClean="0"/>
              <a:t>test</a:t>
            </a:r>
            <a:r>
              <a:rPr lang="zh-CN" altLang="en-US" sz="2100" dirty="0"/>
              <a:t>命令测试的条件成立时</a:t>
            </a:r>
            <a:r>
              <a:rPr lang="en-US" altLang="zh-CN" sz="2100" dirty="0"/>
              <a:t>, </a:t>
            </a:r>
            <a:r>
              <a:rPr lang="zh-CN" altLang="en-US" sz="2100" dirty="0"/>
              <a:t>命令返回值为真</a:t>
            </a:r>
            <a:r>
              <a:rPr lang="en-US" altLang="zh-CN" sz="2100" dirty="0"/>
              <a:t>(0</a:t>
            </a:r>
            <a:r>
              <a:rPr lang="en-US" altLang="zh-CN" sz="2100" dirty="0" smtClean="0"/>
              <a:t>)</a:t>
            </a:r>
            <a:r>
              <a:rPr lang="zh-CN" altLang="en-US" sz="2100" dirty="0" smtClean="0"/>
              <a:t>，否则</a:t>
            </a:r>
            <a:r>
              <a:rPr lang="zh-CN" altLang="en-US" sz="2100" dirty="0"/>
              <a:t>返回值为假</a:t>
            </a:r>
            <a:r>
              <a:rPr lang="en-US" altLang="zh-CN" sz="2100" dirty="0"/>
              <a:t>(</a:t>
            </a:r>
            <a:r>
              <a:rPr lang="zh-CN" altLang="en-US" sz="2100" dirty="0"/>
              <a:t>非</a:t>
            </a:r>
            <a:r>
              <a:rPr lang="en-US" altLang="zh-CN" sz="2100" dirty="0"/>
              <a:t>0).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</a:t>
            </a:r>
            <a:r>
              <a:rPr lang="zh-CN" altLang="en-US" sz="2100" dirty="0"/>
              <a:t>用法一</a:t>
            </a:r>
            <a:r>
              <a:rPr lang="en-US" altLang="zh-CN" sz="2100" dirty="0"/>
              <a:t>. 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test   $name  -</a:t>
            </a:r>
            <a:r>
              <a:rPr lang="en-US" altLang="zh-CN" sz="2100" dirty="0" err="1"/>
              <a:t>eq</a:t>
            </a:r>
            <a:r>
              <a:rPr lang="en-US" altLang="zh-CN" sz="2100" dirty="0"/>
              <a:t>   $1   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echo  $?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</a:t>
            </a:r>
            <a:r>
              <a:rPr lang="zh-CN" altLang="en-US" sz="2100" dirty="0"/>
              <a:t>用法二</a:t>
            </a:r>
            <a:r>
              <a:rPr lang="en-US" altLang="zh-CN" sz="2100" dirty="0"/>
              <a:t>.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if   test   -f   $filename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then 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         ……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              fi</a:t>
            </a:r>
          </a:p>
          <a:p>
            <a:pPr eaLnBrk="1" hangingPunct="1">
              <a:lnSpc>
                <a:spcPts val="1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通常简写为</a:t>
            </a:r>
            <a:r>
              <a:rPr lang="en-US" altLang="zh-CN" sz="2100" dirty="0"/>
              <a:t>:       if  [   -f  $filename  </a:t>
            </a:r>
            <a:r>
              <a:rPr lang="en-US" altLang="zh-CN" sz="2100" dirty="0" smtClean="0"/>
              <a:t>]</a:t>
            </a:r>
            <a:endParaRPr lang="en-US" altLang="zh-CN" sz="2100" dirty="0"/>
          </a:p>
        </p:txBody>
      </p:sp>
      <p:sp>
        <p:nvSpPr>
          <p:cNvPr id="505859" name="AutoShape 3"/>
          <p:cNvSpPr>
            <a:spLocks noChangeArrowheads="1"/>
          </p:cNvSpPr>
          <p:nvPr/>
        </p:nvSpPr>
        <p:spPr bwMode="auto">
          <a:xfrm>
            <a:off x="5584190" y="4945073"/>
            <a:ext cx="1657350" cy="857250"/>
          </a:xfrm>
          <a:prstGeom prst="wedgeRoundRectCallout">
            <a:avLst>
              <a:gd name="adj1" fmla="val -86839"/>
              <a:gd name="adj2" fmla="val 8653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b="1" dirty="0">
                <a:solidFill>
                  <a:schemeClr val="bg1"/>
                </a:solidFill>
              </a:rPr>
              <a:t>用方括号替代</a:t>
            </a:r>
            <a:r>
              <a:rPr lang="en-US" altLang="zh-CN" sz="2100" b="1" dirty="0">
                <a:solidFill>
                  <a:schemeClr val="bg1"/>
                </a:solidFill>
              </a:rPr>
              <a:t>test</a:t>
            </a:r>
            <a:r>
              <a:rPr lang="zh-CN" altLang="en-US" sz="2100" b="1" dirty="0">
                <a:solidFill>
                  <a:schemeClr val="bg1"/>
                </a:solidFill>
              </a:rPr>
              <a:t>语句</a:t>
            </a:r>
          </a:p>
        </p:txBody>
      </p:sp>
      <p:sp>
        <p:nvSpPr>
          <p:cNvPr id="505860" name="AutoShape 4"/>
          <p:cNvSpPr>
            <a:spLocks noChangeArrowheads="1"/>
          </p:cNvSpPr>
          <p:nvPr/>
        </p:nvSpPr>
        <p:spPr bwMode="auto">
          <a:xfrm flipH="1">
            <a:off x="1544320" y="6418908"/>
            <a:ext cx="1793240" cy="376708"/>
          </a:xfrm>
          <a:prstGeom prst="wedgeRoundRectCallout">
            <a:avLst>
              <a:gd name="adj1" fmla="val -45823"/>
              <a:gd name="adj2" fmla="val -7850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至少一个空格</a:t>
            </a:r>
          </a:p>
        </p:txBody>
      </p:sp>
      <p:sp>
        <p:nvSpPr>
          <p:cNvPr id="505861" name="AutoShape 5"/>
          <p:cNvSpPr>
            <a:spLocks noChangeArrowheads="1"/>
          </p:cNvSpPr>
          <p:nvPr/>
        </p:nvSpPr>
        <p:spPr bwMode="auto">
          <a:xfrm flipH="1">
            <a:off x="4472940" y="6481290"/>
            <a:ext cx="1656080" cy="314325"/>
          </a:xfrm>
          <a:prstGeom prst="wedgeRoundRectCallout">
            <a:avLst>
              <a:gd name="adj1" fmla="val 31892"/>
              <a:gd name="adj2" fmla="val -12932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至少一个空格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980440" y="1117600"/>
            <a:ext cx="6734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266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animBg="1" autoUpdateAnimBg="0"/>
      <p:bldP spid="505860" grpId="0" animBg="1" autoUpdateAnimBg="0"/>
      <p:bldP spid="505861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>
            <a:extLst>
              <a:ext uri="{FF2B5EF4-FFF2-40B4-BE49-F238E27FC236}">
                <a16:creationId xmlns:a16="http://schemas.microsoft.com/office/drawing/2014/main" id="{D5469990-48A9-427B-B15D-7443B8B14E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5640" y="1572260"/>
            <a:ext cx="8468360" cy="5102860"/>
          </a:xfrm>
        </p:spPr>
        <p:txBody>
          <a:bodyPr/>
          <a:lstStyle/>
          <a:p>
            <a:pPr marL="609600" indent="-609600">
              <a:lnSpc>
                <a:spcPts val="1700"/>
              </a:lnSpc>
              <a:buNone/>
              <a:defRPr/>
            </a:pPr>
            <a:r>
              <a:rPr lang="zh-CN" altLang="en-US" sz="2100" dirty="0" smtClean="0"/>
              <a:t>多</a:t>
            </a:r>
            <a:r>
              <a:rPr lang="zh-CN" altLang="en-US" sz="2100" dirty="0"/>
              <a:t>路分支语句</a:t>
            </a:r>
            <a:r>
              <a:rPr lang="en-US" altLang="zh-CN" sz="2100" dirty="0"/>
              <a:t>case</a:t>
            </a:r>
            <a:r>
              <a:rPr lang="zh-CN" altLang="en-US" sz="2100" dirty="0"/>
              <a:t>用于多重条件测试</a:t>
            </a:r>
            <a:r>
              <a:rPr lang="en-US" altLang="zh-CN" sz="2100" dirty="0"/>
              <a:t>, </a:t>
            </a:r>
            <a:r>
              <a:rPr lang="zh-CN" altLang="en-US" sz="2100" dirty="0"/>
              <a:t>语法</a:t>
            </a:r>
            <a:r>
              <a:rPr lang="zh-CN" altLang="en-US" sz="2100" dirty="0" smtClean="0"/>
              <a:t>结构清晰</a:t>
            </a:r>
            <a:r>
              <a:rPr lang="zh-CN" altLang="en-US" sz="2100" dirty="0"/>
              <a:t>自然</a:t>
            </a:r>
            <a:r>
              <a:rPr lang="en-US" altLang="zh-CN" sz="2100" dirty="0"/>
              <a:t>.  </a:t>
            </a:r>
            <a:r>
              <a:rPr lang="zh-CN" altLang="en-US" sz="2100" dirty="0"/>
              <a:t>其语法结构为</a:t>
            </a:r>
            <a:r>
              <a:rPr lang="en-US" altLang="zh-CN" sz="2100" dirty="0"/>
              <a:t>: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case   </a:t>
            </a:r>
            <a:r>
              <a:rPr lang="zh-CN" altLang="en-US" sz="2100" dirty="0"/>
              <a:t>字符串变量   </a:t>
            </a:r>
            <a:r>
              <a:rPr lang="en-US" altLang="zh-CN" sz="2100" dirty="0"/>
              <a:t>in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/>
              <a:t>模式</a:t>
            </a:r>
            <a:r>
              <a:rPr lang="en-US" altLang="zh-CN" sz="2100" dirty="0"/>
              <a:t>1)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</a:t>
            </a:r>
            <a:r>
              <a:rPr lang="zh-CN" altLang="en-US" sz="2100" dirty="0"/>
              <a:t>命令表</a:t>
            </a:r>
            <a:r>
              <a:rPr lang="en-US" altLang="zh-CN" sz="2100" dirty="0"/>
              <a:t>1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 ;;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/>
              <a:t>模式</a:t>
            </a:r>
            <a:r>
              <a:rPr lang="en-US" altLang="zh-CN" sz="2100" dirty="0"/>
              <a:t>2)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</a:t>
            </a:r>
            <a:r>
              <a:rPr lang="zh-CN" altLang="en-US" sz="2100" dirty="0"/>
              <a:t>命令表</a:t>
            </a:r>
            <a:r>
              <a:rPr lang="en-US" altLang="zh-CN" sz="2100" dirty="0"/>
              <a:t>2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 ;;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……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</a:t>
            </a:r>
            <a:r>
              <a:rPr lang="zh-CN" altLang="en-US" sz="2100" dirty="0"/>
              <a:t>模式</a:t>
            </a:r>
            <a:r>
              <a:rPr lang="en-US" altLang="zh-CN" sz="2100" dirty="0"/>
              <a:t>n)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</a:t>
            </a:r>
            <a:r>
              <a:rPr lang="zh-CN" altLang="en-US" sz="2100" dirty="0"/>
              <a:t>命令表</a:t>
            </a:r>
            <a:r>
              <a:rPr lang="en-US" altLang="zh-CN" sz="2100" dirty="0"/>
              <a:t>n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                    ;;</a:t>
            </a:r>
          </a:p>
          <a:p>
            <a:pPr marL="609600" indent="-609600">
              <a:lnSpc>
                <a:spcPts val="1700"/>
              </a:lnSpc>
              <a:buNone/>
              <a:defRPr/>
            </a:pPr>
            <a:r>
              <a:rPr lang="en-US" altLang="zh-CN" sz="2100" dirty="0"/>
              <a:t>    </a:t>
            </a:r>
            <a:r>
              <a:rPr lang="en-US" altLang="zh-CN" sz="2100" dirty="0" err="1"/>
              <a:t>esac</a:t>
            </a:r>
            <a:endParaRPr lang="en-US" altLang="zh-CN" sz="2100" dirty="0"/>
          </a:p>
        </p:txBody>
      </p:sp>
      <p:sp>
        <p:nvSpPr>
          <p:cNvPr id="507907" name="AutoShape 3"/>
          <p:cNvSpPr>
            <a:spLocks noChangeArrowheads="1"/>
          </p:cNvSpPr>
          <p:nvPr/>
        </p:nvSpPr>
        <p:spPr bwMode="auto">
          <a:xfrm>
            <a:off x="3943350" y="2046298"/>
            <a:ext cx="2971800" cy="228600"/>
          </a:xfrm>
          <a:prstGeom prst="leftArrowCallout">
            <a:avLst>
              <a:gd name="adj1" fmla="val 30361"/>
              <a:gd name="adj2" fmla="val 25000"/>
              <a:gd name="adj3" fmla="val 134394"/>
              <a:gd name="adj4" fmla="val 84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b="1" dirty="0">
                <a:solidFill>
                  <a:schemeClr val="bg2"/>
                </a:solidFill>
              </a:rPr>
              <a:t>case</a:t>
            </a:r>
            <a:r>
              <a:rPr lang="zh-CN" altLang="en-US" sz="1500" b="1" dirty="0">
                <a:solidFill>
                  <a:schemeClr val="bg2"/>
                </a:solidFill>
              </a:rPr>
              <a:t>语句只能检测字符串变量</a:t>
            </a:r>
          </a:p>
        </p:txBody>
      </p:sp>
      <p:sp>
        <p:nvSpPr>
          <p:cNvPr id="507908" name="AutoShape 4"/>
          <p:cNvSpPr>
            <a:spLocks noChangeArrowheads="1"/>
          </p:cNvSpPr>
          <p:nvPr/>
        </p:nvSpPr>
        <p:spPr bwMode="auto">
          <a:xfrm>
            <a:off x="3943350" y="2505730"/>
            <a:ext cx="4229100" cy="228600"/>
          </a:xfrm>
          <a:prstGeom prst="leftArrowCallout">
            <a:avLst>
              <a:gd name="adj1" fmla="val 30361"/>
              <a:gd name="adj2" fmla="val 25000"/>
              <a:gd name="adj3" fmla="val 191252"/>
              <a:gd name="adj4" fmla="val 84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2"/>
                </a:solidFill>
              </a:rPr>
              <a:t>各模式中可用文件名元字符</a:t>
            </a:r>
            <a:r>
              <a:rPr lang="en-US" altLang="zh-CN" sz="1500" b="1" dirty="0">
                <a:solidFill>
                  <a:schemeClr val="bg2"/>
                </a:solidFill>
              </a:rPr>
              <a:t>,</a:t>
            </a:r>
            <a:r>
              <a:rPr lang="zh-CN" altLang="en-US" sz="1500" b="1" dirty="0">
                <a:solidFill>
                  <a:schemeClr val="bg2"/>
                </a:solidFill>
              </a:rPr>
              <a:t>以右括号结束</a:t>
            </a:r>
          </a:p>
        </p:txBody>
      </p:sp>
      <p:sp>
        <p:nvSpPr>
          <p:cNvPr id="507909" name="AutoShape 5"/>
          <p:cNvSpPr>
            <a:spLocks noChangeArrowheads="1"/>
          </p:cNvSpPr>
          <p:nvPr/>
        </p:nvSpPr>
        <p:spPr bwMode="auto">
          <a:xfrm>
            <a:off x="3943350" y="3244235"/>
            <a:ext cx="4057650" cy="228600"/>
          </a:xfrm>
          <a:prstGeom prst="leftArrowCallout">
            <a:avLst>
              <a:gd name="adj1" fmla="val 40620"/>
              <a:gd name="adj2" fmla="val 25000"/>
              <a:gd name="adj3" fmla="val 158846"/>
              <a:gd name="adj4" fmla="val 867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2"/>
                </a:solidFill>
              </a:rPr>
              <a:t>命令表以单独的双分号行结束</a:t>
            </a:r>
            <a:r>
              <a:rPr lang="en-US" altLang="zh-CN" sz="1500" b="1" dirty="0">
                <a:solidFill>
                  <a:schemeClr val="bg2"/>
                </a:solidFill>
              </a:rPr>
              <a:t>,</a:t>
            </a:r>
            <a:r>
              <a:rPr lang="zh-CN" altLang="en-US" sz="1500" b="1" dirty="0">
                <a:solidFill>
                  <a:schemeClr val="bg2"/>
                </a:solidFill>
              </a:rPr>
              <a:t>退出</a:t>
            </a:r>
            <a:r>
              <a:rPr lang="en-US" altLang="zh-CN" sz="1500" b="1" dirty="0">
                <a:solidFill>
                  <a:schemeClr val="bg2"/>
                </a:solidFill>
              </a:rPr>
              <a:t>case</a:t>
            </a:r>
            <a:r>
              <a:rPr lang="zh-CN" altLang="en-US" sz="1500" b="1" dirty="0">
                <a:solidFill>
                  <a:schemeClr val="bg2"/>
                </a:solidFill>
              </a:rPr>
              <a:t>语句</a:t>
            </a:r>
          </a:p>
        </p:txBody>
      </p:sp>
      <p:sp>
        <p:nvSpPr>
          <p:cNvPr id="507910" name="AutoShape 6"/>
          <p:cNvSpPr>
            <a:spLocks noChangeArrowheads="1"/>
          </p:cNvSpPr>
          <p:nvPr/>
        </p:nvSpPr>
        <p:spPr bwMode="auto">
          <a:xfrm>
            <a:off x="3943350" y="5143500"/>
            <a:ext cx="4000500" cy="228600"/>
          </a:xfrm>
          <a:prstGeom prst="leftArrowCallout">
            <a:avLst>
              <a:gd name="adj1" fmla="val 30361"/>
              <a:gd name="adj2" fmla="val 25000"/>
              <a:gd name="adj3" fmla="val 180914"/>
              <a:gd name="adj4" fmla="val 84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2"/>
                </a:solidFill>
              </a:rPr>
              <a:t>模式 </a:t>
            </a:r>
            <a:r>
              <a:rPr lang="en-US" altLang="zh-CN" sz="1500" b="1" dirty="0">
                <a:solidFill>
                  <a:schemeClr val="bg2"/>
                </a:solidFill>
              </a:rPr>
              <a:t>n</a:t>
            </a:r>
            <a:r>
              <a:rPr lang="zh-CN" altLang="en-US" sz="1500" b="1" dirty="0">
                <a:solidFill>
                  <a:schemeClr val="bg2"/>
                </a:solidFill>
              </a:rPr>
              <a:t>常写为字符* 表示所有其它模式</a:t>
            </a:r>
          </a:p>
        </p:txBody>
      </p:sp>
      <p:sp>
        <p:nvSpPr>
          <p:cNvPr id="507911" name="AutoShape 7"/>
          <p:cNvSpPr>
            <a:spLocks noChangeArrowheads="1"/>
          </p:cNvSpPr>
          <p:nvPr/>
        </p:nvSpPr>
        <p:spPr bwMode="auto">
          <a:xfrm>
            <a:off x="3943350" y="6057900"/>
            <a:ext cx="3486150" cy="228600"/>
          </a:xfrm>
          <a:prstGeom prst="leftArrowCallout">
            <a:avLst>
              <a:gd name="adj1" fmla="val 30361"/>
              <a:gd name="adj2" fmla="val 25000"/>
              <a:gd name="adj3" fmla="val 157654"/>
              <a:gd name="adj4" fmla="val 844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2"/>
                </a:solidFill>
              </a:rPr>
              <a:t>最后一个双分号行可以省略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9" name="文本框 8"/>
          <p:cNvSpPr txBox="1"/>
          <p:nvPr/>
        </p:nvSpPr>
        <p:spPr>
          <a:xfrm>
            <a:off x="756920" y="1074728"/>
            <a:ext cx="767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多路分支语句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case…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esac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9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7" grpId="0" animBg="1" autoUpdateAnimBg="0"/>
      <p:bldP spid="507908" grpId="0" animBg="1" autoUpdateAnimBg="0"/>
      <p:bldP spid="507909" grpId="0" animBg="1" autoUpdateAnimBg="0"/>
      <p:bldP spid="507910" grpId="0" animBg="1" autoUpdateAnimBg="0"/>
      <p:bldP spid="507911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1026">
            <a:extLst>
              <a:ext uri="{FF2B5EF4-FFF2-40B4-BE49-F238E27FC236}">
                <a16:creationId xmlns:a16="http://schemas.microsoft.com/office/drawing/2014/main" id="{1D9CDBEF-B818-4806-9042-A7B5F3E84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0740" y="1635760"/>
            <a:ext cx="7787640" cy="5222240"/>
          </a:xfrm>
        </p:spPr>
        <p:txBody>
          <a:bodyPr/>
          <a:lstStyle/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实例</a:t>
            </a:r>
            <a:r>
              <a:rPr lang="en-US" altLang="zh-CN" sz="1800" dirty="0"/>
              <a:t>.  </a:t>
            </a:r>
            <a:r>
              <a:rPr lang="zh-CN" altLang="en-US" sz="1800" dirty="0"/>
              <a:t>程序</a:t>
            </a:r>
            <a:r>
              <a:rPr lang="en-US" altLang="zh-CN" sz="1800" dirty="0"/>
              <a:t>prog4</a:t>
            </a:r>
            <a:r>
              <a:rPr lang="zh-CN" altLang="en-US" sz="1800" dirty="0"/>
              <a:t>检查用户输入的文件名</a:t>
            </a:r>
            <a:r>
              <a:rPr lang="en-US" altLang="zh-CN" sz="1800" dirty="0"/>
              <a:t>, </a:t>
            </a:r>
            <a:r>
              <a:rPr lang="zh-CN" altLang="en-US" sz="1800" dirty="0"/>
              <a:t>用法为</a:t>
            </a:r>
            <a:r>
              <a:rPr lang="en-US" altLang="zh-CN" sz="1800" dirty="0"/>
              <a:t>: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           </a:t>
            </a:r>
            <a:r>
              <a:rPr lang="en-US" altLang="zh-CN" sz="1800" dirty="0">
                <a:solidFill>
                  <a:srgbClr val="0000FF"/>
                </a:solidFill>
              </a:rPr>
              <a:t>prog4    </a:t>
            </a:r>
            <a:r>
              <a:rPr lang="en-US" altLang="zh-CN" sz="1800" dirty="0" err="1">
                <a:solidFill>
                  <a:srgbClr val="0000FF"/>
                </a:solidFill>
              </a:rPr>
              <a:t>string_name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# The statement of  case…</a:t>
            </a:r>
            <a:r>
              <a:rPr lang="en-US" altLang="zh-CN" sz="1800" dirty="0" err="1"/>
              <a:t>esac</a:t>
            </a:r>
            <a:endParaRPr lang="en-US" altLang="zh-CN" sz="1800" dirty="0"/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if [  $#  -ne  1  ]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then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echo  “One argument must be declared"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exit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case  $1  in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file1)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echo  "User selects file1"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;;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file2)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echo  "User selects file2"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;;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*)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echo  "You must select either file1 or file2!"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;;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/>
              <a:t>esac</a:t>
            </a:r>
            <a:endParaRPr lang="en-US" altLang="zh-CN" sz="1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96620" y="1065202"/>
            <a:ext cx="767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多路分支语句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case…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esac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91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5AF886A0-A79A-427F-88DA-F72CAA171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620" y="1526867"/>
            <a:ext cx="798322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       </a:t>
            </a:r>
            <a:r>
              <a:rPr lang="zh-CN" altLang="en-US" sz="1800" dirty="0"/>
              <a:t>当循环次数已知或确定时</a:t>
            </a:r>
            <a:r>
              <a:rPr lang="en-US" altLang="zh-CN" sz="1800" dirty="0"/>
              <a:t>,  </a:t>
            </a:r>
            <a:r>
              <a:rPr lang="zh-CN" altLang="en-US" sz="1800" dirty="0"/>
              <a:t>使用</a:t>
            </a:r>
            <a:r>
              <a:rPr lang="en-US" altLang="zh-CN" sz="1800" dirty="0"/>
              <a:t>for</a:t>
            </a:r>
            <a:r>
              <a:rPr lang="zh-CN" altLang="en-US" sz="1800" dirty="0"/>
              <a:t>循环语句来多次</a:t>
            </a:r>
            <a:r>
              <a:rPr lang="zh-CN" altLang="en-US" sz="1800" dirty="0" smtClean="0"/>
              <a:t>执行一</a:t>
            </a:r>
            <a:r>
              <a:rPr lang="zh-CN" altLang="en-US" sz="1800" dirty="0"/>
              <a:t>条或一组命令</a:t>
            </a:r>
            <a:r>
              <a:rPr lang="en-US" altLang="zh-CN" sz="1800" dirty="0"/>
              <a:t>.  </a:t>
            </a:r>
            <a:r>
              <a:rPr lang="zh-CN" altLang="en-US" sz="1800" dirty="0"/>
              <a:t>循环体由语句括号</a:t>
            </a:r>
            <a:r>
              <a:rPr lang="en-US" altLang="zh-CN" sz="1800" dirty="0"/>
              <a:t>do</a:t>
            </a:r>
            <a:r>
              <a:rPr lang="zh-CN" altLang="en-US" sz="1800" dirty="0"/>
              <a:t>和</a:t>
            </a:r>
            <a:r>
              <a:rPr lang="en-US" altLang="zh-CN" sz="1800" dirty="0"/>
              <a:t>done</a:t>
            </a:r>
            <a:r>
              <a:rPr lang="zh-CN" altLang="en-US" sz="1800" dirty="0"/>
              <a:t>来</a:t>
            </a:r>
            <a:r>
              <a:rPr lang="zh-CN" altLang="en-US" sz="1800" dirty="0" smtClean="0"/>
              <a:t>限定。</a:t>
            </a:r>
            <a:r>
              <a:rPr lang="en-US" altLang="zh-CN" sz="1800" dirty="0" smtClean="0"/>
              <a:t>  </a:t>
            </a:r>
            <a:r>
              <a:rPr lang="zh-CN" altLang="en-US" sz="1800" dirty="0" smtClean="0"/>
              <a:t>格式为</a:t>
            </a:r>
            <a:r>
              <a:rPr lang="en-US" altLang="zh-CN" sz="1800" dirty="0"/>
              <a:t>:              </a:t>
            </a:r>
            <a:endParaRPr lang="en-US" altLang="zh-CN" sz="18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for   </a:t>
            </a:r>
            <a:r>
              <a:rPr lang="zh-CN" altLang="en-US" sz="1800" dirty="0">
                <a:solidFill>
                  <a:srgbClr val="0000FF"/>
                </a:solidFill>
              </a:rPr>
              <a:t>变量名   </a:t>
            </a:r>
            <a:r>
              <a:rPr lang="en-US" altLang="zh-CN" sz="1800" dirty="0">
                <a:solidFill>
                  <a:srgbClr val="0000FF"/>
                </a:solidFill>
              </a:rPr>
              <a:t>in   </a:t>
            </a:r>
            <a:r>
              <a:rPr lang="zh-CN" altLang="en-US" sz="1800" dirty="0">
                <a:solidFill>
                  <a:srgbClr val="0000FF"/>
                </a:solidFill>
              </a:rPr>
              <a:t>单词表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</a:rPr>
              <a:t> 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do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</a:rPr>
              <a:t>                              </a:t>
            </a:r>
            <a:r>
              <a:rPr lang="zh-CN" altLang="en-US" sz="1800" dirty="0">
                <a:solidFill>
                  <a:srgbClr val="0000FF"/>
                </a:solidFill>
              </a:rPr>
              <a:t>命令表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</a:rPr>
              <a:t> 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done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变量依次取单词表中的各个单词</a:t>
            </a:r>
            <a:r>
              <a:rPr lang="en-US" altLang="zh-CN" sz="1800" dirty="0"/>
              <a:t>,  </a:t>
            </a:r>
            <a:r>
              <a:rPr lang="zh-CN" altLang="en-US" sz="1800" dirty="0"/>
              <a:t>每取一次单词</a:t>
            </a:r>
            <a:r>
              <a:rPr lang="en-US" altLang="zh-CN" sz="1800" dirty="0"/>
              <a:t>, </a:t>
            </a:r>
            <a:r>
              <a:rPr lang="zh-CN" altLang="en-US" sz="1800" dirty="0"/>
              <a:t>就执行</a:t>
            </a:r>
            <a:r>
              <a:rPr lang="zh-CN" altLang="en-US" sz="1800" dirty="0" smtClean="0"/>
              <a:t>一次</a:t>
            </a:r>
            <a:r>
              <a:rPr lang="zh-CN" altLang="en-US" sz="1800" dirty="0"/>
              <a:t>循环体中的命令</a:t>
            </a:r>
            <a:r>
              <a:rPr lang="en-US" altLang="zh-CN" sz="1800" dirty="0"/>
              <a:t>.  </a:t>
            </a:r>
            <a:r>
              <a:rPr lang="zh-CN" altLang="en-US" sz="1800" dirty="0"/>
              <a:t>循环次数由单词表中的单词数确定</a:t>
            </a:r>
            <a:r>
              <a:rPr lang="en-US" altLang="zh-CN" sz="1800" dirty="0"/>
              <a:t>. </a:t>
            </a:r>
            <a:r>
              <a:rPr lang="zh-CN" altLang="en-US" sz="1800" dirty="0" smtClean="0"/>
              <a:t>命令</a:t>
            </a:r>
            <a:r>
              <a:rPr lang="zh-CN" altLang="en-US" sz="1800" dirty="0"/>
              <a:t>表中的命令可以是一条</a:t>
            </a:r>
            <a:r>
              <a:rPr lang="en-US" altLang="zh-CN" sz="1800" dirty="0"/>
              <a:t>, </a:t>
            </a:r>
            <a:r>
              <a:rPr lang="zh-CN" altLang="en-US" sz="1800" dirty="0"/>
              <a:t>也可以是由分号或换行符分开</a:t>
            </a:r>
            <a:r>
              <a:rPr lang="zh-CN" altLang="en-US" sz="1800" dirty="0" smtClean="0"/>
              <a:t>的多条。</a:t>
            </a:r>
            <a:endParaRPr lang="en-US" altLang="zh-CN" sz="1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    </a:t>
            </a:r>
            <a:r>
              <a:rPr lang="zh-CN" altLang="en-US" sz="1800" dirty="0" smtClean="0"/>
              <a:t>如果</a:t>
            </a:r>
            <a:r>
              <a:rPr lang="zh-CN" altLang="en-US" sz="1800" dirty="0"/>
              <a:t>单词表是命令行上的所有位置参数时</a:t>
            </a:r>
            <a:r>
              <a:rPr lang="en-US" altLang="zh-CN" sz="1800" dirty="0"/>
              <a:t>, </a:t>
            </a:r>
            <a:r>
              <a:rPr lang="zh-CN" altLang="en-US" sz="1800" dirty="0"/>
              <a:t>可以在</a:t>
            </a:r>
            <a:r>
              <a:rPr lang="en-US" altLang="zh-CN" sz="1800" dirty="0" smtClean="0"/>
              <a:t>for</a:t>
            </a:r>
            <a:r>
              <a:rPr lang="zh-CN" altLang="en-US" sz="1800" dirty="0" smtClean="0"/>
              <a:t>语句</a:t>
            </a:r>
            <a:r>
              <a:rPr lang="zh-CN" altLang="en-US" sz="1800" dirty="0"/>
              <a:t>中省略 </a:t>
            </a:r>
            <a:r>
              <a:rPr lang="en-US" altLang="zh-CN" sz="1800" dirty="0" smtClean="0"/>
              <a:t>“in  </a:t>
            </a:r>
            <a:r>
              <a:rPr lang="zh-CN" altLang="en-US" sz="1800" dirty="0" smtClean="0"/>
              <a:t>单词表</a:t>
            </a:r>
            <a:r>
              <a:rPr lang="en-US" altLang="zh-CN" sz="1800" dirty="0" smtClean="0"/>
              <a:t>” </a:t>
            </a:r>
            <a:r>
              <a:rPr lang="zh-CN" altLang="en-US" sz="1800" dirty="0" smtClean="0"/>
              <a:t>部分。</a:t>
            </a:r>
            <a:endParaRPr lang="en-US" altLang="zh-CN" sz="18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96620" y="1065202"/>
            <a:ext cx="782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for…do…done</a:t>
            </a:r>
          </a:p>
        </p:txBody>
      </p:sp>
    </p:spTree>
    <p:extLst>
      <p:ext uri="{BB962C8B-B14F-4D97-AF65-F5344CB8AC3E}">
        <p14:creationId xmlns:p14="http://schemas.microsoft.com/office/powerpoint/2010/main" val="31222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>
            <a:extLst>
              <a:ext uri="{FF2B5EF4-FFF2-40B4-BE49-F238E27FC236}">
                <a16:creationId xmlns:a16="http://schemas.microsoft.com/office/drawing/2014/main" id="{96090169-9212-4CB3-9460-4953A2F63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8820" y="1387552"/>
            <a:ext cx="8135620" cy="5396076"/>
          </a:xfrm>
        </p:spPr>
        <p:txBody>
          <a:bodyPr/>
          <a:lstStyle/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/>
              <a:t>实例</a:t>
            </a:r>
            <a:r>
              <a:rPr lang="en-US" altLang="zh-CN" sz="1800" dirty="0"/>
              <a:t>.  </a:t>
            </a:r>
            <a:r>
              <a:rPr lang="zh-CN" altLang="en-US" sz="1800" dirty="0"/>
              <a:t>包含</a:t>
            </a:r>
            <a:r>
              <a:rPr lang="en-US" altLang="zh-CN" sz="1800" dirty="0"/>
              <a:t>for</a:t>
            </a:r>
            <a:r>
              <a:rPr lang="zh-CN" altLang="en-US" sz="1800" dirty="0"/>
              <a:t>语句的程序</a:t>
            </a:r>
            <a:r>
              <a:rPr lang="en-US" altLang="zh-CN" sz="1800" dirty="0"/>
              <a:t>prog5</a:t>
            </a:r>
            <a:r>
              <a:rPr lang="zh-CN" altLang="en-US" sz="1800" dirty="0"/>
              <a:t>寻找指定文件</a:t>
            </a:r>
            <a:r>
              <a:rPr lang="en-US" altLang="zh-CN" sz="1800" dirty="0"/>
              <a:t>, </a:t>
            </a:r>
            <a:r>
              <a:rPr lang="zh-CN" altLang="en-US" sz="1800" dirty="0"/>
              <a:t>或拷贝当前</a:t>
            </a:r>
            <a:r>
              <a:rPr lang="zh-CN" altLang="en-US" sz="1800" dirty="0" smtClean="0"/>
              <a:t>目录</a:t>
            </a:r>
            <a:r>
              <a:rPr lang="zh-CN" altLang="en-US" sz="1800" dirty="0"/>
              <a:t>下的所有文件到</a:t>
            </a:r>
            <a:r>
              <a:rPr lang="en-US" altLang="zh-CN" sz="1800" dirty="0"/>
              <a:t>backup</a:t>
            </a:r>
            <a:r>
              <a:rPr lang="zh-CN" altLang="en-US" sz="1800" dirty="0"/>
              <a:t>子目录下</a:t>
            </a:r>
            <a:r>
              <a:rPr lang="en-US" altLang="zh-CN" sz="1800" dirty="0"/>
              <a:t>.  </a:t>
            </a:r>
            <a:r>
              <a:rPr lang="zh-CN" altLang="en-US" sz="1800" dirty="0"/>
              <a:t>使用语法及程序为</a:t>
            </a:r>
            <a:r>
              <a:rPr lang="en-US" altLang="zh-CN" sz="1800" dirty="0"/>
              <a:t>:</a:t>
            </a:r>
          </a:p>
          <a:p>
            <a:pPr eaLnBrk="1" hangingPunct="1">
              <a:lnSpc>
                <a:spcPts val="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                           prog5    [filename] 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# The statement of for…do…done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smtClean="0"/>
              <a:t>if  </a:t>
            </a:r>
            <a:r>
              <a:rPr lang="en-US" altLang="zh-CN" sz="1800" dirty="0"/>
              <a:t>[  !  -d  $HOME/backup  ]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then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</a:t>
            </a:r>
            <a:r>
              <a:rPr lang="en-US" altLang="zh-CN" sz="1800" dirty="0" err="1"/>
              <a:t>mkdir</a:t>
            </a:r>
            <a:r>
              <a:rPr lang="en-US" altLang="zh-CN" sz="1800" dirty="0"/>
              <a:t>  $HOME/backup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fi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/>
              <a:t>flist</a:t>
            </a:r>
            <a:r>
              <a:rPr lang="en-US" altLang="zh-CN" sz="1800" dirty="0"/>
              <a:t>=`</a:t>
            </a:r>
            <a:r>
              <a:rPr lang="en-US" altLang="zh-CN" sz="1800" dirty="0" err="1"/>
              <a:t>ls`</a:t>
            </a:r>
            <a:endParaRPr lang="en-US" altLang="zh-CN" sz="1800" dirty="0"/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for  file  in  $</a:t>
            </a:r>
            <a:r>
              <a:rPr lang="en-US" altLang="zh-CN" sz="1800" dirty="0" err="1"/>
              <a:t>flist</a:t>
            </a:r>
            <a:endParaRPr lang="en-US" altLang="zh-CN" sz="1800" dirty="0"/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if [  $#  =  1  ]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then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if [  </a:t>
            </a:r>
            <a:r>
              <a:rPr lang="zh-CN" altLang="en-US" sz="1800" dirty="0"/>
              <a:t>“</a:t>
            </a:r>
            <a:r>
              <a:rPr lang="en-US" altLang="zh-CN" sz="1800" dirty="0"/>
              <a:t>$1</a:t>
            </a:r>
            <a:r>
              <a:rPr lang="zh-CN" altLang="en-US" sz="1800" dirty="0"/>
              <a:t>”</a:t>
            </a:r>
            <a:r>
              <a:rPr lang="en-US" altLang="zh-CN" sz="1800" dirty="0"/>
              <a:t>  =  </a:t>
            </a:r>
            <a:r>
              <a:rPr lang="zh-CN" altLang="en-US" sz="1800" dirty="0"/>
              <a:t>“</a:t>
            </a:r>
            <a:r>
              <a:rPr lang="en-US" altLang="zh-CN" sz="1800" dirty="0"/>
              <a:t>$file</a:t>
            </a:r>
            <a:r>
              <a:rPr lang="zh-CN" altLang="en-US" sz="1800" dirty="0"/>
              <a:t>”</a:t>
            </a:r>
            <a:r>
              <a:rPr lang="en-US" altLang="zh-CN" sz="1800" dirty="0"/>
              <a:t>  ]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then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	echo  "$file  found" ;  exit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fi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else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</a:t>
            </a:r>
            <a:r>
              <a:rPr lang="en-US" altLang="zh-CN" sz="1800" dirty="0" err="1"/>
              <a:t>cp</a:t>
            </a:r>
            <a:r>
              <a:rPr lang="en-US" altLang="zh-CN" sz="1800" dirty="0"/>
              <a:t>  $file  $HOME/backup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echo  "$file  copied"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fi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done</a:t>
            </a:r>
          </a:p>
          <a:p>
            <a:pPr eaLnBrk="1" hangingPunct="1">
              <a:lnSpc>
                <a:spcPts val="4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  '***Back  up  completed***'</a:t>
            </a:r>
          </a:p>
        </p:txBody>
      </p:sp>
      <p:sp>
        <p:nvSpPr>
          <p:cNvPr id="514051" name="AutoShape 3"/>
          <p:cNvSpPr>
            <a:spLocks noChangeArrowheads="1"/>
          </p:cNvSpPr>
          <p:nvPr/>
        </p:nvSpPr>
        <p:spPr bwMode="auto">
          <a:xfrm>
            <a:off x="3724910" y="2286000"/>
            <a:ext cx="4972050" cy="228600"/>
          </a:xfrm>
          <a:prstGeom prst="leftArrowCallout">
            <a:avLst>
              <a:gd name="adj1" fmla="val 25000"/>
              <a:gd name="adj2" fmla="val 25000"/>
              <a:gd name="adj3" fmla="val 362500"/>
              <a:gd name="adj4" fmla="val 8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b="1" dirty="0" err="1">
                <a:solidFill>
                  <a:schemeClr val="bg1"/>
                </a:solidFill>
              </a:rPr>
              <a:t>flist</a:t>
            </a:r>
            <a:r>
              <a:rPr lang="zh-CN" altLang="en-US" sz="1500" b="1" dirty="0">
                <a:solidFill>
                  <a:schemeClr val="bg1"/>
                </a:solidFill>
              </a:rPr>
              <a:t>的值是</a:t>
            </a:r>
            <a:r>
              <a:rPr lang="en-US" altLang="zh-CN" sz="1500" b="1" dirty="0">
                <a:solidFill>
                  <a:schemeClr val="bg1"/>
                </a:solidFill>
              </a:rPr>
              <a:t>ls</a:t>
            </a:r>
            <a:r>
              <a:rPr lang="zh-CN" altLang="en-US" sz="1500" b="1" dirty="0">
                <a:solidFill>
                  <a:schemeClr val="bg1"/>
                </a:solidFill>
              </a:rPr>
              <a:t>的执行结果即当前目录下的文件名</a:t>
            </a:r>
          </a:p>
        </p:txBody>
      </p:sp>
      <p:sp>
        <p:nvSpPr>
          <p:cNvPr id="514052" name="AutoShape 4"/>
          <p:cNvSpPr>
            <a:spLocks noChangeArrowheads="1"/>
          </p:cNvSpPr>
          <p:nvPr/>
        </p:nvSpPr>
        <p:spPr bwMode="auto">
          <a:xfrm>
            <a:off x="3898900" y="3971290"/>
            <a:ext cx="3829050" cy="228600"/>
          </a:xfrm>
          <a:prstGeom prst="leftArrowCallout">
            <a:avLst>
              <a:gd name="adj1" fmla="val 25000"/>
              <a:gd name="adj2" fmla="val 12500"/>
              <a:gd name="adj3" fmla="val 279167"/>
              <a:gd name="adj4" fmla="val 649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1"/>
                </a:solidFill>
              </a:rPr>
              <a:t>命令行上有一个参数时</a:t>
            </a:r>
          </a:p>
        </p:txBody>
      </p:sp>
      <p:sp>
        <p:nvSpPr>
          <p:cNvPr id="514053" name="AutoShape 5"/>
          <p:cNvSpPr>
            <a:spLocks noChangeArrowheads="1"/>
          </p:cNvSpPr>
          <p:nvPr/>
        </p:nvSpPr>
        <p:spPr bwMode="auto">
          <a:xfrm>
            <a:off x="2564821" y="5303242"/>
            <a:ext cx="4629150" cy="228600"/>
          </a:xfrm>
          <a:prstGeom prst="leftArrowCallout">
            <a:avLst>
              <a:gd name="adj1" fmla="val 10417"/>
              <a:gd name="adj2" fmla="val 25000"/>
              <a:gd name="adj3" fmla="val 1130719"/>
              <a:gd name="adj4" fmla="val 441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>
                <a:solidFill>
                  <a:schemeClr val="bg1"/>
                </a:solidFill>
              </a:rPr>
              <a:t>命令行上不带参数时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876300" y="982315"/>
            <a:ext cx="782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for…do…done</a:t>
            </a:r>
          </a:p>
        </p:txBody>
      </p:sp>
    </p:spTree>
    <p:extLst>
      <p:ext uri="{BB962C8B-B14F-4D97-AF65-F5344CB8AC3E}">
        <p14:creationId xmlns:p14="http://schemas.microsoft.com/office/powerpoint/2010/main" val="167717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1" grpId="0" animBg="1" autoUpdateAnimBg="0"/>
      <p:bldP spid="514052" grpId="0" animBg="1" autoUpdateAnimBg="0"/>
      <p:bldP spid="514053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>
            <a:extLst>
              <a:ext uri="{FF2B5EF4-FFF2-40B4-BE49-F238E27FC236}">
                <a16:creationId xmlns:a16="http://schemas.microsoft.com/office/drawing/2014/main" id="{ACE7AA67-87CD-4FBC-B2AC-0C03254BF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591310"/>
            <a:ext cx="7790180" cy="41862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dirty="0" smtClean="0"/>
              <a:t>语法</a:t>
            </a:r>
            <a:r>
              <a:rPr lang="zh-CN" altLang="en-US" sz="1800" dirty="0"/>
              <a:t>结构为：      </a:t>
            </a:r>
            <a:endParaRPr lang="en-US" altLang="zh-CN" sz="1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</a:rPr>
              <a:t> </a:t>
            </a:r>
            <a:r>
              <a:rPr lang="en-US" altLang="zh-CN" sz="1800" dirty="0" smtClean="0">
                <a:solidFill>
                  <a:srgbClr val="0000FF"/>
                </a:solidFill>
              </a:rPr>
              <a:t>                             while     </a:t>
            </a:r>
            <a:r>
              <a:rPr lang="zh-CN" altLang="en-US" sz="1800" dirty="0">
                <a:solidFill>
                  <a:srgbClr val="0000FF"/>
                </a:solidFill>
              </a:rPr>
              <a:t>命令或表达式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</a:rPr>
              <a:t>          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do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</a:rPr>
              <a:t>                                       </a:t>
            </a:r>
            <a:r>
              <a:rPr lang="zh-CN" altLang="en-US" sz="1800" dirty="0">
                <a:solidFill>
                  <a:srgbClr val="0000FF"/>
                </a:solidFill>
              </a:rPr>
              <a:t>命令表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</a:rPr>
              <a:t>                              </a:t>
            </a:r>
            <a:r>
              <a:rPr lang="en-US" altLang="zh-CN" sz="1800" dirty="0">
                <a:solidFill>
                  <a:srgbClr val="0000FF"/>
                </a:solidFill>
              </a:rPr>
              <a:t>done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while</a:t>
            </a:r>
            <a:r>
              <a:rPr lang="zh-CN" altLang="en-US" sz="1800" dirty="0"/>
              <a:t>语句首先测试其后的命令或表达式的值，如果为真</a:t>
            </a:r>
            <a:r>
              <a:rPr lang="zh-CN" altLang="en-US" sz="1800" dirty="0" smtClean="0"/>
              <a:t>，就</a:t>
            </a:r>
            <a:r>
              <a:rPr lang="zh-CN" altLang="en-US" sz="1800" dirty="0"/>
              <a:t>执行一次循环体中的命令，然后再测试该命令或</a:t>
            </a:r>
            <a:r>
              <a:rPr lang="zh-CN" altLang="en-US" sz="1800" dirty="0" smtClean="0"/>
              <a:t>表达式的</a:t>
            </a:r>
            <a:r>
              <a:rPr lang="zh-CN" altLang="en-US" sz="1800" dirty="0"/>
              <a:t>值，执行循环体，直到该命令或表达式为假时退出循环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 smtClean="0"/>
              <a:t>while</a:t>
            </a:r>
            <a:r>
              <a:rPr lang="zh-CN" altLang="en-US" sz="1800" dirty="0"/>
              <a:t>语句的退出状态</a:t>
            </a:r>
            <a:r>
              <a:rPr lang="zh-CN" altLang="en-US" sz="1800" dirty="0" smtClean="0"/>
              <a:t>为</a:t>
            </a:r>
            <a:r>
              <a:rPr lang="zh-CN" altLang="en-US" sz="1800" dirty="0" smtClean="0">
                <a:solidFill>
                  <a:srgbClr val="0000FF"/>
                </a:solidFill>
              </a:rPr>
              <a:t>“命令表”</a:t>
            </a:r>
            <a:r>
              <a:rPr lang="zh-CN" altLang="en-US" sz="1800" dirty="0" smtClean="0"/>
              <a:t>中</a:t>
            </a:r>
            <a:r>
              <a:rPr lang="zh-CN" altLang="en-US" sz="1800" dirty="0"/>
              <a:t>被执行的最后一条</a:t>
            </a:r>
            <a:r>
              <a:rPr lang="zh-CN" altLang="en-US" sz="1800" dirty="0" smtClean="0"/>
              <a:t>命令</a:t>
            </a:r>
            <a:r>
              <a:rPr lang="zh-CN" altLang="en-US" sz="1800" dirty="0"/>
              <a:t>的退出状态。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循环语句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while…do…done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364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>
            <a:extLst>
              <a:ext uri="{FF2B5EF4-FFF2-40B4-BE49-F238E27FC236}">
                <a16:creationId xmlns:a16="http://schemas.microsoft.com/office/drawing/2014/main" id="{386D5FA6-36D7-4F60-AC48-E45F9B8CB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489057"/>
            <a:ext cx="7424420" cy="5368944"/>
          </a:xfrm>
        </p:spPr>
        <p:txBody>
          <a:bodyPr/>
          <a:lstStyle/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实例</a:t>
            </a:r>
            <a:r>
              <a:rPr lang="en-US" altLang="zh-CN" b="1" dirty="0"/>
              <a:t>.</a:t>
            </a:r>
            <a:r>
              <a:rPr lang="en-US" altLang="zh-CN" sz="2100" dirty="0"/>
              <a:t>   </a:t>
            </a:r>
            <a:r>
              <a:rPr lang="zh-CN" altLang="en-US" sz="2100" dirty="0"/>
              <a:t>创建文件程序</a:t>
            </a:r>
            <a:r>
              <a:rPr lang="en-US" altLang="zh-CN" sz="2100" dirty="0"/>
              <a:t>prog6,  </a:t>
            </a:r>
            <a:r>
              <a:rPr lang="zh-CN" altLang="en-US" sz="2100" dirty="0"/>
              <a:t>用法为</a:t>
            </a:r>
            <a:r>
              <a:rPr lang="en-US" altLang="zh-CN" sz="2100" dirty="0"/>
              <a:t>: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  </a:t>
            </a:r>
            <a:r>
              <a:rPr lang="en-US" altLang="zh-CN" sz="1800" dirty="0"/>
              <a:t>prog6   file   [number]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# The statement for  while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if [ $# -</a:t>
            </a:r>
            <a:r>
              <a:rPr lang="en-US" altLang="zh-CN" sz="1800" dirty="0" err="1"/>
              <a:t>eq</a:t>
            </a:r>
            <a:r>
              <a:rPr lang="en-US" altLang="zh-CN" sz="1800" dirty="0"/>
              <a:t> 2 ]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then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loop=$2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else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loop=5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fi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/>
              <a:t>i</a:t>
            </a:r>
            <a:r>
              <a:rPr lang="en-US" altLang="zh-CN" sz="1800" dirty="0"/>
              <a:t>=1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while  [  $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 -le   $loop  ]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&gt;$1$i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=`expr  $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 +  1`</a:t>
            </a:r>
          </a:p>
          <a:p>
            <a:pPr eaLnBrk="1" hangingPunct="1">
              <a:lnSpc>
                <a:spcPts val="15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done</a:t>
            </a:r>
          </a:p>
        </p:txBody>
      </p:sp>
      <p:sp>
        <p:nvSpPr>
          <p:cNvPr id="517123" name="AutoShape 3"/>
          <p:cNvSpPr>
            <a:spLocks noChangeArrowheads="1"/>
          </p:cNvSpPr>
          <p:nvPr/>
        </p:nvSpPr>
        <p:spPr bwMode="auto">
          <a:xfrm>
            <a:off x="5507990" y="5238750"/>
            <a:ext cx="3086100" cy="971550"/>
          </a:xfrm>
          <a:prstGeom prst="wedgeRoundRectCallout">
            <a:avLst>
              <a:gd name="adj1" fmla="val -130978"/>
              <a:gd name="adj2" fmla="val 2931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建立以</a:t>
            </a:r>
            <a:r>
              <a:rPr lang="en-US" altLang="zh-CN" sz="1800" b="1" dirty="0">
                <a:solidFill>
                  <a:schemeClr val="bg1"/>
                </a:solidFill>
              </a:rPr>
              <a:t>file</a:t>
            </a:r>
            <a:r>
              <a:rPr lang="zh-CN" altLang="en-US" sz="1800" b="1" dirty="0" smtClean="0">
                <a:solidFill>
                  <a:schemeClr val="bg1"/>
                </a:solidFill>
              </a:rPr>
              <a:t>开头、变量</a:t>
            </a:r>
            <a:r>
              <a:rPr lang="en-US" altLang="zh-CN" sz="1800" b="1" dirty="0" err="1">
                <a:solidFill>
                  <a:schemeClr val="bg1"/>
                </a:solidFill>
              </a:rPr>
              <a:t>i</a:t>
            </a:r>
            <a:r>
              <a:rPr lang="zh-CN" altLang="en-US" sz="1800" b="1" dirty="0">
                <a:solidFill>
                  <a:schemeClr val="bg1"/>
                </a:solidFill>
              </a:rPr>
              <a:t>的值结尾的空文件名</a:t>
            </a:r>
            <a:r>
              <a:rPr lang="en-US" altLang="zh-CN" sz="1800" b="1" dirty="0">
                <a:solidFill>
                  <a:schemeClr val="bg1"/>
                </a:solidFill>
              </a:rPr>
              <a:t>. </a:t>
            </a:r>
            <a:r>
              <a:rPr lang="zh-CN" altLang="en-US" sz="1800" b="1" dirty="0">
                <a:solidFill>
                  <a:schemeClr val="bg1"/>
                </a:solidFill>
              </a:rPr>
              <a:t>参见命令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err="1">
                <a:solidFill>
                  <a:schemeClr val="bg1"/>
                </a:solidFill>
              </a:rPr>
              <a:t>cmd</a:t>
            </a:r>
            <a:r>
              <a:rPr lang="en-US" altLang="zh-CN" sz="1800" b="1" dirty="0">
                <a:solidFill>
                  <a:schemeClr val="bg1"/>
                </a:solidFill>
              </a:rPr>
              <a:t>  &gt;  file</a:t>
            </a:r>
          </a:p>
        </p:txBody>
      </p:sp>
      <p:sp>
        <p:nvSpPr>
          <p:cNvPr id="517124" name="AutoShape 4"/>
          <p:cNvSpPr>
            <a:spLocks noChangeArrowheads="1"/>
          </p:cNvSpPr>
          <p:nvPr/>
        </p:nvSpPr>
        <p:spPr bwMode="auto">
          <a:xfrm>
            <a:off x="6144260" y="1776039"/>
            <a:ext cx="2400300" cy="742950"/>
          </a:xfrm>
          <a:prstGeom prst="wedgeRoundRectCallout">
            <a:avLst>
              <a:gd name="adj1" fmla="val -119792"/>
              <a:gd name="adj2" fmla="val -2163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根据命令行参数的个数确定循环的次数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循环语句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while…do…done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615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 animBg="1" autoUpdateAnimBg="0"/>
      <p:bldP spid="517124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>
            <a:extLst>
              <a:ext uri="{FF2B5EF4-FFF2-40B4-BE49-F238E27FC236}">
                <a16:creationId xmlns:a16="http://schemas.microsoft.com/office/drawing/2014/main" id="{21D8B6EC-07C0-4421-9CDF-57E2CC44C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489057"/>
            <a:ext cx="7800340" cy="502920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zh-CN" altLang="en-US" dirty="0" smtClean="0"/>
              <a:t>语法</a:t>
            </a:r>
            <a:r>
              <a:rPr lang="zh-CN" altLang="en-US" dirty="0"/>
              <a:t>结构为</a:t>
            </a:r>
            <a:r>
              <a:rPr lang="en-US" altLang="zh-CN" dirty="0"/>
              <a:t>:    </a:t>
            </a:r>
            <a:r>
              <a:rPr lang="en-US" altLang="zh-CN" dirty="0">
                <a:solidFill>
                  <a:srgbClr val="0000FF"/>
                </a:solidFill>
              </a:rPr>
              <a:t>until   </a:t>
            </a:r>
            <a:r>
              <a:rPr lang="zh-CN" altLang="en-US" dirty="0">
                <a:solidFill>
                  <a:srgbClr val="0000FF"/>
                </a:solidFill>
              </a:rPr>
              <a:t>命令或表达式</a:t>
            </a:r>
          </a:p>
          <a:p>
            <a:pPr marL="609600" indent="-609600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           </a:t>
            </a:r>
            <a:r>
              <a:rPr lang="en-US" altLang="zh-CN" dirty="0">
                <a:solidFill>
                  <a:srgbClr val="0000FF"/>
                </a:solidFill>
              </a:rPr>
              <a:t>do</a:t>
            </a:r>
          </a:p>
          <a:p>
            <a:pPr marL="609600" indent="-609600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				    </a:t>
            </a:r>
            <a:r>
              <a:rPr lang="zh-CN" altLang="en-US" dirty="0">
                <a:solidFill>
                  <a:srgbClr val="0000FF"/>
                </a:solidFill>
              </a:rPr>
              <a:t>命令表</a:t>
            </a:r>
          </a:p>
          <a:p>
            <a:pPr marL="609600" indent="-609600">
              <a:buNone/>
              <a:defRPr/>
            </a:pPr>
            <a:r>
              <a:rPr lang="zh-CN" altLang="en-US" dirty="0">
                <a:solidFill>
                  <a:srgbClr val="0000FF"/>
                </a:solidFill>
              </a:rPr>
              <a:t>                          </a:t>
            </a:r>
            <a:r>
              <a:rPr lang="en-US" altLang="zh-CN" dirty="0">
                <a:solidFill>
                  <a:srgbClr val="0000FF"/>
                </a:solidFill>
              </a:rPr>
              <a:t>done</a:t>
            </a:r>
          </a:p>
          <a:p>
            <a:pPr marL="609600" indent="-609600">
              <a:buNone/>
              <a:defRPr/>
            </a:pPr>
            <a:r>
              <a:rPr lang="en-US" altLang="zh-CN" dirty="0"/>
              <a:t>until</a:t>
            </a:r>
            <a:r>
              <a:rPr lang="zh-CN" altLang="en-US" dirty="0"/>
              <a:t>循环与</a:t>
            </a:r>
            <a:r>
              <a:rPr lang="en-US" altLang="zh-CN" dirty="0"/>
              <a:t>while</a:t>
            </a:r>
            <a:r>
              <a:rPr lang="zh-CN" altLang="en-US" dirty="0"/>
              <a:t>循环的功能相似</a:t>
            </a:r>
            <a:r>
              <a:rPr lang="en-US" altLang="zh-CN" dirty="0"/>
              <a:t>,  </a:t>
            </a:r>
            <a:r>
              <a:rPr lang="zh-CN" altLang="en-US" dirty="0"/>
              <a:t>所不同的是</a:t>
            </a:r>
            <a:r>
              <a:rPr lang="zh-CN" altLang="en-US" dirty="0" smtClean="0"/>
              <a:t>只有当</a:t>
            </a:r>
            <a:r>
              <a:rPr lang="zh-CN" altLang="en-US" dirty="0"/>
              <a:t>测试的命令或表达式的值是假时</a:t>
            </a:r>
            <a:r>
              <a:rPr lang="en-US" altLang="zh-CN" dirty="0"/>
              <a:t>, </a:t>
            </a:r>
            <a:r>
              <a:rPr lang="zh-CN" altLang="en-US" dirty="0"/>
              <a:t>才执行</a:t>
            </a:r>
            <a:r>
              <a:rPr lang="zh-CN" altLang="en-US" dirty="0" smtClean="0"/>
              <a:t>循环体中</a:t>
            </a:r>
            <a:r>
              <a:rPr lang="zh-CN" altLang="en-US" dirty="0"/>
              <a:t>的命令表</a:t>
            </a:r>
            <a:r>
              <a:rPr lang="en-US" altLang="zh-CN" dirty="0"/>
              <a:t>, </a:t>
            </a:r>
            <a:r>
              <a:rPr lang="zh-CN" altLang="en-US" dirty="0"/>
              <a:t>否则退出</a:t>
            </a:r>
            <a:r>
              <a:rPr lang="zh-CN" altLang="en-US" dirty="0" smtClean="0"/>
              <a:t>循环。</a:t>
            </a:r>
            <a:r>
              <a:rPr lang="en-US" altLang="zh-CN" dirty="0" smtClean="0"/>
              <a:t> </a:t>
            </a:r>
            <a:r>
              <a:rPr lang="zh-CN" altLang="en-US" dirty="0"/>
              <a:t>这一点与</a:t>
            </a:r>
            <a:r>
              <a:rPr lang="en-US" altLang="zh-CN" dirty="0"/>
              <a:t>while</a:t>
            </a:r>
            <a:r>
              <a:rPr lang="zh-CN" altLang="en-US" dirty="0"/>
              <a:t>命令</a:t>
            </a:r>
            <a:r>
              <a:rPr lang="zh-CN" altLang="en-US" dirty="0" smtClean="0"/>
              <a:t>正好相反。</a:t>
            </a:r>
            <a:endParaRPr lang="en-US" altLang="zh-CN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循环语句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until…do…done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65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DC7A9B30-09DB-49BE-BAC9-CAD274B7B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5180" y="1596390"/>
            <a:ext cx="8135620" cy="4629150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en-US" altLang="zh-CN" dirty="0" smtClean="0"/>
              <a:t>      </a:t>
            </a:r>
            <a:r>
              <a:rPr lang="en-US" altLang="zh-CN" dirty="0"/>
              <a:t>break</a:t>
            </a:r>
            <a:r>
              <a:rPr lang="zh-CN" altLang="en-US" dirty="0"/>
              <a:t>语句从包含该语句的最近一层循环中</a:t>
            </a:r>
            <a:r>
              <a:rPr lang="zh-CN" altLang="en-US" i="1" u="sng" dirty="0" smtClean="0">
                <a:solidFill>
                  <a:srgbClr val="FF0000"/>
                </a:solidFill>
              </a:rPr>
              <a:t>跳出</a:t>
            </a:r>
            <a:r>
              <a:rPr lang="zh-CN" altLang="en-US" dirty="0" smtClean="0"/>
              <a:t>一</a:t>
            </a:r>
            <a:r>
              <a:rPr lang="zh-CN" altLang="en-US" dirty="0"/>
              <a:t>层</a:t>
            </a:r>
            <a:r>
              <a:rPr lang="en-US" altLang="zh-CN" dirty="0"/>
              <a:t>,  break  n  </a:t>
            </a:r>
            <a:r>
              <a:rPr lang="zh-CN" altLang="en-US" dirty="0"/>
              <a:t>则跳出</a:t>
            </a:r>
            <a:r>
              <a:rPr lang="en-US" altLang="zh-CN" dirty="0"/>
              <a:t>n</a:t>
            </a:r>
            <a:r>
              <a:rPr lang="zh-CN" altLang="en-US" dirty="0"/>
              <a:t>层</a:t>
            </a:r>
            <a:r>
              <a:rPr lang="en-US" altLang="zh-CN" dirty="0"/>
              <a:t>;  continue</a:t>
            </a:r>
            <a:r>
              <a:rPr lang="zh-CN" altLang="en-US" dirty="0"/>
              <a:t>语句则马上</a:t>
            </a:r>
            <a:r>
              <a:rPr lang="zh-CN" altLang="en-US" dirty="0" smtClean="0"/>
              <a:t>转到</a:t>
            </a:r>
            <a:r>
              <a:rPr lang="zh-CN" altLang="en-US" dirty="0"/>
              <a:t>最近一层循环语句的</a:t>
            </a:r>
            <a:r>
              <a:rPr lang="zh-CN" altLang="en-US" i="1" u="sng" dirty="0">
                <a:solidFill>
                  <a:srgbClr val="FF0000"/>
                </a:solidFill>
              </a:rPr>
              <a:t>下一轮</a:t>
            </a:r>
            <a:r>
              <a:rPr lang="zh-CN" altLang="en-US" dirty="0"/>
              <a:t>循环上</a:t>
            </a:r>
            <a:r>
              <a:rPr lang="en-US" altLang="zh-CN" dirty="0"/>
              <a:t>,  continue  </a:t>
            </a:r>
            <a:r>
              <a:rPr lang="en-US" altLang="zh-CN" dirty="0" smtClean="0"/>
              <a:t>n</a:t>
            </a:r>
            <a:r>
              <a:rPr lang="zh-CN" altLang="en-US" dirty="0" smtClean="0"/>
              <a:t>则</a:t>
            </a:r>
            <a:r>
              <a:rPr lang="zh-CN" altLang="en-US" dirty="0"/>
              <a:t>转到最近</a:t>
            </a:r>
            <a:r>
              <a:rPr lang="en-US" altLang="zh-CN" dirty="0"/>
              <a:t>n</a:t>
            </a:r>
            <a:r>
              <a:rPr lang="zh-CN" altLang="en-US" dirty="0"/>
              <a:t>层循环语句的下一轮循环上</a:t>
            </a:r>
            <a:r>
              <a:rPr lang="en-US" altLang="zh-CN" dirty="0"/>
              <a:t>.</a:t>
            </a:r>
          </a:p>
          <a:p>
            <a:pPr marL="609600" indent="-609600">
              <a:buNone/>
              <a:defRPr/>
            </a:pPr>
            <a:endParaRPr lang="en-US" altLang="zh-CN" dirty="0"/>
          </a:p>
          <a:p>
            <a:pPr marL="609600" indent="-609600">
              <a:buNone/>
              <a:defRPr/>
            </a:pPr>
            <a:r>
              <a:rPr lang="zh-CN" altLang="en-US" dirty="0"/>
              <a:t>实例</a:t>
            </a:r>
            <a:r>
              <a:rPr lang="en-US" altLang="zh-CN" dirty="0"/>
              <a:t>.  </a:t>
            </a:r>
            <a:r>
              <a:rPr lang="zh-CN" altLang="en-US" dirty="0"/>
              <a:t>程序</a:t>
            </a:r>
            <a:r>
              <a:rPr lang="en-US" altLang="zh-CN" dirty="0"/>
              <a:t>prog7</a:t>
            </a:r>
            <a:r>
              <a:rPr lang="zh-CN" altLang="en-US" dirty="0"/>
              <a:t>的用法为</a:t>
            </a:r>
            <a:r>
              <a:rPr lang="en-US" altLang="zh-CN" dirty="0"/>
              <a:t>:</a:t>
            </a:r>
          </a:p>
          <a:p>
            <a:pPr marL="609600" indent="-609600"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prog7   </a:t>
            </a:r>
            <a:r>
              <a:rPr lang="zh-CN" altLang="en-US" dirty="0">
                <a:solidFill>
                  <a:srgbClr val="0000FF"/>
                </a:solidFill>
              </a:rPr>
              <a:t>整数   整数   整数 </a:t>
            </a:r>
            <a:r>
              <a:rPr lang="en-US" altLang="zh-CN" dirty="0">
                <a:solidFill>
                  <a:srgbClr val="0000FF"/>
                </a:solidFill>
              </a:rPr>
              <a:t>…</a:t>
            </a:r>
          </a:p>
          <a:p>
            <a:pPr marL="609600" indent="-609600">
              <a:buNone/>
              <a:defRPr/>
            </a:pPr>
            <a:r>
              <a:rPr lang="zh-CN" altLang="en-US" dirty="0"/>
              <a:t>参数个数不确定</a:t>
            </a:r>
            <a:r>
              <a:rPr lang="en-US" altLang="zh-CN" dirty="0"/>
              <a:t>, </a:t>
            </a:r>
            <a:r>
              <a:rPr lang="zh-CN" altLang="en-US" dirty="0" smtClean="0"/>
              <a:t>参数的数量</a:t>
            </a:r>
            <a:r>
              <a:rPr lang="zh-CN" altLang="en-US" dirty="0"/>
              <a:t>为</a:t>
            </a:r>
            <a:r>
              <a:rPr lang="en-US" altLang="zh-CN" dirty="0"/>
              <a:t>1~10</a:t>
            </a:r>
            <a:r>
              <a:rPr lang="zh-CN" altLang="en-US" dirty="0"/>
              <a:t>个</a:t>
            </a:r>
            <a:r>
              <a:rPr lang="en-US" altLang="zh-CN" dirty="0"/>
              <a:t>, </a:t>
            </a:r>
            <a:r>
              <a:rPr lang="zh-CN" altLang="en-US" dirty="0"/>
              <a:t>每个参数都是</a:t>
            </a:r>
            <a:r>
              <a:rPr lang="zh-CN" altLang="en-US" dirty="0" smtClean="0"/>
              <a:t>正整数。</a:t>
            </a:r>
            <a:r>
              <a:rPr lang="en-US" altLang="zh-CN" dirty="0" smtClean="0"/>
              <a:t>prog7</a:t>
            </a:r>
            <a:r>
              <a:rPr lang="zh-CN" altLang="en-US" dirty="0" smtClean="0"/>
              <a:t>的代码如下：</a:t>
            </a:r>
            <a:endParaRPr lang="en-US" altLang="zh-CN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05180" y="994717"/>
            <a:ext cx="8491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8.7.4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结构性语句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循环控制语句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break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70439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6D3F162D-50B7-4670-9760-418034330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4" y="1083310"/>
            <a:ext cx="7858125" cy="5774690"/>
          </a:xfrm>
        </p:spPr>
        <p:txBody>
          <a:bodyPr/>
          <a:lstStyle/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if  [  $#  -</a:t>
            </a:r>
            <a:r>
              <a:rPr lang="en-US" altLang="zh-CN" sz="1800" dirty="0" err="1"/>
              <a:t>eq</a:t>
            </a:r>
            <a:r>
              <a:rPr lang="en-US" altLang="zh-CN" sz="1800" dirty="0"/>
              <a:t>  0  ]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then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echo  "Numeric  arguments  required"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exit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if  [  $#  -</a:t>
            </a:r>
            <a:r>
              <a:rPr lang="en-US" altLang="zh-CN" sz="1800" dirty="0" err="1"/>
              <a:t>gt</a:t>
            </a:r>
            <a:r>
              <a:rPr lang="en-US" altLang="zh-CN" sz="1800" dirty="0"/>
              <a:t>   10  ]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then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echo  "Only  ten  arguments  allowed"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exit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for  number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count=`expr  $number  %  2`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if [  $count  -</a:t>
            </a:r>
            <a:r>
              <a:rPr lang="en-US" altLang="zh-CN" sz="1800" dirty="0" err="1"/>
              <a:t>eq</a:t>
            </a:r>
            <a:r>
              <a:rPr lang="en-US" altLang="zh-CN" sz="1800" dirty="0"/>
              <a:t>  1  ]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then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continue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else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output="$output   $number"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done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echo  "Even  numbers:  $output "</a:t>
            </a:r>
          </a:p>
        </p:txBody>
      </p:sp>
      <p:sp>
        <p:nvSpPr>
          <p:cNvPr id="521219" name="AutoShape 3"/>
          <p:cNvSpPr>
            <a:spLocks noChangeArrowheads="1"/>
          </p:cNvSpPr>
          <p:nvPr/>
        </p:nvSpPr>
        <p:spPr bwMode="auto">
          <a:xfrm>
            <a:off x="3001010" y="3419475"/>
            <a:ext cx="1943100" cy="400050"/>
          </a:xfrm>
          <a:prstGeom prst="wedgeRoundRectCallout">
            <a:avLst>
              <a:gd name="adj1" fmla="val -86508"/>
              <a:gd name="adj2" fmla="val 7815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取所有位置参数</a:t>
            </a:r>
          </a:p>
        </p:txBody>
      </p:sp>
      <p:sp>
        <p:nvSpPr>
          <p:cNvPr id="521220" name="AutoShape 4"/>
          <p:cNvSpPr>
            <a:spLocks noChangeArrowheads="1"/>
          </p:cNvSpPr>
          <p:nvPr/>
        </p:nvSpPr>
        <p:spPr bwMode="auto">
          <a:xfrm>
            <a:off x="5419090" y="3231515"/>
            <a:ext cx="2000250" cy="628650"/>
          </a:xfrm>
          <a:prstGeom prst="wedgeRoundRectCallout">
            <a:avLst>
              <a:gd name="adj1" fmla="val -98713"/>
              <a:gd name="adj2" fmla="val 13680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用</a:t>
            </a:r>
            <a:r>
              <a:rPr lang="en-US" altLang="zh-CN" sz="1800" b="1" dirty="0">
                <a:solidFill>
                  <a:schemeClr val="bg1"/>
                </a:solidFill>
              </a:rPr>
              <a:t>2</a:t>
            </a:r>
            <a:r>
              <a:rPr lang="zh-CN" altLang="en-US" sz="1800" b="1" dirty="0">
                <a:solidFill>
                  <a:schemeClr val="bg1"/>
                </a:solidFill>
              </a:rPr>
              <a:t>求模</a:t>
            </a:r>
            <a:r>
              <a:rPr lang="en-US" altLang="zh-CN" sz="1800" b="1" dirty="0">
                <a:solidFill>
                  <a:schemeClr val="bg1"/>
                </a:solidFill>
              </a:rPr>
              <a:t>, count</a:t>
            </a:r>
            <a:r>
              <a:rPr lang="zh-CN" altLang="en-US" sz="1800" b="1" dirty="0">
                <a:solidFill>
                  <a:schemeClr val="bg1"/>
                </a:solidFill>
              </a:rPr>
              <a:t>的值只能是</a:t>
            </a:r>
            <a:r>
              <a:rPr lang="en-US" altLang="zh-CN" sz="1800" b="1" dirty="0">
                <a:solidFill>
                  <a:schemeClr val="bg1"/>
                </a:solidFill>
              </a:rPr>
              <a:t>0</a:t>
            </a:r>
            <a:r>
              <a:rPr lang="zh-CN" altLang="en-US" sz="1800" b="1" dirty="0">
                <a:solidFill>
                  <a:schemeClr val="bg1"/>
                </a:solidFill>
              </a:rPr>
              <a:t>或</a:t>
            </a:r>
            <a:r>
              <a:rPr lang="en-US" altLang="zh-CN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21221" name="AutoShape 5"/>
          <p:cNvSpPr>
            <a:spLocks noChangeArrowheads="1"/>
          </p:cNvSpPr>
          <p:nvPr/>
        </p:nvSpPr>
        <p:spPr bwMode="auto">
          <a:xfrm rot="10800000">
            <a:off x="466090" y="3886200"/>
            <a:ext cx="362584" cy="1543050"/>
          </a:xfrm>
          <a:prstGeom prst="curvedLeftArrow">
            <a:avLst>
              <a:gd name="adj1" fmla="val 21111"/>
              <a:gd name="adj2" fmla="val 74444"/>
              <a:gd name="adj3" fmla="val 3171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6600"/>
                </a:solidFill>
              </a:rPr>
              <a:t>下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6600"/>
                </a:solidFill>
              </a:rPr>
              <a:t>轮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6600"/>
                </a:solidFill>
              </a:rPr>
              <a:t>循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6600"/>
                </a:solidFill>
              </a:rPr>
              <a:t>环</a:t>
            </a:r>
          </a:p>
        </p:txBody>
      </p:sp>
      <p:sp>
        <p:nvSpPr>
          <p:cNvPr id="521222" name="AutoShape 6"/>
          <p:cNvSpPr>
            <a:spLocks noChangeArrowheads="1"/>
          </p:cNvSpPr>
          <p:nvPr/>
        </p:nvSpPr>
        <p:spPr bwMode="auto">
          <a:xfrm>
            <a:off x="5419090" y="4785360"/>
            <a:ext cx="2496820" cy="400050"/>
          </a:xfrm>
          <a:prstGeom prst="wedgeRoundRectCallout">
            <a:avLst>
              <a:gd name="adj1" fmla="val -129546"/>
              <a:gd name="adj2" fmla="val -5016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是</a:t>
            </a:r>
            <a:r>
              <a:rPr lang="zh-CN" altLang="en-US" sz="1800" b="1" dirty="0" smtClean="0">
                <a:solidFill>
                  <a:schemeClr val="bg1"/>
                </a:solidFill>
              </a:rPr>
              <a:t>奇数不作任何处理</a:t>
            </a:r>
            <a:endParaRPr lang="zh-CN" altLang="en-US" sz="1800" b="1" dirty="0">
              <a:solidFill>
                <a:schemeClr val="bg1"/>
              </a:solidFill>
            </a:endParaRPr>
          </a:p>
        </p:txBody>
      </p:sp>
      <p:sp>
        <p:nvSpPr>
          <p:cNvPr id="521223" name="AutoShape 7"/>
          <p:cNvSpPr>
            <a:spLocks noChangeArrowheads="1"/>
          </p:cNvSpPr>
          <p:nvPr/>
        </p:nvSpPr>
        <p:spPr bwMode="auto">
          <a:xfrm>
            <a:off x="5515610" y="6216333"/>
            <a:ext cx="2400300" cy="457200"/>
          </a:xfrm>
          <a:prstGeom prst="wedgeRoundRectCallout">
            <a:avLst>
              <a:gd name="adj1" fmla="val -66328"/>
              <a:gd name="adj2" fmla="val -11746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偶数放到偶数队列中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8829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9" grpId="0" animBg="1" autoUpdateAnimBg="0"/>
      <p:bldP spid="521220" grpId="0" animBg="1" autoUpdateAnimBg="0"/>
      <p:bldP spid="521221" grpId="0" animBg="1" autoUpdateAnimBg="0"/>
      <p:bldP spid="521222" grpId="0" animBg="1" autoUpdateAnimBg="0"/>
      <p:bldP spid="521223" grpId="0" animBg="1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>
            <a:extLst>
              <a:ext uri="{FF2B5EF4-FFF2-40B4-BE49-F238E27FC236}">
                <a16:creationId xmlns:a16="http://schemas.microsoft.com/office/drawing/2014/main" id="{85B9E4D3-2492-4B93-BD13-B9C8EB03B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780" y="1012190"/>
            <a:ext cx="7668260" cy="572389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实例</a:t>
            </a:r>
            <a:r>
              <a:rPr lang="en-US" altLang="zh-CN" sz="2100" dirty="0"/>
              <a:t>.  </a:t>
            </a:r>
            <a:r>
              <a:rPr lang="zh-CN" altLang="en-US" sz="2100" dirty="0"/>
              <a:t>包含</a:t>
            </a:r>
            <a:r>
              <a:rPr lang="en-US" altLang="zh-CN" sz="2100" dirty="0"/>
              <a:t>while</a:t>
            </a:r>
            <a:r>
              <a:rPr lang="zh-CN" altLang="en-US" sz="2100" dirty="0"/>
              <a:t>、</a:t>
            </a:r>
            <a:r>
              <a:rPr lang="en-US" altLang="zh-CN" sz="2100" dirty="0"/>
              <a:t>until</a:t>
            </a:r>
            <a:r>
              <a:rPr lang="zh-CN" altLang="en-US" sz="2100" dirty="0"/>
              <a:t>和</a:t>
            </a:r>
            <a:r>
              <a:rPr lang="en-US" altLang="zh-CN" sz="2100" dirty="0"/>
              <a:t>break</a:t>
            </a:r>
            <a:r>
              <a:rPr lang="zh-CN" altLang="en-US" sz="2100" dirty="0"/>
              <a:t>语句的</a:t>
            </a:r>
            <a:r>
              <a:rPr lang="en-US" altLang="zh-CN" sz="2100" dirty="0"/>
              <a:t>prog8 </a:t>
            </a:r>
            <a:r>
              <a:rPr lang="zh-CN" altLang="en-US" sz="2100" dirty="0"/>
              <a:t>程序</a:t>
            </a:r>
            <a:r>
              <a:rPr lang="en-US" altLang="zh-CN" sz="2100" dirty="0"/>
              <a:t>.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endParaRPr lang="en-US" altLang="zh-CN" sz="1800" dirty="0"/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while  true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echo  level1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until  false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do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echo  level2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while  true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do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	echo  level3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	break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	done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		done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done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endParaRPr lang="en-US" altLang="zh-CN" sz="1800" dirty="0"/>
          </a:p>
        </p:txBody>
      </p:sp>
      <p:sp>
        <p:nvSpPr>
          <p:cNvPr id="523267" name="AutoShape 3"/>
          <p:cNvSpPr>
            <a:spLocks noChangeArrowheads="1"/>
          </p:cNvSpPr>
          <p:nvPr/>
        </p:nvSpPr>
        <p:spPr bwMode="auto">
          <a:xfrm>
            <a:off x="4740910" y="1527810"/>
            <a:ext cx="1885950" cy="1028700"/>
          </a:xfrm>
          <a:prstGeom prst="wedgeRoundRectCallout">
            <a:avLst>
              <a:gd name="adj1" fmla="val -189513"/>
              <a:gd name="adj2" fmla="val 187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 smtClean="0">
                <a:solidFill>
                  <a:schemeClr val="bg1"/>
                </a:solidFill>
              </a:rPr>
              <a:t>无限循环</a:t>
            </a:r>
            <a:r>
              <a:rPr lang="zh-CN" altLang="en-US" sz="1800" b="1" dirty="0">
                <a:solidFill>
                  <a:schemeClr val="bg1"/>
                </a:solidFill>
              </a:rPr>
              <a:t>程序</a:t>
            </a:r>
            <a:r>
              <a:rPr lang="en-US" altLang="zh-CN" sz="1800" b="1" dirty="0">
                <a:solidFill>
                  <a:schemeClr val="bg1"/>
                </a:solidFill>
              </a:rPr>
              <a:t>, </a:t>
            </a:r>
            <a:r>
              <a:rPr lang="zh-CN" altLang="en-US" sz="1800" b="1" dirty="0">
                <a:solidFill>
                  <a:schemeClr val="bg1"/>
                </a:solidFill>
              </a:rPr>
              <a:t>只能由人工中断</a:t>
            </a:r>
          </a:p>
        </p:txBody>
      </p:sp>
      <p:sp>
        <p:nvSpPr>
          <p:cNvPr id="523268" name="AutoShape 4"/>
          <p:cNvSpPr>
            <a:spLocks noChangeArrowheads="1"/>
          </p:cNvSpPr>
          <p:nvPr/>
        </p:nvSpPr>
        <p:spPr bwMode="auto">
          <a:xfrm>
            <a:off x="5541010" y="5302250"/>
            <a:ext cx="2171700" cy="914400"/>
          </a:xfrm>
          <a:prstGeom prst="wedgeRoundRectCallout">
            <a:avLst>
              <a:gd name="adj1" fmla="val -134635"/>
              <a:gd name="adj2" fmla="val -4064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如果改为</a:t>
            </a:r>
            <a:r>
              <a:rPr lang="en-US" altLang="zh-CN" sz="1800" b="1" dirty="0">
                <a:solidFill>
                  <a:schemeClr val="bg1"/>
                </a:solidFill>
              </a:rPr>
              <a:t>break  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跳出最外层循环</a:t>
            </a:r>
          </a:p>
        </p:txBody>
      </p:sp>
      <p:sp>
        <p:nvSpPr>
          <p:cNvPr id="523269" name="AutoShape 5"/>
          <p:cNvSpPr>
            <a:spLocks noChangeArrowheads="1"/>
          </p:cNvSpPr>
          <p:nvPr/>
        </p:nvSpPr>
        <p:spPr bwMode="auto">
          <a:xfrm>
            <a:off x="223520" y="4541520"/>
            <a:ext cx="2000250" cy="914400"/>
          </a:xfrm>
          <a:prstGeom prst="wedgeRoundRectCallout">
            <a:avLst>
              <a:gd name="adj1" fmla="val 83630"/>
              <a:gd name="adj2" fmla="val 3190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改为</a:t>
            </a:r>
            <a:r>
              <a:rPr lang="en-US" altLang="zh-CN" sz="1800" b="1" dirty="0">
                <a:solidFill>
                  <a:schemeClr val="bg1"/>
                </a:solidFill>
              </a:rPr>
              <a:t>continue 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开始最外层循环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1670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7" grpId="0" animBg="1" autoUpdateAnimBg="0"/>
      <p:bldP spid="523268" grpId="0" animBg="1" autoUpdateAnimBg="0"/>
      <p:bldP spid="523269" grpId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>
            <a:extLst>
              <a:ext uri="{FF2B5EF4-FFF2-40B4-BE49-F238E27FC236}">
                <a16:creationId xmlns:a16="http://schemas.microsoft.com/office/drawing/2014/main" id="{0D8657DA-07A2-4FAC-9462-8B89DE45A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440" y="1689099"/>
            <a:ext cx="7574280" cy="4017219"/>
          </a:xfrm>
        </p:spPr>
        <p:txBody>
          <a:bodyPr/>
          <a:lstStyle/>
          <a:p>
            <a:pPr marL="609600" indent="-609600">
              <a:buNone/>
              <a:defRPr/>
            </a:pPr>
            <a:r>
              <a:rPr lang="zh-CN" altLang="en-US" dirty="0" smtClean="0"/>
              <a:t>在</a:t>
            </a:r>
            <a:r>
              <a:rPr lang="en-US" altLang="zh-CN" dirty="0"/>
              <a:t>shell</a:t>
            </a:r>
            <a:r>
              <a:rPr lang="zh-CN" altLang="en-US" dirty="0"/>
              <a:t>程序中</a:t>
            </a:r>
            <a:r>
              <a:rPr lang="en-US" altLang="zh-CN" dirty="0"/>
              <a:t>, </a:t>
            </a:r>
            <a:r>
              <a:rPr lang="zh-CN" altLang="en-US" dirty="0"/>
              <a:t>常常把完成固定功能、且多次</a:t>
            </a:r>
            <a:r>
              <a:rPr lang="zh-CN" altLang="en-US" dirty="0" smtClean="0"/>
              <a:t>使用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一组命令</a:t>
            </a:r>
            <a:r>
              <a:rPr lang="zh-CN" altLang="en-US" dirty="0"/>
              <a:t>（语句）封装在一个函数里，每当</a:t>
            </a:r>
            <a:r>
              <a:rPr lang="zh-CN" altLang="en-US" dirty="0" smtClean="0"/>
              <a:t>要使用</a:t>
            </a:r>
            <a:r>
              <a:rPr lang="zh-CN" altLang="en-US" dirty="0"/>
              <a:t>该功能时只需调用该函数名即可。</a:t>
            </a:r>
          </a:p>
          <a:p>
            <a:pPr marL="609600" indent="-609600">
              <a:buNone/>
              <a:defRPr/>
            </a:pPr>
            <a:r>
              <a:rPr lang="zh-CN" altLang="en-US" dirty="0" smtClean="0"/>
              <a:t>函数</a:t>
            </a:r>
            <a:r>
              <a:rPr lang="zh-CN" altLang="en-US" dirty="0"/>
              <a:t>在调用前必须</a:t>
            </a:r>
            <a:r>
              <a:rPr lang="zh-CN" altLang="en-US" dirty="0">
                <a:solidFill>
                  <a:srgbClr val="FF0000"/>
                </a:solidFill>
              </a:rPr>
              <a:t>先定义</a:t>
            </a:r>
            <a:r>
              <a:rPr lang="zh-CN" altLang="en-US" dirty="0"/>
              <a:t>，即在顺序上函数</a:t>
            </a:r>
            <a:r>
              <a:rPr lang="zh-CN" altLang="en-US" dirty="0" smtClean="0"/>
              <a:t>说明</a:t>
            </a:r>
            <a:r>
              <a:rPr lang="zh-CN" altLang="en-US" dirty="0"/>
              <a:t>必须放在调用程序的前面。</a:t>
            </a:r>
          </a:p>
          <a:p>
            <a:pPr marL="609600" indent="-609600">
              <a:buNone/>
              <a:defRPr/>
            </a:pPr>
            <a:r>
              <a:rPr lang="zh-CN" altLang="en-US" dirty="0" smtClean="0"/>
              <a:t>调用</a:t>
            </a:r>
            <a:r>
              <a:rPr lang="zh-CN" altLang="en-US" dirty="0"/>
              <a:t>程序可</a:t>
            </a:r>
            <a:r>
              <a:rPr lang="zh-CN" altLang="en-US" dirty="0">
                <a:solidFill>
                  <a:srgbClr val="FF0000"/>
                </a:solidFill>
              </a:rPr>
              <a:t>传递参数</a:t>
            </a:r>
            <a:r>
              <a:rPr lang="zh-CN" altLang="en-US" dirty="0"/>
              <a:t>给函数</a:t>
            </a:r>
            <a:r>
              <a:rPr lang="en-US" altLang="zh-CN" dirty="0"/>
              <a:t>, </a:t>
            </a:r>
            <a:r>
              <a:rPr lang="zh-CN" altLang="en-US" dirty="0"/>
              <a:t>函数可用</a:t>
            </a:r>
            <a:r>
              <a:rPr lang="en-US" altLang="zh-CN" dirty="0"/>
              <a:t>return</a:t>
            </a:r>
            <a:r>
              <a:rPr lang="zh-CN" altLang="en-US" dirty="0" smtClean="0"/>
              <a:t>语句</a:t>
            </a:r>
            <a:r>
              <a:rPr lang="zh-CN" altLang="en-US" dirty="0"/>
              <a:t>把运行结果返回给调用</a:t>
            </a:r>
            <a:r>
              <a:rPr lang="zh-CN" altLang="en-US" dirty="0" smtClean="0"/>
              <a:t>程序。</a:t>
            </a:r>
            <a:endParaRPr lang="en-US" altLang="zh-CN" dirty="0" smtClean="0"/>
          </a:p>
          <a:p>
            <a:pPr marL="609600" indent="-609600">
              <a:buNone/>
              <a:defRPr/>
            </a:pPr>
            <a:r>
              <a:rPr lang="zh-CN" altLang="en-US" dirty="0" smtClean="0"/>
              <a:t>函数</a:t>
            </a:r>
            <a:r>
              <a:rPr lang="zh-CN" altLang="en-US" dirty="0"/>
              <a:t>只在</a:t>
            </a:r>
            <a:r>
              <a:rPr lang="zh-CN" altLang="en-US" dirty="0">
                <a:solidFill>
                  <a:srgbClr val="FF0000"/>
                </a:solidFill>
              </a:rPr>
              <a:t>当前</a:t>
            </a:r>
            <a:r>
              <a:rPr lang="en-US" altLang="zh-CN" dirty="0">
                <a:solidFill>
                  <a:srgbClr val="FF0000"/>
                </a:solidFill>
              </a:rPr>
              <a:t>shell</a:t>
            </a:r>
            <a:r>
              <a:rPr lang="zh-CN" altLang="en-US" dirty="0"/>
              <a:t>中起作用</a:t>
            </a:r>
            <a:r>
              <a:rPr lang="en-US" altLang="zh-CN" dirty="0"/>
              <a:t>, </a:t>
            </a:r>
            <a:r>
              <a:rPr lang="zh-CN" altLang="en-US" dirty="0"/>
              <a:t>不能输出到子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中。</a:t>
            </a:r>
            <a:endParaRPr lang="en-US" altLang="zh-CN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8.8 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shell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355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>
            <a:extLst>
              <a:ext uri="{FF2B5EF4-FFF2-40B4-BE49-F238E27FC236}">
                <a16:creationId xmlns:a16="http://schemas.microsoft.com/office/drawing/2014/main" id="{6D78A20A-0F6C-46D3-A33C-AE4B2C9C6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440" y="971550"/>
            <a:ext cx="7604760" cy="561213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 smtClean="0">
                <a:solidFill>
                  <a:srgbClr val="0000FF"/>
                </a:solidFill>
              </a:rPr>
              <a:t>shell</a:t>
            </a:r>
            <a:r>
              <a:rPr lang="zh-CN" altLang="en-US" b="1" dirty="0" smtClean="0">
                <a:solidFill>
                  <a:srgbClr val="0000FF"/>
                </a:solidFill>
              </a:rPr>
              <a:t>函数</a:t>
            </a:r>
            <a:r>
              <a:rPr lang="zh-CN" altLang="en-US" b="1" dirty="0">
                <a:solidFill>
                  <a:srgbClr val="0000FF"/>
                </a:solidFill>
              </a:rPr>
              <a:t>的说明格式</a:t>
            </a:r>
            <a:r>
              <a:rPr lang="en-US" altLang="zh-CN" b="1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</a:t>
            </a:r>
            <a:r>
              <a:rPr lang="en-US" altLang="zh-CN" sz="2100" dirty="0" err="1"/>
              <a:t>function_name</a:t>
            </a:r>
            <a:r>
              <a:rPr lang="en-US" altLang="zh-CN" sz="2100" dirty="0"/>
              <a:t> (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command1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……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       </a:t>
            </a:r>
            <a:r>
              <a:rPr lang="en-US" altLang="zh-CN" sz="2100" dirty="0" err="1"/>
              <a:t>commandn</a:t>
            </a:r>
            <a:endParaRPr lang="en-US" altLang="zh-CN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dirty="0"/>
              <a:t>函数的调用格式</a:t>
            </a:r>
            <a:r>
              <a:rPr lang="en-US" altLang="zh-CN" sz="2100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</a:t>
            </a:r>
            <a:r>
              <a:rPr lang="en-US" altLang="zh-CN" sz="2100" dirty="0" err="1"/>
              <a:t>value_name</a:t>
            </a:r>
            <a:r>
              <a:rPr lang="en-US" altLang="zh-CN" sz="2100" dirty="0"/>
              <a:t>=`</a:t>
            </a:r>
            <a:r>
              <a:rPr lang="en-US" altLang="zh-CN" sz="2100" dirty="0" err="1"/>
              <a:t>function_name</a:t>
            </a:r>
            <a:r>
              <a:rPr lang="en-US" altLang="zh-CN" sz="2100" dirty="0"/>
              <a:t>  [arg1 arg2 … ]`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dirty="0" smtClean="0"/>
              <a:t>或者</a:t>
            </a:r>
            <a:r>
              <a:rPr lang="en-US" altLang="zh-CN" sz="2100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</a:t>
            </a:r>
            <a:r>
              <a:rPr lang="en-US" altLang="zh-CN" sz="2100" dirty="0" err="1"/>
              <a:t>function_name</a:t>
            </a:r>
            <a:r>
              <a:rPr lang="en-US" altLang="zh-CN" sz="2100" dirty="0"/>
              <a:t>  [arg1  arg2  …  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    echo   $</a:t>
            </a:r>
            <a:r>
              <a:rPr lang="en-US" altLang="zh-CN" sz="2100" dirty="0" err="1"/>
              <a:t>value_name</a:t>
            </a:r>
            <a:endParaRPr lang="en-US" altLang="zh-CN" sz="2100" dirty="0"/>
          </a:p>
        </p:txBody>
      </p:sp>
      <p:sp>
        <p:nvSpPr>
          <p:cNvPr id="525315" name="AutoShape 3"/>
          <p:cNvSpPr>
            <a:spLocks noChangeArrowheads="1"/>
          </p:cNvSpPr>
          <p:nvPr/>
        </p:nvSpPr>
        <p:spPr bwMode="auto">
          <a:xfrm>
            <a:off x="4611370" y="2806065"/>
            <a:ext cx="2971800" cy="971550"/>
          </a:xfrm>
          <a:prstGeom prst="wedgeRoundRectCallout">
            <a:avLst>
              <a:gd name="adj1" fmla="val -122488"/>
              <a:gd name="adj2" fmla="val 13164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函数的所有标准输出都传递给了主程序的变量</a:t>
            </a:r>
          </a:p>
        </p:txBody>
      </p:sp>
      <p:sp>
        <p:nvSpPr>
          <p:cNvPr id="525316" name="AutoShape 4"/>
          <p:cNvSpPr>
            <a:spLocks noChangeArrowheads="1"/>
          </p:cNvSpPr>
          <p:nvPr/>
        </p:nvSpPr>
        <p:spPr bwMode="auto">
          <a:xfrm>
            <a:off x="5746750" y="5495290"/>
            <a:ext cx="3200400" cy="628650"/>
          </a:xfrm>
          <a:prstGeom prst="wedgeRoundRectCallout">
            <a:avLst>
              <a:gd name="adj1" fmla="val -74469"/>
              <a:gd name="adj2" fmla="val -2959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u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t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bg1"/>
                </a:solidFill>
              </a:rPr>
              <a:t>函数的返回值隐含在变量中</a:t>
            </a:r>
            <a:r>
              <a:rPr lang="en-US" altLang="zh-CN" sz="1800" b="1" dirty="0">
                <a:solidFill>
                  <a:schemeClr val="bg1"/>
                </a:solidFill>
              </a:rPr>
              <a:t>, </a:t>
            </a:r>
            <a:r>
              <a:rPr lang="zh-CN" altLang="en-US" sz="1800" b="1" dirty="0">
                <a:solidFill>
                  <a:schemeClr val="bg1"/>
                </a:solidFill>
              </a:rPr>
              <a:t>由主程序使用该变量的值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921898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5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animBg="1" autoUpdateAnimBg="0"/>
      <p:bldP spid="525316" grpId="0" animBg="1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>
            <a:extLst>
              <a:ext uri="{FF2B5EF4-FFF2-40B4-BE49-F238E27FC236}">
                <a16:creationId xmlns:a16="http://schemas.microsoft.com/office/drawing/2014/main" id="{DD2995E1-736A-4F61-B3FC-0B87A1FEA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440" y="1040130"/>
            <a:ext cx="7645400" cy="5817870"/>
          </a:xfrm>
        </p:spPr>
        <p:txBody>
          <a:bodyPr/>
          <a:lstStyle/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smtClean="0">
                <a:solidFill>
                  <a:srgbClr val="0000FF"/>
                </a:solidFill>
              </a:rPr>
              <a:t>shell</a:t>
            </a:r>
            <a:r>
              <a:rPr lang="zh-CN" altLang="en-US" sz="1800" dirty="0" smtClean="0">
                <a:solidFill>
                  <a:srgbClr val="0000FF"/>
                </a:solidFill>
              </a:rPr>
              <a:t>函数调用实例</a:t>
            </a:r>
            <a:r>
              <a:rPr lang="en-US" altLang="zh-CN" sz="1800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 err="1"/>
              <a:t>check_user</a:t>
            </a:r>
            <a:r>
              <a:rPr lang="en-US" altLang="zh-CN" sz="1600" dirty="0"/>
              <a:t>( )      #</a:t>
            </a:r>
            <a:r>
              <a:rPr lang="zh-CN" altLang="en-US" sz="1600" dirty="0"/>
              <a:t>查找已登录的指定用户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{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    user=`who |  </a:t>
            </a:r>
            <a:r>
              <a:rPr lang="en-US" altLang="zh-CN" sz="1600" dirty="0" err="1"/>
              <a:t>grep</a:t>
            </a:r>
            <a:r>
              <a:rPr lang="en-US" altLang="zh-CN" sz="1600" dirty="0"/>
              <a:t>  $1`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      if [  -n  “$user” ]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      then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             return  0       #</a:t>
            </a:r>
            <a:r>
              <a:rPr lang="zh-CN" altLang="en-US" sz="1600" dirty="0"/>
              <a:t>找到指定用户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dirty="0"/>
              <a:t>        </a:t>
            </a:r>
            <a:r>
              <a:rPr lang="en-US" altLang="zh-CN" sz="1600" dirty="0"/>
              <a:t>else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               return  1       #</a:t>
            </a:r>
            <a:r>
              <a:rPr lang="zh-CN" altLang="en-US" sz="1600" dirty="0"/>
              <a:t>未找到指定用户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dirty="0"/>
              <a:t>        </a:t>
            </a:r>
            <a:r>
              <a:rPr lang="en-US" altLang="zh-CN" sz="1600" dirty="0"/>
              <a:t>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}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while  true         # MAIN, Main, main:   program  begin  here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do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echo  -n "Input username: 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read   </a:t>
            </a:r>
            <a:r>
              <a:rPr lang="en-US" altLang="zh-CN" sz="1600" dirty="0" err="1"/>
              <a:t>uname</a:t>
            </a:r>
            <a:endParaRPr lang="en-US" altLang="zh-CN" sz="1600" dirty="0"/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</a:t>
            </a:r>
            <a:r>
              <a:rPr lang="en-US" altLang="zh-CN" sz="1600" dirty="0" err="1"/>
              <a:t>check_user</a:t>
            </a:r>
            <a:r>
              <a:rPr lang="en-US" altLang="zh-CN" sz="1600" dirty="0"/>
              <a:t>  $</a:t>
            </a:r>
            <a:r>
              <a:rPr lang="en-US" altLang="zh-CN" sz="1600" dirty="0" err="1"/>
              <a:t>uname</a:t>
            </a:r>
            <a:r>
              <a:rPr lang="en-US" altLang="zh-CN" sz="1600" dirty="0"/>
              <a:t>     # </a:t>
            </a:r>
            <a:r>
              <a:rPr lang="zh-CN" altLang="en-US" sz="1600" dirty="0"/>
              <a:t>调用函数</a:t>
            </a:r>
            <a:r>
              <a:rPr lang="en-US" altLang="zh-CN" sz="1600" dirty="0"/>
              <a:t>, </a:t>
            </a:r>
            <a:r>
              <a:rPr lang="zh-CN" altLang="en-US" sz="1600" dirty="0"/>
              <a:t>并传递参数</a:t>
            </a:r>
            <a:r>
              <a:rPr lang="en-US" altLang="zh-CN" sz="1600" dirty="0" err="1"/>
              <a:t>uname</a:t>
            </a:r>
            <a:endParaRPr lang="en-US" altLang="zh-CN" sz="1600" dirty="0"/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if [ $? –</a:t>
            </a:r>
            <a:r>
              <a:rPr lang="en-US" altLang="zh-CN" sz="1600" dirty="0" err="1"/>
              <a:t>eq</a:t>
            </a:r>
            <a:r>
              <a:rPr lang="en-US" altLang="zh-CN" sz="1600" dirty="0"/>
              <a:t>  0 ]                 # $?</a:t>
            </a:r>
            <a:r>
              <a:rPr lang="zh-CN" altLang="en-US" sz="1600" dirty="0"/>
              <a:t>为函数返回值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600" dirty="0"/>
              <a:t>		</a:t>
            </a:r>
            <a:r>
              <a:rPr lang="en-US" altLang="zh-CN" sz="1600" dirty="0"/>
              <a:t>then	echo  "user  $</a:t>
            </a:r>
            <a:r>
              <a:rPr lang="en-US" altLang="zh-CN" sz="1600" dirty="0" err="1"/>
              <a:t>uname</a:t>
            </a:r>
            <a:r>
              <a:rPr lang="en-US" altLang="zh-CN" sz="1600" dirty="0"/>
              <a:t>  online"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else	echo  "user  $</a:t>
            </a:r>
            <a:r>
              <a:rPr lang="en-US" altLang="zh-CN" sz="1600" dirty="0" err="1"/>
              <a:t>uname</a:t>
            </a:r>
            <a:r>
              <a:rPr lang="en-US" altLang="zh-CN" sz="1600" dirty="0"/>
              <a:t>  offline"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/>
              <a:t>		fi</a:t>
            </a:r>
          </a:p>
          <a:p>
            <a:pPr eaLnBrk="1" hangingPunct="1">
              <a:lnSpc>
                <a:spcPts val="8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600" dirty="0" smtClean="0"/>
              <a:t>done</a:t>
            </a:r>
            <a:endParaRPr lang="en-US" altLang="zh-CN" sz="16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67352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>
            <a:extLst>
              <a:ext uri="{FF2B5EF4-FFF2-40B4-BE49-F238E27FC236}">
                <a16:creationId xmlns:a16="http://schemas.microsoft.com/office/drawing/2014/main" id="{4A339E37-0A12-4131-AD80-1C2138FB3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570337"/>
            <a:ext cx="7769860" cy="5143500"/>
          </a:xfrm>
        </p:spPr>
        <p:txBody>
          <a:bodyPr/>
          <a:lstStyle/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 smtClean="0"/>
              <a:t>#!/</a:t>
            </a:r>
            <a:r>
              <a:rPr lang="en-US" altLang="zh-CN" sz="1400" dirty="0"/>
              <a:t>bin/</a:t>
            </a:r>
            <a:r>
              <a:rPr lang="en-US" altLang="zh-CN" sz="1400" dirty="0" err="1"/>
              <a:t>sh</a:t>
            </a:r>
            <a:endParaRPr lang="en-US" altLang="zh-CN" sz="1400" dirty="0"/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# Program name: </a:t>
            </a:r>
            <a:r>
              <a:rPr lang="en-US" altLang="zh-CN" sz="1400" dirty="0" err="1"/>
              <a:t>numberit</a:t>
            </a:r>
            <a:endParaRPr lang="en-US" altLang="zh-CN" sz="1400" dirty="0"/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# Put  line  numbers  on  all  lines  of  a  </a:t>
            </a:r>
            <a:r>
              <a:rPr lang="en-US" altLang="zh-CN" sz="1400" dirty="0" smtClean="0"/>
              <a:t>file </a:t>
            </a:r>
            <a:endParaRPr lang="en-US" altLang="zh-CN" sz="1400" dirty="0"/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if [ $#  -ne  1 ]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then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       echo  "Usage: $0 </a:t>
            </a:r>
            <a:r>
              <a:rPr lang="en-US" altLang="zh-CN" sz="1400" dirty="0" smtClean="0"/>
              <a:t> filename </a:t>
            </a:r>
            <a:r>
              <a:rPr lang="en-US" altLang="zh-CN" sz="1400" dirty="0"/>
              <a:t>" </a:t>
            </a:r>
            <a:r>
              <a:rPr lang="en-US" altLang="zh-CN" sz="1400" dirty="0" smtClean="0"/>
              <a:t> &gt;&amp;</a:t>
            </a:r>
            <a:r>
              <a:rPr lang="en-US" altLang="zh-CN" sz="1400" dirty="0"/>
              <a:t>2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       exit 1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fi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count=1                     # Initialize count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cat  $1  |  while  read  line   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# Input is coming from file on command line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do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     [ $count -</a:t>
            </a:r>
            <a:r>
              <a:rPr lang="en-US" altLang="zh-CN" sz="1400" dirty="0" err="1"/>
              <a:t>eq</a:t>
            </a:r>
            <a:r>
              <a:rPr lang="en-US" altLang="zh-CN" sz="1400" dirty="0"/>
              <a:t> 1 ]  &amp;&amp;  echo "Processing file $1..."  &gt;  /dev/</a:t>
            </a:r>
            <a:r>
              <a:rPr lang="en-US" altLang="zh-CN" sz="1400" dirty="0" err="1"/>
              <a:t>tty</a:t>
            </a:r>
            <a:endParaRPr lang="en-US" altLang="zh-CN" sz="1400" dirty="0"/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     echo  $count  $line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    count='expr $count + 1'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done  &gt;  </a:t>
            </a:r>
            <a:r>
              <a:rPr lang="en-US" altLang="zh-CN" sz="1400" dirty="0" err="1"/>
              <a:t>tmp</a:t>
            </a:r>
            <a:r>
              <a:rPr lang="en-US" altLang="zh-CN" sz="1400" dirty="0"/>
              <a:t>$$           # Output is going to a temporary file</a:t>
            </a:r>
          </a:p>
          <a:p>
            <a:pPr eaLnBrk="1" hangingPunct="1">
              <a:lnSpc>
                <a:spcPts val="1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400" dirty="0"/>
              <a:t>mv  </a:t>
            </a:r>
            <a:r>
              <a:rPr lang="en-US" altLang="zh-CN" sz="1400" dirty="0" err="1"/>
              <a:t>tmp</a:t>
            </a:r>
            <a:r>
              <a:rPr lang="en-US" altLang="zh-CN" sz="1400" dirty="0"/>
              <a:t>$$  $1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8.9  shell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91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>
            <a:extLst>
              <a:ext uri="{FF2B5EF4-FFF2-40B4-BE49-F238E27FC236}">
                <a16:creationId xmlns:a16="http://schemas.microsoft.com/office/drawing/2014/main" id="{9B18E612-0FDA-429F-BF0B-9A994E5AC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440" y="1489057"/>
            <a:ext cx="7452360" cy="51435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dirty="0" smtClean="0"/>
              <a:t>运行情况：</a:t>
            </a:r>
            <a:endParaRPr lang="zh-CN" altLang="en-US" sz="21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cat  </a:t>
            </a:r>
            <a:r>
              <a:rPr lang="en-US" altLang="zh-CN" sz="18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test_file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ghi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</a:t>
            </a:r>
            <a:r>
              <a:rPr lang="en-US" altLang="zh-CN" sz="18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numberit</a:t>
            </a: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8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test_file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Processing  file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test_file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 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 cat  </a:t>
            </a:r>
            <a:r>
              <a:rPr lang="en-US" altLang="zh-CN" sz="1800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test_file</a:t>
            </a:r>
            <a:endParaRPr lang="en-US" altLang="zh-CN" sz="1800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  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en-US" altLang="zh-CN" sz="18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ghi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8.9  shell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347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>
            <a:extLst>
              <a:ext uri="{FF2B5EF4-FFF2-40B4-BE49-F238E27FC236}">
                <a16:creationId xmlns:a16="http://schemas.microsoft.com/office/drawing/2014/main" id="{6C25C163-03A4-42F6-8DC7-6B325EA15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489056"/>
            <a:ext cx="7810500" cy="5277503"/>
          </a:xfrm>
        </p:spPr>
        <p:txBody>
          <a:bodyPr/>
          <a:lstStyle/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 smtClean="0"/>
              <a:t>#!/</a:t>
            </a:r>
            <a:r>
              <a:rPr lang="en-US" altLang="zh-CN" sz="1200" dirty="0"/>
              <a:t>bin/</a:t>
            </a:r>
            <a:r>
              <a:rPr lang="en-US" altLang="zh-CN" sz="1200" dirty="0" err="1"/>
              <a:t>sh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# </a:t>
            </a:r>
            <a:r>
              <a:rPr lang="en-US" altLang="zh-CN" sz="1200" dirty="0" err="1"/>
              <a:t>Scriptname</a:t>
            </a:r>
            <a:r>
              <a:rPr lang="en-US" altLang="zh-CN" sz="1200" dirty="0"/>
              <a:t>: speller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# Purpose: Check and fix spelling errors in a file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&gt;</a:t>
            </a:r>
            <a:r>
              <a:rPr lang="en-US" altLang="zh-CN" sz="1200" dirty="0" err="1"/>
              <a:t>file.new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while  read  line              </a:t>
            </a:r>
            <a:r>
              <a:rPr lang="en-US" altLang="zh-CN" sz="1200" dirty="0" smtClean="0"/>
              <a:t>                # </a:t>
            </a:r>
            <a:r>
              <a:rPr lang="en-US" altLang="zh-CN" sz="1200" dirty="0"/>
              <a:t>Read from the </a:t>
            </a:r>
            <a:r>
              <a:rPr lang="en-US" altLang="zh-CN" sz="1200" dirty="0" err="1"/>
              <a:t>tmp</a:t>
            </a:r>
            <a:r>
              <a:rPr lang="en-US" altLang="zh-CN" sz="1200" dirty="0"/>
              <a:t> file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do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echo  $line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echo  –n  "Is  this  word  correct? [Y/N] "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read  answer  &lt;  /dev/</a:t>
            </a:r>
            <a:r>
              <a:rPr lang="en-US" altLang="zh-CN" sz="1200" dirty="0" err="1"/>
              <a:t>tty</a:t>
            </a:r>
            <a:r>
              <a:rPr lang="en-US" altLang="zh-CN" sz="1200" dirty="0"/>
              <a:t>  </a:t>
            </a:r>
            <a:r>
              <a:rPr lang="en-US" altLang="zh-CN" sz="1200" dirty="0" smtClean="0"/>
              <a:t>       </a:t>
            </a:r>
            <a:r>
              <a:rPr lang="en-US" altLang="zh-CN" sz="1200" dirty="0"/>
              <a:t># Read from the terminal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case  "$answer"  in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[</a:t>
            </a:r>
            <a:r>
              <a:rPr lang="en-US" altLang="zh-CN" sz="1200" dirty="0" err="1"/>
              <a:t>Yy</a:t>
            </a:r>
            <a:r>
              <a:rPr lang="en-US" altLang="zh-CN" sz="1200" dirty="0"/>
              <a:t>]*)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echo  $line  &gt;&gt;  </a:t>
            </a:r>
            <a:r>
              <a:rPr lang="en-US" altLang="zh-CN" sz="1200" dirty="0" err="1"/>
              <a:t>file.new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;;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*)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echo  "What is the correct spelling? "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read  word  &lt;  /dev/</a:t>
            </a:r>
            <a:r>
              <a:rPr lang="en-US" altLang="zh-CN" sz="1200" dirty="0" err="1"/>
              <a:t>tty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echo  $word  &gt;&gt;  </a:t>
            </a:r>
            <a:r>
              <a:rPr lang="en-US" altLang="zh-CN" sz="1200" dirty="0" err="1"/>
              <a:t>file.new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     echo  $line  has  been  changed  to  $word.</a:t>
            </a:r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     </a:t>
            </a:r>
            <a:r>
              <a:rPr lang="en-US" altLang="zh-CN" sz="1200" dirty="0" err="1"/>
              <a:t>esac</a:t>
            </a:r>
            <a:endParaRPr lang="en-US" altLang="zh-CN" sz="1200" dirty="0"/>
          </a:p>
          <a:p>
            <a:pPr eaLnBrk="1" hangingPunct="1">
              <a:lnSpc>
                <a:spcPts val="7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200" dirty="0"/>
              <a:t>done  &lt;  </a:t>
            </a:r>
            <a:r>
              <a:rPr lang="en-US" altLang="zh-CN" sz="1200" dirty="0" err="1"/>
              <a:t>file.old</a:t>
            </a:r>
            <a:endParaRPr lang="en-US" altLang="zh-CN" sz="1200" dirty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980440" y="325120"/>
            <a:ext cx="6985000" cy="438150"/>
          </a:xfrm>
        </p:spPr>
        <p:txBody>
          <a:bodyPr/>
          <a:lstStyle/>
          <a:p>
            <a:pPr algn="l"/>
            <a:r>
              <a:rPr lang="zh-CN" altLang="en-US" sz="2800" dirty="0" smtClean="0"/>
              <a:t>第八章  </a:t>
            </a:r>
            <a:r>
              <a:rPr lang="en-US" altLang="zh-CN" sz="2800" dirty="0"/>
              <a:t>shell</a:t>
            </a:r>
            <a:r>
              <a:rPr lang="zh-CN" altLang="zh-CN" sz="2800" dirty="0"/>
              <a:t>的交互功能与</a:t>
            </a:r>
            <a:r>
              <a:rPr lang="en-US" altLang="zh-CN" sz="2800" dirty="0"/>
              <a:t>shell</a:t>
            </a:r>
            <a:r>
              <a:rPr lang="zh-CN" altLang="zh-CN" sz="2800" dirty="0"/>
              <a:t>程序设计</a:t>
            </a:r>
            <a:endParaRPr lang="zh-CN" altLang="en-US" sz="28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876300" y="1027392"/>
            <a:ext cx="8125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8.9  shell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编程 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</a:t>
            </a:r>
            <a:r>
              <a:rPr lang="en-US" altLang="zh-CN" sz="2400" b="1" dirty="0" smtClean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509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1 软件工程概述 h5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2.7|1.5|1.4|2.6|3|2.4"/>
</p:tagLst>
</file>

<file path=ppt/theme/theme1.xml><?xml version="1.0" encoding="utf-8"?>
<a:theme xmlns:a="http://schemas.openxmlformats.org/drawingml/2006/main" name="菱形网格 16x9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19_TF03031015" id="{4D6D15B2-A3EB-4896-B32E-5E1845D70213}" vid="{3C8FFD1D-C814-4C51-B282-C32E538AEF55}"/>
    </a:ext>
  </a:extLst>
</a:theme>
</file>

<file path=ppt/theme/theme2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13998</TotalTime>
  <Words>8639</Words>
  <Application>Microsoft Office PowerPoint</Application>
  <PresentationFormat>全屏显示(4:3)</PresentationFormat>
  <Paragraphs>1153</Paragraphs>
  <Slides>74</Slides>
  <Notes>74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6" baseType="lpstr">
      <vt:lpstr>仿宋</vt:lpstr>
      <vt:lpstr>仿宋_GB2312</vt:lpstr>
      <vt:lpstr>黑体</vt:lpstr>
      <vt:lpstr>华文楷体</vt:lpstr>
      <vt:lpstr>楷体</vt:lpstr>
      <vt:lpstr>宋体</vt:lpstr>
      <vt:lpstr>微软雅黑</vt:lpstr>
      <vt:lpstr>Arial</vt:lpstr>
      <vt:lpstr>Arial Narrow</vt:lpstr>
      <vt:lpstr>Times New Roman</vt:lpstr>
      <vt:lpstr>Wingdings</vt:lpstr>
      <vt:lpstr>菱形网格 16x9</vt:lpstr>
      <vt:lpstr>第八章 shell的交互功能与shell程序设计</vt:lpstr>
      <vt:lpstr>本章主要内容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8.7  shell 编程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  <vt:lpstr>第八章  shell的交互功能与shell程序设计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软件工程概述 h5</dc:title>
  <dc:creator>刘玓</dc:creator>
  <cp:lastModifiedBy>liudi</cp:lastModifiedBy>
  <cp:revision>839</cp:revision>
  <dcterms:created xsi:type="dcterms:W3CDTF">2018-03-05T08:16:37Z</dcterms:created>
  <dcterms:modified xsi:type="dcterms:W3CDTF">2024-02-02T09:44:45Z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