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2" r:id="rId2"/>
    <p:sldId id="265" r:id="rId3"/>
    <p:sldId id="354" r:id="rId4"/>
    <p:sldId id="35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3" autoAdjust="0"/>
    <p:restoredTop sz="94660"/>
  </p:normalViewPr>
  <p:slideViewPr>
    <p:cSldViewPr snapToGrid="0">
      <p:cViewPr>
        <p:scale>
          <a:sx n="76" d="100"/>
          <a:sy n="76" d="100"/>
        </p:scale>
        <p:origin x="81" y="6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75E7A-6C33-4AA9-90E8-E5F74AA17A87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DAED-855D-4974-B064-CAC807BEAA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57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61B40-F34F-6D5E-AD91-45D9C88F6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BB0B49-D9F3-8BE4-DC9B-E83DEE610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42EC26-9321-19A1-3984-FD8EA2EE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B26FA0-D60B-CE79-7BC4-36329F32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0A1BF-4084-3989-C53C-D78F9443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567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F9198-1584-A16E-DF16-B0DC7BE9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BA90EA-440B-A349-21CC-9F5C92E7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FAB23-B310-0B98-CF28-A7CDBEAB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563576-2B54-D9D0-7118-19E48249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CAEEDE-73DE-CE2E-A763-AB24C434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12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70158-E019-FF42-EAD5-BCEE0798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732CE4-D9A0-45BD-5DC2-23B33972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B88046-F080-5BA0-DB9E-E2FA7CCEA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5A892-6B3D-92D2-B19E-E5E6B45AD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714C44-53CD-16D9-DEEC-8F98B5EE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26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C124D-80B9-11EC-6807-12A1ADF4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758DA-ADCB-A56D-6A67-2F3D084EA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F4B341-CC43-6B5F-43A2-1922CF63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CCD58B-FB85-170B-C7B6-2A192F59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C81F8C-CC7D-71B8-C912-DDB750206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398F51-E94E-93D1-D4B9-3F7FD68EA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47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A17F0-3F61-46D5-B4C5-63211548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8C2A71-417B-56A2-C31B-DA98BAD99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67B8AC-847C-8E32-96CA-CE892A973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ABEAAD-DC3C-2302-162A-5055FDBC2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C6510C-6736-04B6-C7E6-014C89E39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B3A4F5-9175-4C25-E2C1-921877DA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D8F7D4-2FF8-0D56-446C-0E26EC38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3E371C-50FD-CD49-7951-C0F2457C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54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2E40E-789F-1EDD-3412-BC7DB8C8B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42AD03-97EB-B0BC-9543-407A1C95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4FC1F7-A37E-1612-91EF-4A6E6F63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48536B-20D5-56B2-5134-7B120EFD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12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B93D29-99A9-E704-0366-73CEE167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897C1C-F3F0-7D3A-58BB-3EE09D546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639AEA-705F-E55A-352D-0FFD6BED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85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BC564-D4D0-2F97-1765-6CF8F9E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9CC44F-5BB7-61A8-BB95-F5DB8727D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0FF003-18FB-6A1B-77E3-7A7E0B4AE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E26799-D6DF-0CA0-4168-A548924D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5E4D2D-7DD7-4238-B95D-C1673D3C8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462EF9-1D5D-7FB9-29DF-5659C15E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01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7BD56-9478-42E0-8149-17F26718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9177B0-A5E3-7010-6FF9-936890B1B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B34958-D192-EFC2-77A5-9EC87648C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998721-CCF9-0C73-B939-6D08426D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AACE4D-5E5C-3586-D018-32B6EBC0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9D235D-E915-3D2E-E754-018AA140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09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A83A0-5CA4-DAD2-F87B-A5D597C1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79C5ED-CFFB-8638-AD96-E9AA9020A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9C9DE8-C20D-F204-7529-0B719480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3D4DC9-451D-3153-F4F5-E60802C1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ABFFB4-79F0-EE75-E8E5-38CD67A8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54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5712339-0919-034A-E3D0-54F09FF5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A29F7D-F471-32B6-D899-A4495BAC7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A949A9-ED64-CFB4-4D1F-F6DE15B6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37FFB-3CAF-9994-A023-86A580C5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433FA4-FF3C-5710-85FF-0DDC9EBD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917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花瓶里插着花&#10;&#10;描述已自动生成">
            <a:extLst>
              <a:ext uri="{FF2B5EF4-FFF2-40B4-BE49-F238E27FC236}">
                <a16:creationId xmlns:a16="http://schemas.microsoft.com/office/drawing/2014/main" id="{8914246D-EF01-4BCB-8CF3-86FF1E993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62" r="34201"/>
          <a:stretch/>
        </p:blipFill>
        <p:spPr>
          <a:xfrm rot="16200000">
            <a:off x="2657145" y="-2657145"/>
            <a:ext cx="6877710" cy="12192000"/>
          </a:xfrm>
          <a:prstGeom prst="rect">
            <a:avLst/>
          </a:prstGeom>
        </p:spPr>
      </p:pic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FA3FCDF-F2EF-4765-8668-02A8B7D3B71D}"/>
              </a:ext>
            </a:extLst>
          </p:cNvPr>
          <p:cNvSpPr/>
          <p:nvPr userDrawn="1"/>
        </p:nvSpPr>
        <p:spPr>
          <a:xfrm>
            <a:off x="0" y="0"/>
            <a:ext cx="8309364" cy="6858000"/>
          </a:xfrm>
          <a:custGeom>
            <a:avLst/>
            <a:gdLst>
              <a:gd name="connsiteX0" fmla="*/ 0 w 8309364"/>
              <a:gd name="connsiteY0" fmla="*/ 0 h 6858000"/>
              <a:gd name="connsiteX1" fmla="*/ 6975034 w 8309364"/>
              <a:gd name="connsiteY1" fmla="*/ 0 h 6858000"/>
              <a:gd name="connsiteX2" fmla="*/ 6990992 w 8309364"/>
              <a:gd name="connsiteY2" fmla="*/ 16739 h 6858000"/>
              <a:gd name="connsiteX3" fmla="*/ 8309364 w 8309364"/>
              <a:gd name="connsiteY3" fmla="*/ 3429000 h 6858000"/>
              <a:gd name="connsiteX4" fmla="*/ 6990992 w 8309364"/>
              <a:gd name="connsiteY4" fmla="*/ 6841262 h 6858000"/>
              <a:gd name="connsiteX5" fmla="*/ 6975034 w 8309364"/>
              <a:gd name="connsiteY5" fmla="*/ 6858000 h 6858000"/>
              <a:gd name="connsiteX6" fmla="*/ 0 w 83093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09364" h="6858000">
                <a:moveTo>
                  <a:pt x="0" y="0"/>
                </a:moveTo>
                <a:lnTo>
                  <a:pt x="6975034" y="0"/>
                </a:lnTo>
                <a:lnTo>
                  <a:pt x="6990992" y="16739"/>
                </a:lnTo>
                <a:cubicBezTo>
                  <a:pt x="7810119" y="917979"/>
                  <a:pt x="8309364" y="2115187"/>
                  <a:pt x="8309364" y="3429000"/>
                </a:cubicBezTo>
                <a:cubicBezTo>
                  <a:pt x="8309364" y="4742813"/>
                  <a:pt x="7810119" y="5940021"/>
                  <a:pt x="6990992" y="6841262"/>
                </a:cubicBezTo>
                <a:lnTo>
                  <a:pt x="697503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AFAFD"/>
          </a:solidFill>
          <a:ln>
            <a:noFill/>
          </a:ln>
          <a:effectLst>
            <a:outerShdw blurRad="762000" dist="381000" dir="5400000" algn="t" rotWithShape="0">
              <a:srgbClr val="00154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A53195B-BE3E-49A9-8089-685D641A70DB}"/>
              </a:ext>
            </a:extLst>
          </p:cNvPr>
          <p:cNvSpPr/>
          <p:nvPr userDrawn="1"/>
        </p:nvSpPr>
        <p:spPr>
          <a:xfrm>
            <a:off x="5062712" y="194556"/>
            <a:ext cx="6468888" cy="6468888"/>
          </a:xfrm>
          <a:prstGeom prst="ellipse">
            <a:avLst/>
          </a:prstGeom>
          <a:solidFill>
            <a:srgbClr val="FAFAFD"/>
          </a:solidFill>
          <a:ln>
            <a:noFill/>
          </a:ln>
          <a:effectLst>
            <a:outerShdw blurRad="762000" dist="381000" dir="5400000" algn="t" rotWithShape="0">
              <a:srgbClr val="00154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9452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花瓶里插着花&#10;&#10;描述已自动生成">
            <a:extLst>
              <a:ext uri="{FF2B5EF4-FFF2-40B4-BE49-F238E27FC236}">
                <a16:creationId xmlns:a16="http://schemas.microsoft.com/office/drawing/2014/main" id="{B06B7D35-863E-40F5-924A-406ED1AA0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62" r="34201"/>
          <a:stretch/>
        </p:blipFill>
        <p:spPr>
          <a:xfrm rot="16200000">
            <a:off x="2657145" y="-2657145"/>
            <a:ext cx="6877710" cy="12192000"/>
          </a:xfrm>
          <a:prstGeom prst="rect">
            <a:avLst/>
          </a:prstGeom>
        </p:spPr>
      </p:pic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BBD016D9-0D70-4576-8703-AA9BFD58517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824622 w 12192000"/>
              <a:gd name="connsiteY0" fmla="*/ 0 h 6858000"/>
              <a:gd name="connsiteX1" fmla="*/ 11367378 w 12192000"/>
              <a:gd name="connsiteY1" fmla="*/ 0 h 6858000"/>
              <a:gd name="connsiteX2" fmla="*/ 11474889 w 12192000"/>
              <a:gd name="connsiteY2" fmla="*/ 167701 h 6858000"/>
              <a:gd name="connsiteX3" fmla="*/ 12187423 w 12192000"/>
              <a:gd name="connsiteY3" fmla="*/ 1857173 h 6858000"/>
              <a:gd name="connsiteX4" fmla="*/ 12192000 w 12192000"/>
              <a:gd name="connsiteY4" fmla="*/ 1877004 h 6858000"/>
              <a:gd name="connsiteX5" fmla="*/ 12192000 w 12192000"/>
              <a:gd name="connsiteY5" fmla="*/ 4980996 h 6858000"/>
              <a:gd name="connsiteX6" fmla="*/ 12187423 w 12192000"/>
              <a:gd name="connsiteY6" fmla="*/ 5000827 h 6858000"/>
              <a:gd name="connsiteX7" fmla="*/ 11474889 w 12192000"/>
              <a:gd name="connsiteY7" fmla="*/ 6690299 h 6858000"/>
              <a:gd name="connsiteX8" fmla="*/ 11367378 w 12192000"/>
              <a:gd name="connsiteY8" fmla="*/ 6858000 h 6858000"/>
              <a:gd name="connsiteX9" fmla="*/ 824622 w 12192000"/>
              <a:gd name="connsiteY9" fmla="*/ 6858000 h 6858000"/>
              <a:gd name="connsiteX10" fmla="*/ 717111 w 12192000"/>
              <a:gd name="connsiteY10" fmla="*/ 6690299 h 6858000"/>
              <a:gd name="connsiteX11" fmla="*/ 4577 w 12192000"/>
              <a:gd name="connsiteY11" fmla="*/ 5000827 h 6858000"/>
              <a:gd name="connsiteX12" fmla="*/ 0 w 12192000"/>
              <a:gd name="connsiteY12" fmla="*/ 4980996 h 6858000"/>
              <a:gd name="connsiteX13" fmla="*/ 0 w 12192000"/>
              <a:gd name="connsiteY13" fmla="*/ 1877004 h 6858000"/>
              <a:gd name="connsiteX14" fmla="*/ 4577 w 12192000"/>
              <a:gd name="connsiteY14" fmla="*/ 1857173 h 6858000"/>
              <a:gd name="connsiteX15" fmla="*/ 717111 w 12192000"/>
              <a:gd name="connsiteY15" fmla="*/ 1677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824622" y="0"/>
                </a:moveTo>
                <a:lnTo>
                  <a:pt x="11367378" y="0"/>
                </a:lnTo>
                <a:lnTo>
                  <a:pt x="11474889" y="167701"/>
                </a:lnTo>
                <a:cubicBezTo>
                  <a:pt x="11790056" y="686397"/>
                  <a:pt x="12032310" y="1254297"/>
                  <a:pt x="12187423" y="1857173"/>
                </a:cubicBezTo>
                <a:lnTo>
                  <a:pt x="12192000" y="1877004"/>
                </a:lnTo>
                <a:lnTo>
                  <a:pt x="12192000" y="4980996"/>
                </a:lnTo>
                <a:lnTo>
                  <a:pt x="12187423" y="5000827"/>
                </a:lnTo>
                <a:cubicBezTo>
                  <a:pt x="12032310" y="5603703"/>
                  <a:pt x="11790056" y="6171603"/>
                  <a:pt x="11474889" y="6690299"/>
                </a:cubicBezTo>
                <a:lnTo>
                  <a:pt x="11367378" y="6858000"/>
                </a:lnTo>
                <a:lnTo>
                  <a:pt x="824622" y="6858000"/>
                </a:lnTo>
                <a:lnTo>
                  <a:pt x="717111" y="6690299"/>
                </a:lnTo>
                <a:cubicBezTo>
                  <a:pt x="401944" y="6171603"/>
                  <a:pt x="159690" y="5603703"/>
                  <a:pt x="4577" y="5000827"/>
                </a:cubicBezTo>
                <a:lnTo>
                  <a:pt x="0" y="4980996"/>
                </a:lnTo>
                <a:lnTo>
                  <a:pt x="0" y="1877004"/>
                </a:lnTo>
                <a:lnTo>
                  <a:pt x="4577" y="1857173"/>
                </a:lnTo>
                <a:cubicBezTo>
                  <a:pt x="159690" y="1254297"/>
                  <a:pt x="401944" y="686397"/>
                  <a:pt x="717111" y="167701"/>
                </a:cubicBezTo>
                <a:close/>
              </a:path>
            </a:pathLst>
          </a:custGeom>
          <a:solidFill>
            <a:srgbClr val="FAFAFD"/>
          </a:solidFill>
          <a:ln>
            <a:noFill/>
          </a:ln>
          <a:effectLst>
            <a:outerShdw blurRad="762000" dist="381000" dir="5400000" algn="t" rotWithShape="0">
              <a:srgbClr val="001540">
                <a:alpha val="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7874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001640-DF1B-1EC0-B4D9-2E5BC4EA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CED602-05C5-0CE6-308A-6F07B3C4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C1965-4948-F645-2EEB-C8745B65B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72B7F-E6C8-4E03-867E-2DEA6183E5E6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C4F8B-AA27-5A87-620D-6B69DC03F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AC1DB3-5C53-4D24-E828-CE4014A43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A56CA-C0B6-4588-A018-F40E4029A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24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2B63FAF-1258-422A-8DA0-180F884451D8}"/>
              </a:ext>
            </a:extLst>
          </p:cNvPr>
          <p:cNvGrpSpPr/>
          <p:nvPr/>
        </p:nvGrpSpPr>
        <p:grpSpPr>
          <a:xfrm>
            <a:off x="6009519" y="2958274"/>
            <a:ext cx="4641058" cy="1157103"/>
            <a:chOff x="5770111" y="2470354"/>
            <a:chExt cx="4641058" cy="1157103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AF5A85F9-2650-4040-A7D7-37B7B796B08F}"/>
                </a:ext>
              </a:extLst>
            </p:cNvPr>
            <p:cNvSpPr txBox="1"/>
            <p:nvPr/>
          </p:nvSpPr>
          <p:spPr>
            <a:xfrm>
              <a:off x="5770111" y="2470354"/>
              <a:ext cx="46410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5400" b="1" dirty="0">
                  <a:latin typeface="+mj-ea"/>
                  <a:ea typeface="+mj-ea"/>
                </a:rPr>
                <a:t>逻辑存储结构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5F4AFD8-E5EF-4397-ABA4-239E57222923}"/>
                </a:ext>
              </a:extLst>
            </p:cNvPr>
            <p:cNvSpPr txBox="1"/>
            <p:nvPr/>
          </p:nvSpPr>
          <p:spPr>
            <a:xfrm>
              <a:off x="5770111" y="3327823"/>
              <a:ext cx="4641058" cy="29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20000"/>
                </a:lnSpc>
              </a:pPr>
              <a:endParaRPr lang="zh-CN" altLang="en-US" sz="1200" dirty="0">
                <a:latin typeface="+mn-ea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A0D68EDA-7CB5-4AD1-8A2B-5268873E7A75}"/>
              </a:ext>
            </a:extLst>
          </p:cNvPr>
          <p:cNvSpPr txBox="1"/>
          <p:nvPr/>
        </p:nvSpPr>
        <p:spPr>
          <a:xfrm>
            <a:off x="660400" y="2326732"/>
            <a:ext cx="223138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dist"/>
            <a:r>
              <a:rPr lang="en-US" altLang="zh-CN" sz="5400" dirty="0">
                <a:ln w="6350">
                  <a:solidFill>
                    <a:schemeClr val="tx2"/>
                  </a:solidFill>
                </a:ln>
                <a:noFill/>
                <a:effectLst/>
                <a:ea typeface="微软雅黑" panose="020B0503020204020204" pitchFamily="34" charset="-122"/>
              </a:rPr>
              <a:t>Part 01</a:t>
            </a:r>
            <a:endParaRPr lang="zh-CN" altLang="en-US" sz="5400" dirty="0">
              <a:ln w="6350">
                <a:solidFill>
                  <a:schemeClr val="tx2"/>
                </a:solidFill>
              </a:ln>
              <a:noFill/>
              <a:effectLst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985B705-54BE-43E5-9D06-84FB29D83974}"/>
              </a:ext>
            </a:extLst>
          </p:cNvPr>
          <p:cNvSpPr txBox="1"/>
          <p:nvPr/>
        </p:nvSpPr>
        <p:spPr>
          <a:xfrm>
            <a:off x="660400" y="3423273"/>
            <a:ext cx="3385542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dist"/>
            <a:r>
              <a:rPr lang="zh-CN" altLang="en-US" sz="6600" b="1" dirty="0">
                <a:ln w="6350">
                  <a:solidFill>
                    <a:schemeClr val="tx2"/>
                  </a:solidFill>
                </a:ln>
                <a:noFill/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</a:p>
        </p:txBody>
      </p:sp>
    </p:spTree>
    <p:extLst>
      <p:ext uri="{BB962C8B-B14F-4D97-AF65-F5344CB8AC3E}">
        <p14:creationId xmlns:p14="http://schemas.microsoft.com/office/powerpoint/2010/main" val="409634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40F66BFC-DC14-48BA-AFC3-69CC100D2265}"/>
              </a:ext>
            </a:extLst>
          </p:cNvPr>
          <p:cNvGrpSpPr/>
          <p:nvPr/>
        </p:nvGrpSpPr>
        <p:grpSpPr>
          <a:xfrm>
            <a:off x="1600200" y="280461"/>
            <a:ext cx="8974493" cy="630941"/>
            <a:chOff x="1600200" y="2354561"/>
            <a:chExt cx="8974493" cy="630941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08F1F73-00EF-4605-8C22-C07A0E82D5E6}"/>
                </a:ext>
              </a:extLst>
            </p:cNvPr>
            <p:cNvSpPr txBox="1"/>
            <p:nvPr/>
          </p:nvSpPr>
          <p:spPr>
            <a:xfrm>
              <a:off x="4929673" y="2354561"/>
              <a:ext cx="23326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spc="300" dirty="0">
                  <a:gradFill flip="none" rotWithShape="1">
                    <a:gsLst>
                      <a:gs pos="17000">
                        <a:schemeClr val="bg2">
                          <a:lumMod val="75000"/>
                          <a:alpha val="0"/>
                        </a:schemeClr>
                      </a:gs>
                      <a:gs pos="100000">
                        <a:schemeClr val="bg2">
                          <a:lumMod val="75000"/>
                          <a:alpha val="80000"/>
                        </a:schemeClr>
                      </a:gs>
                    </a:gsLst>
                    <a:lin ang="16200000" scaled="1"/>
                    <a:tileRect/>
                  </a:gradFill>
                  <a:latin typeface="+mj-lt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01</a:t>
              </a:r>
              <a:endParaRPr lang="zh-CN" altLang="en-US" sz="3200" spc="300" dirty="0">
                <a:gradFill flip="none" rotWithShape="1">
                  <a:gsLst>
                    <a:gs pos="17000">
                      <a:schemeClr val="bg2">
                        <a:lumMod val="75000"/>
                        <a:alpha val="0"/>
                      </a:schemeClr>
                    </a:gs>
                    <a:gs pos="100000">
                      <a:schemeClr val="bg2">
                        <a:lumMod val="75000"/>
                        <a:alpha val="8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阿里巴巴普惠体 H" panose="00020600040101010101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C6C27C8-DCCF-45E1-8518-7B82359BA35A}"/>
                </a:ext>
              </a:extLst>
            </p:cNvPr>
            <p:cNvSpPr txBox="1"/>
            <p:nvPr/>
          </p:nvSpPr>
          <p:spPr>
            <a:xfrm>
              <a:off x="5064968" y="2585392"/>
              <a:ext cx="20620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b="1" dirty="0">
                  <a:latin typeface="+mj-ea"/>
                  <a:ea typeface="+mj-ea"/>
                </a:rPr>
                <a:t>逻辑存储结构</a:t>
              </a: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C6568F6-8F0B-4111-A15E-718A8E8C866E}"/>
                </a:ext>
              </a:extLst>
            </p:cNvPr>
            <p:cNvGrpSpPr/>
            <p:nvPr/>
          </p:nvGrpSpPr>
          <p:grpSpPr>
            <a:xfrm>
              <a:off x="1600200" y="2816225"/>
              <a:ext cx="3464767" cy="0"/>
              <a:chOff x="1600200" y="3048873"/>
              <a:chExt cx="3464767" cy="0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A4579AC-9C73-49D9-BA32-0F155F874F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200" y="3048873"/>
                <a:ext cx="3464767" cy="0"/>
              </a:xfrm>
              <a:prstGeom prst="line">
                <a:avLst/>
              </a:prstGeom>
              <a:ln cap="rnd">
                <a:solidFill>
                  <a:schemeClr val="tx2">
                    <a:lumMod val="10000"/>
                    <a:lumOff val="90000"/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F104F03-C066-4DE7-B0F0-98D0469EBF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3350" y="3048873"/>
                <a:ext cx="112161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tx2">
                        <a:lumMod val="10000"/>
                        <a:lumOff val="90000"/>
                      </a:schemeClr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round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87D8415A-A52A-469B-B9A1-A529FACD2D7D}"/>
                </a:ext>
              </a:extLst>
            </p:cNvPr>
            <p:cNvGrpSpPr/>
            <p:nvPr/>
          </p:nvGrpSpPr>
          <p:grpSpPr>
            <a:xfrm flipH="1">
              <a:off x="7109926" y="2816225"/>
              <a:ext cx="3464767" cy="0"/>
              <a:chOff x="1600200" y="3048873"/>
              <a:chExt cx="3464767" cy="0"/>
            </a:xfrm>
          </p:grpSpPr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34A0C42E-28B5-4F16-A36D-598DD132F9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200" y="3048873"/>
                <a:ext cx="3464767" cy="0"/>
              </a:xfrm>
              <a:prstGeom prst="line">
                <a:avLst/>
              </a:prstGeom>
              <a:ln cap="rnd">
                <a:solidFill>
                  <a:schemeClr val="tx2">
                    <a:lumMod val="10000"/>
                    <a:lumOff val="90000"/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192BA48-278A-486A-9F61-A2F53AD0C5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3350" y="3048873"/>
                <a:ext cx="112161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tx2">
                        <a:lumMod val="10000"/>
                        <a:lumOff val="90000"/>
                      </a:schemeClr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round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BAD3149-C444-9DF2-967C-0C7EA8B44E6B}"/>
              </a:ext>
            </a:extLst>
          </p:cNvPr>
          <p:cNvSpPr txBox="1"/>
          <p:nvPr/>
        </p:nvSpPr>
        <p:spPr>
          <a:xfrm>
            <a:off x="943788" y="1065086"/>
            <a:ext cx="2388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i="0" dirty="0">
                <a:solidFill>
                  <a:srgbClr val="4F4F4F"/>
                </a:solidFill>
                <a:effectLst/>
                <a:latin typeface="PingFang SC"/>
              </a:rPr>
              <a:t>1.</a:t>
            </a:r>
            <a:r>
              <a:rPr lang="zh-CN" altLang="en-US" sz="3600" b="1" i="0" dirty="0">
                <a:solidFill>
                  <a:srgbClr val="4F4F4F"/>
                </a:solidFill>
                <a:effectLst/>
                <a:latin typeface="PingFang SC"/>
              </a:rPr>
              <a:t>逻辑结构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0020D5-94F4-4DB9-43BB-F233BF582AD4}"/>
              </a:ext>
            </a:extLst>
          </p:cNvPr>
          <p:cNvSpPr txBox="1"/>
          <p:nvPr/>
        </p:nvSpPr>
        <p:spPr>
          <a:xfrm>
            <a:off x="925924" y="2034377"/>
            <a:ext cx="9887360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altLang="zh-CN" sz="2000" b="1" i="0" dirty="0">
                <a:solidFill>
                  <a:srgbClr val="4F4F4F"/>
                </a:solidFill>
                <a:effectLst/>
                <a:latin typeface="PingFang SC"/>
              </a:rPr>
              <a:t>1</a:t>
            </a:r>
            <a:r>
              <a:rPr lang="zh-CN" altLang="en-US" sz="2000" b="1" i="0" dirty="0">
                <a:solidFill>
                  <a:srgbClr val="4F4F4F"/>
                </a:solidFill>
                <a:effectLst/>
                <a:latin typeface="PingFang SC"/>
              </a:rPr>
              <a:t>）定义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2000" b="0" i="0" dirty="0">
                <a:solidFill>
                  <a:srgbClr val="F33B45"/>
                </a:solidFill>
                <a:effectLst/>
                <a:latin typeface="-apple-system"/>
              </a:rPr>
              <a:t>逻辑结构是指数据对象中数据元素之间相互关系（逻辑关系）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，即从逻辑关系上描述数据。它</a:t>
            </a:r>
            <a:r>
              <a:rPr lang="zh-CN" altLang="en-US" sz="2000" b="0" i="0" dirty="0">
                <a:solidFill>
                  <a:srgbClr val="F33B45"/>
                </a:solidFill>
                <a:effectLst/>
                <a:latin typeface="-apple-system"/>
              </a:rPr>
              <a:t>与数据的存储无关，是独立于计算机存储器的。</a:t>
            </a:r>
            <a:endParaRPr lang="zh-CN" altLang="en-US" sz="2000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altLang="zh-CN" sz="2000" b="1" i="0" dirty="0">
                <a:solidFill>
                  <a:srgbClr val="4F4F4F"/>
                </a:solidFill>
                <a:effectLst/>
                <a:latin typeface="PingFang SC"/>
              </a:rPr>
              <a:t>2</a:t>
            </a:r>
            <a:r>
              <a:rPr lang="zh-CN" altLang="en-US" sz="2000" b="1" i="0" dirty="0">
                <a:solidFill>
                  <a:srgbClr val="4F4F4F"/>
                </a:solidFill>
                <a:effectLst/>
                <a:latin typeface="PingFang SC"/>
              </a:rPr>
              <a:t>）分类（线性结构和非线性结构）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根据数据元素之间关系的不同特征，通常有下列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4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类基本结构，复杂程度依次递进。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①集合：结构中的数据元素之间</a:t>
            </a:r>
            <a:r>
              <a:rPr lang="zh-CN" altLang="en-US" sz="2000" b="1" i="0" dirty="0">
                <a:solidFill>
                  <a:srgbClr val="4D4D4D"/>
                </a:solidFill>
                <a:effectLst/>
                <a:latin typeface="-apple-system"/>
              </a:rPr>
              <a:t>除了同属于一个集合外，没有其他的关系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②线性结构：线性结构中的数据元素之间是</a:t>
            </a:r>
            <a:r>
              <a:rPr lang="zh-CN" altLang="en-US" sz="2000" b="1" i="0" dirty="0">
                <a:solidFill>
                  <a:srgbClr val="4D4D4D"/>
                </a:solidFill>
                <a:effectLst/>
                <a:latin typeface="-apple-system"/>
              </a:rPr>
              <a:t>一对一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的关系。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③树形结构：树形结构中的数据元素之间是</a:t>
            </a:r>
            <a:r>
              <a:rPr lang="zh-CN" altLang="en-US" sz="2000" b="1" i="0" dirty="0">
                <a:solidFill>
                  <a:srgbClr val="4D4D4D"/>
                </a:solidFill>
                <a:effectLst/>
                <a:latin typeface="-apple-system"/>
              </a:rPr>
              <a:t>一对多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的关系。</a:t>
            </a:r>
          </a:p>
          <a:p>
            <a:pPr algn="l">
              <a:spcAft>
                <a:spcPts val="1200"/>
              </a:spcAft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④图状结构或网状结构：结构中的元素之间是</a:t>
            </a:r>
            <a:r>
              <a:rPr lang="zh-CN" altLang="en-US" sz="2000" b="1" i="0" dirty="0">
                <a:solidFill>
                  <a:srgbClr val="4D4D4D"/>
                </a:solidFill>
                <a:effectLst/>
                <a:latin typeface="-apple-system"/>
              </a:rPr>
              <a:t>多对多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的关系。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54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4A7DAE-2843-1BD4-F030-48AB5975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4162EDF1-EB25-D439-E8E8-DEE4BECAAA1F}"/>
              </a:ext>
            </a:extLst>
          </p:cNvPr>
          <p:cNvGrpSpPr/>
          <p:nvPr/>
        </p:nvGrpSpPr>
        <p:grpSpPr>
          <a:xfrm>
            <a:off x="1600200" y="280461"/>
            <a:ext cx="8974493" cy="630941"/>
            <a:chOff x="1600200" y="2354561"/>
            <a:chExt cx="8974493" cy="630941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C9CC419-82A9-BDCA-4119-72020E231BE9}"/>
                </a:ext>
              </a:extLst>
            </p:cNvPr>
            <p:cNvSpPr txBox="1"/>
            <p:nvPr/>
          </p:nvSpPr>
          <p:spPr>
            <a:xfrm>
              <a:off x="4929673" y="2354561"/>
              <a:ext cx="23326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spc="300" dirty="0">
                  <a:gradFill flip="none" rotWithShape="1">
                    <a:gsLst>
                      <a:gs pos="17000">
                        <a:schemeClr val="bg2">
                          <a:lumMod val="75000"/>
                          <a:alpha val="0"/>
                        </a:schemeClr>
                      </a:gs>
                      <a:gs pos="100000">
                        <a:schemeClr val="bg2">
                          <a:lumMod val="75000"/>
                          <a:alpha val="80000"/>
                        </a:schemeClr>
                      </a:gs>
                    </a:gsLst>
                    <a:lin ang="16200000" scaled="1"/>
                    <a:tileRect/>
                  </a:gradFill>
                  <a:latin typeface="+mj-lt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01</a:t>
              </a:r>
              <a:endParaRPr lang="zh-CN" altLang="en-US" sz="3200" spc="300" dirty="0">
                <a:gradFill flip="none" rotWithShape="1">
                  <a:gsLst>
                    <a:gs pos="17000">
                      <a:schemeClr val="bg2">
                        <a:lumMod val="75000"/>
                        <a:alpha val="0"/>
                      </a:schemeClr>
                    </a:gs>
                    <a:gs pos="100000">
                      <a:schemeClr val="bg2">
                        <a:lumMod val="75000"/>
                        <a:alpha val="8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阿里巴巴普惠体 H" panose="00020600040101010101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14B3994-A298-1415-A710-A183EAC024E7}"/>
                </a:ext>
              </a:extLst>
            </p:cNvPr>
            <p:cNvSpPr txBox="1"/>
            <p:nvPr/>
          </p:nvSpPr>
          <p:spPr>
            <a:xfrm>
              <a:off x="5064968" y="2585392"/>
              <a:ext cx="20620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b="1" dirty="0">
                  <a:latin typeface="+mj-ea"/>
                  <a:ea typeface="+mj-ea"/>
                </a:rPr>
                <a:t>逻辑存储结构</a:t>
              </a: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508C248-681B-34EB-4B5C-F57B08ECF7F4}"/>
                </a:ext>
              </a:extLst>
            </p:cNvPr>
            <p:cNvGrpSpPr/>
            <p:nvPr/>
          </p:nvGrpSpPr>
          <p:grpSpPr>
            <a:xfrm>
              <a:off x="1600200" y="2816225"/>
              <a:ext cx="3464767" cy="0"/>
              <a:chOff x="1600200" y="3048873"/>
              <a:chExt cx="3464767" cy="0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60B48D3-479A-9F51-CB91-D75B8D6D92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200" y="3048873"/>
                <a:ext cx="3464767" cy="0"/>
              </a:xfrm>
              <a:prstGeom prst="line">
                <a:avLst/>
              </a:prstGeom>
              <a:ln cap="rnd">
                <a:solidFill>
                  <a:schemeClr val="tx2">
                    <a:lumMod val="10000"/>
                    <a:lumOff val="90000"/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B9720984-4A4D-535D-5E20-C86D27FE45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3350" y="3048873"/>
                <a:ext cx="112161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tx2">
                        <a:lumMod val="10000"/>
                        <a:lumOff val="90000"/>
                      </a:schemeClr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round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29B9E69A-1D48-D197-65B4-A0E8D3B048C1}"/>
                </a:ext>
              </a:extLst>
            </p:cNvPr>
            <p:cNvGrpSpPr/>
            <p:nvPr/>
          </p:nvGrpSpPr>
          <p:grpSpPr>
            <a:xfrm flipH="1">
              <a:off x="7109926" y="2816225"/>
              <a:ext cx="3464767" cy="0"/>
              <a:chOff x="1600200" y="3048873"/>
              <a:chExt cx="3464767" cy="0"/>
            </a:xfrm>
          </p:grpSpPr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0E39E238-D1B6-EDB8-529B-D6A7C02E31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200" y="3048873"/>
                <a:ext cx="3464767" cy="0"/>
              </a:xfrm>
              <a:prstGeom prst="line">
                <a:avLst/>
              </a:prstGeom>
              <a:ln cap="rnd">
                <a:solidFill>
                  <a:schemeClr val="tx2">
                    <a:lumMod val="10000"/>
                    <a:lumOff val="90000"/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DD34178-3780-EC7C-2600-457A2F82C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3350" y="3048873"/>
                <a:ext cx="112161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tx2">
                        <a:lumMod val="10000"/>
                        <a:lumOff val="90000"/>
                      </a:schemeClr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round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8192551-42B6-35E3-3484-56708E6B1D85}"/>
              </a:ext>
            </a:extLst>
          </p:cNvPr>
          <p:cNvSpPr txBox="1"/>
          <p:nvPr/>
        </p:nvSpPr>
        <p:spPr>
          <a:xfrm>
            <a:off x="943788" y="1401395"/>
            <a:ext cx="2388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i="0" dirty="0">
                <a:solidFill>
                  <a:srgbClr val="4F4F4F"/>
                </a:solidFill>
                <a:effectLst/>
                <a:latin typeface="PingFang SC"/>
              </a:rPr>
              <a:t>2.</a:t>
            </a:r>
            <a:r>
              <a:rPr lang="zh-CN" altLang="en-US" sz="3600" b="1" i="0" dirty="0">
                <a:solidFill>
                  <a:srgbClr val="4F4F4F"/>
                </a:solidFill>
                <a:effectLst/>
                <a:latin typeface="PingFang SC"/>
              </a:rPr>
              <a:t>存储结构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F22E28-FDC0-E503-CE89-388CE8160F40}"/>
              </a:ext>
            </a:extLst>
          </p:cNvPr>
          <p:cNvSpPr txBox="1"/>
          <p:nvPr/>
        </p:nvSpPr>
        <p:spPr>
          <a:xfrm>
            <a:off x="943788" y="2429523"/>
            <a:ext cx="988736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altLang="zh-CN" sz="2400" b="1" i="0" dirty="0">
                <a:solidFill>
                  <a:srgbClr val="4F4F4F"/>
                </a:solidFill>
                <a:effectLst/>
                <a:latin typeface="PingFang SC"/>
              </a:rPr>
              <a:t>1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）定义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数据的存储结构是指数据的逻辑结构在计算机中的存储方式。又称物理结构。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它研究的是数据结构在计算机中的实现方法，包括数据元素的表示和元素之间的关系。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数据元素的存储结构形式主要有两种：</a:t>
            </a:r>
            <a:r>
              <a:rPr lang="zh-CN" altLang="en-US" sz="2400" b="1" i="0" dirty="0">
                <a:solidFill>
                  <a:srgbClr val="F33B45"/>
                </a:solidFill>
                <a:effectLst/>
                <a:latin typeface="-apple-system"/>
              </a:rPr>
              <a:t>顺序存储和链式存储</a:t>
            </a:r>
            <a:endParaRPr lang="zh-CN" altLang="en-US" sz="2400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420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F627E-1310-3918-1A28-A499483F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C1439B81-AE9E-7B25-46B8-7FBEA3E67A78}"/>
              </a:ext>
            </a:extLst>
          </p:cNvPr>
          <p:cNvGrpSpPr/>
          <p:nvPr/>
        </p:nvGrpSpPr>
        <p:grpSpPr>
          <a:xfrm>
            <a:off x="1600200" y="280461"/>
            <a:ext cx="8974493" cy="630941"/>
            <a:chOff x="1600200" y="2354561"/>
            <a:chExt cx="8974493" cy="630941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E4AC0CF-C181-92E6-CC6E-279280463D80}"/>
                </a:ext>
              </a:extLst>
            </p:cNvPr>
            <p:cNvSpPr txBox="1"/>
            <p:nvPr/>
          </p:nvSpPr>
          <p:spPr>
            <a:xfrm>
              <a:off x="4929673" y="2354561"/>
              <a:ext cx="23326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300" normalizeH="0" baseline="0" noProof="0" dirty="0">
                  <a:ln>
                    <a:noFill/>
                  </a:ln>
                  <a:gradFill flip="none" rotWithShape="1">
                    <a:gsLst>
                      <a:gs pos="17000">
                        <a:srgbClr val="E7E6E6">
                          <a:lumMod val="75000"/>
                          <a:alpha val="0"/>
                        </a:srgbClr>
                      </a:gs>
                      <a:gs pos="100000">
                        <a:srgbClr val="E7E6E6">
                          <a:lumMod val="75000"/>
                          <a:alpha val="80000"/>
                        </a:srgbClr>
                      </a:gs>
                    </a:gsLst>
                    <a:lin ang="16200000" scaled="1"/>
                    <a:tileRect/>
                  </a:gradFill>
                  <a:effectLst/>
                  <a:uLnTx/>
                  <a:uFillTx/>
                  <a:latin typeface="等线 Light" panose="020F0302020204030204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01</a:t>
              </a:r>
              <a:endParaRPr kumimoji="0" lang="zh-CN" altLang="en-US" sz="3200" b="0" i="0" u="none" strike="noStrike" kern="1200" cap="none" spc="300" normalizeH="0" baseline="0" noProof="0" dirty="0">
                <a:ln>
                  <a:noFill/>
                </a:ln>
                <a:gradFill flip="none" rotWithShape="1">
                  <a:gsLst>
                    <a:gs pos="17000">
                      <a:srgbClr val="E7E6E6">
                        <a:lumMod val="75000"/>
                        <a:alpha val="0"/>
                      </a:srgbClr>
                    </a:gs>
                    <a:gs pos="100000">
                      <a:srgbClr val="E7E6E6">
                        <a:lumMod val="75000"/>
                        <a:alpha val="80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等线 Light" panose="020F0302020204030204"/>
                <a:ea typeface="阿里巴巴普惠体 H" panose="00020600040101010101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AC9F675-046A-FEF8-5AFB-89549EA0922E}"/>
                </a:ext>
              </a:extLst>
            </p:cNvPr>
            <p:cNvSpPr txBox="1"/>
            <p:nvPr/>
          </p:nvSpPr>
          <p:spPr>
            <a:xfrm>
              <a:off x="5064968" y="2585392"/>
              <a:ext cx="20620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cs"/>
                </a:rPr>
                <a:t>逻辑存储结构</a:t>
              </a: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02803D99-3E08-A2FF-B52C-A6B181FE8049}"/>
                </a:ext>
              </a:extLst>
            </p:cNvPr>
            <p:cNvGrpSpPr/>
            <p:nvPr/>
          </p:nvGrpSpPr>
          <p:grpSpPr>
            <a:xfrm>
              <a:off x="1600200" y="2816225"/>
              <a:ext cx="3464767" cy="0"/>
              <a:chOff x="1600200" y="3048873"/>
              <a:chExt cx="3464767" cy="0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88FF58C3-6758-806B-A377-637AD0B82E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200" y="3048873"/>
                <a:ext cx="3464767" cy="0"/>
              </a:xfrm>
              <a:prstGeom prst="line">
                <a:avLst/>
              </a:prstGeom>
              <a:ln cap="rnd">
                <a:solidFill>
                  <a:schemeClr val="tx2">
                    <a:lumMod val="10000"/>
                    <a:lumOff val="90000"/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460FFC6-BF0D-6370-1211-48F410994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3350" y="3048873"/>
                <a:ext cx="112161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tx2">
                        <a:lumMod val="10000"/>
                        <a:lumOff val="90000"/>
                      </a:schemeClr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round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CD08AA1-BD10-0E5F-5E7F-E56B00C20FAC}"/>
                </a:ext>
              </a:extLst>
            </p:cNvPr>
            <p:cNvGrpSpPr/>
            <p:nvPr/>
          </p:nvGrpSpPr>
          <p:grpSpPr>
            <a:xfrm flipH="1">
              <a:off x="7109926" y="2816225"/>
              <a:ext cx="3464767" cy="0"/>
              <a:chOff x="1600200" y="3048873"/>
              <a:chExt cx="3464767" cy="0"/>
            </a:xfrm>
          </p:grpSpPr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56CC7D80-8233-EEDF-090B-6EA42212B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200" y="3048873"/>
                <a:ext cx="3464767" cy="0"/>
              </a:xfrm>
              <a:prstGeom prst="line">
                <a:avLst/>
              </a:prstGeom>
              <a:ln cap="rnd">
                <a:solidFill>
                  <a:schemeClr val="tx2">
                    <a:lumMod val="10000"/>
                    <a:lumOff val="90000"/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DB95F39-D205-08DC-26EA-EEA8770AE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3350" y="3048873"/>
                <a:ext cx="112161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tx2">
                        <a:lumMod val="10000"/>
                        <a:lumOff val="90000"/>
                      </a:schemeClr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round/>
                <a:headEnd type="none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133F656-EAC8-5426-8026-F8034D94DBE2}"/>
              </a:ext>
            </a:extLst>
          </p:cNvPr>
          <p:cNvSpPr txBox="1"/>
          <p:nvPr/>
        </p:nvSpPr>
        <p:spPr>
          <a:xfrm>
            <a:off x="973879" y="1096067"/>
            <a:ext cx="1066737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PingFang SC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在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PostgreSQL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中，逻辑存储结构组织如下：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PingFang SC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数据库集群（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Cluster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）：指的是一个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PostgreSQL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实例，包含多个数据库。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数据库（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Database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）：每个数据库都是一个独立的逻辑单元，拥有独立的权限、对象。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模式（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Schema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）：数据库中的命名空间，用于逻辑组织表、视图、函数等对象。默认有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public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模式。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4.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表（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Table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）：存储用户数据，是数据库的核心对象。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5.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索引（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Index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）：加快数据查询速度的辅助结构。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6.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视图、函数、存储过程、操作等：支持复杂的数据处理与自动化。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PingFang SC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400" dirty="0">
              <a:solidFill>
                <a:srgbClr val="4F4F4F"/>
              </a:solidFill>
              <a:latin typeface="PingFang SC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这些对象通过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PostgreSQL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内部的系统目录（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System Catalog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ingFang SC"/>
                <a:ea typeface="等线" panose="02010600030101010101" pitchFamily="2" charset="-122"/>
                <a:cs typeface="+mn-cs"/>
              </a:rPr>
              <a:t>）进行统一管理。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PingFang SC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679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386</Words>
  <Application>Microsoft Office PowerPoint</Application>
  <PresentationFormat>宽屏</PresentationFormat>
  <Paragraphs>34</Paragraphs>
  <Slides>4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-apple-system</vt:lpstr>
      <vt:lpstr>PingFang SC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红宇 方</dc:creator>
  <cp:lastModifiedBy>路 季</cp:lastModifiedBy>
  <cp:revision>12</cp:revision>
  <dcterms:created xsi:type="dcterms:W3CDTF">2023-11-23T09:00:25Z</dcterms:created>
  <dcterms:modified xsi:type="dcterms:W3CDTF">2025-03-26T07:15:02Z</dcterms:modified>
</cp:coreProperties>
</file>