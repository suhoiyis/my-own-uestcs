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7"/>
  </p:notesMasterIdLst>
  <p:sldIdLst>
    <p:sldId id="258" r:id="rId4"/>
    <p:sldId id="298" r:id="rId5"/>
    <p:sldId id="772" r:id="rId6"/>
    <p:sldId id="809" r:id="rId8"/>
    <p:sldId id="810" r:id="rId9"/>
    <p:sldId id="812" r:id="rId10"/>
    <p:sldId id="811" r:id="rId11"/>
    <p:sldId id="813" r:id="rId12"/>
    <p:sldId id="814" r:id="rId13"/>
    <p:sldId id="819" r:id="rId14"/>
    <p:sldId id="824" r:id="rId15"/>
    <p:sldId id="825" r:id="rId16"/>
    <p:sldId id="820" r:id="rId17"/>
    <p:sldId id="821" r:id="rId18"/>
    <p:sldId id="822" r:id="rId19"/>
    <p:sldId id="823" r:id="rId20"/>
  </p:sldIdLst>
  <p:sldSz cx="9144000" cy="6858000" type="screen4x3"/>
  <p:notesSz cx="6858000" cy="9144000"/>
  <p:custDataLst>
    <p:tags r:id="rId24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509"/>
    <p:restoredTop sz="94660"/>
  </p:normalViewPr>
  <p:slideViewPr>
    <p:cSldViewPr showGuides="1">
      <p:cViewPr varScale="1">
        <p:scale>
          <a:sx n="81" d="100"/>
          <a:sy n="81" d="100"/>
        </p:scale>
        <p:origin x="1459" y="67"/>
      </p:cViewPr>
      <p:guideLst>
        <p:guide orient="horz" pos="215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gs" Target="tags/tag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F32BC20-E6EB-4B1F-94D0-8B33862ED4B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defTabSz="97472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8195" name="Rectangle 2"/>
          <p:cNvSpPr>
            <a:spLocks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196" name="Rectangle 3"/>
          <p:cNvSpPr/>
          <p:nvPr>
            <p:ph type="body" idx="1"/>
          </p:nvPr>
        </p:nvSpPr>
        <p:spPr>
          <a:xfrm>
            <a:off x="1023938" y="3371850"/>
            <a:ext cx="8186737" cy="3135313"/>
          </a:xfrm>
          <a:noFill/>
          <a:ln>
            <a:noFill/>
          </a:ln>
        </p:spPr>
        <p:txBody>
          <a:bodyPr wrap="non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defTabSz="97472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0243" name="Rectangle 2"/>
          <p:cNvSpPr>
            <a:spLocks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244" name="Rectangle 3"/>
          <p:cNvSpPr/>
          <p:nvPr>
            <p:ph type="body" idx="1"/>
          </p:nvPr>
        </p:nvSpPr>
        <p:spPr>
          <a:xfrm>
            <a:off x="1023938" y="3371850"/>
            <a:ext cx="8186737" cy="3135313"/>
          </a:xfrm>
          <a:noFill/>
          <a:ln>
            <a:noFill/>
          </a:ln>
        </p:spPr>
        <p:txBody>
          <a:bodyPr wrap="non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defTabSz="97472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2291" name="Rectangle 2"/>
          <p:cNvSpPr>
            <a:spLocks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2292" name="Rectangle 3"/>
          <p:cNvSpPr/>
          <p:nvPr>
            <p:ph type="body" idx="1"/>
          </p:nvPr>
        </p:nvSpPr>
        <p:spPr>
          <a:xfrm>
            <a:off x="1023938" y="3371850"/>
            <a:ext cx="8186737" cy="3135313"/>
          </a:xfrm>
          <a:noFill/>
          <a:ln>
            <a:noFill/>
          </a:ln>
        </p:spPr>
        <p:txBody>
          <a:bodyPr wrap="non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defTabSz="97472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4339" name="Rectangle 2"/>
          <p:cNvSpPr>
            <a:spLocks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4340" name="Rectangle 3"/>
          <p:cNvSpPr/>
          <p:nvPr>
            <p:ph type="body" idx="1"/>
          </p:nvPr>
        </p:nvSpPr>
        <p:spPr>
          <a:xfrm>
            <a:off x="1023938" y="3371850"/>
            <a:ext cx="8186737" cy="3135313"/>
          </a:xfrm>
          <a:noFill/>
          <a:ln>
            <a:noFill/>
          </a:ln>
        </p:spPr>
        <p:txBody>
          <a:bodyPr wrap="non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3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defTabSz="97472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6387" name="Rectangle 2"/>
          <p:cNvSpPr>
            <a:spLocks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6388" name="Rectangle 3"/>
          <p:cNvSpPr/>
          <p:nvPr>
            <p:ph type="body" idx="1"/>
          </p:nvPr>
        </p:nvSpPr>
        <p:spPr>
          <a:xfrm>
            <a:off x="1023938" y="3371850"/>
            <a:ext cx="8186737" cy="3135313"/>
          </a:xfrm>
          <a:noFill/>
          <a:ln>
            <a:noFill/>
          </a:ln>
        </p:spPr>
        <p:txBody>
          <a:bodyPr wrap="non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defTabSz="97472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8435" name="Rectangle 2"/>
          <p:cNvSpPr>
            <a:spLocks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8436" name="Rectangle 3"/>
          <p:cNvSpPr/>
          <p:nvPr>
            <p:ph type="body" idx="1"/>
          </p:nvPr>
        </p:nvSpPr>
        <p:spPr>
          <a:xfrm>
            <a:off x="1023938" y="3371850"/>
            <a:ext cx="8186737" cy="3135313"/>
          </a:xfrm>
          <a:noFill/>
          <a:ln>
            <a:noFill/>
          </a:ln>
        </p:spPr>
        <p:txBody>
          <a:bodyPr wrap="non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defTabSz="97472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20483" name="Rectangle 2"/>
          <p:cNvSpPr>
            <a:spLocks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0484" name="Rectangle 3"/>
          <p:cNvSpPr/>
          <p:nvPr>
            <p:ph type="body" idx="1"/>
          </p:nvPr>
        </p:nvSpPr>
        <p:spPr>
          <a:xfrm>
            <a:off x="1023938" y="3371850"/>
            <a:ext cx="8186737" cy="3135313"/>
          </a:xfrm>
          <a:noFill/>
          <a:ln>
            <a:noFill/>
          </a:ln>
        </p:spPr>
        <p:txBody>
          <a:bodyPr wrap="non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defTabSz="97472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22531" name="Rectangle 2"/>
          <p:cNvSpPr>
            <a:spLocks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2" name="Rectangle 3"/>
          <p:cNvSpPr/>
          <p:nvPr>
            <p:ph type="body" idx="1"/>
          </p:nvPr>
        </p:nvSpPr>
        <p:spPr>
          <a:xfrm>
            <a:off x="1023938" y="3371850"/>
            <a:ext cx="8186737" cy="3135313"/>
          </a:xfrm>
          <a:noFill/>
          <a:ln>
            <a:noFill/>
          </a:ln>
        </p:spPr>
        <p:txBody>
          <a:bodyPr wrap="non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defTabSz="97472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24579" name="Rectangle 2"/>
          <p:cNvSpPr>
            <a:spLocks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4580" name="Rectangle 3"/>
          <p:cNvSpPr/>
          <p:nvPr>
            <p:ph type="body" idx="1"/>
          </p:nvPr>
        </p:nvSpPr>
        <p:spPr>
          <a:xfrm>
            <a:off x="1023938" y="3371850"/>
            <a:ext cx="8186737" cy="3135313"/>
          </a:xfrm>
          <a:noFill/>
          <a:ln>
            <a:noFill/>
          </a:ln>
        </p:spPr>
        <p:txBody>
          <a:bodyPr wrap="non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defTabSz="97472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26627" name="Rectangle 2"/>
          <p:cNvSpPr>
            <a:spLocks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6628" name="Rectangle 3"/>
          <p:cNvSpPr/>
          <p:nvPr>
            <p:ph type="body" idx="1"/>
          </p:nvPr>
        </p:nvSpPr>
        <p:spPr>
          <a:xfrm>
            <a:off x="1023938" y="3371850"/>
            <a:ext cx="8186737" cy="3135313"/>
          </a:xfrm>
          <a:noFill/>
          <a:ln>
            <a:noFill/>
          </a:ln>
        </p:spPr>
        <p:txBody>
          <a:bodyPr wrap="non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defTabSz="97472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28675" name="Rectangle 2"/>
          <p:cNvSpPr>
            <a:spLocks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8676" name="Rectangle 3"/>
          <p:cNvSpPr/>
          <p:nvPr>
            <p:ph type="body" idx="1"/>
          </p:nvPr>
        </p:nvSpPr>
        <p:spPr>
          <a:xfrm>
            <a:off x="1023938" y="3371850"/>
            <a:ext cx="8186737" cy="3135313"/>
          </a:xfrm>
          <a:noFill/>
          <a:ln>
            <a:noFill/>
          </a:ln>
        </p:spPr>
        <p:txBody>
          <a:bodyPr wrap="non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defTabSz="97472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0724" name="Rectangle 3"/>
          <p:cNvSpPr/>
          <p:nvPr>
            <p:ph type="body" idx="1"/>
          </p:nvPr>
        </p:nvSpPr>
        <p:spPr>
          <a:xfrm>
            <a:off x="1023938" y="3371850"/>
            <a:ext cx="8186737" cy="3135313"/>
          </a:xfrm>
          <a:noFill/>
          <a:ln>
            <a:noFill/>
          </a:ln>
        </p:spPr>
        <p:txBody>
          <a:bodyPr wrap="non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defTabSz="97472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32771" name="Rectangle 2"/>
          <p:cNvSpPr>
            <a:spLocks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2772" name="Rectangle 3"/>
          <p:cNvSpPr/>
          <p:nvPr>
            <p:ph type="body" idx="1"/>
          </p:nvPr>
        </p:nvSpPr>
        <p:spPr>
          <a:xfrm>
            <a:off x="1023938" y="3371850"/>
            <a:ext cx="8186737" cy="3135313"/>
          </a:xfrm>
          <a:noFill/>
          <a:ln>
            <a:noFill/>
          </a:ln>
        </p:spPr>
        <p:txBody>
          <a:bodyPr wrap="non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defTabSz="97472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34819" name="Rectangle 2"/>
          <p:cNvSpPr>
            <a:spLocks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4820" name="Rectangle 3"/>
          <p:cNvSpPr/>
          <p:nvPr>
            <p:ph type="body" idx="1"/>
          </p:nvPr>
        </p:nvSpPr>
        <p:spPr>
          <a:xfrm>
            <a:off x="1023938" y="3371850"/>
            <a:ext cx="8186737" cy="3135313"/>
          </a:xfrm>
          <a:noFill/>
          <a:ln>
            <a:noFill/>
          </a:ln>
        </p:spPr>
        <p:txBody>
          <a:bodyPr wrap="non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8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7F2EE"/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椭圆 9"/>
          <p:cNvSpPr>
            <a:spLocks noChangeArrowheads="1"/>
          </p:cNvSpPr>
          <p:nvPr/>
        </p:nvSpPr>
        <p:spPr bwMode="auto">
          <a:xfrm>
            <a:off x="3965575" y="901700"/>
            <a:ext cx="1173163" cy="1174750"/>
          </a:xfrm>
          <a:prstGeom prst="ellipse">
            <a:avLst/>
          </a:prstGeom>
          <a:solidFill>
            <a:srgbClr val="CDCAC5"/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ernard MT Condensed" panose="02050806060905020404" pitchFamily="18" charset="0"/>
                <a:ea typeface="宋体" panose="02010600030101010101" pitchFamily="2" charset="-122"/>
                <a:cs typeface="+mn-cs"/>
              </a:rPr>
              <a:t>2015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ernard MT Condensed" panose="020508060609050204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椭圆 10"/>
          <p:cNvSpPr>
            <a:spLocks noChangeArrowheads="1"/>
          </p:cNvSpPr>
          <p:nvPr/>
        </p:nvSpPr>
        <p:spPr bwMode="auto">
          <a:xfrm>
            <a:off x="1077913" y="3146425"/>
            <a:ext cx="250825" cy="250825"/>
          </a:xfrm>
          <a:prstGeom prst="ellipse">
            <a:avLst/>
          </a:prstGeom>
          <a:solidFill>
            <a:srgbClr val="CDCAC5"/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椭圆 11"/>
          <p:cNvSpPr>
            <a:spLocks noChangeArrowheads="1"/>
          </p:cNvSpPr>
          <p:nvPr/>
        </p:nvSpPr>
        <p:spPr bwMode="auto">
          <a:xfrm>
            <a:off x="7820025" y="3146425"/>
            <a:ext cx="252413" cy="250825"/>
          </a:xfrm>
          <a:prstGeom prst="ellipse">
            <a:avLst/>
          </a:prstGeom>
          <a:solidFill>
            <a:srgbClr val="CDCAC5"/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椭圆 12"/>
          <p:cNvSpPr>
            <a:spLocks noChangeArrowheads="1"/>
          </p:cNvSpPr>
          <p:nvPr/>
        </p:nvSpPr>
        <p:spPr bwMode="auto">
          <a:xfrm>
            <a:off x="4497388" y="5524500"/>
            <a:ext cx="107950" cy="1079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079" name="直接连接符 13"/>
          <p:cNvCxnSpPr/>
          <p:nvPr/>
        </p:nvCxnSpPr>
        <p:spPr>
          <a:xfrm>
            <a:off x="4546600" y="5632450"/>
            <a:ext cx="0" cy="1225550"/>
          </a:xfrm>
          <a:prstGeom prst="line">
            <a:avLst/>
          </a:prstGeom>
          <a:ln w="6350" cap="flat" cmpd="sng">
            <a:solidFill>
              <a:srgbClr val="CDCAC5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080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394075"/>
            <a:ext cx="6400800" cy="557213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/>
            </a:lvl1pPr>
          </a:lstStyle>
          <a:p>
            <a:pPr lvl="0"/>
            <a:r>
              <a:rPr lang="zh-CN" altLang="zh-CN" noProof="0"/>
              <a:t>单击此处编辑母版副标题样式</a:t>
            </a:r>
            <a:endParaRPr lang="zh-CN" altLang="zh-CN" noProof="0"/>
          </a:p>
        </p:txBody>
      </p:sp>
      <p:sp>
        <p:nvSpPr>
          <p:cNvPr id="3084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1385888" y="2578100"/>
            <a:ext cx="6397625" cy="760413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zh-CN" altLang="zh-CN" noProof="0"/>
              <a:t>单击此处编辑母版标题样式</a:t>
            </a:r>
            <a:endParaRPr lang="zh-CN" altLang="zh-CN" noProof="0"/>
          </a:p>
        </p:txBody>
      </p:sp>
      <p:sp>
        <p:nvSpPr>
          <p:cNvPr id="1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7C12A9F-2B3D-4A47-A4D9-4FDD22508CD3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8E89635-501D-4211-918B-AF1CAC5388A5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8E89635-501D-4211-918B-AF1CAC5388A5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150938"/>
            <a:ext cx="3927475" cy="51419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150938"/>
            <a:ext cx="3929062" cy="51419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8E89635-501D-4211-918B-AF1CAC5388A5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8E89635-501D-4211-918B-AF1CAC5388A5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8E89635-501D-4211-918B-AF1CAC5388A5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8E89635-501D-4211-918B-AF1CAC5388A5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8E89635-501D-4211-918B-AF1CAC5388A5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8E89635-501D-4211-918B-AF1CAC5388A5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8E89635-501D-4211-918B-AF1CAC5388A5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298450"/>
            <a:ext cx="2001837" cy="5994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298450"/>
            <a:ext cx="5854700" cy="5994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8E89635-501D-4211-918B-AF1CAC5388A5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矩形 8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7F2EE"/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>
          <a:xfrm>
            <a:off x="566738" y="1150938"/>
            <a:ext cx="8008937" cy="51419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</p:txBody>
      </p:sp>
      <p:sp>
        <p:nvSpPr>
          <p:cNvPr id="2052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buFont typeface="Arial" panose="020B0604020202020204" pitchFamily="34" charset="0"/>
              <a:buNone/>
              <a:defRPr sz="900">
                <a:solidFill>
                  <a:srgbClr val="A6A6A6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8E89635-501D-4211-918B-AF1CAC5388A5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eaLnBrk="0" hangingPunct="0">
              <a:buFont typeface="Arial" panose="020B0604020202020204" pitchFamily="34" charset="0"/>
              <a:buNone/>
              <a:defRPr sz="900">
                <a:solidFill>
                  <a:srgbClr val="A6A6A6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>
                <a:solidFill>
                  <a:srgbClr val="A6A6A6"/>
                </a:solidFill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55" name="Title Placeholder 1"/>
          <p:cNvSpPr>
            <a:spLocks noGrp="1"/>
          </p:cNvSpPr>
          <p:nvPr>
            <p:ph type="title"/>
          </p:nvPr>
        </p:nvSpPr>
        <p:spPr>
          <a:xfrm>
            <a:off x="566738" y="298450"/>
            <a:ext cx="8008937" cy="7143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Broadway" panose="04040905080B02020502" pitchFamily="82" charset="0"/>
          <a:ea typeface="微软雅黑" panose="020B0503020204020204" pitchFamily="34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Broadway" panose="04040905080B02020502" pitchFamily="82" charset="0"/>
          <a:ea typeface="微软雅黑" panose="020B0503020204020204" pitchFamily="34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Broadway" panose="04040905080B02020502" pitchFamily="82" charset="0"/>
          <a:ea typeface="微软雅黑" panose="020B0503020204020204" pitchFamily="34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Broadway" panose="04040905080B02020502" pitchFamily="82" charset="0"/>
          <a:ea typeface="微软雅黑" panose="020B0503020204020204" pitchFamily="34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Broadway" panose="04040905080B02020502" pitchFamily="82" charset="0"/>
          <a:ea typeface="微软雅黑" panose="020B0503020204020204" pitchFamily="34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Broadway" panose="04040905080B02020502" pitchFamily="82" charset="0"/>
          <a:ea typeface="微软雅黑" panose="020B0503020204020204" pitchFamily="34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Broadway" panose="04040905080B02020502" pitchFamily="82" charset="0"/>
          <a:ea typeface="微软雅黑" panose="020B0503020204020204" pitchFamily="34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Broadway" panose="04040905080B02020502" pitchFamily="82" charset="0"/>
          <a:ea typeface="微软雅黑" panose="020B0503020204020204" pitchFamily="34" charset="-122"/>
        </a:defRPr>
      </a:lvl9pPr>
    </p:titleStyle>
    <p:bodyStyle>
      <a:lvl1pPr marL="266700" indent="-266700" algn="l" defTabSz="685800" rtl="0" eaLnBrk="0" fontAlgn="base" hangingPunct="0">
        <a:lnSpc>
          <a:spcPct val="90000"/>
        </a:lnSpc>
        <a:spcBef>
          <a:spcPts val="135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66700" algn="l" defTabSz="685800" rtl="0" eaLnBrk="0" fontAlgn="base" hangingPunct="0">
        <a:lnSpc>
          <a:spcPct val="13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 "/>
        <a:defRPr sz="1600">
          <a:solidFill>
            <a:schemeClr val="tx1"/>
          </a:solidFill>
          <a:latin typeface="+mn-lt"/>
          <a:ea typeface="+mn-ea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500">
          <a:solidFill>
            <a:srgbClr val="7F7F7F"/>
          </a:solidFill>
          <a:latin typeface="+mn-lt"/>
          <a:ea typeface="+mn-ea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>
          <a:solidFill>
            <a:srgbClr val="7F7F7F"/>
          </a:solidFill>
          <a:latin typeface="+mn-lt"/>
          <a:ea typeface="+mn-ea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>
          <a:solidFill>
            <a:srgbClr val="7F7F7F"/>
          </a:solidFill>
          <a:latin typeface="+mn-lt"/>
          <a:ea typeface="+mn-ea"/>
        </a:defRPr>
      </a:lvl5pPr>
      <a:lvl6pPr marL="2000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>
          <a:solidFill>
            <a:srgbClr val="7F7F7F"/>
          </a:solidFill>
          <a:latin typeface="+mn-lt"/>
          <a:ea typeface="+mn-ea"/>
        </a:defRPr>
      </a:lvl6pPr>
      <a:lvl7pPr marL="24574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>
          <a:solidFill>
            <a:srgbClr val="7F7F7F"/>
          </a:solidFill>
          <a:latin typeface="+mn-lt"/>
          <a:ea typeface="+mn-ea"/>
        </a:defRPr>
      </a:lvl7pPr>
      <a:lvl8pPr marL="29146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>
          <a:solidFill>
            <a:srgbClr val="7F7F7F"/>
          </a:solidFill>
          <a:latin typeface="+mn-lt"/>
          <a:ea typeface="+mn-ea"/>
        </a:defRPr>
      </a:lvl8pPr>
      <a:lvl9pPr marL="33718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>
          <a:solidFill>
            <a:srgbClr val="7F7F7F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实验</a:t>
            </a:r>
            <a:r>
              <a:rPr lang="en-US" altLang="zh-CN" dirty="0"/>
              <a:t>2</a:t>
            </a:r>
            <a:r>
              <a:rPr lang="zh-CN" altLang="en-US" dirty="0"/>
              <a:t>、文件状态测试</a:t>
            </a:r>
            <a:endParaRPr lang="zh-CN" alt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266700" marR="0" lvl="0" indent="-266700" algn="l" defTabSz="685800" rtl="0" eaLnBrk="1" fontAlgn="base" latinLnBrk="0" hangingPunct="1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实验目的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熟悉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UNIX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的基本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SHELL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程序设计方法，包括：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685800" rtl="0" eaLnBrk="1" fontAlgn="base" latinLnBrk="0" hangingPunct="1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AutoNum type="circleNumDbPlai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命令行参数检测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685800" rtl="0" eaLnBrk="1" fontAlgn="base" latinLnBrk="0" hangingPunct="1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AutoNum type="circleNumDbPlai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变量设置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685800" rtl="0" eaLnBrk="1" fontAlgn="base" latinLnBrk="0" hangingPunct="1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AutoNum type="circleNumDbPlai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文件状态检测与特定信息读取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685800" rtl="0" eaLnBrk="1" fontAlgn="base" latinLnBrk="0" hangingPunct="1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AutoNum type="circleNumDbPlai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程序运行控制。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内容占位符 2"/>
          <p:cNvSpPr>
            <a:spLocks noGrp="1" noChangeArrowheads="1"/>
          </p:cNvSpPr>
          <p:nvPr>
            <p:ph idx="1"/>
          </p:nvPr>
        </p:nvSpPr>
        <p:spPr>
          <a:xfrm>
            <a:off x="457200" y="642938"/>
            <a:ext cx="8229600" cy="54832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66700" marR="0" lvl="0" indent="-266700" algn="l" defTabSz="685800" rtl="0" eaLnBrk="1" fontAlgn="base" latinLnBrk="0" hangingPunct="1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实验内容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编写一个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SHELL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程序，动态检测指定文件的状态信息，当文件的大小发生改变时，给出提示信息，并继续前进检测。当文件的大小的变化次数或持续检查无变化次数达到一定值时，退出检查，程序结束。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142875" y="1052513"/>
            <a:ext cx="8856663" cy="5400675"/>
          </a:xfrm>
        </p:spPr>
        <p:txBody>
          <a:bodyPr vert="horz" wrap="square" lIns="0" tIns="10972" rIns="0" bIns="0" numCol="1" anchor="t" anchorCtr="0" compatLnSpc="1">
            <a:normAutofit fontScale="47500" lnSpcReduction="20000"/>
          </a:bodyPr>
          <a:lstStyle/>
          <a:p>
            <a:pPr marL="266700" marR="0" lvl="0" indent="-266700" algn="l" defTabSz="449580" rtl="0" eaLnBrk="1" fontAlgn="base" latinLnBrk="0" hangingPunct="1">
              <a:lnSpc>
                <a:spcPct val="145000"/>
              </a:lnSpc>
              <a:spcBef>
                <a:spcPts val="1350"/>
              </a:spcBef>
              <a:spcAft>
                <a:spcPct val="0"/>
              </a:spcAft>
              <a:buClr>
                <a:srgbClr val="0066CC"/>
              </a:buClr>
              <a:buSzPct val="45000"/>
              <a:buFont typeface="Wingdings" panose="05000000000000000000" pitchFamily="2" charset="2"/>
              <a:buChar char="l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）清屏；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449580" rtl="0" eaLnBrk="1" fontAlgn="base" latinLnBrk="0" hangingPunct="1">
              <a:lnSpc>
                <a:spcPct val="145000"/>
              </a:lnSpc>
              <a:spcBef>
                <a:spcPts val="1350"/>
              </a:spcBef>
              <a:spcAft>
                <a:spcPct val="0"/>
              </a:spcAft>
              <a:buClr>
                <a:srgbClr val="0066CC"/>
              </a:buClr>
              <a:buSzPct val="45000"/>
              <a:buFont typeface="Wingdings" panose="05000000000000000000" pitchFamily="2" charset="2"/>
              <a:buChar char="l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）提示用户输入要检测其状态的文件名；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449580" rtl="0" eaLnBrk="1" fontAlgn="base" latinLnBrk="0" hangingPunct="1">
              <a:lnSpc>
                <a:spcPct val="145000"/>
              </a:lnSpc>
              <a:spcBef>
                <a:spcPts val="1350"/>
              </a:spcBef>
              <a:spcAft>
                <a:spcPct val="0"/>
              </a:spcAft>
              <a:buClr>
                <a:srgbClr val="0066CC"/>
              </a:buClr>
              <a:buSzPct val="45000"/>
              <a:buFont typeface="Wingdings" panose="05000000000000000000" pitchFamily="2" charset="2"/>
              <a:buChar char="l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）显示该文件的状态信息（提示：该状态信息可由命令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ls –l 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来得到），或找不到该文件时的错误提示；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449580" rtl="0" eaLnBrk="1" fontAlgn="base" latinLnBrk="0" hangingPunct="1">
              <a:lnSpc>
                <a:spcPct val="145000"/>
              </a:lnSpc>
              <a:spcBef>
                <a:spcPts val="1350"/>
              </a:spcBef>
              <a:spcAft>
                <a:spcPct val="0"/>
              </a:spcAft>
              <a:buClr>
                <a:srgbClr val="0066CC"/>
              </a:buClr>
              <a:buSzPct val="45000"/>
              <a:buFont typeface="Wingdings" panose="05000000000000000000" pitchFamily="2" charset="2"/>
              <a:buChar char="l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）用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cut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命令，或用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sed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awk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命令来截取状态信息中文件的大小并保存；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449580" rtl="0" eaLnBrk="1" fontAlgn="base" latinLnBrk="0" hangingPunct="1">
              <a:lnSpc>
                <a:spcPct val="145000"/>
              </a:lnSpc>
              <a:spcBef>
                <a:spcPts val="1350"/>
              </a:spcBef>
              <a:spcAft>
                <a:spcPct val="0"/>
              </a:spcAft>
              <a:buClr>
                <a:srgbClr val="0066CC"/>
              </a:buClr>
              <a:buSzPct val="45000"/>
              <a:buFont typeface="Wingdings" panose="05000000000000000000" pitchFamily="2" charset="2"/>
              <a:buChar char="l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）每隔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秒钟检测一次该文件大小的信息，并与保存的文件原来的大小相比较；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449580" rtl="0" eaLnBrk="1" fontAlgn="base" latinLnBrk="0" hangingPunct="1">
              <a:lnSpc>
                <a:spcPct val="145000"/>
              </a:lnSpc>
              <a:spcBef>
                <a:spcPts val="1350"/>
              </a:spcBef>
              <a:spcAft>
                <a:spcPct val="0"/>
              </a:spcAft>
              <a:buClr>
                <a:srgbClr val="0066CC"/>
              </a:buClr>
              <a:buSzPct val="45000"/>
              <a:buFont typeface="Wingdings" panose="05000000000000000000" pitchFamily="2" charset="2"/>
              <a:buChar char="l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）如果文件大小未改变，则屏幕显示不变，并继续每隔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秒钟检测一次；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449580" rtl="0" eaLnBrk="1" fontAlgn="base" latinLnBrk="0" hangingPunct="1">
              <a:lnSpc>
                <a:spcPct val="145000"/>
              </a:lnSpc>
              <a:spcBef>
                <a:spcPts val="1350"/>
              </a:spcBef>
              <a:spcAft>
                <a:spcPct val="0"/>
              </a:spcAft>
              <a:buClr>
                <a:srgbClr val="0066CC"/>
              </a:buClr>
              <a:buSzPct val="45000"/>
              <a:buFont typeface="Wingdings" panose="05000000000000000000" pitchFamily="2" charset="2"/>
              <a:buChar char="l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）如果文件大小已改变，则保存新的文件大小，并在屏幕上显示：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file [ filename ] size changed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（括号中的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filename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为本程序运行时用户输入的被检测的文件名）。程序继续每隔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秒钟检测一次文件的大小；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449580" rtl="0" eaLnBrk="1" fontAlgn="base" latinLnBrk="0" hangingPunct="1">
              <a:lnSpc>
                <a:spcPct val="145000"/>
              </a:lnSpc>
              <a:spcBef>
                <a:spcPts val="1350"/>
              </a:spcBef>
              <a:spcAft>
                <a:spcPct val="0"/>
              </a:spcAft>
              <a:buClr>
                <a:srgbClr val="0066CC"/>
              </a:buClr>
              <a:buSzPct val="45000"/>
              <a:buFont typeface="Wingdings" panose="05000000000000000000" pitchFamily="2" charset="2"/>
              <a:buChar char="l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）程序循环执行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5~7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步的操作。当被检测的文件或者已累计改变了两次大小，或者已连续被检测了十次还未改变大小时，给出相应提示，然后清屏退出。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1" name="标题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实验内容：</a:t>
            </a:r>
            <a:r>
              <a:rPr lang="en-US" altLang="zh-CN" dirty="0"/>
              <a:t>shell</a:t>
            </a:r>
            <a:r>
              <a:rPr lang="zh-CN" altLang="en-US" dirty="0"/>
              <a:t>程序设计思路</a:t>
            </a:r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3"/>
          <p:cNvSpPr>
            <a:spLocks noGrp="1"/>
          </p:cNvSpPr>
          <p:nvPr>
            <p:ph idx="1"/>
          </p:nvPr>
        </p:nvSpPr>
        <p:spPr>
          <a:xfrm>
            <a:off x="142875" y="935038"/>
            <a:ext cx="8856663" cy="5400675"/>
          </a:xfrm>
          <a:ln/>
        </p:spPr>
        <p:txBody>
          <a:bodyPr vert="horz" wrap="square" lIns="0" tIns="10972" rIns="0" bIns="0" anchor="t" anchorCtr="0"/>
          <a:p>
            <a:pPr defTabSz="449580" eaLnBrk="1" hangingPunct="1">
              <a:lnSpc>
                <a:spcPct val="145000"/>
              </a:lnSpc>
              <a:buClr>
                <a:srgbClr val="0066CC"/>
              </a:buClr>
              <a:buSzPct val="45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dirty="0"/>
              <a:t>1</a:t>
            </a:r>
            <a:r>
              <a:rPr lang="zh-CN" altLang="en-US" sz="2800" dirty="0"/>
              <a:t>、程序运行时，如果找不到指定的文件，程序提示错误信息：</a:t>
            </a:r>
            <a:endParaRPr lang="en-US" altLang="zh-CN" sz="2800" dirty="0"/>
          </a:p>
          <a:p>
            <a:pPr defTabSz="449580" eaLnBrk="1" hangingPunct="1">
              <a:lnSpc>
                <a:spcPct val="145000"/>
              </a:lnSpc>
              <a:buClr>
                <a:srgbClr val="0066CC"/>
              </a:buClr>
              <a:buSzPct val="45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altLang="zh-CN" sz="2800" dirty="0"/>
          </a:p>
          <a:p>
            <a:pPr defTabSz="449580" eaLnBrk="1" hangingPunct="1">
              <a:lnSpc>
                <a:spcPct val="145000"/>
              </a:lnSpc>
              <a:buClr>
                <a:srgbClr val="0066CC"/>
              </a:buClr>
              <a:buSzPct val="45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dirty="0"/>
              <a:t>2</a:t>
            </a:r>
            <a:r>
              <a:rPr lang="zh-CN" altLang="en-US" sz="2800" dirty="0"/>
              <a:t>、运行程序，输入要检查的文件名</a:t>
            </a:r>
            <a:r>
              <a:rPr lang="en-US" altLang="zh-CN" sz="2800" dirty="0"/>
              <a:t>file1</a:t>
            </a:r>
            <a:r>
              <a:rPr lang="zh-CN" altLang="en-US" sz="2800" dirty="0"/>
              <a:t>，在十次检查周期内，文件大小都一直不变的情况下，程序输出如下信息：</a:t>
            </a:r>
            <a:endParaRPr lang="zh-CN" altLang="en-US" sz="2800" dirty="0"/>
          </a:p>
        </p:txBody>
      </p:sp>
      <p:sp>
        <p:nvSpPr>
          <p:cNvPr id="9219" name="标题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程序要求达到的运行效果</a:t>
            </a:r>
            <a:endParaRPr lang="zh-CN" altLang="en-US" dirty="0"/>
          </a:p>
        </p:txBody>
      </p:sp>
      <p:pic>
        <p:nvPicPr>
          <p:cNvPr id="9220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050" y="1700213"/>
            <a:ext cx="5905500" cy="1081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1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313" y="4351338"/>
            <a:ext cx="4264025" cy="2332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3"/>
          <p:cNvSpPr>
            <a:spLocks noGrp="1"/>
          </p:cNvSpPr>
          <p:nvPr>
            <p:ph idx="1"/>
          </p:nvPr>
        </p:nvSpPr>
        <p:spPr>
          <a:xfrm>
            <a:off x="142875" y="935038"/>
            <a:ext cx="8856663" cy="4581525"/>
          </a:xfrm>
          <a:ln/>
        </p:spPr>
        <p:txBody>
          <a:bodyPr vert="horz" wrap="square" lIns="0" tIns="10972" rIns="0" bIns="0" anchor="t" anchorCtr="0"/>
          <a:p>
            <a:pPr defTabSz="449580" eaLnBrk="1" hangingPunct="1">
              <a:lnSpc>
                <a:spcPct val="145000"/>
              </a:lnSpc>
              <a:buClr>
                <a:srgbClr val="0066CC"/>
              </a:buClr>
              <a:buSzPct val="45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dirty="0"/>
              <a:t>3</a:t>
            </a:r>
            <a:r>
              <a:rPr lang="zh-CN" altLang="en-US" sz="2800" dirty="0"/>
              <a:t>、一旦当发现检查的文件大小改变时，程序显示如下信息：</a:t>
            </a:r>
            <a:endParaRPr lang="en-US" altLang="zh-CN" sz="2800" dirty="0"/>
          </a:p>
        </p:txBody>
      </p:sp>
      <p:sp>
        <p:nvSpPr>
          <p:cNvPr id="11267" name="标题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程序要求达到的运行效果</a:t>
            </a:r>
            <a:endParaRPr lang="zh-CN" altLang="en-US" dirty="0"/>
          </a:p>
        </p:txBody>
      </p:sp>
      <p:pic>
        <p:nvPicPr>
          <p:cNvPr id="11268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13" y="2508250"/>
            <a:ext cx="3348037" cy="27765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9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388" y="2708275"/>
            <a:ext cx="5273675" cy="2376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70" name="文本框 2"/>
          <p:cNvSpPr txBox="1"/>
          <p:nvPr/>
        </p:nvSpPr>
        <p:spPr>
          <a:xfrm>
            <a:off x="4437063" y="5668963"/>
            <a:ext cx="468153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监测过程中文件大小改变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次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271" name="文本框 9"/>
          <p:cNvSpPr txBox="1"/>
          <p:nvPr/>
        </p:nvSpPr>
        <p:spPr>
          <a:xfrm>
            <a:off x="369888" y="5668963"/>
            <a:ext cx="46799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监测过程中文件大小改变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次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SHELL </a:t>
            </a:r>
            <a:r>
              <a:rPr lang="zh-CN" altLang="en-US" dirty="0"/>
              <a:t>编程入门</a:t>
            </a:r>
            <a:endParaRPr lang="zh-CN" altLang="en-US" dirty="0"/>
          </a:p>
        </p:txBody>
      </p:sp>
      <p:sp>
        <p:nvSpPr>
          <p:cNvPr id="13315" name="文本框 3"/>
          <p:cNvSpPr txBox="1"/>
          <p:nvPr/>
        </p:nvSpPr>
        <p:spPr>
          <a:xfrm>
            <a:off x="501650" y="1314450"/>
            <a:ext cx="8253413" cy="1754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编写并运行一个</a:t>
            </a:r>
            <a:r>
              <a:rPr lang="en-US" altLang="zh-CN" dirty="0">
                <a:latin typeface="Arial" panose="020B0604020202020204" pitchFamily="34" charset="0"/>
              </a:rPr>
              <a:t>shell</a:t>
            </a:r>
            <a:r>
              <a:rPr lang="zh-CN" altLang="en-US" dirty="0">
                <a:latin typeface="Arial" panose="020B0604020202020204" pitchFamily="34" charset="0"/>
              </a:rPr>
              <a:t>程序：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编辑</a:t>
            </a:r>
            <a:r>
              <a:rPr lang="en-US" altLang="zh-CN" b="1" dirty="0">
                <a:latin typeface="Arial" panose="020B0604020202020204" pitchFamily="34" charset="0"/>
              </a:rPr>
              <a:t>shell</a:t>
            </a:r>
            <a:r>
              <a:rPr lang="zh-CN" altLang="en-US" b="1" dirty="0">
                <a:latin typeface="Arial" panose="020B0604020202020204" pitchFamily="34" charset="0"/>
              </a:rPr>
              <a:t>程序：</a:t>
            </a:r>
            <a:endParaRPr lang="en-US" altLang="zh-CN" b="1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gedit test.sh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</p:txBody>
      </p:sp>
      <p:pic>
        <p:nvPicPr>
          <p:cNvPr id="13316" name="图片 5"/>
          <p:cNvPicPr>
            <a:picLocks noChangeAspect="1"/>
          </p:cNvPicPr>
          <p:nvPr/>
        </p:nvPicPr>
        <p:blipFill>
          <a:blip r:embed="rId1"/>
          <a:srcRect r="42857" b="55263"/>
          <a:stretch>
            <a:fillRect/>
          </a:stretch>
        </p:blipFill>
        <p:spPr>
          <a:xfrm>
            <a:off x="3563938" y="1984375"/>
            <a:ext cx="4699000" cy="2168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7" name="文本框 6"/>
          <p:cNvSpPr txBox="1"/>
          <p:nvPr/>
        </p:nvSpPr>
        <p:spPr>
          <a:xfrm>
            <a:off x="501650" y="4232275"/>
            <a:ext cx="7273925" cy="2308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latin typeface="Arial" panose="020B0604020202020204" pitchFamily="34" charset="0"/>
              </a:rPr>
              <a:t>运行</a:t>
            </a:r>
            <a:r>
              <a:rPr lang="en-US" altLang="zh-CN" b="1" dirty="0">
                <a:latin typeface="Arial" panose="020B0604020202020204" pitchFamily="34" charset="0"/>
              </a:rPr>
              <a:t>shell</a:t>
            </a:r>
            <a:r>
              <a:rPr lang="zh-CN" altLang="en-US" b="1" dirty="0">
                <a:latin typeface="Arial" panose="020B0604020202020204" pitchFamily="34" charset="0"/>
              </a:rPr>
              <a:t>程序</a:t>
            </a:r>
            <a:r>
              <a:rPr lang="en-US" altLang="zh-CN" b="1" dirty="0">
                <a:latin typeface="Arial" panose="020B0604020202020204" pitchFamily="34" charset="0"/>
              </a:rPr>
              <a:t>:</a:t>
            </a:r>
            <a:endParaRPr lang="en-US" altLang="zh-CN" b="1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方法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：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chmod +x test.sh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./test.sh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方法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：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sh test.sh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3318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475" y="5056188"/>
            <a:ext cx="4699000" cy="660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SHELL </a:t>
            </a:r>
            <a:r>
              <a:rPr lang="zh-CN" altLang="en-US" dirty="0"/>
              <a:t>编程入门</a:t>
            </a:r>
            <a:endParaRPr lang="zh-CN" altLang="en-US" dirty="0"/>
          </a:p>
        </p:txBody>
      </p:sp>
      <p:sp>
        <p:nvSpPr>
          <p:cNvPr id="15363" name="文本框 3"/>
          <p:cNvSpPr txBox="1"/>
          <p:nvPr/>
        </p:nvSpPr>
        <p:spPr>
          <a:xfrm>
            <a:off x="501650" y="1314450"/>
            <a:ext cx="8253413" cy="1754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变量：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定义变量</a:t>
            </a:r>
            <a:r>
              <a:rPr lang="zh-CN" altLang="en-US" dirty="0">
                <a:latin typeface="Arial" panose="020B0604020202020204" pitchFamily="34" charset="0"/>
              </a:rPr>
              <a:t>：变量名</a:t>
            </a:r>
            <a:r>
              <a:rPr lang="en-US" altLang="zh-CN" dirty="0">
                <a:latin typeface="Arial" panose="020B0604020202020204" pitchFamily="34" charset="0"/>
              </a:rPr>
              <a:t>=</a:t>
            </a:r>
            <a:r>
              <a:rPr lang="zh-CN" altLang="en-US" dirty="0">
                <a:latin typeface="Arial" panose="020B0604020202020204" pitchFamily="34" charset="0"/>
              </a:rPr>
              <a:t>变量值，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等号两侧不能有空格</a:t>
            </a:r>
            <a:r>
              <a:rPr lang="zh-CN" altLang="en-US" dirty="0">
                <a:latin typeface="Arial" panose="020B0604020202020204" pitchFamily="34" charset="0"/>
              </a:rPr>
              <a:t>。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使用变量</a:t>
            </a:r>
            <a:r>
              <a:rPr lang="zh-CN" altLang="en-US" dirty="0">
                <a:latin typeface="Arial" panose="020B0604020202020204" pitchFamily="34" charset="0"/>
              </a:rPr>
              <a:t>： </a:t>
            </a:r>
            <a:r>
              <a:rPr lang="en-US" altLang="zh-CN" dirty="0">
                <a:latin typeface="Arial" panose="020B0604020202020204" pitchFamily="34" charset="0"/>
              </a:rPr>
              <a:t>$</a:t>
            </a:r>
            <a:r>
              <a:rPr lang="zh-CN" altLang="en-US" dirty="0">
                <a:latin typeface="Arial" panose="020B0604020202020204" pitchFamily="34" charset="0"/>
              </a:rPr>
              <a:t>变量名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</p:txBody>
      </p:sp>
      <p:pic>
        <p:nvPicPr>
          <p:cNvPr id="15364" name="图片 10"/>
          <p:cNvPicPr>
            <a:picLocks noChangeAspect="1"/>
          </p:cNvPicPr>
          <p:nvPr/>
        </p:nvPicPr>
        <p:blipFill>
          <a:blip r:embed="rId1"/>
          <a:srcRect r="50000" b="26262"/>
          <a:stretch>
            <a:fillRect/>
          </a:stretch>
        </p:blipFill>
        <p:spPr>
          <a:xfrm>
            <a:off x="3181350" y="2411413"/>
            <a:ext cx="4446588" cy="2520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5" name="文本框 11"/>
          <p:cNvSpPr txBox="1"/>
          <p:nvPr/>
        </p:nvSpPr>
        <p:spPr>
          <a:xfrm>
            <a:off x="566738" y="4868863"/>
            <a:ext cx="7550150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运行结果：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</p:txBody>
      </p:sp>
      <p:pic>
        <p:nvPicPr>
          <p:cNvPr id="15366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5246688"/>
            <a:ext cx="4446588" cy="9699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SHELL </a:t>
            </a:r>
            <a:r>
              <a:rPr lang="zh-CN" altLang="en-US" dirty="0"/>
              <a:t>编程入门</a:t>
            </a:r>
            <a:endParaRPr lang="zh-CN" altLang="en-US" dirty="0"/>
          </a:p>
        </p:txBody>
      </p:sp>
      <p:sp>
        <p:nvSpPr>
          <p:cNvPr id="17411" name="文本框 3"/>
          <p:cNvSpPr txBox="1"/>
          <p:nvPr/>
        </p:nvSpPr>
        <p:spPr>
          <a:xfrm>
            <a:off x="501650" y="1314450"/>
            <a:ext cx="8253413" cy="2586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变量：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将命令返回值赋给变量</a:t>
            </a:r>
            <a:endParaRPr lang="zh-CN" altLang="en-US" b="1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方法一：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变量名</a:t>
            </a:r>
            <a:r>
              <a:rPr lang="en-US" altLang="zh-CN" dirty="0">
                <a:latin typeface="Arial" panose="020B0604020202020204" pitchFamily="34" charset="0"/>
              </a:rPr>
              <a:t>=`ls` </a:t>
            </a:r>
            <a:r>
              <a:rPr lang="zh-CN" altLang="en-US" dirty="0">
                <a:latin typeface="Arial" panose="020B0604020202020204" pitchFamily="34" charset="0"/>
              </a:rPr>
              <a:t>反引号</a:t>
            </a:r>
            <a:r>
              <a:rPr lang="en-US" altLang="zh-CN" dirty="0">
                <a:latin typeface="Arial" panose="020B0604020202020204" pitchFamily="34" charset="0"/>
              </a:rPr>
              <a:t>,</a:t>
            </a:r>
            <a:r>
              <a:rPr lang="zh-CN" altLang="en-US" dirty="0">
                <a:latin typeface="Arial" panose="020B0604020202020204" pitchFamily="34" charset="0"/>
              </a:rPr>
              <a:t>执行里面的命令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方法二：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变量名</a:t>
            </a:r>
            <a:r>
              <a:rPr lang="en-US" altLang="zh-CN" dirty="0">
                <a:latin typeface="Arial" panose="020B0604020202020204" pitchFamily="34" charset="0"/>
              </a:rPr>
              <a:t>=$(ls) </a:t>
            </a:r>
            <a:r>
              <a:rPr lang="zh-CN" altLang="en-US" dirty="0">
                <a:latin typeface="Arial" panose="020B0604020202020204" pitchFamily="34" charset="0"/>
              </a:rPr>
              <a:t>等价于反引号</a:t>
            </a:r>
            <a:endParaRPr lang="zh-CN" altLang="en-US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7412" name="文本框 11"/>
          <p:cNvSpPr txBox="1"/>
          <p:nvPr/>
        </p:nvSpPr>
        <p:spPr>
          <a:xfrm>
            <a:off x="566738" y="4868863"/>
            <a:ext cx="7550150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运行结果：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</p:txBody>
      </p:sp>
      <p:pic>
        <p:nvPicPr>
          <p:cNvPr id="17413" name="图片 4"/>
          <p:cNvPicPr>
            <a:picLocks noChangeAspect="1"/>
          </p:cNvPicPr>
          <p:nvPr/>
        </p:nvPicPr>
        <p:blipFill>
          <a:blip r:embed="rId1"/>
          <a:srcRect r="33640" b="36864"/>
          <a:stretch>
            <a:fillRect/>
          </a:stretch>
        </p:blipFill>
        <p:spPr>
          <a:xfrm>
            <a:off x="3330575" y="2884488"/>
            <a:ext cx="5021263" cy="2000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4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488" y="5373688"/>
            <a:ext cx="5310187" cy="936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SHELL </a:t>
            </a:r>
            <a:r>
              <a:rPr lang="zh-CN" altLang="en-US" dirty="0"/>
              <a:t>编程入门</a:t>
            </a:r>
            <a:endParaRPr lang="zh-CN" altLang="en-US" dirty="0"/>
          </a:p>
        </p:txBody>
      </p:sp>
      <p:sp>
        <p:nvSpPr>
          <p:cNvPr id="19459" name="文本框 2"/>
          <p:cNvSpPr txBox="1"/>
          <p:nvPr/>
        </p:nvSpPr>
        <p:spPr>
          <a:xfrm>
            <a:off x="684213" y="1341438"/>
            <a:ext cx="8008937" cy="31384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数字运算符：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方法一：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$((</a:t>
            </a:r>
            <a:r>
              <a:rPr lang="zh-CN" altLang="en-US" dirty="0">
                <a:latin typeface="Arial" panose="020B0604020202020204" pitchFamily="34" charset="0"/>
              </a:rPr>
              <a:t>运算式</a:t>
            </a:r>
            <a:r>
              <a:rPr lang="en-US" altLang="zh-CN" dirty="0">
                <a:latin typeface="Arial" panose="020B0604020202020204" pitchFamily="34" charset="0"/>
              </a:rPr>
              <a:t>)) 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方法二：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$[</a:t>
            </a:r>
            <a:r>
              <a:rPr lang="zh-CN" altLang="en-US" dirty="0">
                <a:latin typeface="Arial" panose="020B0604020202020204" pitchFamily="34" charset="0"/>
              </a:rPr>
              <a:t>运算式</a:t>
            </a:r>
            <a:r>
              <a:rPr lang="en-US" altLang="zh-CN" dirty="0">
                <a:latin typeface="Arial" panose="020B0604020202020204" pitchFamily="34" charset="0"/>
              </a:rPr>
              <a:t>]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方法三：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使用</a:t>
            </a:r>
            <a:r>
              <a:rPr lang="en-US" altLang="zh-CN" dirty="0">
                <a:latin typeface="Arial" panose="020B0604020202020204" pitchFamily="34" charset="0"/>
              </a:rPr>
              <a:t>expr</a:t>
            </a:r>
            <a:r>
              <a:rPr lang="zh-CN" altLang="en-US" dirty="0">
                <a:latin typeface="Arial" panose="020B0604020202020204" pitchFamily="34" charset="0"/>
              </a:rPr>
              <a:t>命令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expr m + n </a:t>
            </a:r>
            <a:r>
              <a:rPr lang="zh-CN" altLang="en-US" dirty="0">
                <a:latin typeface="Arial" panose="020B0604020202020204" pitchFamily="34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expr 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运算符间要有空格）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expr m - n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expr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\*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/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% </a:t>
            </a:r>
            <a:r>
              <a:rPr lang="zh-CN" altLang="en-US" dirty="0">
                <a:latin typeface="Arial" panose="020B0604020202020204" pitchFamily="34" charset="0"/>
              </a:rPr>
              <a:t>分别代表乘，除，取余</a:t>
            </a:r>
            <a:endParaRPr lang="zh-CN" altLang="en-US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9460" name="图片 7"/>
          <p:cNvPicPr>
            <a:picLocks noChangeAspect="1"/>
          </p:cNvPicPr>
          <p:nvPr/>
        </p:nvPicPr>
        <p:blipFill>
          <a:blip r:embed="rId1"/>
          <a:srcRect r="5540" b="22290"/>
          <a:stretch>
            <a:fillRect/>
          </a:stretch>
        </p:blipFill>
        <p:spPr>
          <a:xfrm>
            <a:off x="4427538" y="1196975"/>
            <a:ext cx="4452937" cy="20875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1" name="文本框 8"/>
          <p:cNvSpPr txBox="1"/>
          <p:nvPr/>
        </p:nvSpPr>
        <p:spPr>
          <a:xfrm>
            <a:off x="688975" y="4652963"/>
            <a:ext cx="5689600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运行结果：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9462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675" y="5194300"/>
            <a:ext cx="4953000" cy="933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SHELL </a:t>
            </a:r>
            <a:r>
              <a:rPr lang="zh-CN" altLang="en-US" dirty="0"/>
              <a:t>编程入门</a:t>
            </a:r>
            <a:endParaRPr lang="zh-CN" altLang="en-US" dirty="0"/>
          </a:p>
        </p:txBody>
      </p:sp>
      <p:sp>
        <p:nvSpPr>
          <p:cNvPr id="21507" name="文本框 2"/>
          <p:cNvSpPr txBox="1"/>
          <p:nvPr/>
        </p:nvSpPr>
        <p:spPr>
          <a:xfrm>
            <a:off x="684213" y="1268413"/>
            <a:ext cx="7343775" cy="3416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条件判断：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[ condition ] 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注意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condition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前后要有空格</a:t>
            </a:r>
            <a:r>
              <a:rPr lang="zh-CN" altLang="en-US" dirty="0">
                <a:latin typeface="Arial" panose="020B0604020202020204" pitchFamily="34" charset="0"/>
              </a:rPr>
              <a:t>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b="1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数值比较操作符：</a:t>
            </a:r>
            <a:endParaRPr lang="en-US" altLang="zh-CN" b="1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-eq 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等于</a:t>
            </a:r>
            <a:r>
              <a:rPr lang="zh-CN" altLang="en-US" dirty="0">
                <a:latin typeface="Arial" panose="020B0604020202020204" pitchFamily="34" charset="0"/>
              </a:rPr>
              <a:t>则为真。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-ne 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不等于</a:t>
            </a:r>
            <a:r>
              <a:rPr lang="zh-CN" altLang="en-US" dirty="0">
                <a:latin typeface="Arial" panose="020B0604020202020204" pitchFamily="34" charset="0"/>
              </a:rPr>
              <a:t>则为真。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-gt  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大于</a:t>
            </a:r>
            <a:r>
              <a:rPr lang="zh-CN" altLang="en-US" dirty="0">
                <a:latin typeface="Arial" panose="020B0604020202020204" pitchFamily="34" charset="0"/>
              </a:rPr>
              <a:t>则为真。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-ge 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大于等于</a:t>
            </a:r>
            <a:r>
              <a:rPr lang="zh-CN" altLang="en-US" dirty="0">
                <a:latin typeface="Arial" panose="020B0604020202020204" pitchFamily="34" charset="0"/>
              </a:rPr>
              <a:t>则为真。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-lt   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小于</a:t>
            </a:r>
            <a:r>
              <a:rPr lang="zh-CN" altLang="en-US" dirty="0">
                <a:latin typeface="Arial" panose="020B0604020202020204" pitchFamily="34" charset="0"/>
              </a:rPr>
              <a:t>则为真。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-le  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小于等于</a:t>
            </a:r>
            <a:r>
              <a:rPr lang="zh-CN" altLang="en-US" dirty="0">
                <a:latin typeface="Arial" panose="020B0604020202020204" pitchFamily="34" charset="0"/>
              </a:rPr>
              <a:t>则为真。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</p:txBody>
      </p:sp>
      <p:pic>
        <p:nvPicPr>
          <p:cNvPr id="21508" name="图片 4"/>
          <p:cNvPicPr>
            <a:picLocks noChangeAspect="1"/>
          </p:cNvPicPr>
          <p:nvPr/>
        </p:nvPicPr>
        <p:blipFill>
          <a:blip r:embed="rId1"/>
          <a:srcRect r="10165" b="7977"/>
          <a:stretch>
            <a:fillRect/>
          </a:stretch>
        </p:blipFill>
        <p:spPr>
          <a:xfrm>
            <a:off x="4284663" y="2636838"/>
            <a:ext cx="4570412" cy="2212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338" y="5807075"/>
            <a:ext cx="6372225" cy="6969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10" name="文本框 10"/>
          <p:cNvSpPr txBox="1"/>
          <p:nvPr/>
        </p:nvSpPr>
        <p:spPr>
          <a:xfrm>
            <a:off x="714375" y="4968875"/>
            <a:ext cx="4572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运行结果：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SHELL </a:t>
            </a:r>
            <a:r>
              <a:rPr lang="zh-CN" altLang="en-US" dirty="0"/>
              <a:t>编程入门</a:t>
            </a:r>
            <a:endParaRPr lang="zh-CN" altLang="en-US" dirty="0"/>
          </a:p>
        </p:txBody>
      </p:sp>
      <p:sp>
        <p:nvSpPr>
          <p:cNvPr id="23555" name="文本框 2"/>
          <p:cNvSpPr txBox="1"/>
          <p:nvPr/>
        </p:nvSpPr>
        <p:spPr>
          <a:xfrm>
            <a:off x="684213" y="1268413"/>
            <a:ext cx="7343775" cy="2862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条件判断：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[ condition ] 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注意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condition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前后要有空格</a:t>
            </a:r>
            <a:r>
              <a:rPr lang="zh-CN" altLang="en-US" dirty="0">
                <a:latin typeface="Arial" panose="020B0604020202020204" pitchFamily="34" charset="0"/>
              </a:rPr>
              <a:t>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字符串比较：</a:t>
            </a:r>
            <a:endParaRPr lang="en-US" altLang="zh-CN" b="1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-z 	</a:t>
            </a:r>
            <a:r>
              <a:rPr lang="zh-CN" altLang="en-US" dirty="0">
                <a:latin typeface="Arial" panose="020B0604020202020204" pitchFamily="34" charset="0"/>
              </a:rPr>
              <a:t>字符串长度为零则为真	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-n           </a:t>
            </a:r>
            <a:r>
              <a:rPr lang="zh-CN" altLang="en-US" dirty="0">
                <a:latin typeface="Arial" panose="020B0604020202020204" pitchFamily="34" charset="0"/>
              </a:rPr>
              <a:t>字符串长度非零则为真	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s1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= s2 </a:t>
            </a:r>
            <a:r>
              <a:rPr lang="zh-CN" altLang="en-US" dirty="0">
                <a:latin typeface="Arial" panose="020B0604020202020204" pitchFamily="34" charset="0"/>
              </a:rPr>
              <a:t>	</a:t>
            </a:r>
            <a:r>
              <a:rPr lang="en-US" altLang="zh-CN" dirty="0">
                <a:latin typeface="Arial" panose="020B0604020202020204" pitchFamily="34" charset="0"/>
              </a:rPr>
              <a:t>s1</a:t>
            </a:r>
            <a:r>
              <a:rPr lang="zh-CN" altLang="en-US" dirty="0">
                <a:latin typeface="Arial" panose="020B0604020202020204" pitchFamily="34" charset="0"/>
              </a:rPr>
              <a:t>与</a:t>
            </a:r>
            <a:r>
              <a:rPr lang="en-US" altLang="zh-CN" dirty="0">
                <a:latin typeface="Arial" panose="020B0604020202020204" pitchFamily="34" charset="0"/>
              </a:rPr>
              <a:t>s2</a:t>
            </a:r>
            <a:r>
              <a:rPr lang="zh-CN" altLang="en-US" dirty="0">
                <a:latin typeface="Arial" panose="020B0604020202020204" pitchFamily="34" charset="0"/>
              </a:rPr>
              <a:t>相同则为真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s1 != s2	s1</a:t>
            </a:r>
            <a:r>
              <a:rPr lang="zh-CN" altLang="en-US" dirty="0">
                <a:latin typeface="Arial" panose="020B0604020202020204" pitchFamily="34" charset="0"/>
              </a:rPr>
              <a:t>与</a:t>
            </a:r>
            <a:r>
              <a:rPr lang="en-US" altLang="zh-CN" dirty="0">
                <a:latin typeface="Arial" panose="020B0604020202020204" pitchFamily="34" charset="0"/>
              </a:rPr>
              <a:t>s2</a:t>
            </a:r>
            <a:r>
              <a:rPr lang="zh-CN" altLang="en-US" dirty="0">
                <a:latin typeface="Arial" panose="020B0604020202020204" pitchFamily="34" charset="0"/>
              </a:rPr>
              <a:t>不同则为真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pic>
        <p:nvPicPr>
          <p:cNvPr id="23556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7538" y="2565400"/>
            <a:ext cx="4419600" cy="2370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7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975" y="5691188"/>
            <a:ext cx="6392863" cy="6302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8" name="文本框 6"/>
          <p:cNvSpPr txBox="1"/>
          <p:nvPr/>
        </p:nvSpPr>
        <p:spPr>
          <a:xfrm>
            <a:off x="714375" y="4968875"/>
            <a:ext cx="45720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运行结果：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3559" name="文本框 7"/>
          <p:cNvSpPr txBox="1"/>
          <p:nvPr/>
        </p:nvSpPr>
        <p:spPr>
          <a:xfrm>
            <a:off x="714375" y="4068763"/>
            <a:ext cx="3065463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（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注意等号前后要有空格</a:t>
            </a:r>
            <a:r>
              <a:rPr lang="zh-CN" altLang="en-US" dirty="0">
                <a:latin typeface="Arial" panose="020B0604020202020204" pitchFamily="34" charset="0"/>
              </a:rPr>
              <a:t>）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SHELL </a:t>
            </a:r>
            <a:r>
              <a:rPr lang="zh-CN" altLang="en-US" dirty="0"/>
              <a:t>编程入门</a:t>
            </a:r>
            <a:endParaRPr lang="zh-CN" altLang="en-US" dirty="0"/>
          </a:p>
        </p:txBody>
      </p:sp>
      <p:sp>
        <p:nvSpPr>
          <p:cNvPr id="25603" name="文本框 2"/>
          <p:cNvSpPr txBox="1"/>
          <p:nvPr/>
        </p:nvSpPr>
        <p:spPr>
          <a:xfrm>
            <a:off x="684213" y="1268413"/>
            <a:ext cx="7343775" cy="3416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条件判断：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[ condition ] 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注意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condition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前后要有空格</a:t>
            </a:r>
            <a:r>
              <a:rPr lang="zh-CN" altLang="en-US" dirty="0">
                <a:latin typeface="Arial" panose="020B0604020202020204" pitchFamily="34" charset="0"/>
              </a:rPr>
              <a:t>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文件判断操作符</a:t>
            </a:r>
            <a:r>
              <a:rPr lang="zh-CN" altLang="en-US" dirty="0">
                <a:latin typeface="Arial" panose="020B0604020202020204" pitchFamily="34" charset="0"/>
              </a:rPr>
              <a:t>：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-e</a:t>
            </a:r>
            <a:r>
              <a:rPr lang="zh-CN" altLang="en-US" dirty="0">
                <a:latin typeface="Arial" panose="020B0604020202020204" pitchFamily="34" charset="0"/>
              </a:rPr>
              <a:t>：测试是否存在（</a:t>
            </a:r>
            <a:r>
              <a:rPr lang="en-US" altLang="zh-CN" dirty="0">
                <a:latin typeface="Arial" panose="020B0604020202020204" pitchFamily="34" charset="0"/>
              </a:rPr>
              <a:t>Exist</a:t>
            </a:r>
            <a:r>
              <a:rPr lang="zh-CN" altLang="en-US" dirty="0">
                <a:latin typeface="Arial" panose="020B0604020202020204" pitchFamily="34" charset="0"/>
              </a:rPr>
              <a:t>）。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-d</a:t>
            </a:r>
            <a:r>
              <a:rPr lang="zh-CN" altLang="en-US" dirty="0">
                <a:latin typeface="Arial" panose="020B0604020202020204" pitchFamily="34" charset="0"/>
              </a:rPr>
              <a:t>：测试是否为目录（</a:t>
            </a:r>
            <a:r>
              <a:rPr lang="en-US" altLang="zh-CN" dirty="0">
                <a:latin typeface="Arial" panose="020B0604020202020204" pitchFamily="34" charset="0"/>
              </a:rPr>
              <a:t>Directory</a:t>
            </a:r>
            <a:r>
              <a:rPr lang="zh-CN" altLang="en-US" dirty="0">
                <a:latin typeface="Arial" panose="020B0604020202020204" pitchFamily="34" charset="0"/>
              </a:rPr>
              <a:t>）。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-f</a:t>
            </a:r>
            <a:r>
              <a:rPr lang="zh-CN" altLang="en-US" dirty="0">
                <a:latin typeface="Arial" panose="020B0604020202020204" pitchFamily="34" charset="0"/>
              </a:rPr>
              <a:t>：测试是否为文件（</a:t>
            </a:r>
            <a:r>
              <a:rPr lang="en-US" altLang="zh-CN" dirty="0">
                <a:latin typeface="Arial" panose="020B0604020202020204" pitchFamily="34" charset="0"/>
              </a:rPr>
              <a:t>File</a:t>
            </a:r>
            <a:r>
              <a:rPr lang="zh-CN" altLang="en-US" dirty="0">
                <a:latin typeface="Arial" panose="020B0604020202020204" pitchFamily="34" charset="0"/>
              </a:rPr>
              <a:t>）。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-r</a:t>
            </a:r>
            <a:r>
              <a:rPr lang="zh-CN" altLang="en-US" dirty="0">
                <a:latin typeface="Arial" panose="020B0604020202020204" pitchFamily="34" charset="0"/>
              </a:rPr>
              <a:t>：测试当前用户是否有权限读取（</a:t>
            </a:r>
            <a:r>
              <a:rPr lang="en-US" altLang="zh-CN" dirty="0">
                <a:latin typeface="Arial" panose="020B0604020202020204" pitchFamily="34" charset="0"/>
              </a:rPr>
              <a:t>Read</a:t>
            </a:r>
            <a:r>
              <a:rPr lang="zh-CN" altLang="en-US" dirty="0">
                <a:latin typeface="Arial" panose="020B0604020202020204" pitchFamily="34" charset="0"/>
              </a:rPr>
              <a:t>）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-w</a:t>
            </a:r>
            <a:r>
              <a:rPr lang="zh-CN" altLang="en-US" dirty="0">
                <a:latin typeface="Arial" panose="020B0604020202020204" pitchFamily="34" charset="0"/>
              </a:rPr>
              <a:t>：测试当前用户是否有权限写入（</a:t>
            </a:r>
            <a:r>
              <a:rPr lang="en-US" altLang="zh-CN" dirty="0">
                <a:latin typeface="Arial" panose="020B0604020202020204" pitchFamily="34" charset="0"/>
              </a:rPr>
              <a:t>Write</a:t>
            </a:r>
            <a:r>
              <a:rPr lang="zh-CN" altLang="en-US" dirty="0">
                <a:latin typeface="Arial" panose="020B0604020202020204" pitchFamily="34" charset="0"/>
              </a:rPr>
              <a:t>）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-x</a:t>
            </a:r>
            <a:r>
              <a:rPr lang="zh-CN" altLang="en-US" dirty="0">
                <a:latin typeface="Arial" panose="020B0604020202020204" pitchFamily="34" charset="0"/>
              </a:rPr>
              <a:t>：测试是否设置有可执行（</a:t>
            </a:r>
            <a:r>
              <a:rPr lang="en-US" altLang="zh-CN" dirty="0">
                <a:latin typeface="Arial" panose="020B0604020202020204" pitchFamily="34" charset="0"/>
              </a:rPr>
              <a:t>Excute</a:t>
            </a:r>
            <a:r>
              <a:rPr lang="zh-CN" altLang="en-US" dirty="0">
                <a:latin typeface="Arial" panose="020B0604020202020204" pitchFamily="34" charset="0"/>
              </a:rPr>
              <a:t>）权限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pic>
        <p:nvPicPr>
          <p:cNvPr id="25604" name="图片 4"/>
          <p:cNvPicPr>
            <a:picLocks noChangeAspect="1"/>
          </p:cNvPicPr>
          <p:nvPr/>
        </p:nvPicPr>
        <p:blipFill>
          <a:blip r:embed="rId1"/>
          <a:srcRect r="45064"/>
          <a:stretch>
            <a:fillRect/>
          </a:stretch>
        </p:blipFill>
        <p:spPr>
          <a:xfrm>
            <a:off x="5292725" y="2001838"/>
            <a:ext cx="3570288" cy="2654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5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988" y="5543550"/>
            <a:ext cx="6299200" cy="914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6" name="文本框 7"/>
          <p:cNvSpPr txBox="1"/>
          <p:nvPr/>
        </p:nvSpPr>
        <p:spPr>
          <a:xfrm>
            <a:off x="755650" y="4941888"/>
            <a:ext cx="2592388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运行结果：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SHELL </a:t>
            </a:r>
            <a:r>
              <a:rPr lang="zh-CN" altLang="en-US" dirty="0"/>
              <a:t>编程入门</a:t>
            </a:r>
            <a:endParaRPr lang="zh-CN" altLang="en-US" dirty="0"/>
          </a:p>
        </p:txBody>
      </p:sp>
      <p:sp>
        <p:nvSpPr>
          <p:cNvPr id="27651" name="文本框 2"/>
          <p:cNvSpPr txBox="1"/>
          <p:nvPr/>
        </p:nvSpPr>
        <p:spPr>
          <a:xfrm>
            <a:off x="755650" y="1268413"/>
            <a:ext cx="8008938" cy="3694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流程控制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b="1" dirty="0">
                <a:latin typeface="Arial" panose="020B0604020202020204" pitchFamily="34" charset="0"/>
              </a:rPr>
              <a:t>if</a:t>
            </a:r>
            <a:r>
              <a:rPr lang="zh-CN" altLang="en-US" b="1" dirty="0">
                <a:latin typeface="Arial" panose="020B0604020202020204" pitchFamily="34" charset="0"/>
              </a:rPr>
              <a:t>判断语句</a:t>
            </a:r>
            <a:endParaRPr lang="en-US" altLang="zh-CN" b="1" dirty="0">
              <a:latin typeface="Arial" panose="020B0604020202020204" pitchFamily="34" charset="0"/>
            </a:endParaRPr>
          </a:p>
          <a:p>
            <a:endParaRPr lang="en-US" altLang="zh-CN" b="1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if [ </a:t>
            </a:r>
            <a:r>
              <a:rPr lang="zh-CN" altLang="en-US" dirty="0">
                <a:latin typeface="Arial" panose="020B0604020202020204" pitchFamily="34" charset="0"/>
              </a:rPr>
              <a:t>条件判断式 </a:t>
            </a:r>
            <a:r>
              <a:rPr lang="en-US" altLang="zh-CN" dirty="0">
                <a:latin typeface="Arial" panose="020B0604020202020204" pitchFamily="34" charset="0"/>
              </a:rPr>
              <a:t>]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then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    </a:t>
            </a:r>
            <a:r>
              <a:rPr lang="zh-CN" altLang="en-US" dirty="0">
                <a:latin typeface="Arial" panose="020B0604020202020204" pitchFamily="34" charset="0"/>
              </a:rPr>
              <a:t>程序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elif [ </a:t>
            </a:r>
            <a:r>
              <a:rPr lang="zh-CN" altLang="en-US" dirty="0">
                <a:latin typeface="Arial" panose="020B0604020202020204" pitchFamily="34" charset="0"/>
              </a:rPr>
              <a:t>条件判断式 </a:t>
            </a:r>
            <a:r>
              <a:rPr lang="en-US" altLang="zh-CN" dirty="0">
                <a:latin typeface="Arial" panose="020B0604020202020204" pitchFamily="34" charset="0"/>
              </a:rPr>
              <a:t>]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then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    </a:t>
            </a:r>
            <a:r>
              <a:rPr lang="zh-CN" altLang="en-US" dirty="0">
                <a:latin typeface="Arial" panose="020B0604020202020204" pitchFamily="34" charset="0"/>
              </a:rPr>
              <a:t>程序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else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    </a:t>
            </a:r>
            <a:r>
              <a:rPr lang="zh-CN" altLang="en-US" dirty="0">
                <a:latin typeface="Arial" panose="020B0604020202020204" pitchFamily="34" charset="0"/>
              </a:rPr>
              <a:t>程序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fi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27652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8038" y="5300663"/>
            <a:ext cx="5116512" cy="10525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3" name="文本框 7"/>
          <p:cNvSpPr txBox="1"/>
          <p:nvPr/>
        </p:nvSpPr>
        <p:spPr>
          <a:xfrm>
            <a:off x="723900" y="5300663"/>
            <a:ext cx="2236788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运行结果：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27654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38" y="1628775"/>
            <a:ext cx="5141912" cy="2736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SHELL </a:t>
            </a:r>
            <a:r>
              <a:rPr lang="zh-CN" altLang="en-US" dirty="0"/>
              <a:t>编程入门</a:t>
            </a:r>
            <a:endParaRPr lang="zh-CN" altLang="en-US" dirty="0"/>
          </a:p>
        </p:txBody>
      </p:sp>
      <p:sp>
        <p:nvSpPr>
          <p:cNvPr id="29699" name="文本框 2"/>
          <p:cNvSpPr txBox="1"/>
          <p:nvPr/>
        </p:nvSpPr>
        <p:spPr>
          <a:xfrm>
            <a:off x="755650" y="1484313"/>
            <a:ext cx="7820025" cy="2586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流程控制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b="1" dirty="0">
                <a:latin typeface="Arial" panose="020B0604020202020204" pitchFamily="34" charset="0"/>
              </a:rPr>
              <a:t>while</a:t>
            </a:r>
            <a:r>
              <a:rPr lang="zh-CN" altLang="en-US" b="1" dirty="0">
                <a:latin typeface="Arial" panose="020B0604020202020204" pitchFamily="34" charset="0"/>
              </a:rPr>
              <a:t>循环：</a:t>
            </a:r>
            <a:endParaRPr lang="en-US" altLang="zh-CN" b="1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while [ </a:t>
            </a:r>
            <a:r>
              <a:rPr lang="zh-CN" altLang="en-US" dirty="0">
                <a:latin typeface="Arial" panose="020B0604020202020204" pitchFamily="34" charset="0"/>
              </a:rPr>
              <a:t>条件判断式 </a:t>
            </a:r>
            <a:r>
              <a:rPr lang="en-US" altLang="zh-CN" dirty="0">
                <a:latin typeface="Arial" panose="020B0604020202020204" pitchFamily="34" charset="0"/>
              </a:rPr>
              <a:t>]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do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    </a:t>
            </a:r>
            <a:r>
              <a:rPr lang="zh-CN" altLang="en-US" dirty="0">
                <a:latin typeface="Arial" panose="020B0604020202020204" pitchFamily="34" charset="0"/>
              </a:rPr>
              <a:t>程序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done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29700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8400" y="1700213"/>
            <a:ext cx="5026025" cy="2654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701" name="文本框 5"/>
          <p:cNvSpPr txBox="1"/>
          <p:nvPr/>
        </p:nvSpPr>
        <p:spPr>
          <a:xfrm>
            <a:off x="827088" y="4868863"/>
            <a:ext cx="4824412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运行结果：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29702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513" y="5718175"/>
            <a:ext cx="4989512" cy="523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3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400" y="4941888"/>
            <a:ext cx="4916488" cy="523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SHELL </a:t>
            </a:r>
            <a:r>
              <a:rPr lang="zh-CN" altLang="en-US" dirty="0"/>
              <a:t>编程入门</a:t>
            </a:r>
            <a:endParaRPr lang="zh-CN" altLang="en-US" dirty="0"/>
          </a:p>
        </p:txBody>
      </p:sp>
      <p:sp>
        <p:nvSpPr>
          <p:cNvPr id="31747" name="文本框 2"/>
          <p:cNvSpPr txBox="1"/>
          <p:nvPr/>
        </p:nvSpPr>
        <p:spPr>
          <a:xfrm>
            <a:off x="755650" y="1484313"/>
            <a:ext cx="7820025" cy="4248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流程控制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b="1" dirty="0">
                <a:latin typeface="Arial" panose="020B0604020202020204" pitchFamily="34" charset="0"/>
              </a:rPr>
              <a:t>for</a:t>
            </a:r>
            <a:r>
              <a:rPr lang="zh-CN" altLang="en-US" b="1" dirty="0">
                <a:latin typeface="Arial" panose="020B0604020202020204" pitchFamily="34" charset="0"/>
              </a:rPr>
              <a:t>循环：</a:t>
            </a:r>
            <a:endParaRPr lang="en-US" altLang="zh-CN" b="1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方法一：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for </a:t>
            </a:r>
            <a:r>
              <a:rPr lang="zh-CN" altLang="en-US" dirty="0">
                <a:latin typeface="Arial" panose="020B0604020202020204" pitchFamily="34" charset="0"/>
              </a:rPr>
              <a:t>变量名 </a:t>
            </a:r>
            <a:r>
              <a:rPr lang="en-US" altLang="zh-CN" dirty="0">
                <a:latin typeface="Arial" panose="020B0604020202020204" pitchFamily="34" charset="0"/>
              </a:rPr>
              <a:t>in </a:t>
            </a:r>
            <a:r>
              <a:rPr lang="zh-CN" altLang="en-US" dirty="0">
                <a:latin typeface="Arial" panose="020B0604020202020204" pitchFamily="34" charset="0"/>
              </a:rPr>
              <a:t>值</a:t>
            </a:r>
            <a:r>
              <a:rPr lang="en-US" altLang="zh-CN" dirty="0">
                <a:latin typeface="Arial" panose="020B0604020202020204" pitchFamily="34" charset="0"/>
              </a:rPr>
              <a:t>1 </a:t>
            </a:r>
            <a:r>
              <a:rPr lang="zh-CN" altLang="en-US" dirty="0">
                <a:latin typeface="Arial" panose="020B0604020202020204" pitchFamily="34" charset="0"/>
              </a:rPr>
              <a:t>值</a:t>
            </a:r>
            <a:r>
              <a:rPr lang="en-US" altLang="zh-CN" dirty="0">
                <a:latin typeface="Arial" panose="020B0604020202020204" pitchFamily="34" charset="0"/>
              </a:rPr>
              <a:t>2 </a:t>
            </a:r>
            <a:r>
              <a:rPr lang="zh-CN" altLang="en-US" dirty="0">
                <a:latin typeface="Arial" panose="020B0604020202020204" pitchFamily="34" charset="0"/>
              </a:rPr>
              <a:t>值</a:t>
            </a:r>
            <a:r>
              <a:rPr lang="en-US" altLang="zh-CN" dirty="0">
                <a:latin typeface="Arial" panose="020B0604020202020204" pitchFamily="34" charset="0"/>
              </a:rPr>
              <a:t>3...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do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    </a:t>
            </a:r>
            <a:r>
              <a:rPr lang="zh-CN" altLang="en-US" dirty="0">
                <a:latin typeface="Arial" panose="020B0604020202020204" pitchFamily="34" charset="0"/>
              </a:rPr>
              <a:t>程序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done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方法二</a:t>
            </a:r>
            <a:r>
              <a:rPr lang="en-US" altLang="zh-CN" dirty="0">
                <a:latin typeface="Arial" panose="020B0604020202020204" pitchFamily="34" charset="0"/>
              </a:rPr>
              <a:t>: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for ((</a:t>
            </a:r>
            <a:r>
              <a:rPr lang="zh-CN" altLang="en-US" dirty="0">
                <a:latin typeface="Arial" panose="020B0604020202020204" pitchFamily="34" charset="0"/>
              </a:rPr>
              <a:t>初始值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  <a:r>
              <a:rPr lang="zh-CN" altLang="en-US" dirty="0">
                <a:latin typeface="Arial" panose="020B0604020202020204" pitchFamily="34" charset="0"/>
              </a:rPr>
              <a:t>循环控制条件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  <a:r>
              <a:rPr lang="zh-CN" altLang="en-US" dirty="0">
                <a:latin typeface="Arial" panose="020B0604020202020204" pitchFamily="34" charset="0"/>
              </a:rPr>
              <a:t>变量变化</a:t>
            </a:r>
            <a:r>
              <a:rPr lang="en-US" altLang="zh-CN" dirty="0">
                <a:latin typeface="Arial" panose="020B0604020202020204" pitchFamily="34" charset="0"/>
              </a:rPr>
              <a:t>))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do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    </a:t>
            </a:r>
            <a:r>
              <a:rPr lang="zh-CN" altLang="en-US" dirty="0">
                <a:latin typeface="Arial" panose="020B0604020202020204" pitchFamily="34" charset="0"/>
              </a:rPr>
              <a:t>程序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done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pic>
        <p:nvPicPr>
          <p:cNvPr id="31748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8063" y="1773238"/>
            <a:ext cx="5461000" cy="2447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49" name="文本框 5"/>
          <p:cNvSpPr txBox="1"/>
          <p:nvPr/>
        </p:nvSpPr>
        <p:spPr>
          <a:xfrm>
            <a:off x="755650" y="6021388"/>
            <a:ext cx="316865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运行结果：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31750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063" y="5842000"/>
            <a:ext cx="5481637" cy="549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SHELL </a:t>
            </a:r>
            <a:r>
              <a:rPr lang="zh-CN" altLang="en-US" dirty="0"/>
              <a:t>编程入门</a:t>
            </a:r>
            <a:endParaRPr lang="zh-CN" altLang="en-US" dirty="0"/>
          </a:p>
        </p:txBody>
      </p:sp>
      <p:sp>
        <p:nvSpPr>
          <p:cNvPr id="33795" name="文本框 2"/>
          <p:cNvSpPr txBox="1"/>
          <p:nvPr/>
        </p:nvSpPr>
        <p:spPr>
          <a:xfrm>
            <a:off x="684213" y="4397375"/>
            <a:ext cx="8351837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latin typeface="Arial" panose="020B0604020202020204" pitchFamily="34" charset="0"/>
              </a:rPr>
              <a:t>退出程序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exit n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n</a:t>
            </a:r>
            <a:r>
              <a:rPr lang="zh-CN" altLang="en-US" dirty="0">
                <a:latin typeface="Arial" panose="020B0604020202020204" pitchFamily="34" charset="0"/>
              </a:rPr>
              <a:t>是</a:t>
            </a:r>
            <a:r>
              <a:rPr lang="en-US" altLang="zh-CN" dirty="0">
                <a:latin typeface="Arial" panose="020B0604020202020204" pitchFamily="34" charset="0"/>
              </a:rPr>
              <a:t>0~255</a:t>
            </a:r>
            <a:r>
              <a:rPr lang="zh-CN" altLang="en-US" dirty="0">
                <a:latin typeface="Arial" panose="020B0604020202020204" pitchFamily="34" charset="0"/>
              </a:rPr>
              <a:t>的整数，代表退出状态。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省略默认为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，正常退出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796" name="文本框 3"/>
          <p:cNvSpPr txBox="1"/>
          <p:nvPr/>
        </p:nvSpPr>
        <p:spPr>
          <a:xfrm>
            <a:off x="684213" y="1412875"/>
            <a:ext cx="5832475" cy="2584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latin typeface="Arial" panose="020B0604020202020204" pitchFamily="34" charset="0"/>
              </a:rPr>
              <a:t>跳出循环：</a:t>
            </a:r>
            <a:endParaRPr lang="en-US" altLang="zh-CN" b="1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break n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n</a:t>
            </a:r>
            <a:r>
              <a:rPr lang="zh-CN" altLang="en-US" dirty="0">
                <a:latin typeface="Arial" panose="020B0604020202020204" pitchFamily="34" charset="0"/>
              </a:rPr>
              <a:t>表示跳出循环的层数，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省略默认为跳出当前循环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跳出本次循环，继续下次循环：</a:t>
            </a:r>
            <a:endParaRPr lang="en-US" altLang="zh-CN" b="1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continue n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n </a:t>
            </a:r>
            <a:r>
              <a:rPr lang="zh-CN" altLang="en-US" dirty="0">
                <a:latin typeface="Arial" panose="020B0604020202020204" pitchFamily="34" charset="0"/>
              </a:rPr>
              <a:t>表示跳出循环的层数，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省略默认为跳出当前循环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commondata" val="eyJoZGlkIjoiMDMwYjU1OWM0ZWYxZjQ5YjM2Njg4NmE5NzU3NmFhYWE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000120150407A21PWBG">
  <a:themeElements>
    <a:clrScheme name="A000120150407A21PWBG 1">
      <a:dk1>
        <a:srgbClr val="55595B"/>
      </a:dk1>
      <a:lt1>
        <a:srgbClr val="FFFFFF"/>
      </a:lt1>
      <a:dk2>
        <a:srgbClr val="55595B"/>
      </a:dk2>
      <a:lt2>
        <a:srgbClr val="FFFFFF"/>
      </a:lt2>
      <a:accent1>
        <a:srgbClr val="34C8DB"/>
      </a:accent1>
      <a:accent2>
        <a:srgbClr val="248882"/>
      </a:accent2>
      <a:accent3>
        <a:srgbClr val="FFFFFF"/>
      </a:accent3>
      <a:accent4>
        <a:srgbClr val="474B4C"/>
      </a:accent4>
      <a:accent5>
        <a:srgbClr val="AEE0EA"/>
      </a:accent5>
      <a:accent6>
        <a:srgbClr val="207B75"/>
      </a:accent6>
      <a:hlink>
        <a:srgbClr val="00B0F0"/>
      </a:hlink>
      <a:folHlink>
        <a:srgbClr val="AFB2B4"/>
      </a:folHlink>
    </a:clrScheme>
    <a:fontScheme name="A000120150407A21PWBG">
      <a:majorFont>
        <a:latin typeface="Broadway"/>
        <a:ea typeface="微软雅黑"/>
        <a:cs typeface=""/>
      </a:majorFont>
      <a:minorFont>
        <a:latin typeface="Calibri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407A21PWBG 1">
        <a:dk1>
          <a:srgbClr val="55595B"/>
        </a:dk1>
        <a:lt1>
          <a:srgbClr val="FFFFFF"/>
        </a:lt1>
        <a:dk2>
          <a:srgbClr val="55595B"/>
        </a:dk2>
        <a:lt2>
          <a:srgbClr val="FFFFFF"/>
        </a:lt2>
        <a:accent1>
          <a:srgbClr val="34C8DB"/>
        </a:accent1>
        <a:accent2>
          <a:srgbClr val="248882"/>
        </a:accent2>
        <a:accent3>
          <a:srgbClr val="FFFFFF"/>
        </a:accent3>
        <a:accent4>
          <a:srgbClr val="474B4C"/>
        </a:accent4>
        <a:accent5>
          <a:srgbClr val="AEE0EA"/>
        </a:accent5>
        <a:accent6>
          <a:srgbClr val="207B75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1875</Words>
  <Application>WPS 演示</Application>
  <PresentationFormat>全屏显示(4:3)</PresentationFormat>
  <Paragraphs>218</Paragraphs>
  <Slides>16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等线</vt:lpstr>
      <vt:lpstr>Broadway</vt:lpstr>
      <vt:lpstr>微软雅黑</vt:lpstr>
      <vt:lpstr>Calibri</vt:lpstr>
      <vt:lpstr>幼圆</vt:lpstr>
      <vt:lpstr>Bernard MT Condensed</vt:lpstr>
      <vt:lpstr>Arial Unicode MS</vt:lpstr>
      <vt:lpstr>默认设计模板</vt:lpstr>
      <vt:lpstr>A000120150407A21PWBG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实验一、哲学家就餐问题的实现</dc:title>
  <dc:creator>l-fay</dc:creator>
  <cp:lastModifiedBy>han</cp:lastModifiedBy>
  <cp:revision>188</cp:revision>
  <dcterms:created xsi:type="dcterms:W3CDTF">2015-04-21T06:51:15Z</dcterms:created>
  <dcterms:modified xsi:type="dcterms:W3CDTF">2024-04-23T13:05:04Z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17B7C23BD9D6412B8B1729AF4C28531E_13</vt:lpwstr>
  </property>
</Properties>
</file>