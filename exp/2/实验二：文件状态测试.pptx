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8" r:id="rId3"/>
    <p:sldId id="298" r:id="rId4"/>
    <p:sldId id="772" r:id="rId6"/>
    <p:sldId id="825" r:id="rId7"/>
    <p:sldId id="809" r:id="rId8"/>
    <p:sldId id="810" r:id="rId9"/>
    <p:sldId id="815" r:id="rId10"/>
    <p:sldId id="816" r:id="rId11"/>
    <p:sldId id="818" r:id="rId12"/>
    <p:sldId id="817" r:id="rId13"/>
    <p:sldId id="819" r:id="rId14"/>
    <p:sldId id="821" r:id="rId15"/>
    <p:sldId id="824" r:id="rId16"/>
    <p:sldId id="823" r:id="rId17"/>
    <p:sldId id="826" r:id="rId18"/>
  </p:sldIdLst>
  <p:sldSz cx="9144000" cy="6858000" type="screen4x3"/>
  <p:notesSz cx="6858000" cy="9144000"/>
  <p:custDataLst>
    <p:tags r:id="rId22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09"/>
    <p:restoredTop sz="91989"/>
  </p:normalViewPr>
  <p:slideViewPr>
    <p:cSldViewPr showGuides="1">
      <p:cViewPr>
        <p:scale>
          <a:sx n="75" d="100"/>
          <a:sy n="75" d="100"/>
        </p:scale>
        <p:origin x="1666" y="144"/>
      </p:cViewPr>
      <p:guideLst>
        <p:guide orient="horz" pos="215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82E4158-8FEE-49F5-8E41-A01318D5F65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r>
              <a:rPr lang="en-US" altLang="zh-CN" dirty="0"/>
              <a:t>shell</a:t>
            </a:r>
            <a:r>
              <a:rPr lang="zh-CN" altLang="en-US" dirty="0"/>
              <a:t>不仅是 </a:t>
            </a:r>
            <a:r>
              <a:rPr lang="zh-CN" altLang="en-US" b="1" dirty="0"/>
              <a:t>用户命令的解释器</a:t>
            </a:r>
            <a:r>
              <a:rPr lang="zh-CN" altLang="en-US" dirty="0"/>
              <a:t> ，它同时也是一种功能强大的编程语言。 </a:t>
            </a:r>
            <a:r>
              <a:rPr lang="en-US" altLang="zh-CN" dirty="0"/>
              <a:t>bash</a:t>
            </a:r>
            <a:r>
              <a:rPr lang="zh-CN" altLang="en-US" dirty="0"/>
              <a:t>是</a:t>
            </a:r>
            <a:r>
              <a:rPr lang="en-US" altLang="zh-CN" dirty="0"/>
              <a:t>Linux</a:t>
            </a:r>
            <a:r>
              <a:rPr lang="zh-CN" altLang="en-US" dirty="0"/>
              <a:t>的缺省</a:t>
            </a:r>
            <a:r>
              <a:rPr lang="en-US" altLang="zh-CN" dirty="0"/>
              <a:t>shell</a:t>
            </a:r>
            <a:r>
              <a:rPr lang="zh-CN" altLang="en-US" dirty="0"/>
              <a:t>。</a:t>
            </a:r>
            <a:endParaRPr lang="en-US" altLang="zh-CN" dirty="0"/>
          </a:p>
          <a:p>
            <a:pPr lvl="0"/>
            <a:r>
              <a:rPr lang="en-US" altLang="zh-CN" dirty="0"/>
              <a:t>shell </a:t>
            </a:r>
            <a:r>
              <a:rPr lang="zh-CN" altLang="en-US" dirty="0"/>
              <a:t>是一个命令行解释器，它读取用户输入，然后执行命令。</a:t>
            </a:r>
            <a:r>
              <a:rPr lang="en-US" altLang="zh-CN" dirty="0"/>
              <a:t>shell </a:t>
            </a:r>
            <a:r>
              <a:rPr lang="zh-CN" altLang="en-US" dirty="0"/>
              <a:t>用户输入通常来自终端（交互式 </a:t>
            </a:r>
            <a:r>
              <a:rPr lang="en-US" altLang="zh-CN" dirty="0"/>
              <a:t>shell</a:t>
            </a:r>
            <a:r>
              <a:rPr lang="zh-CN" altLang="en-US" dirty="0"/>
              <a:t>），有时则来自于文件（称为 </a:t>
            </a:r>
            <a:r>
              <a:rPr lang="en-US" altLang="zh-CN" dirty="0"/>
              <a:t>shell </a:t>
            </a:r>
            <a:r>
              <a:rPr lang="zh-CN" altLang="en-US" dirty="0"/>
              <a:t>脚本）。</a:t>
            </a:r>
            <a:endParaRPr lang="zh-CN" altLang="en-US" dirty="0"/>
          </a:p>
          <a:p>
            <a:pPr lvl="0"/>
            <a:endParaRPr lang="zh-CN" altLang="en-US" dirty="0"/>
          </a:p>
          <a:p>
            <a:pPr lvl="0"/>
            <a:r>
              <a:rPr lang="en-US" altLang="zh-CN" dirty="0"/>
              <a:t>UNIX</a:t>
            </a:r>
            <a:r>
              <a:rPr lang="zh-CN" altLang="en-US" dirty="0"/>
              <a:t>系统中常见的 </a:t>
            </a:r>
            <a:r>
              <a:rPr lang="en-US" altLang="zh-CN" dirty="0"/>
              <a:t>shell</a:t>
            </a:r>
            <a:r>
              <a:rPr lang="zh-CN" altLang="en-US" dirty="0"/>
              <a:t>：</a:t>
            </a:r>
            <a:endParaRPr lang="zh-CN" altLang="en-US" dirty="0"/>
          </a:p>
          <a:p>
            <a:pPr lvl="0"/>
            <a:r>
              <a:rPr lang="en-US" altLang="zh-CN" dirty="0"/>
              <a:t>Bourne shell  </a:t>
            </a:r>
            <a:r>
              <a:rPr lang="zh-CN" altLang="en-US" dirty="0"/>
              <a:t>路径：</a:t>
            </a:r>
            <a:r>
              <a:rPr lang="en-US" altLang="zh-CN" dirty="0"/>
              <a:t>/bin/sh </a:t>
            </a:r>
            <a:endParaRPr lang="en-US" altLang="zh-CN" dirty="0"/>
          </a:p>
          <a:p>
            <a:pPr lvl="0"/>
            <a:r>
              <a:rPr lang="en-US" altLang="zh-CN" dirty="0"/>
              <a:t>Bourne-again shell  </a:t>
            </a:r>
            <a:r>
              <a:rPr lang="zh-CN" altLang="en-US" dirty="0"/>
              <a:t>路径：</a:t>
            </a:r>
            <a:r>
              <a:rPr lang="en-US" altLang="zh-CN" dirty="0"/>
              <a:t>/bin/bash</a:t>
            </a:r>
            <a:endParaRPr lang="en-US" altLang="zh-CN" dirty="0"/>
          </a:p>
          <a:p>
            <a:pPr lvl="0"/>
            <a:r>
              <a:rPr lang="en-US" altLang="zh-CN" dirty="0"/>
              <a:t>C shell  </a:t>
            </a:r>
            <a:r>
              <a:rPr lang="zh-CN" altLang="en-US" dirty="0"/>
              <a:t>路径：</a:t>
            </a:r>
            <a:r>
              <a:rPr lang="en-US" altLang="zh-CN" dirty="0"/>
              <a:t>/bin/csh </a:t>
            </a:r>
            <a:endParaRPr lang="en-US" altLang="zh-CN" dirty="0"/>
          </a:p>
          <a:p>
            <a:pPr lvl="0"/>
            <a:r>
              <a:rPr lang="en-US" altLang="zh-CN" dirty="0"/>
              <a:t>Korn shell  </a:t>
            </a:r>
            <a:r>
              <a:rPr lang="zh-CN" altLang="en-US" dirty="0"/>
              <a:t>路径：</a:t>
            </a:r>
            <a:r>
              <a:rPr lang="en-US" altLang="zh-CN" dirty="0"/>
              <a:t>/bin/ksh </a:t>
            </a:r>
            <a:endParaRPr lang="en-US" altLang="zh-CN" dirty="0"/>
          </a:p>
          <a:p>
            <a:pPr lvl="0"/>
            <a:r>
              <a:rPr lang="en-US" altLang="zh-CN" dirty="0"/>
              <a:t>TENEX C shell  </a:t>
            </a:r>
            <a:r>
              <a:rPr lang="zh-CN" altLang="en-US" dirty="0"/>
              <a:t>路径：</a:t>
            </a:r>
            <a:r>
              <a:rPr lang="en-US" altLang="zh-CN" dirty="0"/>
              <a:t>/bin/tcsh</a:t>
            </a:r>
            <a:endParaRPr lang="en-US" altLang="zh-CN" dirty="0"/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defTabSz="97472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8195" name="Rectangle 2"/>
          <p:cNvSpPr>
            <a:spLocks noTextEdit="1"/>
          </p:cNvSpPr>
          <p:nvPr>
            <p:ph type="sldImg"/>
          </p:nvPr>
        </p:nvSpPr>
        <p:spPr>
          <a:xfrm>
            <a:off x="3343275" y="539750"/>
            <a:ext cx="3546475" cy="26606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196" name="Rectangle 3"/>
          <p:cNvSpPr/>
          <p:nvPr>
            <p:ph type="body" idx="1"/>
          </p:nvPr>
        </p:nvSpPr>
        <p:spPr>
          <a:xfrm>
            <a:off x="1023938" y="3371850"/>
            <a:ext cx="8186737" cy="3135313"/>
          </a:xfrm>
          <a:noFill/>
          <a:ln>
            <a:noFill/>
          </a:ln>
        </p:spPr>
        <p:txBody>
          <a:bodyPr wrap="non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2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defTabSz="97472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1267" name="Rectangle 2"/>
          <p:cNvSpPr>
            <a:spLocks noTextEdit="1"/>
          </p:cNvSpPr>
          <p:nvPr>
            <p:ph type="sldImg"/>
          </p:nvPr>
        </p:nvSpPr>
        <p:spPr>
          <a:xfrm>
            <a:off x="3343275" y="539750"/>
            <a:ext cx="3546475" cy="26606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1268" name="Rectangle 3"/>
          <p:cNvSpPr/>
          <p:nvPr>
            <p:ph type="body" idx="1"/>
          </p:nvPr>
        </p:nvSpPr>
        <p:spPr>
          <a:xfrm>
            <a:off x="1023938" y="3371850"/>
            <a:ext cx="8186737" cy="3135313"/>
          </a:xfrm>
          <a:noFill/>
          <a:ln>
            <a:noFill/>
          </a:ln>
        </p:spPr>
        <p:txBody>
          <a:bodyPr wrap="non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defTabSz="97472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3315" name="Rectangle 2"/>
          <p:cNvSpPr>
            <a:spLocks noTextEdit="1"/>
          </p:cNvSpPr>
          <p:nvPr>
            <p:ph type="sldImg"/>
          </p:nvPr>
        </p:nvSpPr>
        <p:spPr>
          <a:xfrm>
            <a:off x="3343275" y="539750"/>
            <a:ext cx="3546475" cy="26606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3316" name="Rectangle 3"/>
          <p:cNvSpPr/>
          <p:nvPr>
            <p:ph type="body" idx="1"/>
          </p:nvPr>
        </p:nvSpPr>
        <p:spPr>
          <a:xfrm>
            <a:off x="1023938" y="3371850"/>
            <a:ext cx="8186737" cy="3135313"/>
          </a:xfrm>
          <a:noFill/>
          <a:ln>
            <a:noFill/>
          </a:ln>
        </p:spPr>
        <p:txBody>
          <a:bodyPr wrap="non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defTabSz="97472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5363" name="Rectangle 2"/>
          <p:cNvSpPr>
            <a:spLocks noTextEdit="1"/>
          </p:cNvSpPr>
          <p:nvPr>
            <p:ph type="sldImg"/>
          </p:nvPr>
        </p:nvSpPr>
        <p:spPr>
          <a:xfrm>
            <a:off x="3343275" y="539750"/>
            <a:ext cx="3546475" cy="26606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5364" name="Rectangle 3"/>
          <p:cNvSpPr/>
          <p:nvPr>
            <p:ph type="body" idx="1"/>
          </p:nvPr>
        </p:nvSpPr>
        <p:spPr>
          <a:xfrm>
            <a:off x="1023938" y="3371850"/>
            <a:ext cx="8186737" cy="3135313"/>
          </a:xfrm>
          <a:noFill/>
          <a:ln>
            <a:noFill/>
          </a:ln>
        </p:spPr>
        <p:txBody>
          <a:bodyPr wrap="non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 userDrawn="1"/>
        </p:nvGrpSpPr>
        <p:grpSpPr>
          <a:xfrm>
            <a:off x="393700" y="835025"/>
            <a:ext cx="433388" cy="433388"/>
            <a:chOff x="3491880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005DA2"/>
            </a:solidFill>
            <a:ln>
              <a:noFill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0" name="Freeform 75"/>
            <p:cNvSpPr/>
            <p:nvPr/>
          </p:nvSpPr>
          <p:spPr>
            <a:xfrm>
              <a:off x="3583864" y="1385879"/>
              <a:ext cx="248863" cy="210716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3953" y="-99392"/>
            <a:ext cx="7400455" cy="635000"/>
          </a:xfrm>
          <a:noFill/>
          <a:ln>
            <a:noFill/>
          </a:ln>
        </p:spPr>
        <p:txBody>
          <a:bodyPr/>
          <a:lstStyle>
            <a:lvl1pPr algn="l">
              <a:def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78649"/>
            <a:ext cx="8229600" cy="4963485"/>
          </a:xfrm>
        </p:spPr>
        <p:txBody>
          <a:bodyPr/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8" name="副标题 2"/>
          <p:cNvSpPr>
            <a:spLocks noGrp="1"/>
          </p:cNvSpPr>
          <p:nvPr>
            <p:ph type="subTitle" idx="13"/>
          </p:nvPr>
        </p:nvSpPr>
        <p:spPr>
          <a:xfrm>
            <a:off x="907583" y="764704"/>
            <a:ext cx="6400800" cy="433387"/>
          </a:xfrm>
        </p:spPr>
        <p:txBody>
          <a:bodyPr/>
          <a:lstStyle>
            <a:lvl1pPr marL="0" indent="0" algn="l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53188"/>
            <a:ext cx="2133600" cy="2682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53188"/>
            <a:ext cx="2895600" cy="2682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9" name="Rectangle 2"/>
          <p:cNvSpPr>
            <a:spLocks noGrp="1"/>
          </p:cNvSpPr>
          <p:nvPr>
            <p:ph type="title"/>
          </p:nvPr>
        </p:nvSpPr>
        <p:spPr>
          <a:xfrm>
            <a:off x="833438" y="-26987"/>
            <a:ext cx="8229600" cy="635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030" name="Rectangle 3"/>
          <p:cNvSpPr>
            <a:spLocks noGrp="1"/>
          </p:cNvSpPr>
          <p:nvPr>
            <p:ph type="body" idx="1"/>
          </p:nvPr>
        </p:nvSpPr>
        <p:spPr>
          <a:xfrm>
            <a:off x="457200" y="835025"/>
            <a:ext cx="8229600" cy="52911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lvl="0" algn="r" eaLnBrk="1" hangingPunct="1">
              <a:buNone/>
            </a:pPr>
            <a:fld id="{9A0DB2DC-4C9A-4742-B13C-FB6460FD3503}" type="slidenum">
              <a:rPr lang="zh-CN" altLang="en-US" sz="1400" dirty="0">
                <a:latin typeface="Arial" panose="020B0604020202020204" pitchFamily="34" charset="0"/>
              </a:rPr>
            </a:fld>
            <a:endParaRPr lang="zh-CN" altLang="en-US" sz="1400" dirty="0">
              <a:latin typeface="Arial" panose="020B0604020202020204" pitchFamily="34" charset="0"/>
            </a:endParaRPr>
          </a:p>
        </p:txBody>
      </p:sp>
      <p:cxnSp>
        <p:nvCxnSpPr>
          <p:cNvPr id="13" name="直接连接符 6"/>
          <p:cNvCxnSpPr/>
          <p:nvPr/>
        </p:nvCxnSpPr>
        <p:spPr>
          <a:xfrm>
            <a:off x="0" y="620713"/>
            <a:ext cx="9144000" cy="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7"/>
          <p:cNvGrpSpPr/>
          <p:nvPr userDrawn="1"/>
        </p:nvGrpSpPr>
        <p:grpSpPr>
          <a:xfrm>
            <a:off x="323850" y="188913"/>
            <a:ext cx="390525" cy="204787"/>
            <a:chOff x="0" y="0"/>
            <a:chExt cx="1041399" cy="549275"/>
          </a:xfrm>
        </p:grpSpPr>
        <p:sp>
          <p:nvSpPr>
            <p:cNvPr id="1035" name="Freeform 16"/>
            <p:cNvSpPr/>
            <p:nvPr/>
          </p:nvSpPr>
          <p:spPr>
            <a:xfrm>
              <a:off x="0" y="0"/>
              <a:ext cx="361950" cy="54927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Freeform 17"/>
            <p:cNvSpPr/>
            <p:nvPr/>
          </p:nvSpPr>
          <p:spPr>
            <a:xfrm>
              <a:off x="338137" y="0"/>
              <a:ext cx="360362" cy="54927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Freeform 18"/>
            <p:cNvSpPr/>
            <p:nvPr/>
          </p:nvSpPr>
          <p:spPr>
            <a:xfrm>
              <a:off x="681037" y="0"/>
              <a:ext cx="360362" cy="54927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pic>
        <p:nvPicPr>
          <p:cNvPr id="1034" name="图片 1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585200" y="117475"/>
            <a:ext cx="388938" cy="38893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844550" y="-14287"/>
            <a:ext cx="7399338" cy="635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实验</a:t>
            </a:r>
            <a:r>
              <a:rPr lang="en-US" altLang="zh-CN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2</a:t>
            </a:r>
            <a:r>
              <a:rPr lang="zh-CN" altLang="en-US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、文件状态测试</a:t>
            </a:r>
            <a:endParaRPr lang="zh-CN" altLang="en-US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idx="1"/>
          </p:nvPr>
        </p:nvSpPr>
        <p:spPr>
          <a:xfrm>
            <a:off x="457200" y="1377950"/>
            <a:ext cx="8229600" cy="4964113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熟悉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UNIX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的基本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SHELL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程序设计方法，包括：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命令行参数检测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变量设置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文件状态检测与特定信息读取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程序运行控制。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00" name="副标题 1"/>
          <p:cNvSpPr>
            <a:spLocks noGrp="1"/>
          </p:cNvSpPr>
          <p:nvPr>
            <p:ph type="subTitle" idx="13"/>
          </p:nvPr>
        </p:nvSpPr>
        <p:spPr>
          <a:xfrm>
            <a:off x="908050" y="836613"/>
            <a:ext cx="6400800" cy="433387"/>
          </a:xfrm>
          <a:ln/>
        </p:spPr>
        <p:txBody>
          <a:bodyPr vert="horz" wrap="square" lIns="91440" tIns="45720" rIns="91440" bIns="45720" anchor="t" anchorCtr="0"/>
          <a:p>
            <a:pPr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实验目的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ClrTx/>
              <a:buSzTx/>
              <a:buFontTx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内容占位符 2"/>
          <p:cNvSpPr>
            <a:spLocks noGrp="1"/>
          </p:cNvSpPr>
          <p:nvPr>
            <p:ph idx="1"/>
          </p:nvPr>
        </p:nvSpPr>
        <p:spPr>
          <a:xfrm>
            <a:off x="457200" y="1377950"/>
            <a:ext cx="8229600" cy="4964113"/>
          </a:xfrm>
          <a:ln/>
        </p:spPr>
        <p:txBody>
          <a:bodyPr vert="horz" wrap="square" lIns="91440" tIns="45720" rIns="91440" bIns="45720" anchor="t" anchorCtr="0"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编写一个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SHELL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程序，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动态检测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指定文件的状态信息，当文件的大小发生改变时，给出提示信息，并继续前进检测。当文件的大小的变化次数或持续检查无变化次数达到一定值时，退出检查，程序结束。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123" name="副标题 3"/>
          <p:cNvSpPr>
            <a:spLocks noGrp="1"/>
          </p:cNvSpPr>
          <p:nvPr>
            <p:ph type="subTitle" idx="13"/>
          </p:nvPr>
        </p:nvSpPr>
        <p:spPr>
          <a:xfrm>
            <a:off x="908050" y="765175"/>
            <a:ext cx="6400800" cy="433388"/>
          </a:xfrm>
          <a:ln/>
        </p:spPr>
        <p:txBody>
          <a:bodyPr vert="horz" wrap="square" lIns="91440" tIns="45720" rIns="91440" bIns="45720" anchor="t" anchorCtr="0"/>
          <a:p>
            <a:pPr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实验内容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ClrTx/>
              <a:buSzTx/>
              <a:buFontTx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124" name="Rectangle 2"/>
          <p:cNvSpPr>
            <a:spLocks noGrp="1"/>
          </p:cNvSpPr>
          <p:nvPr>
            <p:ph type="title"/>
          </p:nvPr>
        </p:nvSpPr>
        <p:spPr>
          <a:xfrm>
            <a:off x="844550" y="-14287"/>
            <a:ext cx="7399338" cy="635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实验</a:t>
            </a:r>
            <a:r>
              <a:rPr lang="en-US" altLang="zh-CN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2</a:t>
            </a:r>
            <a:r>
              <a:rPr lang="zh-CN" altLang="en-US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、文件状态测试</a:t>
            </a:r>
            <a:endParaRPr lang="zh-CN" altLang="en-US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3"/>
          <p:cNvSpPr>
            <a:spLocks noGrp="1"/>
          </p:cNvSpPr>
          <p:nvPr>
            <p:ph idx="1"/>
          </p:nvPr>
        </p:nvSpPr>
        <p:spPr>
          <a:xfrm>
            <a:off x="222250" y="765175"/>
            <a:ext cx="8789988" cy="4964113"/>
          </a:xfrm>
          <a:ln/>
        </p:spPr>
        <p:txBody>
          <a:bodyPr vert="horz" wrap="square" lIns="0" tIns="10972" rIns="0" bIns="0" anchor="t" anchorCtr="0"/>
          <a:p>
            <a:pPr marL="0" indent="0" defTabSz="449580" eaLnBrk="1" hangingPunct="1">
              <a:lnSpc>
                <a:spcPct val="125000"/>
              </a:lnSpc>
              <a:spcBef>
                <a:spcPct val="0"/>
              </a:spcBef>
              <a:buClr>
                <a:srgbClr val="0066CC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）清屏；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defTabSz="449580" eaLnBrk="1" hangingPunct="1">
              <a:lnSpc>
                <a:spcPct val="125000"/>
              </a:lnSpc>
              <a:spcBef>
                <a:spcPct val="0"/>
              </a:spcBef>
              <a:buClr>
                <a:srgbClr val="0066CC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）提示用户输入要检测其状态的文件名；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defTabSz="449580" eaLnBrk="1" hangingPunct="1">
              <a:lnSpc>
                <a:spcPct val="125000"/>
              </a:lnSpc>
              <a:spcBef>
                <a:spcPct val="0"/>
              </a:spcBef>
              <a:buClr>
                <a:srgbClr val="0066CC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）显示该文件的状态信息（提示：该状态信息可由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 –l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来得到），或找不到该文件时的错误提示；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defTabSz="449580" eaLnBrk="1" hangingPunct="1">
              <a:lnSpc>
                <a:spcPct val="125000"/>
              </a:lnSpc>
              <a:spcBef>
                <a:spcPct val="0"/>
              </a:spcBef>
              <a:buClr>
                <a:srgbClr val="0066CC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）用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cut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，或用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sed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awk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来截取状态信息中文件的大小并保存；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defTabSz="449580" eaLnBrk="1" hangingPunct="1">
              <a:lnSpc>
                <a:spcPct val="125000"/>
              </a:lnSpc>
              <a:spcBef>
                <a:spcPct val="0"/>
              </a:spcBef>
              <a:buClr>
                <a:srgbClr val="0066CC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）每隔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秒钟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检测一次该文件大小的信息，并与保存的文件原来的大小相比较；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defTabSz="449580" eaLnBrk="1" hangingPunct="1">
              <a:lnSpc>
                <a:spcPct val="125000"/>
              </a:lnSpc>
              <a:spcBef>
                <a:spcPct val="0"/>
              </a:spcBef>
              <a:buClr>
                <a:srgbClr val="0066CC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）如果文件大小未改变，则屏幕显示不变，并继续每隔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秒钟检测一次；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defTabSz="449580" eaLnBrk="1" hangingPunct="1">
              <a:lnSpc>
                <a:spcPct val="125000"/>
              </a:lnSpc>
              <a:spcBef>
                <a:spcPct val="0"/>
              </a:spcBef>
              <a:buClr>
                <a:srgbClr val="0066CC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）如果文件大小已改变，则保存新的文件大小，并在屏幕上显示：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 defTabSz="449580" eaLnBrk="1" hangingPunct="1">
              <a:lnSpc>
                <a:spcPct val="125000"/>
              </a:lnSpc>
              <a:spcBef>
                <a:spcPct val="0"/>
              </a:spcBef>
              <a:buClr>
                <a:srgbClr val="0066CC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file </a:t>
            </a:r>
            <a:r>
              <a:rPr lang="en-US" altLang="zh-CN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filename ]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size changed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defTabSz="449580" eaLnBrk="1" hangingPunct="1">
              <a:lnSpc>
                <a:spcPct val="125000"/>
              </a:lnSpc>
              <a:spcBef>
                <a:spcPct val="0"/>
              </a:spcBef>
              <a:buClr>
                <a:srgbClr val="0066CC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（括号中的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filename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为本程序运行时用户输入的被检测的文件名）。程序继续每隔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秒钟检测一次文件的大小；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defTabSz="449580" eaLnBrk="1" hangingPunct="1">
              <a:lnSpc>
                <a:spcPct val="125000"/>
              </a:lnSpc>
              <a:spcBef>
                <a:spcPct val="0"/>
              </a:spcBef>
              <a:buClr>
                <a:srgbClr val="0066CC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）程序循环执行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5~7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步的操作。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当被检测的文件或者已累计改变了两次大小，或者已连续被检测了十次还未改变大小时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，给出相应提示，然后清屏退出。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1" name="标题 2"/>
          <p:cNvSpPr>
            <a:spLocks noGrp="1"/>
          </p:cNvSpPr>
          <p:nvPr>
            <p:ph type="title"/>
          </p:nvPr>
        </p:nvSpPr>
        <p:spPr>
          <a:xfrm>
            <a:off x="917575" y="-26987"/>
            <a:ext cx="7399338" cy="6350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0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实验内容：</a:t>
            </a:r>
            <a:r>
              <a:rPr lang="en-US" altLang="zh-CN" sz="20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shell</a:t>
            </a:r>
            <a:r>
              <a:rPr lang="zh-CN" altLang="en-US" sz="20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程序设计思路</a:t>
            </a:r>
            <a:endParaRPr lang="zh-CN" altLang="en-US" sz="20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844550" y="-14287"/>
            <a:ext cx="7399338" cy="635000"/>
          </a:xfrm>
          <a:ln/>
        </p:spPr>
        <p:txBody>
          <a:bodyPr vert="horz" wrap="square" lIns="91440" tIns="45720" rIns="91440" bIns="45720" anchor="ctr" anchorCtr="0"/>
          <a:p>
            <a:pPr/>
            <a:r>
              <a:rPr lang="zh-CN" altLang="en-US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实验内容：</a:t>
            </a:r>
            <a:r>
              <a:rPr lang="en-US" altLang="zh-CN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shell</a:t>
            </a:r>
            <a:r>
              <a:rPr lang="zh-CN" altLang="en-US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程序设计思路</a:t>
            </a:r>
            <a:endParaRPr lang="zh-CN" altLang="en-US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9219" name="副标题 2"/>
          <p:cNvSpPr>
            <a:spLocks noGrp="1"/>
          </p:cNvSpPr>
          <p:nvPr>
            <p:ph type="subTitle" idx="13"/>
          </p:nvPr>
        </p:nvSpPr>
        <p:spPr>
          <a:xfrm>
            <a:off x="908050" y="765175"/>
            <a:ext cx="6400800" cy="433388"/>
          </a:xfrm>
          <a:ln/>
        </p:spPr>
        <p:txBody>
          <a:bodyPr vert="horz" wrap="square" lIns="91440" tIns="45720" rIns="91440" bIns="45720" anchor="t" anchorCtr="0"/>
          <a:p>
            <a:pPr>
              <a:buClrTx/>
              <a:buSzTx/>
              <a:buFontTx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220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775" y="868363"/>
            <a:ext cx="6592888" cy="5989637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3"/>
          <p:cNvSpPr>
            <a:spLocks noGrp="1"/>
          </p:cNvSpPr>
          <p:nvPr>
            <p:ph idx="1"/>
          </p:nvPr>
        </p:nvSpPr>
        <p:spPr>
          <a:xfrm>
            <a:off x="457200" y="1377950"/>
            <a:ext cx="8229600" cy="4964113"/>
          </a:xfrm>
          <a:ln/>
        </p:spPr>
        <p:txBody>
          <a:bodyPr vert="horz" wrap="square" lIns="0" tIns="10972" rIns="0" bIns="0" anchor="t" anchorCtr="0"/>
          <a:p>
            <a:pPr defTabSz="449580" eaLnBrk="1" hangingPunct="1">
              <a:lnSpc>
                <a:spcPct val="145000"/>
              </a:lnSpc>
              <a:buClr>
                <a:srgbClr val="0066CC"/>
              </a:buClr>
              <a:buSzPct val="45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、程序运行时，如果找不到指定的文件，程序提示错误信息：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449580" eaLnBrk="1" hangingPunct="1">
              <a:lnSpc>
                <a:spcPct val="145000"/>
              </a:lnSpc>
              <a:buClr>
                <a:srgbClr val="0066CC"/>
              </a:buClr>
              <a:buSzPct val="45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defTabSz="449580" eaLnBrk="1" hangingPunct="1">
              <a:lnSpc>
                <a:spcPct val="145000"/>
              </a:lnSpc>
              <a:buClr>
                <a:srgbClr val="0066CC"/>
              </a:buClr>
              <a:buSzPct val="45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、运行程序，输入要检查的文件名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file1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，在十次检查周期内，文件大小都一直不变的情况下，程序输出如下信息：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43" name="副标题 1"/>
          <p:cNvSpPr>
            <a:spLocks noGrp="1"/>
          </p:cNvSpPr>
          <p:nvPr>
            <p:ph type="subTitle" idx="13"/>
          </p:nvPr>
        </p:nvSpPr>
        <p:spPr>
          <a:xfrm>
            <a:off x="908050" y="835025"/>
            <a:ext cx="6400800" cy="433388"/>
          </a:xfrm>
          <a:ln/>
        </p:spPr>
        <p:txBody>
          <a:bodyPr vert="horz" wrap="square" lIns="91440" tIns="45720" rIns="91440" bIns="45720" anchor="t" anchorCtr="0"/>
          <a:p>
            <a:pPr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要求达到运行效果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4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5250" y="1955800"/>
            <a:ext cx="7351713" cy="12176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638" y="4151313"/>
            <a:ext cx="4335462" cy="2371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6" name="Rectangle 2"/>
          <p:cNvSpPr>
            <a:spLocks noGrp="1"/>
          </p:cNvSpPr>
          <p:nvPr>
            <p:ph type="title"/>
          </p:nvPr>
        </p:nvSpPr>
        <p:spPr>
          <a:xfrm>
            <a:off x="844550" y="-14287"/>
            <a:ext cx="7399338" cy="635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实验</a:t>
            </a:r>
            <a:r>
              <a:rPr lang="en-US" altLang="zh-CN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2</a:t>
            </a:r>
            <a:r>
              <a:rPr lang="zh-CN" altLang="en-US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、文件状态测试</a:t>
            </a:r>
            <a:endParaRPr lang="zh-CN" altLang="en-US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3"/>
          <p:cNvSpPr>
            <a:spLocks noGrp="1"/>
          </p:cNvSpPr>
          <p:nvPr>
            <p:ph idx="1"/>
          </p:nvPr>
        </p:nvSpPr>
        <p:spPr>
          <a:xfrm>
            <a:off x="457200" y="1377950"/>
            <a:ext cx="8229600" cy="4964113"/>
          </a:xfrm>
          <a:ln/>
        </p:spPr>
        <p:txBody>
          <a:bodyPr vert="horz" wrap="square" lIns="0" tIns="10972" rIns="0" bIns="0" anchor="t" anchorCtr="0"/>
          <a:p>
            <a:pPr defTabSz="449580" eaLnBrk="1" hangingPunct="1">
              <a:lnSpc>
                <a:spcPct val="145000"/>
              </a:lnSpc>
              <a:buClr>
                <a:srgbClr val="0066CC"/>
              </a:buClr>
              <a:buSzPct val="45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、一旦当发现检查的文件大小改变时，程序显示如下信息：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291" name="副标题 1"/>
          <p:cNvSpPr>
            <a:spLocks noGrp="1"/>
          </p:cNvSpPr>
          <p:nvPr>
            <p:ph type="subTitle" idx="13"/>
          </p:nvPr>
        </p:nvSpPr>
        <p:spPr>
          <a:xfrm>
            <a:off x="908050" y="765175"/>
            <a:ext cx="6400800" cy="433388"/>
          </a:xfrm>
          <a:ln/>
        </p:spPr>
        <p:txBody>
          <a:bodyPr vert="horz" wrap="square" lIns="91440" tIns="45720" rIns="91440" bIns="45720" anchor="t" anchorCtr="0"/>
          <a:p>
            <a:pPr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要求达到运行效果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2292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488" y="2703513"/>
            <a:ext cx="3348037" cy="27765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3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363" y="2870200"/>
            <a:ext cx="5273675" cy="2376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4" name="文本框 2"/>
          <p:cNvSpPr txBox="1"/>
          <p:nvPr/>
        </p:nvSpPr>
        <p:spPr>
          <a:xfrm>
            <a:off x="4437063" y="5668963"/>
            <a:ext cx="468153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1800" dirty="0"/>
              <a:t>监测过程中文件大小改变</a:t>
            </a:r>
            <a:r>
              <a:rPr lang="en-US" altLang="zh-CN" sz="1800" dirty="0"/>
              <a:t>2</a:t>
            </a:r>
            <a:r>
              <a:rPr lang="zh-CN" altLang="en-US" sz="1800" dirty="0"/>
              <a:t>次</a:t>
            </a:r>
            <a:endParaRPr lang="zh-CN" altLang="en-US" sz="1800" dirty="0"/>
          </a:p>
        </p:txBody>
      </p:sp>
      <p:sp>
        <p:nvSpPr>
          <p:cNvPr id="12295" name="文本框 9"/>
          <p:cNvSpPr txBox="1"/>
          <p:nvPr/>
        </p:nvSpPr>
        <p:spPr>
          <a:xfrm>
            <a:off x="369888" y="5668963"/>
            <a:ext cx="46799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1800" dirty="0"/>
              <a:t>监测过程中文件大小改变</a:t>
            </a:r>
            <a:r>
              <a:rPr lang="en-US" altLang="zh-CN" sz="1800" dirty="0"/>
              <a:t>1</a:t>
            </a:r>
            <a:r>
              <a:rPr lang="zh-CN" altLang="en-US" sz="1800" dirty="0"/>
              <a:t>次</a:t>
            </a:r>
            <a:endParaRPr lang="zh-CN" altLang="en-US" sz="1800" dirty="0"/>
          </a:p>
        </p:txBody>
      </p:sp>
      <p:sp>
        <p:nvSpPr>
          <p:cNvPr id="12296" name="Rectangle 2"/>
          <p:cNvSpPr>
            <a:spLocks noGrp="1"/>
          </p:cNvSpPr>
          <p:nvPr>
            <p:ph type="title"/>
          </p:nvPr>
        </p:nvSpPr>
        <p:spPr>
          <a:xfrm>
            <a:off x="844550" y="-14287"/>
            <a:ext cx="7399338" cy="635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实验</a:t>
            </a:r>
            <a:r>
              <a:rPr lang="en-US" altLang="zh-CN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2</a:t>
            </a:r>
            <a:r>
              <a:rPr lang="zh-CN" altLang="en-US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、文件状态测试</a:t>
            </a:r>
            <a:endParaRPr lang="zh-CN" altLang="en-US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内容占位符 1"/>
          <p:cNvSpPr>
            <a:spLocks noGrp="1"/>
          </p:cNvSpPr>
          <p:nvPr>
            <p:ph idx="1"/>
          </p:nvPr>
        </p:nvSpPr>
        <p:spPr>
          <a:xfrm>
            <a:off x="457200" y="1377950"/>
            <a:ext cx="8229600" cy="4964113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SHELL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程序中不仅仅可以使用命令的集合，而且可以安排自动化处理过程，因此可以通过编写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SHELL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程序使大量的任务执行实现自动化。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SHELL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比较擅长完成系统管理任务，尤其适合完成那些易用性、可维护性和便携性比执行效率更优先的任务。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我们可以使用任意一种文本编辑器完成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SHELL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程序的编写，在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SHELL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编程中要遵循一定的程序设计规则和变量使用规则。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339" name="副标题 2"/>
          <p:cNvSpPr>
            <a:spLocks noGrp="1"/>
          </p:cNvSpPr>
          <p:nvPr>
            <p:ph type="subTitle" idx="13"/>
          </p:nvPr>
        </p:nvSpPr>
        <p:spPr>
          <a:xfrm>
            <a:off x="908050" y="765175"/>
            <a:ext cx="6400800" cy="433388"/>
          </a:xfrm>
          <a:ln/>
        </p:spPr>
        <p:txBody>
          <a:bodyPr vert="horz" wrap="square" lIns="91440" tIns="45720" rIns="91440" bIns="45720" anchor="t" anchorCtr="0"/>
          <a:p>
            <a:pPr>
              <a:buClrTx/>
              <a:buSzTx/>
              <a:buFontTx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SHELL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程序的主要用途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ClrTx/>
              <a:buSzTx/>
              <a:buFontTx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340" name="Rectangle 2"/>
          <p:cNvSpPr>
            <a:spLocks noGrp="1"/>
          </p:cNvSpPr>
          <p:nvPr>
            <p:ph type="title"/>
          </p:nvPr>
        </p:nvSpPr>
        <p:spPr>
          <a:xfrm>
            <a:off x="844550" y="-14287"/>
            <a:ext cx="7399338" cy="635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实验</a:t>
            </a:r>
            <a:r>
              <a:rPr lang="en-US" altLang="zh-CN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2</a:t>
            </a:r>
            <a:r>
              <a:rPr lang="zh-CN" altLang="en-US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、文件状态测试</a:t>
            </a:r>
            <a:endParaRPr lang="zh-CN" altLang="en-US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386" name="内容占位符 2"/>
          <p:cNvPicPr>
            <a:picLocks noGrp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330200" y="1282700"/>
            <a:ext cx="8432800" cy="5067300"/>
          </a:xfrm>
          <a:ln/>
        </p:spPr>
      </p:pic>
      <p:sp>
        <p:nvSpPr>
          <p:cNvPr id="16387" name="副标题 1"/>
          <p:cNvSpPr>
            <a:spLocks noGrp="1"/>
          </p:cNvSpPr>
          <p:nvPr>
            <p:ph type="subTitle" idx="13"/>
          </p:nvPr>
        </p:nvSpPr>
        <p:spPr>
          <a:xfrm>
            <a:off x="908050" y="835025"/>
            <a:ext cx="6400800" cy="433388"/>
          </a:xfrm>
          <a:ln/>
        </p:spPr>
        <p:txBody>
          <a:bodyPr vert="horz" wrap="square" lIns="91440" tIns="45720" rIns="91440" bIns="45720" anchor="t" anchorCtr="0"/>
          <a:p>
            <a:pPr>
              <a:buClrTx/>
              <a:buSzTx/>
              <a:buFontTx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SHELL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程序的执行与调试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ClrTx/>
              <a:buSzTx/>
              <a:buFontTx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388" name="矩形 3"/>
          <p:cNvSpPr/>
          <p:nvPr/>
        </p:nvSpPr>
        <p:spPr>
          <a:xfrm>
            <a:off x="433388" y="3413125"/>
            <a:ext cx="8253412" cy="2805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66700" lvl="0" indent="-266700" defTabSz="685800">
              <a:lnSpc>
                <a:spcPct val="90000"/>
              </a:lnSpc>
              <a:spcBef>
                <a:spcPts val="13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gedit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等文本编辑器编写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Shell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脚本的格式是固定的，如下：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66700" lvl="0" indent="-266700" defTabSz="685800">
              <a:lnSpc>
                <a:spcPct val="90000"/>
              </a:lnSpc>
              <a:spcBef>
                <a:spcPts val="13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66700" lvl="0" indent="-266700" defTabSz="685800">
              <a:lnSpc>
                <a:spcPct val="90000"/>
              </a:lnSpc>
              <a:spcBef>
                <a:spcPts val="13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66700" lvl="0" indent="-266700" defTabSz="685800">
              <a:lnSpc>
                <a:spcPct val="90000"/>
              </a:lnSpc>
              <a:spcBef>
                <a:spcPts val="1350"/>
              </a:spcBef>
              <a:buClr>
                <a:schemeClr val="accent1"/>
              </a:buClr>
              <a:buSzPct val="70000"/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66700" lvl="0" indent="-266700" defTabSz="685800">
              <a:lnSpc>
                <a:spcPct val="90000"/>
              </a:lnSpc>
              <a:spcBef>
                <a:spcPts val="13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filename.sh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，文件名后缀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表明这是一个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Bash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脚本文件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84413" y="4106863"/>
            <a:ext cx="4572000" cy="14493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457200" marR="0" lvl="1" indent="0" algn="l" defTabSz="685800" rtl="0" eaLnBrk="0" fontAlgn="base" latinLnBrk="0" hangingPunct="0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70000"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#!/bin/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sh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685800" rtl="0" eaLnBrk="0" fontAlgn="base" latinLnBrk="0" hangingPunct="0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70000"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#comments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685800" rtl="0" eaLnBrk="0" fontAlgn="base" latinLnBrk="0" hangingPunct="0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70000"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Your commands go here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390" name="Rectangle 2"/>
          <p:cNvSpPr txBox="1"/>
          <p:nvPr/>
        </p:nvSpPr>
        <p:spPr>
          <a:xfrm>
            <a:off x="869950" y="0"/>
            <a:ext cx="7400925" cy="635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0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en-US" altLang="zh-CN" sz="20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、文件状态测试</a:t>
            </a:r>
            <a:endParaRPr lang="zh-CN" altLang="en-US" sz="20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内容占位符 2"/>
          <p:cNvSpPr>
            <a:spLocks noGrp="1"/>
          </p:cNvSpPr>
          <p:nvPr>
            <p:ph idx="1"/>
          </p:nvPr>
        </p:nvSpPr>
        <p:spPr>
          <a:xfrm>
            <a:off x="428625" y="1484313"/>
            <a:ext cx="8229600" cy="4964112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spcBef>
                <a:spcPts val="750"/>
              </a:spcBef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当编辑完一个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SHELL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脚本后，要使该脚本能够执行，还必须使该脚本文件具有可执行权。需要执行命令：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ctr">
              <a:lnSpc>
                <a:spcPct val="120000"/>
              </a:lnSpc>
              <a:spcBef>
                <a:spcPts val="75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chmod  +x  filename</a:t>
            </a: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20000"/>
              </a:lnSpc>
              <a:spcBef>
                <a:spcPts val="750"/>
              </a:spcBef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shell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程序中，以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#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开头到一个行结束的句子表示注释信息。建议大家在编写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shell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程序时养成添加注释的习惯，因为注释不仅能给其他需要熟悉该程序的人以帮助，也能给出脚本编写者设计原理的提示。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20000"/>
              </a:lnSpc>
              <a:spcBef>
                <a:spcPts val="750"/>
              </a:spcBef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shell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程序设计时，必定会用到变量。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Shell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编程中使用的变量有自己的特色，即所有的变量都是由字符串组成的，而且对变量无须进行声明，可直接进行变量赋值操作。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411" name="Rectangle 2"/>
          <p:cNvSpPr txBox="1"/>
          <p:nvPr/>
        </p:nvSpPr>
        <p:spPr>
          <a:xfrm>
            <a:off x="869950" y="0"/>
            <a:ext cx="7400925" cy="635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0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en-US" altLang="zh-CN" sz="20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、文件状态测试</a:t>
            </a:r>
            <a:endParaRPr lang="zh-CN" altLang="en-US" sz="20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12" name="副标题 1"/>
          <p:cNvSpPr>
            <a:spLocks noGrp="1"/>
          </p:cNvSpPr>
          <p:nvPr>
            <p:ph type="subTitle" idx="13"/>
          </p:nvPr>
        </p:nvSpPr>
        <p:spPr>
          <a:xfrm>
            <a:off x="908050" y="835025"/>
            <a:ext cx="6400800" cy="433388"/>
          </a:xfrm>
          <a:ln/>
        </p:spPr>
        <p:txBody>
          <a:bodyPr vert="horz" wrap="square" lIns="91440" tIns="45720" rIns="91440" bIns="45720" anchor="t" anchorCtr="0"/>
          <a:p>
            <a:pPr>
              <a:buClrTx/>
              <a:buSzTx/>
              <a:buFontTx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SHELL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程序的执行与调试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ClrTx/>
              <a:buSzTx/>
              <a:buFontTx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内容占位符 2"/>
          <p:cNvSpPr>
            <a:spLocks noGrp="1"/>
          </p:cNvSpPr>
          <p:nvPr>
            <p:ph idx="1"/>
          </p:nvPr>
        </p:nvSpPr>
        <p:spPr>
          <a:xfrm>
            <a:off x="457200" y="1377950"/>
            <a:ext cx="8229600" cy="4964113"/>
          </a:xfrm>
          <a:ln/>
        </p:spPr>
        <p:txBody>
          <a:bodyPr vert="horz" wrap="square" lIns="91440" tIns="45720" rIns="91440" bIns="45720" anchor="t" anchorCtr="0"/>
          <a:p>
            <a:pPr marL="0" indent="0">
              <a:lnSpc>
                <a:spcPct val="120000"/>
              </a:lnSpc>
              <a:spcBef>
                <a:spcPts val="750"/>
              </a:spcBef>
              <a:buFont typeface="Wingdings" panose="05000000000000000000" pitchFamily="2" charset="2"/>
              <a:buNone/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SHELL</a:t>
            </a:r>
            <a:r>
              <a:rPr lang="zh-CN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编程中除了需要遵守一些规则外，还有一些注意事项，如果做得好会对编程有促进，这里列出几条仅供大家参考，更多的内容还需自己通过编程积累。</a:t>
            </a:r>
            <a:endParaRPr lang="zh-CN" altLang="zh-CN" sz="26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indent="0">
              <a:lnSpc>
                <a:spcPct val="120000"/>
              </a:lnSpc>
              <a:spcBef>
                <a:spcPts val="750"/>
              </a:spcBef>
            </a:pPr>
            <a:r>
              <a:rPr lang="zh-CN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因为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LINUX</a:t>
            </a:r>
            <a:r>
              <a:rPr lang="zh-CN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中命令使用的是小写字符，因此在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SHELL</a:t>
            </a:r>
            <a:r>
              <a:rPr lang="zh-CN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编程中可以使用</a:t>
            </a:r>
            <a:r>
              <a:rPr lang="zh-CN" altLang="zh-CN" sz="2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大写字符表示变量以示区别</a:t>
            </a:r>
            <a:r>
              <a:rPr lang="zh-CN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lang="zh-CN" altLang="zh-CN" sz="26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indent="0">
              <a:lnSpc>
                <a:spcPct val="120000"/>
              </a:lnSpc>
              <a:spcBef>
                <a:spcPts val="750"/>
              </a:spcBef>
            </a:pPr>
            <a:r>
              <a:rPr lang="zh-CN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SHELL</a:t>
            </a:r>
            <a:r>
              <a:rPr lang="zh-CN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语句中加入必要的注释，以便以后阅读和维护，注释以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”</a:t>
            </a:r>
            <a:r>
              <a:rPr lang="en-US" altLang="zh-CN" sz="2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#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”</a:t>
            </a:r>
            <a:r>
              <a:rPr lang="zh-CN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开头。</a:t>
            </a:r>
            <a:endParaRPr lang="zh-CN" altLang="zh-CN" sz="26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indent="0">
              <a:lnSpc>
                <a:spcPct val="120000"/>
              </a:lnSpc>
              <a:spcBef>
                <a:spcPts val="750"/>
              </a:spcBef>
            </a:pPr>
            <a:r>
              <a:rPr lang="zh-CN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SHELL</a:t>
            </a:r>
            <a:r>
              <a:rPr lang="zh-CN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变量进行数字运算时，使用乘法符号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”*”</a:t>
            </a:r>
            <a:r>
              <a:rPr lang="zh-CN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时，要用转义符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”\”</a:t>
            </a:r>
            <a:r>
              <a:rPr lang="zh-CN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进行转义。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indent="0">
              <a:lnSpc>
                <a:spcPct val="120000"/>
              </a:lnSpc>
              <a:spcBef>
                <a:spcPts val="750"/>
              </a:spcBef>
              <a:buFont typeface="Wingdings" panose="05000000000000000000" pitchFamily="2" charset="2"/>
              <a:buNone/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例子：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multiplication=` expr $j \* $j` 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indent="0">
              <a:lnSpc>
                <a:spcPct val="120000"/>
              </a:lnSpc>
              <a:spcBef>
                <a:spcPts val="750"/>
              </a:spcBef>
              <a:buFont typeface="Wingdings" panose="05000000000000000000" pitchFamily="2" charset="2"/>
              <a:buNone/>
            </a:pPr>
            <a:endParaRPr lang="zh-CN" altLang="zh-CN" sz="26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435" name="副标题 1"/>
          <p:cNvSpPr>
            <a:spLocks noGrp="1"/>
          </p:cNvSpPr>
          <p:nvPr>
            <p:ph type="subTitle" idx="13"/>
          </p:nvPr>
        </p:nvSpPr>
        <p:spPr>
          <a:xfrm>
            <a:off x="908050" y="835025"/>
            <a:ext cx="6400800" cy="433388"/>
          </a:xfrm>
          <a:ln/>
        </p:spPr>
        <p:txBody>
          <a:bodyPr vert="horz" wrap="square" lIns="91440" tIns="45720" rIns="91440" bIns="45720" anchor="t" anchorCtr="0"/>
          <a:p>
            <a:pPr>
              <a:buClrTx/>
              <a:buSzTx/>
              <a:buFontTx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SHELL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注意事项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436" name="Rectangle 2"/>
          <p:cNvSpPr txBox="1"/>
          <p:nvPr/>
        </p:nvSpPr>
        <p:spPr>
          <a:xfrm>
            <a:off x="869950" y="0"/>
            <a:ext cx="7400925" cy="635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0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en-US" altLang="zh-CN" sz="20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、文件状态测试</a:t>
            </a:r>
            <a:endParaRPr lang="zh-CN" altLang="en-US" sz="20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9458" name="内容占位符 2"/>
          <p:cNvPicPr>
            <a:picLocks noGrp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304800" y="1295400"/>
            <a:ext cx="8382000" cy="5130800"/>
          </a:xfrm>
          <a:ln/>
        </p:spPr>
      </p:pic>
      <p:sp>
        <p:nvSpPr>
          <p:cNvPr id="19459" name="Rectangle 2"/>
          <p:cNvSpPr txBox="1"/>
          <p:nvPr/>
        </p:nvSpPr>
        <p:spPr>
          <a:xfrm>
            <a:off x="869950" y="0"/>
            <a:ext cx="7400925" cy="635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0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en-US" altLang="zh-CN" sz="20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、文件状态测试</a:t>
            </a:r>
            <a:endParaRPr lang="zh-CN" altLang="en-US" sz="20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60" name="副标题 1"/>
          <p:cNvSpPr>
            <a:spLocks noGrp="1"/>
          </p:cNvSpPr>
          <p:nvPr>
            <p:ph type="subTitle" idx="13"/>
          </p:nvPr>
        </p:nvSpPr>
        <p:spPr>
          <a:xfrm>
            <a:off x="908050" y="835025"/>
            <a:ext cx="6400800" cy="433388"/>
          </a:xfrm>
          <a:ln/>
        </p:spPr>
        <p:txBody>
          <a:bodyPr vert="horz" wrap="square" lIns="91440" tIns="45720" rIns="91440" bIns="45720" anchor="t" anchorCtr="0"/>
          <a:p>
            <a:pPr>
              <a:buClrTx/>
              <a:buSzTx/>
              <a:buFontTx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SHELL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注意事项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内容占位符 2"/>
          <p:cNvSpPr txBox="1"/>
          <p:nvPr/>
        </p:nvSpPr>
        <p:spPr>
          <a:xfrm>
            <a:off x="395288" y="1484313"/>
            <a:ext cx="8008937" cy="514191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400" dirty="0"/>
              <a:t>最简单的调试命令当然是使用</a:t>
            </a:r>
            <a:r>
              <a:rPr lang="en-US" altLang="zh-CN" sz="2400" dirty="0"/>
              <a:t>echo</a:t>
            </a:r>
            <a:r>
              <a:rPr lang="zh-CN" altLang="en-US" sz="2400" dirty="0"/>
              <a:t>命令。可以使用</a:t>
            </a:r>
            <a:r>
              <a:rPr lang="en-US" altLang="zh-CN" sz="2400" dirty="0"/>
              <a:t>echo</a:t>
            </a:r>
            <a:r>
              <a:rPr lang="zh-CN" altLang="en-US" sz="2400" dirty="0"/>
              <a:t>在任何怀疑出错的地方打印任何变量值。另外还可以利用</a:t>
            </a:r>
            <a:r>
              <a:rPr lang="en-US" altLang="zh-CN" sz="2400" dirty="0"/>
              <a:t>Bash</a:t>
            </a:r>
            <a:r>
              <a:rPr lang="zh-CN" altLang="en-US" sz="2400" dirty="0"/>
              <a:t>中提供的选项进行检查</a:t>
            </a:r>
            <a:endParaRPr lang="zh-CN" altLang="en-US" sz="2400" dirty="0"/>
          </a:p>
          <a:p>
            <a:pPr marL="266700" lvl="1" indent="-266700" defTabSz="685800" latinLnBrk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CN" sz="2400" dirty="0"/>
              <a:t>-n</a:t>
            </a:r>
            <a:r>
              <a:rPr lang="zh-CN" altLang="en-US" sz="2400" dirty="0"/>
              <a:t>，读一遍脚本中的命令但不执行，用于检查脚本中的语法错误。</a:t>
            </a:r>
            <a:endParaRPr lang="zh-CN" altLang="en-US" sz="2400" dirty="0"/>
          </a:p>
          <a:p>
            <a:pPr marL="266700" lvl="1" indent="-266700" defTabSz="685800" latinLnBrk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CN" sz="2400" dirty="0"/>
              <a:t>-v</a:t>
            </a:r>
            <a:r>
              <a:rPr lang="zh-CN" altLang="en-US" sz="2400" dirty="0"/>
              <a:t>，一边执行脚本，一边将执行过的脚本命令打印到标准输出。</a:t>
            </a:r>
            <a:endParaRPr lang="zh-CN" altLang="en-US" sz="2400" dirty="0"/>
          </a:p>
          <a:p>
            <a:pPr marL="266700" lvl="1" indent="-266700" defTabSz="685800" latinLnBrk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CN" sz="2400" dirty="0"/>
              <a:t>-x</a:t>
            </a:r>
            <a:r>
              <a:rPr lang="zh-CN" altLang="en-US" sz="2400" dirty="0"/>
              <a:t>，提供跟踪执行信息，将执行的每一条命令和结果依次打印出来。该选项会显示刚刚执行的命令及参数。用户可以通过</a:t>
            </a:r>
            <a:r>
              <a:rPr lang="en-US" altLang="zh-CN" sz="2400" b="1" dirty="0"/>
              <a:t>set</a:t>
            </a:r>
            <a:r>
              <a:rPr lang="zh-CN" altLang="en-US" sz="2400" b="1" dirty="0"/>
              <a:t>命令打开</a:t>
            </a:r>
            <a:r>
              <a:rPr lang="en-US" altLang="zh-CN" sz="2400" b="1" dirty="0"/>
              <a:t>-x</a:t>
            </a:r>
            <a:r>
              <a:rPr lang="zh-CN" altLang="en-US" sz="2400" b="1" dirty="0"/>
              <a:t>选项</a:t>
            </a:r>
            <a:r>
              <a:rPr lang="zh-CN" altLang="en-US" sz="2400" dirty="0"/>
              <a:t>或在</a:t>
            </a:r>
            <a:r>
              <a:rPr lang="zh-CN" altLang="en-US" sz="2400" b="1" dirty="0"/>
              <a:t>启动</a:t>
            </a:r>
            <a:r>
              <a:rPr lang="en-US" altLang="zh-CN" sz="2400" b="1" dirty="0"/>
              <a:t>Shell</a:t>
            </a:r>
            <a:r>
              <a:rPr lang="zh-CN" altLang="en-US" sz="2400" b="1" dirty="0"/>
              <a:t>使用</a:t>
            </a:r>
            <a:r>
              <a:rPr lang="en-US" altLang="zh-CN" sz="2400" b="1" dirty="0"/>
              <a:t>-x</a:t>
            </a:r>
            <a:r>
              <a:rPr lang="zh-CN" altLang="en-US" sz="2400" b="1" dirty="0"/>
              <a:t>选项</a:t>
            </a:r>
            <a:r>
              <a:rPr lang="zh-CN" altLang="en-US" sz="2400" dirty="0"/>
              <a:t>将</a:t>
            </a:r>
            <a:r>
              <a:rPr lang="en-US" altLang="zh-CN" sz="2400" dirty="0"/>
              <a:t>Shell</a:t>
            </a:r>
            <a:r>
              <a:rPr lang="zh-CN" altLang="en-US" sz="2400" dirty="0"/>
              <a:t>设置成跟踪模式。 </a:t>
            </a:r>
            <a:endParaRPr lang="en-US" altLang="zh-CN" sz="2400" dirty="0"/>
          </a:p>
          <a:p>
            <a:pPr marL="857250" lvl="2" indent="-171450" defTabSz="685800" latinLnBrk="1">
              <a:lnSpc>
                <a:spcPct val="120000"/>
              </a:lnSpc>
              <a:spcBef>
                <a:spcPts val="375"/>
              </a:spcBef>
              <a:buFont typeface="Calibri" panose="020F0502020204030204" pitchFamily="34" charset="0"/>
              <a:buChar char="•"/>
            </a:pPr>
            <a:endParaRPr lang="zh-CN" altLang="en-US" dirty="0">
              <a:solidFill>
                <a:srgbClr val="7F7F7F"/>
              </a:solidFill>
            </a:endParaRPr>
          </a:p>
          <a:p>
            <a:pPr marL="0"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endParaRPr lang="zh-CN" altLang="en-US" sz="2400" dirty="0"/>
          </a:p>
          <a:p>
            <a:pPr marL="0" lvl="0" indent="0" defTabSz="685800">
              <a:lnSpc>
                <a:spcPct val="90000"/>
              </a:lnSpc>
              <a:spcBef>
                <a:spcPts val="13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endParaRPr lang="zh-CN" altLang="en-US" sz="2400" dirty="0"/>
          </a:p>
        </p:txBody>
      </p:sp>
      <p:sp>
        <p:nvSpPr>
          <p:cNvPr id="20483" name="Rectangle 2"/>
          <p:cNvSpPr txBox="1"/>
          <p:nvPr/>
        </p:nvSpPr>
        <p:spPr>
          <a:xfrm>
            <a:off x="869950" y="0"/>
            <a:ext cx="7400925" cy="635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0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en-US" altLang="zh-CN" sz="20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、文件状态测试</a:t>
            </a:r>
            <a:endParaRPr lang="zh-CN" altLang="en-US" sz="20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84" name="副标题 1"/>
          <p:cNvSpPr>
            <a:spLocks noGrp="1"/>
          </p:cNvSpPr>
          <p:nvPr>
            <p:ph type="subTitle" idx="13"/>
          </p:nvPr>
        </p:nvSpPr>
        <p:spPr>
          <a:xfrm>
            <a:off x="908050" y="835025"/>
            <a:ext cx="6400800" cy="433388"/>
          </a:xfrm>
          <a:ln/>
        </p:spPr>
        <p:txBody>
          <a:bodyPr vert="horz" wrap="square" lIns="91440" tIns="45720" rIns="91440" bIns="45720" anchor="t" anchorCtr="0"/>
          <a:p>
            <a:pPr>
              <a:buClrTx/>
              <a:buSzTx/>
              <a:buFontTx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SHELL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简单调试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内容占位符 2"/>
          <p:cNvSpPr>
            <a:spLocks noGrp="1"/>
          </p:cNvSpPr>
          <p:nvPr>
            <p:ph idx="1"/>
          </p:nvPr>
        </p:nvSpPr>
        <p:spPr>
          <a:xfrm>
            <a:off x="457200" y="1377950"/>
            <a:ext cx="8229600" cy="4964113"/>
          </a:xfrm>
          <a:ln/>
        </p:spPr>
        <p:txBody>
          <a:bodyPr vert="horz" wrap="square" lIns="91440" tIns="45720" rIns="91440" bIns="45720" anchor="t" anchorCtr="0"/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使用这些选项有三种方法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注意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: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避免几种调试选项混用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indent="0" latinLnBrk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在命令行提供参数：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$sh -x script.sh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indent="0" latinLnBrk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脚本开头提供参数：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#!/bin/sh -x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indent="0" latinLnBrk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在脚本中用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set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命令启用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禁用参数：其中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set -x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表示启用，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set +x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表示禁用。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indent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507" name="副标题 1"/>
          <p:cNvSpPr>
            <a:spLocks noGrp="1"/>
          </p:cNvSpPr>
          <p:nvPr>
            <p:ph type="subTitle" idx="13"/>
          </p:nvPr>
        </p:nvSpPr>
        <p:spPr>
          <a:xfrm>
            <a:off x="908050" y="765175"/>
            <a:ext cx="6400800" cy="433388"/>
          </a:xfrm>
          <a:ln/>
        </p:spPr>
        <p:txBody>
          <a:bodyPr vert="horz" wrap="square" lIns="91440" tIns="45720" rIns="91440" bIns="45720" anchor="t" anchorCtr="0"/>
          <a:p>
            <a:pPr>
              <a:buClrTx/>
              <a:buSzTx/>
              <a:buFontTx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Shell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简单调试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59840" y="2348865"/>
            <a:ext cx="6781800" cy="333629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示例代码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ice_tx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: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if [ $# -eq 0 ] then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echo "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usage:sumints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integer list"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exit 1 fi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sum=0</a:t>
            </a:r>
            <a:b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until [ $# -eq 0 ] do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sum='expr $sum + $1'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shift done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echo $sum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09" name="Rectangle 2"/>
          <p:cNvSpPr txBox="1"/>
          <p:nvPr/>
        </p:nvSpPr>
        <p:spPr>
          <a:xfrm>
            <a:off x="869950" y="0"/>
            <a:ext cx="7400925" cy="635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0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en-US" altLang="zh-CN" sz="20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、文件状态测试</a:t>
            </a:r>
            <a:endParaRPr lang="zh-CN" altLang="en-US" sz="20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副标题 2"/>
          <p:cNvSpPr>
            <a:spLocks noGrp="1"/>
          </p:cNvSpPr>
          <p:nvPr>
            <p:ph type="subTitle" idx="13"/>
          </p:nvPr>
        </p:nvSpPr>
        <p:spPr>
          <a:xfrm>
            <a:off x="908050" y="835025"/>
            <a:ext cx="6400800" cy="433388"/>
          </a:xfrm>
          <a:ln/>
        </p:spPr>
        <p:txBody>
          <a:bodyPr vert="horz" wrap="square" lIns="91440" tIns="45720" rIns="91440" bIns="45720" anchor="t" anchorCtr="0"/>
          <a:p>
            <a:pPr>
              <a:buClrTx/>
              <a:buSzTx/>
              <a:buFontTx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Shell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简单调试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ClrTx/>
              <a:buSzTx/>
              <a:buFontTx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2531" name="矩形 3"/>
          <p:cNvPicPr/>
          <p:nvPr/>
        </p:nvPicPr>
        <p:blipFill>
          <a:blip r:embed="rId1"/>
          <a:stretch>
            <a:fillRect/>
          </a:stretch>
        </p:blipFill>
        <p:spPr>
          <a:xfrm>
            <a:off x="2328545" y="1435100"/>
            <a:ext cx="8166100" cy="177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/>
        </p:nvSpPr>
        <p:spPr>
          <a:xfrm>
            <a:off x="735013" y="1549400"/>
            <a:ext cx="1512888" cy="52641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+[ 3 -eq 0 ]</a:t>
            </a:r>
            <a:b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+sum=0</a:t>
            </a:r>
            <a:b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+[ 3 -eq 0 ]</a:t>
            </a:r>
            <a:b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+expr 0+2 </a:t>
            </a:r>
            <a:endParaRPr kumimoji="0" lang="en-US" altLang="zh-CN" sz="21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+sum=2</a:t>
            </a:r>
            <a:b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+shift</a:t>
            </a:r>
            <a:b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+[ 2 -eq 0 ]</a:t>
            </a:r>
            <a:b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+expr 2+3</a:t>
            </a:r>
            <a:b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+sum=5</a:t>
            </a:r>
            <a:b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+shift</a:t>
            </a:r>
            <a:b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+[ 1 -eq 0 ]</a:t>
            </a:r>
            <a:b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+expr 5+4</a:t>
            </a:r>
            <a:b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+sum=9</a:t>
            </a:r>
            <a:b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+[ 0 -eq 0 ]</a:t>
            </a:r>
            <a:b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+echo 9</a:t>
            </a:r>
            <a:b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 </a:t>
            </a:r>
            <a:endParaRPr kumimoji="0" lang="en-US" altLang="zh-CN" sz="21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533" name="矩形 5"/>
          <p:cNvSpPr/>
          <p:nvPr/>
        </p:nvSpPr>
        <p:spPr>
          <a:xfrm>
            <a:off x="3041650" y="3095625"/>
            <a:ext cx="5367338" cy="2243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555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从结果可以看出，跟踪模式下</a:t>
            </a:r>
            <a:r>
              <a:rPr lang="en-US" altLang="zh-CN" sz="2400" dirty="0">
                <a:solidFill>
                  <a:srgbClr val="555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Shell</a:t>
            </a:r>
            <a:r>
              <a:rPr lang="zh-CN" altLang="en-US" sz="2400" dirty="0">
                <a:solidFill>
                  <a:srgbClr val="555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显示执行的每一条命令以及该命令使用的变量替换后的参数值。一些控制字如</a:t>
            </a:r>
            <a:r>
              <a:rPr lang="en-US" altLang="zh-CN" sz="2400" dirty="0">
                <a:solidFill>
                  <a:srgbClr val="555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2400" dirty="0">
                <a:solidFill>
                  <a:srgbClr val="555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555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then</a:t>
            </a:r>
            <a:r>
              <a:rPr lang="zh-CN" altLang="en-US" sz="2400" dirty="0">
                <a:solidFill>
                  <a:srgbClr val="555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555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until</a:t>
            </a:r>
            <a:r>
              <a:rPr lang="zh-CN" altLang="en-US" sz="2400" dirty="0">
                <a:solidFill>
                  <a:srgbClr val="555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等没显示</a:t>
            </a:r>
            <a:endParaRPr lang="zh-CN" altLang="en-US" sz="2400" dirty="0">
              <a:solidFill>
                <a:srgbClr val="55595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34" name="右箭头 6"/>
          <p:cNvSpPr/>
          <p:nvPr/>
        </p:nvSpPr>
        <p:spPr>
          <a:xfrm>
            <a:off x="2247900" y="3892550"/>
            <a:ext cx="608013" cy="62706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2535" name="Rectangle 2"/>
          <p:cNvSpPr txBox="1"/>
          <p:nvPr/>
        </p:nvSpPr>
        <p:spPr>
          <a:xfrm>
            <a:off x="869950" y="0"/>
            <a:ext cx="7400925" cy="635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0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en-US" altLang="zh-CN" sz="20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、文件状态测试</a:t>
            </a:r>
            <a:endParaRPr lang="zh-CN" altLang="en-US" sz="20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副标题 2"/>
          <p:cNvSpPr>
            <a:spLocks noGrp="1"/>
          </p:cNvSpPr>
          <p:nvPr>
            <p:ph type="subTitle" idx="13"/>
          </p:nvPr>
        </p:nvSpPr>
        <p:spPr>
          <a:xfrm>
            <a:off x="908050" y="835025"/>
            <a:ext cx="6400800" cy="433388"/>
          </a:xfrm>
          <a:ln/>
        </p:spPr>
        <p:txBody>
          <a:bodyPr vert="horz" wrap="square" lIns="91440" tIns="45720" rIns="91440" bIns="45720" anchor="t" anchorCtr="0"/>
          <a:p>
            <a:pPr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提示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3555" name="矩形 5"/>
          <p:cNvPicPr/>
          <p:nvPr/>
        </p:nvPicPr>
        <p:blipFill>
          <a:blip r:embed="rId1"/>
          <a:stretch>
            <a:fillRect/>
          </a:stretch>
        </p:blipFill>
        <p:spPr>
          <a:xfrm>
            <a:off x="749300" y="1473200"/>
            <a:ext cx="7912100" cy="2413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6" name="Rectangle 2"/>
          <p:cNvSpPr txBox="1"/>
          <p:nvPr/>
        </p:nvSpPr>
        <p:spPr>
          <a:xfrm>
            <a:off x="869950" y="0"/>
            <a:ext cx="7400925" cy="635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0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en-US" altLang="zh-CN" sz="20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、文件状态测试</a:t>
            </a:r>
            <a:endParaRPr lang="zh-CN" altLang="en-US" sz="20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DMwYjU1OWM0ZWYxZjQ5YjM2Njg4NmE5NzU3NmFhYWE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2392</Words>
  <Application>WPS 演示</Application>
  <PresentationFormat>全屏显示(4:3)</PresentationFormat>
  <Paragraphs>146</Paragraphs>
  <Slides>15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等线</vt:lpstr>
      <vt:lpstr>Calibri</vt:lpstr>
      <vt:lpstr>微软雅黑</vt:lpstr>
      <vt:lpstr>楷体</vt:lpstr>
      <vt:lpstr>Arial Unicode MS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实验一、哲学家就餐问题的实现</dc:title>
  <dc:creator>l-fay</dc:creator>
  <cp:lastModifiedBy>han</cp:lastModifiedBy>
  <cp:revision>198</cp:revision>
  <dcterms:created xsi:type="dcterms:W3CDTF">2015-04-21T06:51:15Z</dcterms:created>
  <dcterms:modified xsi:type="dcterms:W3CDTF">2024-04-23T13:04:15Z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ICV">
    <vt:lpwstr>9933654459E043B385064C3B560FD16F_13</vt:lpwstr>
  </property>
</Properties>
</file>