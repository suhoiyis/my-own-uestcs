
<file path=[Content_Types].xml><?xml version="1.0" encoding="utf-8"?>
<Types xmlns="http://schemas.openxmlformats.org/package/2006/content-types">
  <Default Extension="tiff" ContentType="image/tif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8" r:id="rId3"/>
    <p:sldId id="298" r:id="rId4"/>
    <p:sldId id="271" r:id="rId6"/>
    <p:sldId id="299" r:id="rId7"/>
    <p:sldId id="273" r:id="rId8"/>
    <p:sldId id="303" r:id="rId9"/>
    <p:sldId id="300" r:id="rId10"/>
    <p:sldId id="301" r:id="rId11"/>
    <p:sldId id="274" r:id="rId12"/>
    <p:sldId id="310" r:id="rId13"/>
    <p:sldId id="311" r:id="rId14"/>
    <p:sldId id="277" r:id="rId15"/>
    <p:sldId id="268" r:id="rId16"/>
    <p:sldId id="269" r:id="rId17"/>
    <p:sldId id="346" r:id="rId18"/>
    <p:sldId id="347" r:id="rId19"/>
    <p:sldId id="813" r:id="rId20"/>
    <p:sldId id="348" r:id="rId21"/>
    <p:sldId id="349" r:id="rId22"/>
    <p:sldId id="357" r:id="rId23"/>
    <p:sldId id="358" r:id="rId24"/>
    <p:sldId id="359" r:id="rId25"/>
    <p:sldId id="360" r:id="rId26"/>
    <p:sldId id="350" r:id="rId27"/>
    <p:sldId id="351" r:id="rId28"/>
    <p:sldId id="352" r:id="rId29"/>
    <p:sldId id="353" r:id="rId30"/>
    <p:sldId id="811" r:id="rId31"/>
    <p:sldId id="354" r:id="rId32"/>
    <p:sldId id="355" r:id="rId33"/>
    <p:sldId id="356" r:id="rId34"/>
    <p:sldId id="264" r:id="rId35"/>
    <p:sldId id="262" r:id="rId36"/>
    <p:sldId id="263" r:id="rId37"/>
    <p:sldId id="265" r:id="rId38"/>
    <p:sldId id="812" r:id="rId39"/>
  </p:sldIdLst>
  <p:sldSz cx="9144000" cy="6858000" type="screen4x3"/>
  <p:notesSz cx="6858000" cy="9144000"/>
  <p:custDataLst>
    <p:tags r:id="rId43"/>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5177"/>
  </p:normalViewPr>
  <p:slideViewPr>
    <p:cSldViewPr showGuides="1">
      <p:cViewPr varScale="1">
        <p:scale>
          <a:sx n="85" d="100"/>
          <a:sy n="85" d="100"/>
        </p:scale>
        <p:origin x="1482" y="84"/>
      </p:cViewPr>
      <p:guideLst>
        <p:guide orient="horz" pos="215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25ECFD3C-208D-4283-BD2D-F118A2D271BE}" type="datetimeFigureOut">
              <a:rPr lang="zh-CN" altLang="en-US"/>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pPr>
              <a:defRPr/>
            </a:pPr>
            <a:fld id="{A9C1F2E3-C6D5-4E54-AC78-5D606754143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9C1F2E3-C6D5-4E54-AC78-5D60675414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9C1F2E3-C6D5-4E54-AC78-5D60675414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0"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p>
        </p:txBody>
      </p:sp>
      <p:sp>
        <p:nvSpPr>
          <p:cNvPr id="4301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C9B328-6BB1-4321-BC46-CFF79A98E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98BCFDD8-9FDF-450B-BE31-7ED9B5412A93}"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81066" y="188640"/>
            <a:ext cx="8229600" cy="457199"/>
          </a:xfrm>
          <a:prstGeom prst="rect">
            <a:avLst/>
          </a:prstGeom>
        </p:spPr>
        <p:txBody>
          <a:bodyPr/>
          <a:lstStyle>
            <a:lvl1pPr algn="l">
              <a:defRPr sz="28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980728"/>
            <a:ext cx="8229600" cy="5145435"/>
          </a:xfrm>
          <a:prstGeom prst="rect">
            <a:avLst/>
          </a:prstGeom>
        </p:spPr>
        <p:txBody>
          <a:bodyPr/>
          <a:lstStyle>
            <a:lvl1pPr>
              <a:defRPr sz="28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000">
                <a:latin typeface="微软雅黑" panose="020B0503020204020204" pitchFamily="34" charset="-122"/>
                <a:ea typeface="微软雅黑" panose="020B0503020204020204" pitchFamily="34" charset="-122"/>
              </a:defRPr>
            </a:lvl3pPr>
            <a:lvl4pPr>
              <a:defRPr sz="1800">
                <a:latin typeface="微软雅黑" panose="020B0503020204020204" pitchFamily="34" charset="-122"/>
                <a:ea typeface="微软雅黑" panose="020B0503020204020204" pitchFamily="34" charset="-122"/>
              </a:defRPr>
            </a:lvl4pPr>
            <a:lvl5pPr>
              <a:defRPr sz="1800">
                <a:latin typeface="微软雅黑" panose="020B0503020204020204" pitchFamily="34" charset="-122"/>
                <a:ea typeface="微软雅黑" panose="020B0503020204020204" pitchFamily="34"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AAD9A4B6-7B00-47BD-AB63-652DC0E8D690}"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63CC7D6A-705C-4C34-80A7-08AE074AC6CF}"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CFEF2097-607E-459E-BE81-E68BE268721E}"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zh-CN" altLang="en-US"/>
          </a:p>
        </p:txBody>
      </p:sp>
      <p:sp>
        <p:nvSpPr>
          <p:cNvPr id="8" name="Rectangle 5"/>
          <p:cNvSpPr>
            <a:spLocks noGrp="1" noChangeArrowheads="1"/>
          </p:cNvSpPr>
          <p:nvPr>
            <p:ph type="ftr" sz="quarter" idx="11"/>
          </p:nvPr>
        </p:nvSpPr>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p:txBody>
          <a:bodyPr/>
          <a:lstStyle>
            <a:lvl1pPr>
              <a:defRPr/>
            </a:lvl1pPr>
          </a:lstStyle>
          <a:p>
            <a:pPr>
              <a:defRPr/>
            </a:pPr>
            <a:fld id="{5837206F-1689-4878-AF3F-C7530B2E53E7}"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p:txBody>
          <a:bodyPr/>
          <a:lstStyle>
            <a:lvl1pPr>
              <a:defRPr/>
            </a:lvl1pPr>
          </a:lstStyle>
          <a:p>
            <a:pPr>
              <a:defRPr/>
            </a:pPr>
            <a:fld id="{13A7D633-3206-44C3-A7A1-88A76A6D3D9B}"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p:txBody>
          <a:bodyPr/>
          <a:lstStyle>
            <a:lvl1pPr>
              <a:defRPr/>
            </a:lvl1pPr>
          </a:lstStyle>
          <a:p>
            <a:pPr>
              <a:defRPr/>
            </a:pPr>
            <a:fld id="{4BFACFDE-778A-4B44-B6BF-18F616808B22}"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9DAAA1DC-83C3-4298-9985-1EB6C18098A1}"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36F94048-44B2-4F72-8F44-D35E2C6C3828}"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B29C272A-E7F5-4311-B8A2-B6FB60B688B7}"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AB0A9C18-6CBC-4F85-B73D-826979C6407D}"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4" name="组合 3"/>
          <p:cNvGrpSpPr/>
          <p:nvPr userDrawn="1"/>
        </p:nvGrpSpPr>
        <p:grpSpPr bwMode="auto">
          <a:xfrm>
            <a:off x="495300" y="1087438"/>
            <a:ext cx="433388" cy="433387"/>
            <a:chOff x="3491880" y="1274820"/>
            <a:chExt cx="432833" cy="432834"/>
          </a:xfrm>
        </p:grpSpPr>
        <p:sp>
          <p:nvSpPr>
            <p:cNvPr id="5" name="椭圆 16"/>
            <p:cNvSpPr>
              <a:spLocks noChangeArrowheads="1"/>
            </p:cNvSpPr>
            <p:nvPr/>
          </p:nvSpPr>
          <p:spPr bwMode="auto">
            <a:xfrm>
              <a:off x="3491880" y="1274820"/>
              <a:ext cx="432833" cy="432834"/>
            </a:xfrm>
            <a:prstGeom prst="ellipse">
              <a:avLst/>
            </a:prstGeom>
            <a:solidFill>
              <a:srgbClr val="005DA2"/>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ctr" eaLnBrk="1" hangingPunct="1">
                <a:lnSpc>
                  <a:spcPct val="100000"/>
                </a:lnSpc>
                <a:spcBef>
                  <a:spcPct val="0"/>
                </a:spcBef>
                <a:buFontTx/>
                <a:buNone/>
                <a:defRPr/>
              </a:pPr>
              <a:endParaRPr lang="zh-CN" altLang="en-US" sz="1800">
                <a:solidFill>
                  <a:srgbClr val="FFFFFF"/>
                </a:solidFill>
                <a:ea typeface="宋体" panose="02010600030101010101" pitchFamily="2" charset="-122"/>
              </a:endParaRPr>
            </a:p>
          </p:txBody>
        </p:sp>
        <p:sp>
          <p:nvSpPr>
            <p:cNvPr id="6" name="Freeform 75"/>
            <p:cNvSpPr/>
            <p:nvPr/>
          </p:nvSpPr>
          <p:spPr bwMode="auto">
            <a:xfrm>
              <a:off x="3583864" y="1385879"/>
              <a:ext cx="248863" cy="210716"/>
            </a:xfrm>
            <a:custGeom>
              <a:avLst/>
              <a:gdLst>
                <a:gd name="T0" fmla="*/ 2147483646 w 602"/>
                <a:gd name="T1" fmla="*/ 2147483646 h 510"/>
                <a:gd name="T2" fmla="*/ 2147483646 w 602"/>
                <a:gd name="T3" fmla="*/ 2147483646 h 510"/>
                <a:gd name="T4" fmla="*/ 2147483646 w 602"/>
                <a:gd name="T5" fmla="*/ 2147483646 h 510"/>
                <a:gd name="T6" fmla="*/ 0 w 602"/>
                <a:gd name="T7" fmla="*/ 2147483646 h 510"/>
                <a:gd name="T8" fmla="*/ 0 w 602"/>
                <a:gd name="T9" fmla="*/ 2147483646 h 510"/>
                <a:gd name="T10" fmla="*/ 2147483646 w 602"/>
                <a:gd name="T11" fmla="*/ 0 h 510"/>
                <a:gd name="T12" fmla="*/ 2147483646 w 602"/>
                <a:gd name="T13" fmla="*/ 2147483646 h 510"/>
                <a:gd name="T14" fmla="*/ 2147483646 w 602"/>
                <a:gd name="T15" fmla="*/ 2147483646 h 510"/>
                <a:gd name="T16" fmla="*/ 2147483646 w 602"/>
                <a:gd name="T17" fmla="*/ 2147483646 h 510"/>
                <a:gd name="T18" fmla="*/ 2147483646 w 602"/>
                <a:gd name="T19" fmla="*/ 2147483646 h 510"/>
                <a:gd name="T20" fmla="*/ 2147483646 w 602"/>
                <a:gd name="T21" fmla="*/ 2147483646 h 510"/>
                <a:gd name="T22" fmla="*/ 2147483646 w 602"/>
                <a:gd name="T23" fmla="*/ 2147483646 h 510"/>
                <a:gd name="T24" fmla="*/ 2147483646 w 602"/>
                <a:gd name="T25" fmla="*/ 2147483646 h 510"/>
                <a:gd name="T26" fmla="*/ 2147483646 w 602"/>
                <a:gd name="T27" fmla="*/ 2147483646 h 510"/>
                <a:gd name="T28" fmla="*/ 2147483646 w 602"/>
                <a:gd name="T29" fmla="*/ 2147483646 h 510"/>
                <a:gd name="T30" fmla="*/ 2147483646 w 602"/>
                <a:gd name="T31" fmla="*/ 2147483646 h 510"/>
                <a:gd name="T32" fmla="*/ 2147483646 w 602"/>
                <a:gd name="T33" fmla="*/ 2147483646 h 510"/>
                <a:gd name="T34" fmla="*/ 2147483646 w 602"/>
                <a:gd name="T35" fmla="*/ 2147483646 h 510"/>
                <a:gd name="T36" fmla="*/ 2147483646 w 602"/>
                <a:gd name="T37" fmla="*/ 2147483646 h 510"/>
                <a:gd name="T38" fmla="*/ 2147483646 w 602"/>
                <a:gd name="T39" fmla="*/ 2147483646 h 510"/>
                <a:gd name="T40" fmla="*/ 2147483646 w 602"/>
                <a:gd name="T41" fmla="*/ 2147483646 h 510"/>
                <a:gd name="T42" fmla="*/ 2147483646 w 602"/>
                <a:gd name="T43" fmla="*/ 2147483646 h 510"/>
                <a:gd name="T44" fmla="*/ 2147483646 w 602"/>
                <a:gd name="T45" fmla="*/ 2147483646 h 510"/>
                <a:gd name="T46" fmla="*/ 2147483646 w 602"/>
                <a:gd name="T47" fmla="*/ 2147483646 h 510"/>
                <a:gd name="T48" fmla="*/ 2147483646 w 602"/>
                <a:gd name="T49" fmla="*/ 2147483646 h 510"/>
                <a:gd name="T50" fmla="*/ 2147483646 w 602"/>
                <a:gd name="T51" fmla="*/ 2147483646 h 510"/>
                <a:gd name="T52" fmla="*/ 2147483646 w 602"/>
                <a:gd name="T53" fmla="*/ 2147483646 h 510"/>
                <a:gd name="T54" fmla="*/ 2147483646 w 602"/>
                <a:gd name="T55" fmla="*/ 2147483646 h 510"/>
                <a:gd name="T56" fmla="*/ 2147483646 w 602"/>
                <a:gd name="T57" fmla="*/ 2147483646 h 510"/>
                <a:gd name="T58" fmla="*/ 2147483646 w 602"/>
                <a:gd name="T59" fmla="*/ 2147483646 h 510"/>
                <a:gd name="T60" fmla="*/ 2147483646 w 602"/>
                <a:gd name="T61" fmla="*/ 2147483646 h 510"/>
                <a:gd name="T62" fmla="*/ 2147483646 w 602"/>
                <a:gd name="T63" fmla="*/ 2147483646 h 510"/>
                <a:gd name="T64" fmla="*/ 2147483646 w 602"/>
                <a:gd name="T65" fmla="*/ 2147483646 h 510"/>
                <a:gd name="T66" fmla="*/ 2147483646 w 602"/>
                <a:gd name="T67" fmla="*/ 2147483646 h 510"/>
                <a:gd name="T68" fmla="*/ 2147483646 w 602"/>
                <a:gd name="T69" fmla="*/ 2147483646 h 510"/>
                <a:gd name="T70" fmla="*/ 2147483646 w 602"/>
                <a:gd name="T71" fmla="*/ 2147483646 h 510"/>
                <a:gd name="T72" fmla="*/ 2147483646 w 602"/>
                <a:gd name="T73" fmla="*/ 2147483646 h 510"/>
                <a:gd name="T74" fmla="*/ 2147483646 w 602"/>
                <a:gd name="T75" fmla="*/ 2147483646 h 510"/>
                <a:gd name="T76" fmla="*/ 2147483646 w 602"/>
                <a:gd name="T77" fmla="*/ 2147483646 h 510"/>
                <a:gd name="T78" fmla="*/ 2147483646 w 602"/>
                <a:gd name="T79" fmla="*/ 2147483646 h 510"/>
                <a:gd name="T80" fmla="*/ 2147483646 w 602"/>
                <a:gd name="T81" fmla="*/ 2147483646 h 510"/>
                <a:gd name="T82" fmla="*/ 2147483646 w 602"/>
                <a:gd name="T83" fmla="*/ 2147483646 h 510"/>
                <a:gd name="T84" fmla="*/ 2147483646 w 602"/>
                <a:gd name="T85" fmla="*/ 2147483646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lIns="34290" tIns="17145" rIns="34290" bIns="17145" anchor="ctr"/>
            <a:lstStyle/>
            <a:p>
              <a:endParaRPr lang="zh-CN" altLang="en-US"/>
            </a:p>
          </p:txBody>
        </p:sp>
      </p:grpSp>
      <p:sp>
        <p:nvSpPr>
          <p:cNvPr id="2" name="标题 1"/>
          <p:cNvSpPr>
            <a:spLocks noGrp="1"/>
          </p:cNvSpPr>
          <p:nvPr>
            <p:ph type="title"/>
          </p:nvPr>
        </p:nvSpPr>
        <p:spPr/>
        <p:txBody>
          <a:bodyPr/>
          <a:lstStyle>
            <a:lvl1pPr algn="l">
              <a:defRPr sz="2400"/>
            </a:lvl1pPr>
          </a:lstStyle>
          <a:p>
            <a:r>
              <a:rPr lang="zh-CN" altLang="en-US"/>
              <a:t>单击此处编辑母版标题样式</a:t>
            </a:r>
            <a:endParaRPr lang="zh-CN" altLang="en-US" dirty="0"/>
          </a:p>
        </p:txBody>
      </p:sp>
      <p:sp>
        <p:nvSpPr>
          <p:cNvPr id="3" name="内容占位符 2"/>
          <p:cNvSpPr>
            <a:spLocks noGrp="1"/>
          </p:cNvSpPr>
          <p:nvPr>
            <p:ph idx="1"/>
          </p:nvPr>
        </p:nvSpPr>
        <p:spPr>
          <a:xfrm>
            <a:off x="457200" y="1714504"/>
            <a:ext cx="8229600" cy="4411659"/>
          </a:xfrm>
        </p:spPr>
        <p:txBody>
          <a:bodyPr/>
          <a:lstStyle>
            <a:lvl1pPr>
              <a:defRPr sz="2800">
                <a:latin typeface="微软雅黑" panose="020B0503020204020204" pitchFamily="34" charset="-122"/>
                <a:ea typeface="微软雅黑" panose="020B0503020204020204" pitchFamily="34" charset="-122"/>
              </a:defRPr>
            </a:lvl1pPr>
            <a:lvl2pPr>
              <a:defRPr sz="2400">
                <a:latin typeface="微软雅黑" panose="020B0503020204020204" pitchFamily="34" charset="-122"/>
                <a:ea typeface="微软雅黑" panose="020B0503020204020204" pitchFamily="34" charset="-122"/>
              </a:defRPr>
            </a:lvl2pPr>
            <a:lvl3pPr>
              <a:defRPr sz="2000">
                <a:latin typeface="微软雅黑" panose="020B0503020204020204" pitchFamily="34" charset="-122"/>
                <a:ea typeface="微软雅黑" panose="020B0503020204020204" pitchFamily="34" charset="-122"/>
              </a:defRPr>
            </a:lvl3pPr>
            <a:lvl4pPr>
              <a:defRPr sz="1800">
                <a:latin typeface="微软雅黑" panose="020B0503020204020204" pitchFamily="34" charset="-122"/>
                <a:ea typeface="微软雅黑" panose="020B0503020204020204" pitchFamily="34" charset="-122"/>
              </a:defRPr>
            </a:lvl4pPr>
            <a:lvl5pPr>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副标题 2"/>
          <p:cNvSpPr>
            <a:spLocks noGrp="1"/>
          </p:cNvSpPr>
          <p:nvPr>
            <p:ph type="subTitle" idx="13"/>
          </p:nvPr>
        </p:nvSpPr>
        <p:spPr>
          <a:xfrm>
            <a:off x="1013977" y="1052736"/>
            <a:ext cx="6400800" cy="542706"/>
          </a:xfrm>
        </p:spPr>
        <p:txBody>
          <a:bodyPr/>
          <a:lstStyle>
            <a:lvl1pPr marL="0" indent="0" algn="l">
              <a:buNone/>
              <a:defRPr sz="2600" b="1">
                <a:latin typeface="微软雅黑" panose="020B0503020204020204" pitchFamily="34" charset="-122"/>
                <a:ea typeface="微软雅黑" panose="020B0503020204020204" pitchFamily="34"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endParaRPr lang="zh-CN" altLang="en-US" dirty="0"/>
          </a:p>
        </p:txBody>
      </p:sp>
      <p:sp>
        <p:nvSpPr>
          <p:cNvPr id="7" name="Rectangle 4"/>
          <p:cNvSpPr>
            <a:spLocks noGrp="1" noChangeArrowheads="1"/>
          </p:cNvSpPr>
          <p:nvPr>
            <p:ph type="dt" sz="half" idx="14"/>
          </p:nvPr>
        </p:nvSpPr>
        <p:spPr/>
        <p:txBody>
          <a:bodyPr/>
          <a:lstStyle>
            <a:lvl1pPr>
              <a:defRPr/>
            </a:lvl1pPr>
          </a:lstStyle>
          <a:p>
            <a:pPr>
              <a:defRPr/>
            </a:pPr>
            <a:endParaRPr lang="zh-CN" altLang="en-US"/>
          </a:p>
        </p:txBody>
      </p:sp>
      <p:sp>
        <p:nvSpPr>
          <p:cNvPr id="9" name="Rectangle 5"/>
          <p:cNvSpPr>
            <a:spLocks noGrp="1" noChangeArrowheads="1"/>
          </p:cNvSpPr>
          <p:nvPr>
            <p:ph type="ftr" sz="quarter" idx="15"/>
          </p:nvPr>
        </p:nvSpPr>
        <p:spPr/>
        <p:txBody>
          <a:bodyPr/>
          <a:lstStyle>
            <a:lvl1pPr>
              <a:defRPr/>
            </a:lvl1pPr>
          </a:lstStyle>
          <a:p>
            <a:pPr>
              <a:defRPr/>
            </a:pPr>
            <a:endParaRPr lang="zh-CN" altLang="en-US"/>
          </a:p>
        </p:txBody>
      </p:sp>
      <p:sp>
        <p:nvSpPr>
          <p:cNvPr id="10" name="Rectangle 6"/>
          <p:cNvSpPr>
            <a:spLocks noGrp="1" noChangeArrowheads="1"/>
          </p:cNvSpPr>
          <p:nvPr>
            <p:ph type="sldNum" sz="quarter" idx="16"/>
          </p:nvPr>
        </p:nvSpPr>
        <p:spPr/>
        <p:txBody>
          <a:bodyPr/>
          <a:lstStyle>
            <a:lvl1pPr>
              <a:defRPr/>
            </a:lvl1pPr>
          </a:lstStyle>
          <a:p>
            <a:pPr>
              <a:defRPr/>
            </a:pPr>
            <a:fld id="{0FF45E35-7123-4783-8A58-9D9156523216}" type="slidenum">
              <a:rPr lang="zh-CN" altLang="en-US"/>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tif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1" hangingPunct="1">
              <a:buFont typeface="Arial" panose="020B0604020202020204" pitchFamily="34" charset="0"/>
              <a:buNone/>
              <a:defRPr sz="1400">
                <a:latin typeface="Arial" panose="020B0604020202020204" pitchFamily="34" charset="0"/>
              </a:defRPr>
            </a:lvl1pPr>
          </a:lstStyle>
          <a:p>
            <a:pPr>
              <a:defRPr/>
            </a:pPr>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1" hangingPunct="1">
              <a:buFont typeface="Arial" panose="020B0604020202020204" pitchFamily="34" charset="0"/>
              <a:buNone/>
              <a:defRPr sz="1400">
                <a:latin typeface="Arial" panose="020B0604020202020204" pitchFamily="34" charset="0"/>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20204" pitchFamily="34" charset="0"/>
              <a:buNone/>
              <a:defRPr sz="1400"/>
            </a:lvl1pPr>
          </a:lstStyle>
          <a:p>
            <a:pPr>
              <a:defRPr/>
            </a:pPr>
            <a:fld id="{4534029B-C249-4635-9FC2-1D552283F3C8}" type="slidenum">
              <a:rPr lang="zh-CN" altLang="en-US"/>
            </a:fld>
            <a:endParaRPr lang="zh-CN" altLang="en-US"/>
          </a:p>
        </p:txBody>
      </p:sp>
      <p:sp>
        <p:nvSpPr>
          <p:cNvPr id="2" name="Rectangle 2"/>
          <p:cNvSpPr>
            <a:spLocks noGrp="1" noChangeArrowheads="1"/>
          </p:cNvSpPr>
          <p:nvPr>
            <p:ph type="title"/>
          </p:nvPr>
        </p:nvSpPr>
        <p:spPr bwMode="auto">
          <a:xfrm>
            <a:off x="833438" y="96838"/>
            <a:ext cx="82296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8" name="Rectangle 6"/>
          <p:cNvSpPr txBox="1">
            <a:spLocks noChangeArrowheads="1"/>
          </p:cNvSpPr>
          <p:nvPr userDrawn="1"/>
        </p:nvSpPr>
        <p:spPr bwMode="auto">
          <a:xfrm>
            <a:off x="6553200" y="6245225"/>
            <a:ext cx="2133600" cy="476250"/>
          </a:xfrm>
          <a:prstGeom prst="rect">
            <a:avLst/>
          </a:prstGeom>
          <a:noFill/>
          <a:ln>
            <a:noFill/>
          </a:ln>
        </p:spPr>
        <p:txBody>
          <a:bodyPr/>
          <a:lstStyle>
            <a:defPPr>
              <a:defRPr lang="zh-CN"/>
            </a:defPPr>
            <a:lvl1pPr algn="r" rtl="0" eaLnBrk="1" fontAlgn="base" hangingPunct="1">
              <a:spcBef>
                <a:spcPct val="0"/>
              </a:spcBef>
              <a:spcAft>
                <a:spcPct val="0"/>
              </a:spcAft>
              <a:buFont typeface="Arial" panose="020B0604020202020204" pitchFamily="34" charset="0"/>
              <a:buNone/>
              <a:defRPr sz="1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F00DDE26-1634-455F-9AD7-75BB643DB77B}" type="slidenum">
              <a:rPr lang="zh-CN" altLang="en-US" smtClean="0"/>
            </a:fld>
            <a:endParaRPr lang="zh-CN" altLang="en-US"/>
          </a:p>
        </p:txBody>
      </p:sp>
      <p:cxnSp>
        <p:nvCxnSpPr>
          <p:cNvPr id="19" name="直接连接符 6"/>
          <p:cNvCxnSpPr/>
          <p:nvPr userDrawn="1"/>
        </p:nvCxnSpPr>
        <p:spPr>
          <a:xfrm>
            <a:off x="0" y="836613"/>
            <a:ext cx="91440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0" name="Group 7"/>
          <p:cNvGrpSpPr/>
          <p:nvPr userDrawn="1"/>
        </p:nvGrpSpPr>
        <p:grpSpPr bwMode="auto">
          <a:xfrm>
            <a:off x="323850" y="293688"/>
            <a:ext cx="390525" cy="204787"/>
            <a:chOff x="0" y="0"/>
            <a:chExt cx="1041399" cy="549275"/>
          </a:xfrm>
        </p:grpSpPr>
        <p:sp>
          <p:nvSpPr>
            <p:cNvPr id="1035" name="Freeform 16"/>
            <p:cNvSpPr/>
            <p:nvPr/>
          </p:nvSpPr>
          <p:spPr bwMode="auto">
            <a:xfrm>
              <a:off x="0" y="0"/>
              <a:ext cx="361950" cy="549275"/>
            </a:xfrm>
            <a:custGeom>
              <a:avLst/>
              <a:gdLst>
                <a:gd name="T0" fmla="*/ 2147483646 w 400"/>
                <a:gd name="T1" fmla="*/ 2147483646 h 608"/>
                <a:gd name="T2" fmla="*/ 2147483646 w 400"/>
                <a:gd name="T3" fmla="*/ 0 h 608"/>
                <a:gd name="T4" fmla="*/ 2147483646 w 400"/>
                <a:gd name="T5" fmla="*/ 2147483646 h 608"/>
                <a:gd name="T6" fmla="*/ 2147483646 w 400"/>
                <a:gd name="T7" fmla="*/ 2147483646 h 608"/>
                <a:gd name="T8" fmla="*/ 0 w 400"/>
                <a:gd name="T9" fmla="*/ 2147483646 h 608"/>
                <a:gd name="T10" fmla="*/ 2147483646 w 400"/>
                <a:gd name="T11" fmla="*/ 2147483646 h 608"/>
                <a:gd name="T12" fmla="*/ 2147483646 w 400"/>
                <a:gd name="T13" fmla="*/ 2147483646 h 6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6" name="Freeform 17"/>
            <p:cNvSpPr/>
            <p:nvPr/>
          </p:nvSpPr>
          <p:spPr bwMode="auto">
            <a:xfrm>
              <a:off x="338137" y="0"/>
              <a:ext cx="360362" cy="549275"/>
            </a:xfrm>
            <a:custGeom>
              <a:avLst/>
              <a:gdLst>
                <a:gd name="T0" fmla="*/ 2147483646 w 399"/>
                <a:gd name="T1" fmla="*/ 2147483646 h 608"/>
                <a:gd name="T2" fmla="*/ 2147483646 w 399"/>
                <a:gd name="T3" fmla="*/ 0 h 608"/>
                <a:gd name="T4" fmla="*/ 2147483646 w 399"/>
                <a:gd name="T5" fmla="*/ 2147483646 h 608"/>
                <a:gd name="T6" fmla="*/ 2147483646 w 399"/>
                <a:gd name="T7" fmla="*/ 2147483646 h 608"/>
                <a:gd name="T8" fmla="*/ 0 w 399"/>
                <a:gd name="T9" fmla="*/ 2147483646 h 608"/>
                <a:gd name="T10" fmla="*/ 2147483646 w 399"/>
                <a:gd name="T11" fmla="*/ 2147483646 h 608"/>
                <a:gd name="T12" fmla="*/ 2147483646 w 399"/>
                <a:gd name="T13" fmla="*/ 2147483646 h 6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37" name="Freeform 18"/>
            <p:cNvSpPr/>
            <p:nvPr/>
          </p:nvSpPr>
          <p:spPr bwMode="auto">
            <a:xfrm>
              <a:off x="681037" y="0"/>
              <a:ext cx="360362" cy="549275"/>
            </a:xfrm>
            <a:custGeom>
              <a:avLst/>
              <a:gdLst>
                <a:gd name="T0" fmla="*/ 2147483646 w 399"/>
                <a:gd name="T1" fmla="*/ 2147483646 h 608"/>
                <a:gd name="T2" fmla="*/ 2147483646 w 399"/>
                <a:gd name="T3" fmla="*/ 0 h 608"/>
                <a:gd name="T4" fmla="*/ 2147483646 w 399"/>
                <a:gd name="T5" fmla="*/ 2147483646 h 608"/>
                <a:gd name="T6" fmla="*/ 2147483646 w 399"/>
                <a:gd name="T7" fmla="*/ 2147483646 h 608"/>
                <a:gd name="T8" fmla="*/ 0 w 399"/>
                <a:gd name="T9" fmla="*/ 2147483646 h 608"/>
                <a:gd name="T10" fmla="*/ 2147483646 w 399"/>
                <a:gd name="T11" fmla="*/ 2147483646 h 608"/>
                <a:gd name="T12" fmla="*/ 2147483646 w 399"/>
                <a:gd name="T13" fmla="*/ 2147483646 h 6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pic>
        <p:nvPicPr>
          <p:cNvPr id="1034" name="图片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431213" y="142875"/>
            <a:ext cx="525462"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15362" name="Rectangle 3"/>
          <p:cNvSpPr>
            <a:spLocks noGrp="1" noChangeArrowheads="1"/>
          </p:cNvSpPr>
          <p:nvPr>
            <p:ph idx="1"/>
          </p:nvPr>
        </p:nvSpPr>
        <p:spPr>
          <a:xfrm>
            <a:off x="457200" y="1714500"/>
            <a:ext cx="8229600" cy="4411663"/>
          </a:xfrm>
        </p:spPr>
        <p:txBody>
          <a:bodyPr/>
          <a:lstStyle/>
          <a:p>
            <a:pPr eaLnBrk="1" hangingPunct="1">
              <a:lnSpc>
                <a:spcPct val="150000"/>
              </a:lnSpc>
              <a:buFont typeface="Wingdings" panose="05000000000000000000" pitchFamily="2" charset="2"/>
              <a:buAutoNum type="circleNumDbPlain"/>
            </a:pPr>
            <a:r>
              <a:rPr lang="zh-CN" altLang="en-US" dirty="0">
                <a:latin typeface="微软雅黑" panose="020B0503020204020204" pitchFamily="34" charset="-122"/>
                <a:ea typeface="微软雅黑" panose="020B0503020204020204" pitchFamily="34" charset="-122"/>
              </a:rPr>
              <a:t>掌握进程、线程的概念，熟悉相关的控制语。</a:t>
            </a:r>
            <a:endParaRPr lang="zh-CN" altLang="en-US" dirty="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dirty="0">
                <a:latin typeface="微软雅黑" panose="020B0503020204020204" pitchFamily="34" charset="-122"/>
                <a:ea typeface="微软雅黑" panose="020B0503020204020204" pitchFamily="34" charset="-122"/>
              </a:rPr>
              <a:t>掌握进程、线程间的同步原理和方法。</a:t>
            </a:r>
            <a:endParaRPr lang="zh-CN" altLang="en-US" dirty="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dirty="0">
                <a:latin typeface="微软雅黑" panose="020B0503020204020204" pitchFamily="34" charset="-122"/>
                <a:ea typeface="微软雅黑" panose="020B0503020204020204" pitchFamily="34" charset="-122"/>
              </a:rPr>
              <a:t>掌握进程、线程间的互斥原理和方法。</a:t>
            </a:r>
            <a:endParaRPr lang="zh-CN" altLang="en-US" dirty="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dirty="0">
                <a:latin typeface="微软雅黑" panose="020B0503020204020204" pitchFamily="34" charset="-122"/>
                <a:ea typeface="微软雅黑" panose="020B0503020204020204" pitchFamily="34" charset="-122"/>
              </a:rPr>
              <a:t>掌握使用信号量原语解决进程、线程间互斥和同步方法。</a:t>
            </a:r>
            <a:endParaRPr lang="en-US" altLang="zh-CN" dirty="0">
              <a:latin typeface="微软雅黑" panose="020B0503020204020204" pitchFamily="34" charset="-122"/>
              <a:ea typeface="微软雅黑" panose="020B0503020204020204" pitchFamily="34" charset="-122"/>
            </a:endParaRPr>
          </a:p>
        </p:txBody>
      </p:sp>
      <p:sp>
        <p:nvSpPr>
          <p:cNvPr id="15363"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实验目的</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16386" name="内容占位符 2"/>
          <p:cNvSpPr>
            <a:spLocks noGrp="1" noChangeArrowheads="1"/>
          </p:cNvSpPr>
          <p:nvPr>
            <p:ph idx="1"/>
          </p:nvPr>
        </p:nvSpPr>
        <p:spPr>
          <a:xfrm>
            <a:off x="457200" y="1616075"/>
            <a:ext cx="8362950" cy="4411663"/>
          </a:xfrm>
        </p:spPr>
        <p:txBody>
          <a:bodyPr/>
          <a:lstStyle/>
          <a:p>
            <a:pPr marL="0" indent="0" eaLnBrk="1" hangingPunct="1">
              <a:lnSpc>
                <a:spcPct val="120000"/>
              </a:lnSpc>
              <a:buFontTx/>
              <a:buNone/>
            </a:pPr>
            <a:r>
              <a:rPr lang="zh-CN" altLang="en-US" sz="2400" dirty="0">
                <a:latin typeface="微软雅黑" panose="020B0503020204020204" pitchFamily="34" charset="-122"/>
                <a:ea typeface="微软雅黑" panose="020B0503020204020204" pitchFamily="34" charset="-122"/>
              </a:rPr>
              <a:t>有一群生产者任务在生产产品，并将这些产品提供给消费者任务去消费。为使生产者任务与消费者进程能并发执行，在两者之间设置了一个具有</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个缓冲区的缓冲池：</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20000"/>
              </a:lnSpc>
            </a:pPr>
            <a:r>
              <a:rPr lang="zh-CN" altLang="en-US" sz="2400" dirty="0">
                <a:latin typeface="微软雅黑" panose="020B0503020204020204" pitchFamily="34" charset="-122"/>
                <a:ea typeface="微软雅黑" panose="020B0503020204020204" pitchFamily="34" charset="-122"/>
              </a:rPr>
              <a:t>生产者任务</a:t>
            </a:r>
            <a:r>
              <a:rPr lang="zh-CN" altLang="en-US" sz="2400" b="1" dirty="0">
                <a:solidFill>
                  <a:srgbClr val="FF0000"/>
                </a:solidFill>
                <a:latin typeface="微软雅黑" panose="020B0503020204020204" pitchFamily="34" charset="-122"/>
                <a:ea typeface="微软雅黑" panose="020B0503020204020204" pitchFamily="34" charset="-122"/>
              </a:rPr>
              <a:t>从文件中读取</a:t>
            </a:r>
            <a:r>
              <a:rPr lang="zh-CN" altLang="en-US" sz="2400" dirty="0">
                <a:latin typeface="微软雅黑" panose="020B0503020204020204" pitchFamily="34" charset="-122"/>
                <a:ea typeface="微软雅黑" panose="020B0503020204020204" pitchFamily="34" charset="-122"/>
              </a:rPr>
              <a:t>一个数据，并将它存放到一个缓冲区中</a:t>
            </a:r>
            <a:endParaRPr lang="en-US" altLang="zh-CN" sz="2400" dirty="0">
              <a:latin typeface="微软雅黑" panose="020B0503020204020204" pitchFamily="34" charset="-122"/>
              <a:ea typeface="微软雅黑" panose="020B0503020204020204" pitchFamily="34" charset="-122"/>
            </a:endParaRPr>
          </a:p>
          <a:p>
            <a:pPr marL="0" indent="0" eaLnBrk="1" hangingPunct="1">
              <a:lnSpc>
                <a:spcPct val="120000"/>
              </a:lnSpc>
            </a:pPr>
            <a:r>
              <a:rPr lang="zh-CN" altLang="en-US" sz="2400" dirty="0">
                <a:latin typeface="微软雅黑" panose="020B0503020204020204" pitchFamily="34" charset="-122"/>
                <a:ea typeface="微软雅黑" panose="020B0503020204020204" pitchFamily="34" charset="-122"/>
              </a:rPr>
              <a:t>消费者任务从一个缓冲区中取走数据，并</a:t>
            </a:r>
            <a:r>
              <a:rPr lang="zh-CN" altLang="en-US" sz="2400" b="1" dirty="0">
                <a:solidFill>
                  <a:srgbClr val="FF0000"/>
                </a:solidFill>
                <a:latin typeface="微软雅黑" panose="020B0503020204020204" pitchFamily="34" charset="-122"/>
                <a:ea typeface="微软雅黑" panose="020B0503020204020204" pitchFamily="34" charset="-122"/>
              </a:rPr>
              <a:t>输出此数据（</a:t>
            </a:r>
            <a:r>
              <a:rPr lang="en-US" altLang="zh-CN" sz="2400" b="1" dirty="0">
                <a:solidFill>
                  <a:srgbClr val="FF0000"/>
                </a:solidFill>
                <a:latin typeface="微软雅黑" panose="020B0503020204020204" pitchFamily="34" charset="-122"/>
                <a:ea typeface="微软雅黑" panose="020B0503020204020204" pitchFamily="34" charset="-122"/>
              </a:rPr>
              <a:t>printf</a:t>
            </a:r>
            <a:r>
              <a:rPr lang="zh-CN" altLang="en-US" sz="2400" b="1" dirty="0">
                <a:solidFill>
                  <a:srgbClr val="FF0000"/>
                </a:solidFill>
                <a:latin typeface="微软雅黑" panose="020B0503020204020204" pitchFamily="34" charset="-122"/>
                <a:ea typeface="微软雅黑" panose="020B0503020204020204" pitchFamily="34" charset="-122"/>
              </a:rPr>
              <a:t>）</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0" indent="0" eaLnBrk="1" hangingPunct="1">
              <a:lnSpc>
                <a:spcPct val="120000"/>
              </a:lnSpc>
            </a:pPr>
            <a:r>
              <a:rPr lang="zh-CN" altLang="en-US" sz="2400" dirty="0">
                <a:latin typeface="微软雅黑" panose="020B0503020204020204" pitchFamily="34" charset="-122"/>
                <a:ea typeface="微软雅黑" panose="020B0503020204020204" pitchFamily="34" charset="-122"/>
              </a:rPr>
              <a:t>生产者和消费者之间必须保持</a:t>
            </a:r>
            <a:r>
              <a:rPr lang="zh-CN" altLang="en-US" sz="2400" b="1" dirty="0">
                <a:solidFill>
                  <a:srgbClr val="FF0000"/>
                </a:solidFill>
                <a:latin typeface="微软雅黑" panose="020B0503020204020204" pitchFamily="34" charset="-122"/>
                <a:ea typeface="微软雅黑" panose="020B0503020204020204" pitchFamily="34" charset="-122"/>
              </a:rPr>
              <a:t>同步</a:t>
            </a:r>
            <a:r>
              <a:rPr lang="zh-CN" altLang="en-US" sz="2400" dirty="0">
                <a:latin typeface="微软雅黑" panose="020B0503020204020204" pitchFamily="34" charset="-122"/>
                <a:ea typeface="微软雅黑" panose="020B0503020204020204" pitchFamily="34" charset="-122"/>
              </a:rPr>
              <a:t>原则：</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20000"/>
              </a:lnSpc>
            </a:pPr>
            <a:r>
              <a:rPr lang="zh-CN" altLang="en-US" sz="2200" dirty="0">
                <a:latin typeface="微软雅黑" panose="020B0503020204020204" pitchFamily="34" charset="-122"/>
                <a:ea typeface="微软雅黑" panose="020B0503020204020204" pitchFamily="34" charset="-122"/>
              </a:rPr>
              <a:t>不允许消费者任务到一个空缓冲区去取产品；</a:t>
            </a:r>
            <a:endParaRPr lang="en-US" altLang="zh-CN" sz="2200" dirty="0">
              <a:latin typeface="微软雅黑" panose="020B0503020204020204" pitchFamily="34" charset="-122"/>
              <a:ea typeface="微软雅黑" panose="020B0503020204020204" pitchFamily="34" charset="-122"/>
            </a:endParaRPr>
          </a:p>
          <a:p>
            <a:pPr lvl="1" eaLnBrk="1" hangingPunct="1">
              <a:lnSpc>
                <a:spcPct val="120000"/>
              </a:lnSpc>
            </a:pPr>
            <a:r>
              <a:rPr lang="zh-CN" altLang="en-US" sz="2200" dirty="0">
                <a:latin typeface="微软雅黑" panose="020B0503020204020204" pitchFamily="34" charset="-122"/>
                <a:ea typeface="微软雅黑" panose="020B0503020204020204" pitchFamily="34" charset="-122"/>
              </a:rPr>
              <a:t>也不允许生产者任务向一个已装满产品且尚未被取走的缓冲区中投放产品。</a:t>
            </a:r>
            <a:endParaRPr lang="zh-CN" altLang="en-US" sz="2200" dirty="0">
              <a:latin typeface="微软雅黑" panose="020B0503020204020204" pitchFamily="34" charset="-122"/>
              <a:ea typeface="微软雅黑" panose="020B0503020204020204" pitchFamily="34" charset="-122"/>
            </a:endParaRPr>
          </a:p>
        </p:txBody>
      </p:sp>
      <p:sp>
        <p:nvSpPr>
          <p:cNvPr id="16387"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实验内容</a:t>
            </a:r>
            <a:endParaRPr lang="en-US" altLang="zh-CN"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17410" name="内容占位符 2"/>
          <p:cNvSpPr>
            <a:spLocks noGrp="1" noChangeArrowheads="1"/>
          </p:cNvSpPr>
          <p:nvPr>
            <p:ph idx="1"/>
          </p:nvPr>
        </p:nvSpPr>
        <p:spPr>
          <a:xfrm>
            <a:off x="457200" y="1714500"/>
            <a:ext cx="8229600" cy="4411663"/>
          </a:xfrm>
        </p:spPr>
        <p:txBody>
          <a:bodyPr/>
          <a:lstStyle/>
          <a:p>
            <a:pPr marL="514350" indent="-514350" eaLnBrk="1" hangingPunct="1">
              <a:lnSpc>
                <a:spcPct val="150000"/>
              </a:lnSpc>
              <a:buFont typeface="宋体" panose="02010600030101010101" pitchFamily="2" charset="-122"/>
              <a:buAutoNum type="circleNumDbPlain"/>
            </a:pPr>
            <a:r>
              <a:rPr lang="zh-CN" altLang="en-US">
                <a:latin typeface="微软雅黑" panose="020B0503020204020204" pitchFamily="34" charset="-122"/>
                <a:ea typeface="微软雅黑" panose="020B0503020204020204" pitchFamily="34" charset="-122"/>
              </a:rPr>
              <a:t>创建</a:t>
            </a:r>
            <a:r>
              <a:rPr lang="en-US" altLang="zh-CN" dirty="0">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个进程（或者线程）作为生产者任务，</a:t>
            </a:r>
            <a:r>
              <a:rPr lang="en-US" altLang="zh-CN" dirty="0">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个进程（或者线程）作为消费者任务</a:t>
            </a:r>
            <a:endParaRPr lang="en-US" altLang="zh-CN" dirty="0">
              <a:latin typeface="微软雅黑" panose="020B0503020204020204" pitchFamily="34" charset="-122"/>
              <a:ea typeface="微软雅黑" panose="020B0503020204020204" pitchFamily="34" charset="-122"/>
            </a:endParaRPr>
          </a:p>
          <a:p>
            <a:pPr marL="514350" indent="-514350" eaLnBrk="1" hangingPunct="1">
              <a:lnSpc>
                <a:spcPct val="150000"/>
              </a:lnSpc>
              <a:buFont typeface="宋体" panose="02010600030101010101" pitchFamily="2" charset="-122"/>
              <a:buAutoNum type="circleNumDbPlain"/>
            </a:pPr>
            <a:r>
              <a:rPr lang="zh-CN" altLang="en-US">
                <a:latin typeface="微软雅黑" panose="020B0503020204020204" pitchFamily="34" charset="-122"/>
                <a:ea typeface="微软雅黑" panose="020B0503020204020204" pitchFamily="34" charset="-122"/>
              </a:rPr>
              <a:t>创建一个文件作为数据源，文件中事先写入一些内容作为数据（字符串或者数值）</a:t>
            </a:r>
            <a:endParaRPr lang="zh-CN" altLang="en-US">
              <a:latin typeface="微软雅黑" panose="020B0503020204020204" pitchFamily="34" charset="-122"/>
              <a:ea typeface="微软雅黑" panose="020B0503020204020204" pitchFamily="34" charset="-122"/>
            </a:endParaRPr>
          </a:p>
          <a:p>
            <a:pPr marL="514350" indent="-514350" eaLnBrk="1" hangingPunct="1">
              <a:lnSpc>
                <a:spcPct val="150000"/>
              </a:lnSpc>
              <a:buFont typeface="宋体" panose="02010600030101010101" pitchFamily="2" charset="-122"/>
              <a:buAutoNum type="circleNumDbPlain"/>
            </a:pPr>
            <a:r>
              <a:rPr lang="zh-CN" altLang="en-US">
                <a:latin typeface="微软雅黑" panose="020B0503020204020204" pitchFamily="34" charset="-122"/>
                <a:ea typeface="微软雅黑" panose="020B0503020204020204" pitchFamily="34" charset="-122"/>
              </a:rPr>
              <a:t>生产者和消费者任务（进程或者线程）都具有相同的优先级</a:t>
            </a:r>
            <a:endParaRPr lang="zh-CN" altLang="en-US">
              <a:latin typeface="微软雅黑" panose="020B0503020204020204" pitchFamily="34" charset="-122"/>
              <a:ea typeface="微软雅黑" panose="020B0503020204020204" pitchFamily="34" charset="-122"/>
            </a:endParaRPr>
          </a:p>
        </p:txBody>
      </p:sp>
      <p:sp>
        <p:nvSpPr>
          <p:cNvPr id="17411" name="副标题 1"/>
          <p:cNvSpPr>
            <a:spLocks noGrp="1" noChangeArrowheads="1"/>
          </p:cNvSpPr>
          <p:nvPr>
            <p:ph type="subTitle" idx="13"/>
          </p:nvPr>
        </p:nvSpPr>
        <p:spPr>
          <a:xfrm>
            <a:off x="1014413" y="1052513"/>
            <a:ext cx="6400800" cy="542925"/>
          </a:xfrm>
        </p:spPr>
        <p:txBody>
          <a:bodyPr/>
          <a:lstStyle/>
          <a:p>
            <a:r>
              <a:rPr lang="zh-CN" altLang="en-US" sz="2800">
                <a:latin typeface="微软雅黑" panose="020B0503020204020204" pitchFamily="34" charset="-122"/>
                <a:ea typeface="微软雅黑" panose="020B0503020204020204" pitchFamily="34" charset="-122"/>
              </a:rPr>
              <a:t>实验内容</a:t>
            </a:r>
            <a:endParaRPr lang="en-US" altLang="zh-CN" sz="2800"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18434"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实验原理</a:t>
            </a:r>
            <a:endParaRPr lang="zh-CN" altLang="en-US">
              <a:latin typeface="微软雅黑" panose="020B0503020204020204" pitchFamily="34" charset="-122"/>
              <a:ea typeface="微软雅黑" panose="020B0503020204020204" pitchFamily="34" charset="-122"/>
            </a:endParaRPr>
          </a:p>
        </p:txBody>
      </p:sp>
      <p:pic>
        <p:nvPicPr>
          <p:cNvPr id="1843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976813" y="280988"/>
            <a:ext cx="3708400" cy="641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19458" name="内容占位符 2"/>
          <p:cNvSpPr>
            <a:spLocks noGrp="1" noChangeArrowheads="1"/>
          </p:cNvSpPr>
          <p:nvPr>
            <p:ph idx="1"/>
          </p:nvPr>
        </p:nvSpPr>
        <p:spPr>
          <a:xfrm>
            <a:off x="457200" y="1714500"/>
            <a:ext cx="8229600" cy="4411663"/>
          </a:xfrm>
        </p:spPr>
        <p:txBody>
          <a:bodyPr/>
          <a:lstStyle/>
          <a:p>
            <a:pPr eaLnBrk="1" hangingPunct="1"/>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个缓冲区的</a:t>
            </a:r>
            <a:r>
              <a:rPr lang="zh-CN" altLang="en-US" b="1" dirty="0">
                <a:solidFill>
                  <a:srgbClr val="FF0000"/>
                </a:solidFill>
                <a:latin typeface="微软雅黑" panose="020B0503020204020204" pitchFamily="34" charset="-122"/>
                <a:ea typeface="微软雅黑" panose="020B0503020204020204" pitchFamily="34" charset="-122"/>
              </a:rPr>
              <a:t>缓冲池</a:t>
            </a:r>
            <a:r>
              <a:rPr lang="zh-CN" altLang="en-US" dirty="0">
                <a:latin typeface="微软雅黑" panose="020B0503020204020204" pitchFamily="34" charset="-122"/>
                <a:ea typeface="微软雅黑" panose="020B0503020204020204" pitchFamily="34" charset="-122"/>
              </a:rPr>
              <a:t>作为一个临界资源：</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当生产者任务从数据源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文件中读取数据后将会申请一个缓冲区，并将此数据放入缓冲区中。</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消费者任务从一个缓冲区中取走数据，并将其中的内容打印输出。</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当一个生产者任务正在访问缓冲区时，其他生产者和消费者任务不能访问缓冲区</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当一个消费者任务正在访问缓冲区时，其他其他生产者和消费者任务不能访问缓冲区</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使用</a:t>
            </a:r>
            <a:r>
              <a:rPr lang="zh-CN" altLang="en-US" dirty="0">
                <a:solidFill>
                  <a:srgbClr val="FF0000"/>
                </a:solidFill>
                <a:latin typeface="微软雅黑" panose="020B0503020204020204" pitchFamily="34" charset="-122"/>
                <a:ea typeface="微软雅黑" panose="020B0503020204020204" pitchFamily="34" charset="-122"/>
              </a:rPr>
              <a:t>互斥量</a:t>
            </a:r>
            <a:r>
              <a:rPr lang="zh-CN" altLang="en-US" dirty="0">
                <a:latin typeface="微软雅黑" panose="020B0503020204020204" pitchFamily="34" charset="-122"/>
                <a:ea typeface="微软雅黑" panose="020B0503020204020204" pitchFamily="34" charset="-122"/>
              </a:rPr>
              <a:t>实现对</a:t>
            </a:r>
            <a:r>
              <a:rPr lang="zh-CN" altLang="en-US" dirty="0">
                <a:solidFill>
                  <a:srgbClr val="FF0000"/>
                </a:solidFill>
                <a:latin typeface="微软雅黑" panose="020B0503020204020204" pitchFamily="34" charset="-122"/>
                <a:ea typeface="微软雅黑" panose="020B0503020204020204" pitchFamily="34" charset="-122"/>
              </a:rPr>
              <a:t>缓冲池</a:t>
            </a:r>
            <a:r>
              <a:rPr lang="zh-CN" altLang="en-US" dirty="0">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互斥访问</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9459" name="副标题 1"/>
          <p:cNvSpPr>
            <a:spLocks noGrp="1" noChangeArrowheads="1"/>
          </p:cNvSpPr>
          <p:nvPr>
            <p:ph type="subTitle" idx="13"/>
          </p:nvPr>
        </p:nvSpPr>
        <p:spPr>
          <a:xfrm>
            <a:off x="1014413" y="1052513"/>
            <a:ext cx="6400800" cy="542925"/>
          </a:xfrm>
        </p:spPr>
        <p:txBody>
          <a:bodyPr/>
          <a:lstStyle/>
          <a:p>
            <a:r>
              <a:rPr lang="zh-CN" altLang="en-US" sz="2800">
                <a:latin typeface="微软雅黑" panose="020B0503020204020204" pitchFamily="34" charset="-122"/>
                <a:ea typeface="微软雅黑" panose="020B0503020204020204" pitchFamily="34" charset="-122"/>
              </a:rPr>
              <a:t>实验原理</a:t>
            </a:r>
            <a:endParaRPr lang="en-US" altLang="zh-CN" sz="2800"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0482"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生产者任务在向</a:t>
            </a:r>
            <a:r>
              <a:rPr lang="zh-CN" altLang="en-US" dirty="0">
                <a:solidFill>
                  <a:srgbClr val="FF0000"/>
                </a:solidFill>
                <a:latin typeface="微软雅黑" panose="020B0503020204020204" pitchFamily="34" charset="-122"/>
                <a:ea typeface="微软雅黑" panose="020B0503020204020204" pitchFamily="34" charset="-122"/>
              </a:rPr>
              <a:t>缓冲池</a:t>
            </a:r>
            <a:r>
              <a:rPr lang="zh-CN" altLang="en-US" dirty="0">
                <a:latin typeface="微软雅黑" panose="020B0503020204020204" pitchFamily="34" charset="-122"/>
                <a:ea typeface="微软雅黑" panose="020B0503020204020204" pitchFamily="34" charset="-122"/>
              </a:rPr>
              <a:t>放入数据之前需要判断缓冲池中是否还有空的</a:t>
            </a:r>
            <a:r>
              <a:rPr lang="zh-CN" altLang="en-US" dirty="0">
                <a:solidFill>
                  <a:srgbClr val="FF0000"/>
                </a:solidFill>
                <a:latin typeface="微软雅黑" panose="020B0503020204020204" pitchFamily="34" charset="-122"/>
                <a:ea typeface="微软雅黑" panose="020B0503020204020204" pitchFamily="34" charset="-122"/>
              </a:rPr>
              <a:t>缓冲区</a:t>
            </a:r>
            <a:r>
              <a:rPr lang="zh-CN" altLang="en-US" dirty="0">
                <a:latin typeface="微软雅黑" panose="020B0503020204020204" pitchFamily="34" charset="-122"/>
                <a:ea typeface="微软雅黑" panose="020B0503020204020204" pitchFamily="34" charset="-122"/>
              </a:rPr>
              <a:t>，如果有则向空的</a:t>
            </a:r>
            <a:r>
              <a:rPr lang="zh-CN" altLang="en-US" dirty="0">
                <a:solidFill>
                  <a:srgbClr val="FF0000"/>
                </a:solidFill>
                <a:latin typeface="微软雅黑" panose="020B0503020204020204" pitchFamily="34" charset="-122"/>
                <a:ea typeface="微软雅黑" panose="020B0503020204020204" pitchFamily="34" charset="-122"/>
              </a:rPr>
              <a:t>缓冲区</a:t>
            </a:r>
            <a:r>
              <a:rPr lang="zh-CN" altLang="en-US" dirty="0">
                <a:latin typeface="微软雅黑" panose="020B0503020204020204" pitchFamily="34" charset="-122"/>
                <a:ea typeface="微软雅黑" panose="020B0503020204020204" pitchFamily="34" charset="-122"/>
              </a:rPr>
              <a:t>写入，如果没有则等待</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dirty="0">
                <a:latin typeface="微软雅黑" panose="020B0503020204020204" pitchFamily="34" charset="-122"/>
                <a:ea typeface="微软雅黑" panose="020B0503020204020204" pitchFamily="34" charset="-122"/>
              </a:rPr>
              <a:t>消费者任务在从</a:t>
            </a:r>
            <a:r>
              <a:rPr lang="zh-CN" altLang="en-US" dirty="0">
                <a:solidFill>
                  <a:srgbClr val="FF0000"/>
                </a:solidFill>
                <a:latin typeface="微软雅黑" panose="020B0503020204020204" pitchFamily="34" charset="-122"/>
                <a:ea typeface="微软雅黑" panose="020B0503020204020204" pitchFamily="34" charset="-122"/>
              </a:rPr>
              <a:t>缓冲池</a:t>
            </a:r>
            <a:r>
              <a:rPr lang="zh-CN" altLang="en-US" dirty="0">
                <a:latin typeface="微软雅黑" panose="020B0503020204020204" pitchFamily="34" charset="-122"/>
                <a:ea typeface="微软雅黑" panose="020B0503020204020204" pitchFamily="34" charset="-122"/>
              </a:rPr>
              <a:t>读取数据之前需要判断缓冲池中是否有已经写入数据的</a:t>
            </a:r>
            <a:r>
              <a:rPr lang="zh-CN" altLang="en-US" dirty="0">
                <a:solidFill>
                  <a:srgbClr val="FF0000"/>
                </a:solidFill>
                <a:latin typeface="微软雅黑" panose="020B0503020204020204" pitchFamily="34" charset="-122"/>
                <a:ea typeface="微软雅黑" panose="020B0503020204020204" pitchFamily="34" charset="-122"/>
              </a:rPr>
              <a:t>缓冲区</a:t>
            </a:r>
            <a:r>
              <a:rPr lang="zh-CN" altLang="en-US" dirty="0">
                <a:latin typeface="微软雅黑" panose="020B0503020204020204" pitchFamily="34" charset="-122"/>
                <a:ea typeface="微软雅黑" panose="020B0503020204020204" pitchFamily="34" charset="-122"/>
              </a:rPr>
              <a:t>，如果有则读取已经写入数据的缓冲区，如果没有则等待</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使用</a:t>
            </a:r>
            <a:r>
              <a:rPr lang="zh-CN" altLang="en-US" dirty="0">
                <a:solidFill>
                  <a:srgbClr val="FF0000"/>
                </a:solidFill>
                <a:latin typeface="微软雅黑" panose="020B0503020204020204" pitchFamily="34" charset="-122"/>
                <a:ea typeface="微软雅黑" panose="020B0503020204020204" pitchFamily="34" charset="-122"/>
              </a:rPr>
              <a:t>两个信号量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一个代表</a:t>
            </a:r>
            <a:r>
              <a:rPr lang="zh-CN" altLang="en-US" dirty="0">
                <a:solidFill>
                  <a:srgbClr val="FF0000"/>
                </a:solidFill>
                <a:latin typeface="微软雅黑" panose="020B0503020204020204" pitchFamily="34" charset="-122"/>
                <a:ea typeface="微软雅黑" panose="020B0503020204020204" pitchFamily="34" charset="-122"/>
              </a:rPr>
              <a:t>空缓冲区的数量</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eaLnBrk="1" hangingPunct="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一个代表</a:t>
            </a:r>
            <a:r>
              <a:rPr lang="zh-CN" altLang="en-US" dirty="0">
                <a:solidFill>
                  <a:srgbClr val="FF0000"/>
                </a:solidFill>
                <a:latin typeface="微软雅黑" panose="020B0503020204020204" pitchFamily="34" charset="-122"/>
                <a:ea typeface="微软雅黑" panose="020B0503020204020204" pitchFamily="34" charset="-122"/>
              </a:rPr>
              <a:t>已经写入数据的缓冲区数量！！</a:t>
            </a:r>
            <a:endParaRPr lang="en-US" altLang="zh-CN" dirty="0">
              <a:solidFill>
                <a:srgbClr val="FF0000"/>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p:txBody>
      </p:sp>
      <p:sp>
        <p:nvSpPr>
          <p:cNvPr id="20483" name="副标题 1"/>
          <p:cNvSpPr>
            <a:spLocks noGrp="1" noChangeArrowheads="1"/>
          </p:cNvSpPr>
          <p:nvPr>
            <p:ph type="subTitle" idx="13"/>
          </p:nvPr>
        </p:nvSpPr>
        <p:spPr>
          <a:xfrm>
            <a:off x="1014413" y="1052513"/>
            <a:ext cx="6400800" cy="542925"/>
          </a:xfrm>
        </p:spPr>
        <p:txBody>
          <a:bodyPr/>
          <a:lstStyle/>
          <a:p>
            <a:r>
              <a:rPr lang="zh-CN" altLang="en-US" sz="2800">
                <a:latin typeface="微软雅黑" panose="020B0503020204020204" pitchFamily="34" charset="-122"/>
                <a:ea typeface="微软雅黑" panose="020B0503020204020204" pitchFamily="34" charset="-122"/>
              </a:rPr>
              <a:t>实验原理</a:t>
            </a:r>
            <a:endParaRPr lang="en-US" altLang="zh-CN" sz="2800"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p:nvPr>
        </p:nvSpPr>
        <p:spPr>
          <a:xfrm>
            <a:off x="881063" y="188913"/>
            <a:ext cx="8229600" cy="457200"/>
          </a:xfrm>
        </p:spPr>
        <p:txBody>
          <a:bodyPr/>
          <a:lstStyle/>
          <a:p>
            <a:r>
              <a:rPr lang="zh-CN" altLang="en-US" b="0">
                <a:latin typeface="微软雅黑" panose="020B0503020204020204" pitchFamily="34" charset="-122"/>
                <a:ea typeface="微软雅黑" panose="020B0503020204020204" pitchFamily="34" charset="-122"/>
              </a:rPr>
              <a:t>实验</a:t>
            </a:r>
            <a:r>
              <a:rPr lang="en-US" altLang="zh-CN" b="0">
                <a:latin typeface="微软雅黑" panose="020B0503020204020204" pitchFamily="34" charset="-122"/>
                <a:ea typeface="微软雅黑" panose="020B0503020204020204" pitchFamily="34" charset="-122"/>
              </a:rPr>
              <a:t>1</a:t>
            </a:r>
            <a:r>
              <a:rPr lang="en-US" altLang="zh-CN" b="0" dirty="0">
                <a:latin typeface="微软雅黑" panose="020B0503020204020204" pitchFamily="34" charset="-122"/>
                <a:ea typeface="微软雅黑" panose="020B0503020204020204" pitchFamily="34" charset="-122"/>
              </a:rPr>
              <a:t>-</a:t>
            </a:r>
            <a:r>
              <a:rPr lang="zh-CN" altLang="en-US" b="0">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1506" name="Rectangle 2"/>
          <p:cNvSpPr>
            <a:spLocks noGrp="1" noChangeArrowheads="1"/>
          </p:cNvSpPr>
          <p:nvPr>
            <p:ph idx="1"/>
          </p:nvPr>
        </p:nvSpPr>
        <p:spPr>
          <a:xfrm>
            <a:off x="457200" y="981075"/>
            <a:ext cx="8229600" cy="5145088"/>
          </a:xfrm>
        </p:spPr>
        <p:txBody>
          <a:bodyPr/>
          <a:lstStyle/>
          <a:p>
            <a:pPr eaLnBrk="1" hangingPunct="1"/>
            <a:r>
              <a:rPr lang="zh-CN" altLang="en-US">
                <a:latin typeface="微软雅黑" panose="020B0503020204020204" pitchFamily="34" charset="-122"/>
                <a:ea typeface="微软雅黑" panose="020B0503020204020204" pitchFamily="34" charset="-122"/>
              </a:rPr>
              <a:t>实验原理：</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生产者任务</a:t>
            </a:r>
            <a:endParaRPr lang="zh-CN" altLang="en-US">
              <a:latin typeface="微软雅黑" panose="020B0503020204020204" pitchFamily="34" charset="-122"/>
              <a:ea typeface="微软雅黑" panose="020B0503020204020204" pitchFamily="34" charset="-122"/>
            </a:endParaRPr>
          </a:p>
        </p:txBody>
      </p:sp>
      <p:pic>
        <p:nvPicPr>
          <p:cNvPr id="21507" name="Picture 3" descr="生产者消费者问题-生产者"/>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06863" y="103188"/>
            <a:ext cx="4608512"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a:xfrm>
            <a:off x="881063" y="188913"/>
            <a:ext cx="8229600" cy="457200"/>
          </a:xfrm>
        </p:spPr>
        <p:txBody>
          <a:bodyPr/>
          <a:lstStyle/>
          <a:p>
            <a:r>
              <a:rPr lang="zh-CN" altLang="en-US" b="0">
                <a:latin typeface="微软雅黑" panose="020B0503020204020204" pitchFamily="34" charset="-122"/>
                <a:ea typeface="微软雅黑" panose="020B0503020204020204" pitchFamily="34" charset="-122"/>
              </a:rPr>
              <a:t>实验</a:t>
            </a:r>
            <a:r>
              <a:rPr lang="en-US" altLang="zh-CN" b="0">
                <a:latin typeface="微软雅黑" panose="020B0503020204020204" pitchFamily="34" charset="-122"/>
                <a:ea typeface="微软雅黑" panose="020B0503020204020204" pitchFamily="34" charset="-122"/>
              </a:rPr>
              <a:t>1</a:t>
            </a:r>
            <a:r>
              <a:rPr lang="en-US" altLang="zh-CN" b="0" dirty="0">
                <a:latin typeface="微软雅黑" panose="020B0503020204020204" pitchFamily="34" charset="-122"/>
                <a:ea typeface="微软雅黑" panose="020B0503020204020204" pitchFamily="34" charset="-122"/>
              </a:rPr>
              <a:t>-</a:t>
            </a:r>
            <a:r>
              <a:rPr lang="zh-CN" altLang="en-US" b="0">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2530" name="Rectangle 2"/>
          <p:cNvSpPr>
            <a:spLocks noGrp="1" noChangeArrowheads="1"/>
          </p:cNvSpPr>
          <p:nvPr>
            <p:ph idx="1"/>
          </p:nvPr>
        </p:nvSpPr>
        <p:spPr>
          <a:xfrm>
            <a:off x="457200" y="981075"/>
            <a:ext cx="8229600" cy="5145088"/>
          </a:xfrm>
        </p:spPr>
        <p:txBody>
          <a:bodyPr/>
          <a:lstStyle/>
          <a:p>
            <a:pPr eaLnBrk="1" hangingPunct="1"/>
            <a:r>
              <a:rPr lang="zh-CN" altLang="en-US">
                <a:latin typeface="微软雅黑" panose="020B0503020204020204" pitchFamily="34" charset="-122"/>
                <a:ea typeface="微软雅黑" panose="020B0503020204020204" pitchFamily="34" charset="-122"/>
              </a:rPr>
              <a:t>实验原理：</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消费者任务</a:t>
            </a:r>
            <a:endParaRPr lang="zh-CN" altLang="en-US">
              <a:latin typeface="微软雅黑" panose="020B0503020204020204" pitchFamily="34" charset="-122"/>
              <a:ea typeface="微软雅黑" panose="020B0503020204020204" pitchFamily="34" charset="-122"/>
            </a:endParaRPr>
          </a:p>
        </p:txBody>
      </p:sp>
      <p:pic>
        <p:nvPicPr>
          <p:cNvPr id="22531" name="Picture 3" descr="生产者消费者问题-消费者"/>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40200" y="115888"/>
            <a:ext cx="4806950" cy="662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3554" name="内容占位符 2"/>
          <p:cNvSpPr>
            <a:spLocks noGrp="1" noChangeArrowheads="1"/>
          </p:cNvSpPr>
          <p:nvPr>
            <p:ph idx="1"/>
          </p:nvPr>
        </p:nvSpPr>
        <p:spPr>
          <a:xfrm>
            <a:off x="323850" y="1609725"/>
            <a:ext cx="8229600" cy="4411663"/>
          </a:xfrm>
        </p:spPr>
        <p:txBody>
          <a:bodyPr/>
          <a:lstStyle/>
          <a:p>
            <a:pPr eaLnBrk="1" hangingPunct="1">
              <a:lnSpc>
                <a:spcPct val="120000"/>
              </a:lnSpc>
              <a:buFont typeface="Wingdings" panose="05000000000000000000" pitchFamily="2" charset="2"/>
              <a:buChar char="ü"/>
            </a:pPr>
            <a:r>
              <a:rPr lang="zh-CN" altLang="en-US" sz="2400">
                <a:latin typeface="微软雅黑" panose="020B0503020204020204" pitchFamily="34" charset="-122"/>
                <a:ea typeface="微软雅黑" panose="020B0503020204020204" pitchFamily="34" charset="-122"/>
              </a:rPr>
              <a:t>分配具有n个缓冲区的缓冲池，作为临界资源。</a:t>
            </a:r>
            <a:endParaRPr lang="zh-CN" altLang="en-US" sz="240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ü"/>
            </a:pPr>
            <a:r>
              <a:rPr lang="zh-CN" altLang="en-US" sz="2400">
                <a:latin typeface="微软雅黑" panose="020B0503020204020204" pitchFamily="34" charset="-122"/>
                <a:ea typeface="微软雅黑" panose="020B0503020204020204" pitchFamily="34" charset="-122"/>
              </a:rPr>
              <a:t>定义两个记录型信号量empty 和full，empty信号量表示当前空的缓冲区数量，full表示当前写入数据的缓冲区（满缓冲区）的数量。</a:t>
            </a:r>
            <a:endParaRPr lang="zh-CN" altLang="en-US" sz="240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ü"/>
            </a:pPr>
            <a:r>
              <a:rPr lang="zh-CN" altLang="en-US" sz="2400">
                <a:latin typeface="微软雅黑" panose="020B0503020204020204" pitchFamily="34" charset="-122"/>
                <a:ea typeface="微软雅黑" panose="020B0503020204020204" pitchFamily="34" charset="-122"/>
              </a:rPr>
              <a:t>定义互斥量mutex，当某个任务访问缓冲区之前对互斥量加锁，在对缓冲区的操作完成后再释放此互斥量。以此实现多个任务对临界资源的互斥访问。</a:t>
            </a:r>
            <a:endParaRPr lang="zh-CN" altLang="en-US" sz="240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Char char="ü"/>
            </a:pPr>
            <a:r>
              <a:rPr lang="zh-CN" altLang="en-US" sz="2400">
                <a:latin typeface="微软雅黑" panose="020B0503020204020204" pitchFamily="34" charset="-122"/>
                <a:ea typeface="微软雅黑" panose="020B0503020204020204" pitchFamily="34" charset="-122"/>
              </a:rPr>
              <a:t>创建3进程（或者线程）作为生产者任务，4个进程（或者线程）作为消费者任务。创建一个文件作为数据源，文件中事先写入一些内容作为内容。</a:t>
            </a:r>
            <a:endParaRPr lang="en-US" altLang="zh-CN" sz="2400" dirty="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None/>
            </a:pPr>
            <a:endParaRPr lang="en-US" altLang="zh-CN" sz="2400" dirty="0">
              <a:latin typeface="微软雅黑" panose="020B0503020204020204" pitchFamily="34" charset="-122"/>
              <a:ea typeface="微软雅黑" panose="020B0503020204020204" pitchFamily="34" charset="-122"/>
            </a:endParaRPr>
          </a:p>
          <a:p>
            <a:pPr eaLnBrk="1" hangingPunct="1">
              <a:lnSpc>
                <a:spcPct val="120000"/>
              </a:lnSpc>
              <a:buFont typeface="Wingdings" panose="05000000000000000000" pitchFamily="2" charset="2"/>
              <a:buNone/>
            </a:pPr>
            <a:endParaRPr lang="zh-CN" altLang="en-US" sz="2400">
              <a:latin typeface="微软雅黑" panose="020B0503020204020204" pitchFamily="34" charset="-122"/>
              <a:ea typeface="微软雅黑" panose="020B0503020204020204" pitchFamily="34" charset="-122"/>
            </a:endParaRPr>
          </a:p>
        </p:txBody>
      </p:sp>
      <p:sp>
        <p:nvSpPr>
          <p:cNvPr id="23555" name="副标题 1"/>
          <p:cNvSpPr>
            <a:spLocks noGrp="1" noChangeArrowheads="1"/>
          </p:cNvSpPr>
          <p:nvPr>
            <p:ph type="subTitle" idx="13"/>
          </p:nvPr>
        </p:nvSpPr>
        <p:spPr>
          <a:xfrm>
            <a:off x="1014413" y="1052513"/>
            <a:ext cx="6400800" cy="542925"/>
          </a:xfrm>
        </p:spPr>
        <p:txBody>
          <a:bodyPr/>
          <a:lstStyle/>
          <a:p>
            <a:r>
              <a:rPr lang="zh-CN" altLang="en-US" sz="2800">
                <a:latin typeface="微软雅黑" panose="020B0503020204020204" pitchFamily="34" charset="-122"/>
                <a:ea typeface="微软雅黑" panose="020B0503020204020204" pitchFamily="34" charset="-122"/>
              </a:rPr>
              <a:t>编程思路</a:t>
            </a:r>
            <a:endParaRPr lang="zh-CN" altLang="en-US" sz="280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4578"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Char char="ü"/>
            </a:pPr>
            <a:r>
              <a:rPr lang="zh-CN" altLang="en-US">
                <a:latin typeface="微软雅黑" panose="020B0503020204020204" pitchFamily="34" charset="-122"/>
                <a:ea typeface="微软雅黑" panose="020B0503020204020204" pitchFamily="34" charset="-122"/>
              </a:rPr>
              <a:t>生产者任务的工作内容：</a:t>
            </a:r>
            <a:endParaRPr lang="en-US" altLang="zh-CN" dirty="0">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从文件中读取数据</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申请对empty信号量进行</a:t>
            </a:r>
            <a:r>
              <a:rPr lang="en-US" altLang="zh-CN" dirty="0">
                <a:solidFill>
                  <a:srgbClr val="0070C0"/>
                </a:solidFill>
                <a:latin typeface="微软雅黑" panose="020B0503020204020204" pitchFamily="34" charset="-122"/>
                <a:ea typeface="微软雅黑" panose="020B0503020204020204" pitchFamily="34" charset="-122"/>
              </a:rPr>
              <a:t>P</a:t>
            </a:r>
            <a:r>
              <a:rPr lang="zh-CN" altLang="en-US">
                <a:solidFill>
                  <a:srgbClr val="0070C0"/>
                </a:solidFill>
                <a:latin typeface="微软雅黑" panose="020B0503020204020204" pitchFamily="34" charset="-122"/>
                <a:ea typeface="微软雅黑" panose="020B0503020204020204" pitchFamily="34" charset="-122"/>
              </a:rPr>
              <a:t>操作</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申请对</a:t>
            </a:r>
            <a:r>
              <a:rPr lang="en-US" altLang="zh-CN" dirty="0">
                <a:solidFill>
                  <a:srgbClr val="0070C0"/>
                </a:solidFill>
                <a:latin typeface="微软雅黑" panose="020B0503020204020204" pitchFamily="34" charset="-122"/>
                <a:ea typeface="微软雅黑" panose="020B0503020204020204" pitchFamily="34" charset="-122"/>
              </a:rPr>
              <a:t>mutex</a:t>
            </a:r>
            <a:r>
              <a:rPr lang="zh-CN" altLang="en-US">
                <a:solidFill>
                  <a:srgbClr val="0070C0"/>
                </a:solidFill>
                <a:latin typeface="微软雅黑" panose="020B0503020204020204" pitchFamily="34" charset="-122"/>
                <a:ea typeface="微软雅黑" panose="020B0503020204020204" pitchFamily="34" charset="-122"/>
              </a:rPr>
              <a:t>互斥量加锁</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进入临界区操作将读取的数据放入到空缓冲区（放到哪个空缓冲区可以参考教材中的输入指针）</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对</a:t>
            </a:r>
            <a:r>
              <a:rPr lang="en-US" altLang="zh-CN" dirty="0">
                <a:solidFill>
                  <a:srgbClr val="0070C0"/>
                </a:solidFill>
                <a:latin typeface="微软雅黑" panose="020B0503020204020204" pitchFamily="34" charset="-122"/>
                <a:ea typeface="微软雅黑" panose="020B0503020204020204" pitchFamily="34" charset="-122"/>
              </a:rPr>
              <a:t>full</a:t>
            </a:r>
            <a:r>
              <a:rPr lang="zh-CN" altLang="en-US">
                <a:solidFill>
                  <a:srgbClr val="0070C0"/>
                </a:solidFill>
                <a:latin typeface="微软雅黑" panose="020B0503020204020204" pitchFamily="34" charset="-122"/>
                <a:ea typeface="微软雅黑" panose="020B0503020204020204" pitchFamily="34" charset="-122"/>
              </a:rPr>
              <a:t>信号量进行</a:t>
            </a:r>
            <a:r>
              <a:rPr lang="en-US" altLang="zh-CN" dirty="0">
                <a:solidFill>
                  <a:srgbClr val="0070C0"/>
                </a:solidFill>
                <a:latin typeface="微软雅黑" panose="020B0503020204020204" pitchFamily="34" charset="-122"/>
                <a:ea typeface="微软雅黑" panose="020B0503020204020204" pitchFamily="34" charset="-122"/>
              </a:rPr>
              <a:t>V</a:t>
            </a:r>
            <a:r>
              <a:rPr lang="zh-CN" altLang="en-US">
                <a:solidFill>
                  <a:srgbClr val="0070C0"/>
                </a:solidFill>
                <a:latin typeface="微软雅黑" panose="020B0503020204020204" pitchFamily="34" charset="-122"/>
                <a:ea typeface="微软雅黑" panose="020B0503020204020204" pitchFamily="34" charset="-122"/>
              </a:rPr>
              <a:t>操作</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释放</a:t>
            </a:r>
            <a:r>
              <a:rPr lang="en-US" altLang="zh-CN" dirty="0">
                <a:solidFill>
                  <a:srgbClr val="0070C0"/>
                </a:solidFill>
                <a:latin typeface="微软雅黑" panose="020B0503020204020204" pitchFamily="34" charset="-122"/>
                <a:ea typeface="微软雅黑" panose="020B0503020204020204" pitchFamily="34" charset="-122"/>
              </a:rPr>
              <a:t>mutex</a:t>
            </a:r>
            <a:r>
              <a:rPr lang="zh-CN" altLang="en-US">
                <a:solidFill>
                  <a:srgbClr val="0070C0"/>
                </a:solidFill>
                <a:latin typeface="微软雅黑" panose="020B0503020204020204" pitchFamily="34" charset="-122"/>
                <a:ea typeface="微软雅黑" panose="020B0503020204020204" pitchFamily="34" charset="-122"/>
              </a:rPr>
              <a:t>互斥量</a:t>
            </a:r>
            <a:r>
              <a:rPr lang="zh-CN" altLang="en-US">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AutoNum type="circleNumDbPlain"/>
            </a:pPr>
            <a:endParaRPr lang="en-US" altLang="zh-CN" sz="26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zh-CN" altLang="en-US" sz="2600">
              <a:latin typeface="微软雅黑" panose="020B0503020204020204" pitchFamily="34" charset="-122"/>
              <a:ea typeface="微软雅黑" panose="020B0503020204020204" pitchFamily="34" charset="-122"/>
            </a:endParaRPr>
          </a:p>
        </p:txBody>
      </p:sp>
      <p:sp>
        <p:nvSpPr>
          <p:cNvPr id="24579"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编程思路</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5602"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Char char="ü"/>
            </a:pPr>
            <a:r>
              <a:rPr lang="zh-CN" altLang="en-US">
                <a:latin typeface="微软雅黑" panose="020B0503020204020204" pitchFamily="34" charset="-122"/>
                <a:ea typeface="微软雅黑" panose="020B0503020204020204" pitchFamily="34" charset="-122"/>
              </a:rPr>
              <a:t>消费者任务的工作内容：</a:t>
            </a:r>
            <a:endParaRPr lang="en-US" altLang="zh-CN" dirty="0">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申请对</a:t>
            </a:r>
            <a:r>
              <a:rPr lang="en-US" altLang="zh-CN" dirty="0">
                <a:solidFill>
                  <a:srgbClr val="0070C0"/>
                </a:solidFill>
                <a:latin typeface="微软雅黑" panose="020B0503020204020204" pitchFamily="34" charset="-122"/>
                <a:ea typeface="微软雅黑" panose="020B0503020204020204" pitchFamily="34" charset="-122"/>
              </a:rPr>
              <a:t>full</a:t>
            </a:r>
            <a:r>
              <a:rPr lang="zh-CN" altLang="en-US">
                <a:solidFill>
                  <a:srgbClr val="0070C0"/>
                </a:solidFill>
                <a:latin typeface="微软雅黑" panose="020B0503020204020204" pitchFamily="34" charset="-122"/>
                <a:ea typeface="微软雅黑" panose="020B0503020204020204" pitchFamily="34" charset="-122"/>
              </a:rPr>
              <a:t>信号量进行</a:t>
            </a:r>
            <a:r>
              <a:rPr lang="en-US" altLang="zh-CN" dirty="0">
                <a:solidFill>
                  <a:srgbClr val="0070C0"/>
                </a:solidFill>
                <a:latin typeface="微软雅黑" panose="020B0503020204020204" pitchFamily="34" charset="-122"/>
                <a:ea typeface="微软雅黑" panose="020B0503020204020204" pitchFamily="34" charset="-122"/>
              </a:rPr>
              <a:t>P</a:t>
            </a:r>
            <a:r>
              <a:rPr lang="zh-CN" altLang="en-US">
                <a:solidFill>
                  <a:srgbClr val="0070C0"/>
                </a:solidFill>
                <a:latin typeface="微软雅黑" panose="020B0503020204020204" pitchFamily="34" charset="-122"/>
                <a:ea typeface="微软雅黑" panose="020B0503020204020204" pitchFamily="34" charset="-122"/>
              </a:rPr>
              <a:t>操作</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申请对</a:t>
            </a:r>
            <a:r>
              <a:rPr lang="en-US" altLang="zh-CN" dirty="0">
                <a:solidFill>
                  <a:srgbClr val="0070C0"/>
                </a:solidFill>
                <a:latin typeface="微软雅黑" panose="020B0503020204020204" pitchFamily="34" charset="-122"/>
                <a:ea typeface="微软雅黑" panose="020B0503020204020204" pitchFamily="34" charset="-122"/>
              </a:rPr>
              <a:t>mutex</a:t>
            </a:r>
            <a:r>
              <a:rPr lang="zh-CN" altLang="en-US">
                <a:solidFill>
                  <a:srgbClr val="0070C0"/>
                </a:solidFill>
                <a:latin typeface="微软雅黑" panose="020B0503020204020204" pitchFamily="34" charset="-122"/>
                <a:ea typeface="微软雅黑" panose="020B0503020204020204" pitchFamily="34" charset="-122"/>
              </a:rPr>
              <a:t>互斥量加锁</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进入临界区将写入的数据缓冲区读出并通过</a:t>
            </a:r>
            <a:r>
              <a:rPr lang="en-US" altLang="zh-CN" dirty="0">
                <a:solidFill>
                  <a:srgbClr val="0070C0"/>
                </a:solidFill>
                <a:latin typeface="微软雅黑" panose="020B0503020204020204" pitchFamily="34" charset="-122"/>
                <a:ea typeface="微软雅黑" panose="020B0503020204020204" pitchFamily="34" charset="-122"/>
              </a:rPr>
              <a:t>printf</a:t>
            </a:r>
            <a:r>
              <a:rPr lang="zh-CN" altLang="en-US">
                <a:solidFill>
                  <a:srgbClr val="0070C0"/>
                </a:solidFill>
                <a:latin typeface="微软雅黑" panose="020B0503020204020204" pitchFamily="34" charset="-122"/>
                <a:ea typeface="微软雅黑" panose="020B0503020204020204" pitchFamily="34" charset="-122"/>
              </a:rPr>
              <a:t>打印（读出哪个写入数据的缓冲区可以参考教材中的输出指针）</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对</a:t>
            </a:r>
            <a:r>
              <a:rPr lang="en-US" altLang="zh-CN" dirty="0">
                <a:solidFill>
                  <a:srgbClr val="0070C0"/>
                </a:solidFill>
                <a:latin typeface="微软雅黑" panose="020B0503020204020204" pitchFamily="34" charset="-122"/>
                <a:ea typeface="微软雅黑" panose="020B0503020204020204" pitchFamily="34" charset="-122"/>
              </a:rPr>
              <a:t>empty</a:t>
            </a:r>
            <a:r>
              <a:rPr lang="zh-CN" altLang="en-US">
                <a:solidFill>
                  <a:srgbClr val="0070C0"/>
                </a:solidFill>
                <a:latin typeface="微软雅黑" panose="020B0503020204020204" pitchFamily="34" charset="-122"/>
                <a:ea typeface="微软雅黑" panose="020B0503020204020204" pitchFamily="34" charset="-122"/>
              </a:rPr>
              <a:t>信号量进行</a:t>
            </a:r>
            <a:r>
              <a:rPr lang="en-US" altLang="zh-CN" dirty="0">
                <a:solidFill>
                  <a:srgbClr val="0070C0"/>
                </a:solidFill>
                <a:latin typeface="微软雅黑" panose="020B0503020204020204" pitchFamily="34" charset="-122"/>
                <a:ea typeface="微软雅黑" panose="020B0503020204020204" pitchFamily="34" charset="-122"/>
              </a:rPr>
              <a:t>V</a:t>
            </a:r>
            <a:r>
              <a:rPr lang="zh-CN" altLang="en-US">
                <a:solidFill>
                  <a:srgbClr val="0070C0"/>
                </a:solidFill>
                <a:latin typeface="微软雅黑" panose="020B0503020204020204" pitchFamily="34" charset="-122"/>
                <a:ea typeface="微软雅黑" panose="020B0503020204020204" pitchFamily="34" charset="-122"/>
              </a:rPr>
              <a:t>操作</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zh-CN" altLang="en-US">
                <a:solidFill>
                  <a:srgbClr val="0070C0"/>
                </a:solidFill>
                <a:latin typeface="微软雅黑" panose="020B0503020204020204" pitchFamily="34" charset="-122"/>
                <a:ea typeface="微软雅黑" panose="020B0503020204020204" pitchFamily="34" charset="-122"/>
              </a:rPr>
              <a:t>释放</a:t>
            </a:r>
            <a:r>
              <a:rPr lang="en-US" altLang="zh-CN" dirty="0">
                <a:solidFill>
                  <a:srgbClr val="0070C0"/>
                </a:solidFill>
                <a:latin typeface="微软雅黑" panose="020B0503020204020204" pitchFamily="34" charset="-122"/>
                <a:ea typeface="微软雅黑" panose="020B0503020204020204" pitchFamily="34" charset="-122"/>
              </a:rPr>
              <a:t>mutex</a:t>
            </a:r>
            <a:r>
              <a:rPr lang="zh-CN" altLang="en-US">
                <a:solidFill>
                  <a:srgbClr val="0070C0"/>
                </a:solidFill>
                <a:latin typeface="微软雅黑" panose="020B0503020204020204" pitchFamily="34" charset="-122"/>
                <a:ea typeface="微软雅黑" panose="020B0503020204020204" pitchFamily="34" charset="-122"/>
              </a:rPr>
              <a:t>互斥量。</a:t>
            </a:r>
            <a:endParaRPr lang="en-US" altLang="zh-CN" dirty="0">
              <a:solidFill>
                <a:srgbClr val="0070C0"/>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AutoNum type="circleNumDbPlain"/>
            </a:pPr>
            <a:endParaRPr lang="en-US" altLang="zh-CN" sz="26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endParaRPr lang="zh-CN" altLang="en-US" sz="2600">
              <a:latin typeface="微软雅黑" panose="020B0503020204020204" pitchFamily="34" charset="-122"/>
              <a:ea typeface="微软雅黑" panose="020B0503020204020204" pitchFamily="34" charset="-122"/>
            </a:endParaRPr>
          </a:p>
        </p:txBody>
      </p:sp>
      <p:sp>
        <p:nvSpPr>
          <p:cNvPr id="25603"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编程思路</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en-US" altLang="zh-CN" dirty="0">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
        <p:nvSpPr>
          <p:cNvPr id="26626"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None/>
            </a:pPr>
            <a:r>
              <a:rPr lang="zh-CN" altLang="en-US">
                <a:latin typeface="微软雅黑" panose="020B0503020204020204" pitchFamily="34" charset="-122"/>
                <a:ea typeface="微软雅黑" panose="020B0503020204020204" pitchFamily="34" charset="-122"/>
              </a:rPr>
              <a:t>说明实验过程，进行结果分析。</a:t>
            </a:r>
            <a:endParaRPr lang="zh-CN" altLang="en-US">
              <a:latin typeface="微软雅黑" panose="020B0503020204020204" pitchFamily="34" charset="-122"/>
              <a:ea typeface="微软雅黑" panose="020B0503020204020204" pitchFamily="34" charset="-122"/>
            </a:endParaRPr>
          </a:p>
          <a:p>
            <a:pPr eaLnBrk="1" hangingPunct="1"/>
            <a:endParaRPr lang="zh-CN" altLang="en-US">
              <a:latin typeface="微软雅黑" panose="020B0503020204020204" pitchFamily="34" charset="-122"/>
              <a:ea typeface="微软雅黑" panose="020B0503020204020204" pitchFamily="34" charset="-122"/>
            </a:endParaRPr>
          </a:p>
        </p:txBody>
      </p:sp>
      <p:sp>
        <p:nvSpPr>
          <p:cNvPr id="26627"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实验报告</a:t>
            </a:r>
            <a:endParaRPr lang="en-US" altLang="zh-CN" dirty="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内容占位符 2"/>
          <p:cNvSpPr>
            <a:spLocks noGrp="1" noChangeArrowheads="1"/>
          </p:cNvSpPr>
          <p:nvPr>
            <p:ph idx="1"/>
          </p:nvPr>
        </p:nvSpPr>
        <p:spPr>
          <a:xfrm>
            <a:off x="457200" y="1714500"/>
            <a:ext cx="8229600" cy="4411663"/>
          </a:xfrm>
        </p:spPr>
        <p:txBody>
          <a:bodyPr/>
          <a:lstStyle/>
          <a:p>
            <a:pPr marL="514350" indent="-514350" eaLnBrk="1" hangingPunct="1">
              <a:lnSpc>
                <a:spcPct val="150000"/>
              </a:lnSpc>
              <a:buFont typeface="宋体" panose="02010600030101010101" pitchFamily="2" charset="-122"/>
              <a:buAutoNum type="circleNumDbPlain"/>
            </a:pPr>
            <a:r>
              <a:rPr lang="zh-CN" altLang="en-US" dirty="0">
                <a:latin typeface="微软雅黑" panose="020B0503020204020204" pitchFamily="34" charset="-122"/>
                <a:ea typeface="微软雅黑" panose="020B0503020204020204" pitchFamily="34" charset="-122"/>
              </a:rPr>
              <a:t>学生每人一台</a:t>
            </a:r>
            <a:r>
              <a:rPr lang="en-US" altLang="zh-CN"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，安装</a:t>
            </a:r>
            <a:r>
              <a:rPr lang="en-US" altLang="zh-CN" dirty="0" err="1">
                <a:latin typeface="微软雅黑" panose="020B0503020204020204" pitchFamily="34" charset="-122"/>
                <a:ea typeface="微软雅黑" panose="020B0503020204020204" pitchFamily="34" charset="-122"/>
              </a:rPr>
              <a:t>WindowsXP</a:t>
            </a:r>
            <a:r>
              <a:rPr lang="en-US" altLang="zh-CN" dirty="0">
                <a:latin typeface="微软雅黑" panose="020B0503020204020204" pitchFamily="34" charset="-122"/>
                <a:ea typeface="微软雅黑" panose="020B0503020204020204" pitchFamily="34" charset="-122"/>
              </a:rPr>
              <a:t>/2000</a:t>
            </a:r>
            <a:r>
              <a:rPr lang="zh-CN" altLang="en-US" dirty="0">
                <a:latin typeface="微软雅黑" panose="020B0503020204020204" pitchFamily="34" charset="-122"/>
                <a:ea typeface="微软雅黑" panose="020B0503020204020204" pitchFamily="34" charset="-122"/>
              </a:rPr>
              <a:t>操作系统。</a:t>
            </a:r>
            <a:endParaRPr lang="zh-CN" altLang="en-US" dirty="0">
              <a:latin typeface="微软雅黑" panose="020B0503020204020204" pitchFamily="34" charset="-122"/>
              <a:ea typeface="微软雅黑" panose="020B0503020204020204" pitchFamily="34" charset="-122"/>
            </a:endParaRPr>
          </a:p>
          <a:p>
            <a:pPr marL="514350" indent="-514350" eaLnBrk="1" hangingPunct="1">
              <a:lnSpc>
                <a:spcPct val="150000"/>
              </a:lnSpc>
              <a:buFont typeface="宋体" panose="02010600030101010101" pitchFamily="2" charset="-122"/>
              <a:buAutoNum type="circleNumDbPlain"/>
            </a:pPr>
            <a:r>
              <a:rPr lang="zh-CN" altLang="en-US" dirty="0">
                <a:latin typeface="微软雅黑" panose="020B0503020204020204" pitchFamily="34" charset="-122"/>
                <a:ea typeface="微软雅黑" panose="020B0503020204020204" pitchFamily="34" charset="-122"/>
              </a:rPr>
              <a:t>局域网络环境。</a:t>
            </a:r>
            <a:endParaRPr lang="zh-CN" altLang="en-US" dirty="0">
              <a:latin typeface="微软雅黑" panose="020B0503020204020204" pitchFamily="34" charset="-122"/>
              <a:ea typeface="微软雅黑" panose="020B0503020204020204" pitchFamily="34" charset="-122"/>
            </a:endParaRPr>
          </a:p>
          <a:p>
            <a:pPr marL="514350" indent="-514350" eaLnBrk="1" hangingPunct="1">
              <a:lnSpc>
                <a:spcPct val="150000"/>
              </a:lnSpc>
              <a:buFont typeface="宋体" panose="02010600030101010101" pitchFamily="2" charset="-122"/>
              <a:buAutoNum type="circleNumDbPlain"/>
            </a:pPr>
            <a:r>
              <a:rPr lang="zh-CN" altLang="en-US" dirty="0">
                <a:latin typeface="微软雅黑" panose="020B0503020204020204" pitchFamily="34" charset="-122"/>
                <a:ea typeface="微软雅黑" panose="020B0503020204020204" pitchFamily="34" charset="-122"/>
              </a:rPr>
              <a:t>个人</a:t>
            </a:r>
            <a:r>
              <a:rPr lang="en-US" altLang="zh-CN"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安装</a:t>
            </a:r>
            <a:r>
              <a:rPr lang="en-US" altLang="zh-CN" dirty="0">
                <a:latin typeface="微软雅黑" panose="020B0503020204020204" pitchFamily="34" charset="-122"/>
                <a:ea typeface="微软雅黑" panose="020B0503020204020204" pitchFamily="34" charset="-122"/>
              </a:rPr>
              <a:t>VMware</a:t>
            </a:r>
            <a:r>
              <a:rPr lang="zh-CN" altLang="en-US" dirty="0">
                <a:latin typeface="微软雅黑" panose="020B0503020204020204" pitchFamily="34" charset="-122"/>
                <a:ea typeface="微软雅黑" panose="020B0503020204020204" pitchFamily="34" charset="-122"/>
              </a:rPr>
              <a:t>虚拟机和</a:t>
            </a:r>
            <a:r>
              <a:rPr lang="en-US" altLang="zh-CN" dirty="0">
                <a:latin typeface="微软雅黑" panose="020B0503020204020204" pitchFamily="34" charset="-122"/>
                <a:ea typeface="微软雅黑" panose="020B0503020204020204" pitchFamily="34" charset="-122"/>
              </a:rPr>
              <a:t>Ubuntu</a:t>
            </a:r>
            <a:r>
              <a:rPr lang="zh-CN" altLang="en-US" dirty="0">
                <a:latin typeface="微软雅黑" panose="020B0503020204020204" pitchFamily="34" charset="-122"/>
                <a:ea typeface="微软雅黑" panose="020B0503020204020204" pitchFamily="34" charset="-122"/>
              </a:rPr>
              <a:t>系统。</a:t>
            </a:r>
            <a:endParaRPr lang="zh-CN" altLang="en-US" dirty="0">
              <a:latin typeface="微软雅黑" panose="020B0503020204020204" pitchFamily="34" charset="-122"/>
              <a:ea typeface="微软雅黑" panose="020B0503020204020204" pitchFamily="34" charset="-122"/>
            </a:endParaRPr>
          </a:p>
        </p:txBody>
      </p:sp>
      <p:sp>
        <p:nvSpPr>
          <p:cNvPr id="27650" name="副标题 3"/>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实验器材（设备、元器件）</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27651" name="标题 1"/>
          <p:cNvSpPr>
            <a:spLocks noGrp="1" noChangeArrowheads="1"/>
          </p:cNvSpPr>
          <p:nvPr>
            <p:ph type="title"/>
          </p:nvPr>
        </p:nvSpPr>
        <p:spPr/>
        <p:txBody>
          <a:bodyPr/>
          <a:lstStyle/>
          <a:p>
            <a:pPr eaLnBrk="1" hangingPunct="1"/>
            <a:r>
              <a:rPr lang="zh-CN" altLang="en-US"/>
              <a:t>实验1</a:t>
            </a:r>
            <a:r>
              <a:rPr lang="en-US" altLang="zh-CN"/>
              <a:t>-</a:t>
            </a:r>
            <a:r>
              <a:rPr lang="zh-CN" altLang="en-US"/>
              <a:t>哲学家就餐问题的实现</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内容占位符 2"/>
          <p:cNvSpPr>
            <a:spLocks noGrp="1" noChangeArrowheads="1"/>
          </p:cNvSpPr>
          <p:nvPr>
            <p:ph idx="1"/>
          </p:nvPr>
        </p:nvSpPr>
        <p:spPr>
          <a:xfrm>
            <a:off x="457200" y="1503363"/>
            <a:ext cx="8229600" cy="4411662"/>
          </a:xfrm>
        </p:spPr>
        <p:txBody>
          <a:bodyPr/>
          <a:lstStyle/>
          <a:p>
            <a:pPr eaLnBrk="1" hangingPunct="1">
              <a:lnSpc>
                <a:spcPct val="150000"/>
              </a:lnSpc>
              <a:buFont typeface="Wingdings" panose="05000000000000000000" pitchFamily="2" charset="2"/>
              <a:buNone/>
            </a:pPr>
            <a:r>
              <a:rPr lang="zh-CN" altLang="en-US" sz="2400">
                <a:latin typeface="微软雅黑" panose="020B0503020204020204" pitchFamily="34" charset="-122"/>
                <a:ea typeface="微软雅黑" panose="020B0503020204020204" pitchFamily="34" charset="-122"/>
              </a:rPr>
              <a:t>熟悉</a:t>
            </a:r>
            <a:r>
              <a:rPr lang="en-US" altLang="zh-CN" sz="2400">
                <a:latin typeface="微软雅黑" panose="020B0503020204020204" pitchFamily="34" charset="-122"/>
                <a:ea typeface="微软雅黑" panose="020B0503020204020204" pitchFamily="34" charset="-122"/>
              </a:rPr>
              <a:t>Ubuntu</a:t>
            </a:r>
            <a:r>
              <a:rPr lang="zh-CN" altLang="en-US" sz="2400">
                <a:latin typeface="微软雅黑" panose="020B0503020204020204" pitchFamily="34" charset="-122"/>
                <a:ea typeface="微软雅黑" panose="020B0503020204020204" pitchFamily="34" charset="-122"/>
              </a:rPr>
              <a:t>系统下的多线程编程。</a:t>
            </a:r>
            <a:endParaRPr lang="zh-CN" altLang="en-US" sz="240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sz="2400">
                <a:latin typeface="微软雅黑" panose="020B0503020204020204" pitchFamily="34" charset="-122"/>
                <a:ea typeface="微软雅黑" panose="020B0503020204020204" pitchFamily="34" charset="-122"/>
              </a:rPr>
              <a:t>使用</a:t>
            </a:r>
            <a:r>
              <a:rPr lang="zh-CN" altLang="en-US" sz="2400" b="1">
                <a:solidFill>
                  <a:srgbClr val="C00000"/>
                </a:solidFill>
                <a:latin typeface="微软雅黑" panose="020B0503020204020204" pitchFamily="34" charset="-122"/>
                <a:ea typeface="微软雅黑" panose="020B0503020204020204" pitchFamily="34" charset="-122"/>
              </a:rPr>
              <a:t>“</a:t>
            </a:r>
            <a:r>
              <a:rPr lang="en-US" altLang="zh-CN" sz="2400" b="1">
                <a:solidFill>
                  <a:srgbClr val="C00000"/>
                </a:solidFill>
                <a:latin typeface="微软雅黑" panose="020B0503020204020204" pitchFamily="34" charset="-122"/>
                <a:ea typeface="微软雅黑" panose="020B0503020204020204" pitchFamily="34" charset="-122"/>
              </a:rPr>
              <a:t>Ctrl+Alt+T</a:t>
            </a:r>
            <a:r>
              <a:rPr lang="zh-CN" altLang="en-US" sz="2400" b="1">
                <a:solidFill>
                  <a:srgbClr val="C00000"/>
                </a:solidFill>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打开终端；</a:t>
            </a:r>
            <a:endParaRPr lang="zh-CN" altLang="en-US" sz="240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a:latin typeface="微软雅黑" panose="020B0503020204020204" pitchFamily="34" charset="-122"/>
                <a:ea typeface="微软雅黑" panose="020B0503020204020204" pitchFamily="34" charset="-122"/>
              </a:rPr>
              <a:t>使用</a:t>
            </a:r>
            <a:r>
              <a:rPr lang="en-US" altLang="zh-CN">
                <a:latin typeface="微软雅黑" panose="020B0503020204020204" pitchFamily="34" charset="-122"/>
                <a:ea typeface="微软雅黑" panose="020B0503020204020204" pitchFamily="34" charset="-122"/>
              </a:rPr>
              <a:t>gedit</a:t>
            </a:r>
            <a:r>
              <a:rPr lang="zh-CN" altLang="en-US">
                <a:latin typeface="微软雅黑" panose="020B0503020204020204" pitchFamily="34" charset="-122"/>
                <a:ea typeface="微软雅黑" panose="020B0503020204020204" pitchFamily="34" charset="-122"/>
              </a:rPr>
              <a:t>或</a:t>
            </a:r>
            <a:r>
              <a:rPr lang="en-US" altLang="zh-CN">
                <a:latin typeface="微软雅黑" panose="020B0503020204020204" pitchFamily="34" charset="-122"/>
                <a:ea typeface="微软雅黑" panose="020B0503020204020204" pitchFamily="34" charset="-122"/>
              </a:rPr>
              <a:t>vim</a:t>
            </a:r>
            <a:r>
              <a:rPr lang="zh-CN" altLang="en-US">
                <a:latin typeface="微软雅黑" panose="020B0503020204020204" pitchFamily="34" charset="-122"/>
                <a:ea typeface="微软雅黑" panose="020B0503020204020204" pitchFamily="34" charset="-122"/>
              </a:rPr>
              <a:t>命令打开文本编辑器进行编码             </a:t>
            </a:r>
            <a:r>
              <a:rPr lang="zh-CN" altLang="en-US" b="1">
                <a:solidFill>
                  <a:srgbClr val="C00000"/>
                </a:solidFill>
                <a:latin typeface="微软雅黑" panose="020B0503020204020204" pitchFamily="34" charset="-122"/>
                <a:ea typeface="微软雅黑" panose="020B0503020204020204" pitchFamily="34" charset="-122"/>
              </a:rPr>
              <a:t>“</a:t>
            </a:r>
            <a:r>
              <a:rPr lang="en-US" altLang="zh-CN" b="1">
                <a:solidFill>
                  <a:srgbClr val="C00000"/>
                </a:solidFill>
                <a:latin typeface="微软雅黑" panose="020B0503020204020204" pitchFamily="34" charset="-122"/>
                <a:ea typeface="微软雅黑" panose="020B0503020204020204" pitchFamily="34" charset="-122"/>
              </a:rPr>
              <a:t>gedit </a:t>
            </a:r>
            <a:r>
              <a:rPr lang="zh-CN" altLang="en-US" b="1">
                <a:solidFill>
                  <a:srgbClr val="C00000"/>
                </a:solidFill>
                <a:latin typeface="微软雅黑" panose="020B0503020204020204" pitchFamily="34" charset="-122"/>
                <a:ea typeface="微软雅黑" panose="020B0503020204020204" pitchFamily="34" charset="-122"/>
              </a:rPr>
              <a:t>文件名</a:t>
            </a:r>
            <a:r>
              <a:rPr lang="en-US" altLang="zh-CN" b="1">
                <a:solidFill>
                  <a:srgbClr val="C00000"/>
                </a:solidFill>
                <a:latin typeface="微软雅黑" panose="020B0503020204020204" pitchFamily="34" charset="-122"/>
                <a:ea typeface="微软雅黑" panose="020B0503020204020204" pitchFamily="34" charset="-122"/>
              </a:rPr>
              <a:t>.c</a:t>
            </a:r>
            <a:r>
              <a:rPr lang="zh-CN" altLang="en-US" b="1">
                <a:solidFill>
                  <a:srgbClr val="C00000"/>
                </a:solidFill>
                <a:latin typeface="微软雅黑" panose="020B0503020204020204" pitchFamily="34" charset="-122"/>
                <a:ea typeface="微软雅黑" panose="020B0503020204020204" pitchFamily="34" charset="-122"/>
              </a:rPr>
              <a:t>”</a:t>
            </a:r>
            <a:endParaRPr lang="zh-CN" altLang="en-US" b="1">
              <a:solidFill>
                <a:srgbClr val="C00000"/>
              </a:solidFill>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sz="2400">
                <a:latin typeface="微软雅黑" panose="020B0503020204020204" pitchFamily="34" charset="-122"/>
                <a:ea typeface="微软雅黑" panose="020B0503020204020204" pitchFamily="34" charset="-122"/>
              </a:rPr>
              <a:t>编译程序： “</a:t>
            </a:r>
            <a:r>
              <a:rPr lang="en-US" altLang="zh-CN" sz="2400" b="1">
                <a:solidFill>
                  <a:srgbClr val="C00000"/>
                </a:solidFill>
                <a:latin typeface="微软雅黑" panose="020B0503020204020204" pitchFamily="34" charset="-122"/>
                <a:ea typeface="微软雅黑" panose="020B0503020204020204" pitchFamily="34" charset="-122"/>
              </a:rPr>
              <a:t>gcc</a:t>
            </a:r>
            <a:r>
              <a:rPr lang="zh-CN" altLang="en-US" sz="2400" b="1">
                <a:solidFill>
                  <a:srgbClr val="C00000"/>
                </a:solidFill>
                <a:latin typeface="微软雅黑" panose="020B0503020204020204" pitchFamily="34" charset="-122"/>
                <a:ea typeface="微软雅黑" panose="020B0503020204020204" pitchFamily="34" charset="-122"/>
              </a:rPr>
              <a:t> 文件名</a:t>
            </a:r>
            <a:r>
              <a:rPr lang="en-US" altLang="zh-CN" sz="2400" b="1">
                <a:solidFill>
                  <a:srgbClr val="C00000"/>
                </a:solidFill>
                <a:latin typeface="微软雅黑" panose="020B0503020204020204" pitchFamily="34" charset="-122"/>
                <a:ea typeface="微软雅黑" panose="020B0503020204020204" pitchFamily="34" charset="-122"/>
              </a:rPr>
              <a:t>.c -o </a:t>
            </a:r>
            <a:r>
              <a:rPr lang="zh-CN" altLang="en-US" sz="2400" b="1">
                <a:solidFill>
                  <a:srgbClr val="C00000"/>
                </a:solidFill>
                <a:latin typeface="微软雅黑" panose="020B0503020204020204" pitchFamily="34" charset="-122"/>
                <a:ea typeface="微软雅黑" panose="020B0503020204020204" pitchFamily="34" charset="-122"/>
              </a:rPr>
              <a:t>可执行程序名</a:t>
            </a:r>
            <a:r>
              <a:rPr lang="zh-CN" altLang="en-US" sz="2400">
                <a:latin typeface="微软雅黑" panose="020B0503020204020204" pitchFamily="34" charset="-122"/>
                <a:ea typeface="微软雅黑" panose="020B0503020204020204" pitchFamily="34" charset="-122"/>
              </a:rPr>
              <a:t>”（如果只输入</a:t>
            </a:r>
            <a:r>
              <a:rPr lang="en-US" altLang="zh-CN" sz="2400" b="1">
                <a:solidFill>
                  <a:srgbClr val="C00000"/>
                </a:solidFill>
                <a:latin typeface="微软雅黑" panose="020B0503020204020204" pitchFamily="34" charset="-122"/>
                <a:ea typeface="微软雅黑" panose="020B0503020204020204" pitchFamily="34" charset="-122"/>
              </a:rPr>
              <a:t>gcc</a:t>
            </a:r>
            <a:r>
              <a:rPr lang="zh-CN" altLang="en-US" sz="2400" b="1">
                <a:solidFill>
                  <a:srgbClr val="C00000"/>
                </a:solidFill>
                <a:latin typeface="微软雅黑" panose="020B0503020204020204" pitchFamily="34" charset="-122"/>
                <a:ea typeface="微软雅黑" panose="020B0503020204020204" pitchFamily="34" charset="-122"/>
              </a:rPr>
              <a:t> 文件名</a:t>
            </a:r>
            <a:r>
              <a:rPr lang="en-US" altLang="zh-CN" sz="2400" b="1">
                <a:solidFill>
                  <a:srgbClr val="C00000"/>
                </a:solidFill>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，默认生成可执行程序名为</a:t>
            </a:r>
            <a:r>
              <a:rPr lang="en-US" altLang="zh-CN" sz="2400">
                <a:latin typeface="微软雅黑" panose="020B0503020204020204" pitchFamily="34" charset="-122"/>
                <a:ea typeface="微软雅黑" panose="020B0503020204020204" pitchFamily="34" charset="-122"/>
              </a:rPr>
              <a:t>a.out</a:t>
            </a:r>
            <a:r>
              <a:rPr lang="zh-CN" altLang="en-US" sz="2400">
                <a:latin typeface="微软雅黑" panose="020B0503020204020204" pitchFamily="34" charset="-122"/>
                <a:ea typeface="微软雅黑" panose="020B0503020204020204" pitchFamily="34" charset="-122"/>
              </a:rPr>
              <a:t>）使用线程库时，</a:t>
            </a:r>
            <a:r>
              <a:rPr lang="en-US" altLang="zh-CN" sz="2400">
                <a:latin typeface="微软雅黑" panose="020B0503020204020204" pitchFamily="34" charset="-122"/>
                <a:ea typeface="微软雅黑" panose="020B0503020204020204" pitchFamily="34" charset="-122"/>
              </a:rPr>
              <a:t>gcc</a:t>
            </a:r>
            <a:r>
              <a:rPr lang="zh-CN" altLang="en-US" sz="2400">
                <a:latin typeface="微软雅黑" panose="020B0503020204020204" pitchFamily="34" charset="-122"/>
                <a:ea typeface="微软雅黑" panose="020B0503020204020204" pitchFamily="34" charset="-122"/>
              </a:rPr>
              <a:t>编译需要添加</a:t>
            </a:r>
            <a:r>
              <a:rPr lang="en-US" altLang="zh-CN" sz="2400" b="1">
                <a:solidFill>
                  <a:srgbClr val="C00000"/>
                </a:solidFill>
                <a:latin typeface="微软雅黑" panose="020B0503020204020204" pitchFamily="34" charset="-122"/>
                <a:ea typeface="微软雅黑" panose="020B0503020204020204" pitchFamily="34" charset="-122"/>
              </a:rPr>
              <a:t>-lpthread</a:t>
            </a:r>
            <a:endParaRPr lang="zh-CN" altLang="en-US" sz="2400" b="1">
              <a:solidFill>
                <a:srgbClr val="C00000"/>
              </a:solidFill>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AutoNum type="circleNumDbPlain"/>
            </a:pPr>
            <a:r>
              <a:rPr lang="zh-CN" altLang="en-US" sz="2400">
                <a:latin typeface="微软雅黑" panose="020B0503020204020204" pitchFamily="34" charset="-122"/>
                <a:ea typeface="微软雅黑" panose="020B0503020204020204" pitchFamily="34" charset="-122"/>
              </a:rPr>
              <a:t>执行程序：</a:t>
            </a:r>
            <a:r>
              <a:rPr lang="en-US" altLang="zh-CN" sz="2400" b="1">
                <a:solidFill>
                  <a:srgbClr val="C00000"/>
                </a:solidFill>
                <a:latin typeface="微软雅黑" panose="020B0503020204020204" pitchFamily="34" charset="-122"/>
                <a:ea typeface="微软雅黑" panose="020B0503020204020204" pitchFamily="34" charset="-122"/>
              </a:rPr>
              <a:t>./</a:t>
            </a:r>
            <a:r>
              <a:rPr lang="zh-CN" altLang="en-US" sz="2400" b="1">
                <a:solidFill>
                  <a:srgbClr val="C00000"/>
                </a:solidFill>
                <a:latin typeface="微软雅黑" panose="020B0503020204020204" pitchFamily="34" charset="-122"/>
                <a:ea typeface="微软雅黑" panose="020B0503020204020204" pitchFamily="34" charset="-122"/>
              </a:rPr>
              <a:t>可执行程序名</a:t>
            </a:r>
            <a:endParaRPr lang="zh-CN" altLang="en-US" sz="2400" b="1">
              <a:solidFill>
                <a:srgbClr val="C00000"/>
              </a:solidFill>
              <a:latin typeface="微软雅黑" panose="020B0503020204020204" pitchFamily="34" charset="-122"/>
              <a:ea typeface="微软雅黑" panose="020B0503020204020204" pitchFamily="34" charset="-122"/>
            </a:endParaRPr>
          </a:p>
          <a:p>
            <a:pPr eaLnBrk="1" hangingPunct="1">
              <a:lnSpc>
                <a:spcPct val="150000"/>
              </a:lnSpc>
            </a:pPr>
            <a:endParaRPr lang="zh-CN" altLang="en-US" sz="2400">
              <a:latin typeface="微软雅黑" panose="020B0503020204020204" pitchFamily="34" charset="-122"/>
              <a:ea typeface="微软雅黑" panose="020B0503020204020204" pitchFamily="34" charset="-122"/>
            </a:endParaRPr>
          </a:p>
        </p:txBody>
      </p:sp>
      <p:sp>
        <p:nvSpPr>
          <p:cNvPr id="28674" name="副标题 3"/>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实验内容</a:t>
            </a:r>
            <a:endParaRPr lang="zh-CN" altLang="en-US">
              <a:latin typeface="微软雅黑" panose="020B0503020204020204" pitchFamily="34" charset="-122"/>
              <a:ea typeface="微软雅黑" panose="020B0503020204020204" pitchFamily="34" charset="-122"/>
            </a:endParaRPr>
          </a:p>
        </p:txBody>
      </p:sp>
      <p:sp>
        <p:nvSpPr>
          <p:cNvPr id="28675"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idx="1"/>
          </p:nvPr>
        </p:nvSpPr>
        <p:spPr>
          <a:xfrm>
            <a:off x="457200" y="1714500"/>
            <a:ext cx="8229600" cy="4411663"/>
          </a:xfrm>
        </p:spPr>
        <p:txBody>
          <a:bodyPr/>
          <a:lstStyle/>
          <a:p>
            <a:r>
              <a:rPr lang="en-US" altLang="zh-CN" dirty="0" err="1">
                <a:latin typeface="微软雅黑" panose="020B0503020204020204" pitchFamily="34" charset="-122"/>
                <a:ea typeface="微软雅黑" panose="020B0503020204020204" pitchFamily="34" charset="-122"/>
              </a:rPr>
              <a:t>pthread_create</a:t>
            </a:r>
            <a:r>
              <a:rPr lang="zh-CN" altLang="en-US" dirty="0">
                <a:latin typeface="微软雅黑" panose="020B0503020204020204" pitchFamily="34" charset="-122"/>
                <a:ea typeface="微软雅黑" panose="020B0503020204020204" pitchFamily="34" charset="-122"/>
              </a:rPr>
              <a:t>函数用于创建一个线程</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函数原型</a:t>
            </a:r>
            <a:endParaRPr lang="zh-CN" altLang="en-US" dirty="0">
              <a:latin typeface="微软雅黑" panose="020B0503020204020204" pitchFamily="34" charset="-122"/>
              <a:ea typeface="微软雅黑" panose="020B0503020204020204" pitchFamily="34" charset="-122"/>
            </a:endParaRPr>
          </a:p>
          <a:p>
            <a:pPr lvl="1">
              <a:lnSpc>
                <a:spcPct val="90000"/>
              </a:lnSpc>
              <a:buFont typeface="Wingdings" panose="05000000000000000000" pitchFamily="2" charset="2"/>
              <a:buNone/>
            </a:pPr>
            <a:r>
              <a:rPr lang="en-US" altLang="zh-CN" dirty="0">
                <a:solidFill>
                  <a:srgbClr val="00B050"/>
                </a:solidFill>
                <a:latin typeface="微软雅黑" panose="020B0503020204020204" pitchFamily="34" charset="-122"/>
                <a:ea typeface="微软雅黑" panose="020B0503020204020204" pitchFamily="34" charset="-122"/>
              </a:rPr>
              <a:t>int </a:t>
            </a:r>
            <a:r>
              <a:rPr lang="en-US" altLang="zh-CN" dirty="0" err="1">
                <a:solidFill>
                  <a:srgbClr val="00B050"/>
                </a:solidFill>
                <a:latin typeface="微软雅黑" panose="020B0503020204020204" pitchFamily="34" charset="-122"/>
                <a:ea typeface="微软雅黑" panose="020B0503020204020204" pitchFamily="34" charset="-122"/>
              </a:rPr>
              <a:t>pthread_create</a:t>
            </a:r>
            <a:r>
              <a:rPr lang="en-US" altLang="zh-CN" dirty="0">
                <a:solidFill>
                  <a:srgbClr val="00B050"/>
                </a:solidFill>
                <a:latin typeface="微软雅黑" panose="020B0503020204020204" pitchFamily="34" charset="-122"/>
                <a:ea typeface="微软雅黑" panose="020B0503020204020204" pitchFamily="34" charset="-122"/>
              </a:rPr>
              <a:t>(</a:t>
            </a:r>
            <a:r>
              <a:rPr lang="en-US" altLang="zh-CN" dirty="0" err="1">
                <a:solidFill>
                  <a:srgbClr val="00B050"/>
                </a:solidFill>
                <a:latin typeface="微软雅黑" panose="020B0503020204020204" pitchFamily="34" charset="-122"/>
                <a:ea typeface="微软雅黑" panose="020B0503020204020204" pitchFamily="34" charset="-122"/>
              </a:rPr>
              <a:t>pthread_t</a:t>
            </a:r>
            <a:r>
              <a:rPr lang="en-US" altLang="zh-CN" dirty="0">
                <a:solidFill>
                  <a:srgbClr val="00B050"/>
                </a:solidFill>
                <a:latin typeface="微软雅黑" panose="020B0503020204020204" pitchFamily="34" charset="-122"/>
                <a:ea typeface="微软雅黑" panose="020B0503020204020204" pitchFamily="34" charset="-122"/>
              </a:rPr>
              <a:t> *restrict </a:t>
            </a:r>
            <a:r>
              <a:rPr lang="en-US" altLang="zh-CN" dirty="0" err="1">
                <a:solidFill>
                  <a:srgbClr val="00B050"/>
                </a:solidFill>
                <a:latin typeface="微软雅黑" panose="020B0503020204020204" pitchFamily="34" charset="-122"/>
                <a:ea typeface="微软雅黑" panose="020B0503020204020204" pitchFamily="34" charset="-122"/>
              </a:rPr>
              <a:t>tidp</a:t>
            </a:r>
            <a:r>
              <a:rPr lang="en-US" altLang="zh-CN" dirty="0">
                <a:solidFill>
                  <a:srgbClr val="00B050"/>
                </a:solidFill>
                <a:latin typeface="微软雅黑" panose="020B0503020204020204" pitchFamily="34" charset="-122"/>
                <a:ea typeface="微软雅黑" panose="020B0503020204020204" pitchFamily="34" charset="-122"/>
              </a:rPr>
              <a:t>,</a:t>
            </a:r>
            <a:endParaRPr lang="en-US" altLang="zh-CN" dirty="0">
              <a:solidFill>
                <a:srgbClr val="00B050"/>
              </a:solidFill>
              <a:latin typeface="微软雅黑" panose="020B0503020204020204" pitchFamily="34" charset="-122"/>
              <a:ea typeface="微软雅黑" panose="020B0503020204020204" pitchFamily="34" charset="-122"/>
            </a:endParaRPr>
          </a:p>
          <a:p>
            <a:pPr lvl="1">
              <a:lnSpc>
                <a:spcPct val="90000"/>
              </a:lnSpc>
              <a:buFont typeface="Wingdings" panose="05000000000000000000" pitchFamily="2" charset="2"/>
              <a:buNone/>
            </a:pPr>
            <a:r>
              <a:rPr lang="en-US" altLang="zh-CN" dirty="0">
                <a:solidFill>
                  <a:srgbClr val="00B050"/>
                </a:solidFill>
                <a:latin typeface="微软雅黑" panose="020B0503020204020204" pitchFamily="34" charset="-122"/>
                <a:ea typeface="微软雅黑" panose="020B0503020204020204" pitchFamily="34" charset="-122"/>
              </a:rPr>
              <a:t>				const </a:t>
            </a:r>
            <a:r>
              <a:rPr lang="en-US" altLang="zh-CN" dirty="0" err="1">
                <a:solidFill>
                  <a:srgbClr val="00B050"/>
                </a:solidFill>
                <a:latin typeface="微软雅黑" panose="020B0503020204020204" pitchFamily="34" charset="-122"/>
                <a:ea typeface="微软雅黑" panose="020B0503020204020204" pitchFamily="34" charset="-122"/>
              </a:rPr>
              <a:t>pthread_attr_t</a:t>
            </a:r>
            <a:r>
              <a:rPr lang="en-US" altLang="zh-CN" dirty="0">
                <a:solidFill>
                  <a:srgbClr val="00B050"/>
                </a:solidFill>
                <a:latin typeface="微软雅黑" panose="020B0503020204020204" pitchFamily="34" charset="-122"/>
                <a:ea typeface="微软雅黑" panose="020B0503020204020204" pitchFamily="34" charset="-122"/>
              </a:rPr>
              <a:t> *restrict </a:t>
            </a:r>
            <a:r>
              <a:rPr lang="en-US" altLang="zh-CN" dirty="0" err="1">
                <a:solidFill>
                  <a:srgbClr val="00B050"/>
                </a:solidFill>
                <a:latin typeface="微软雅黑" panose="020B0503020204020204" pitchFamily="34" charset="-122"/>
                <a:ea typeface="微软雅黑" panose="020B0503020204020204" pitchFamily="34" charset="-122"/>
              </a:rPr>
              <a:t>attr</a:t>
            </a:r>
            <a:r>
              <a:rPr lang="en-US" altLang="zh-CN" dirty="0">
                <a:solidFill>
                  <a:srgbClr val="00B050"/>
                </a:solidFill>
                <a:latin typeface="微软雅黑" panose="020B0503020204020204" pitchFamily="34" charset="-122"/>
                <a:ea typeface="微软雅黑" panose="020B0503020204020204" pitchFamily="34" charset="-122"/>
              </a:rPr>
              <a:t>,</a:t>
            </a:r>
            <a:endParaRPr lang="en-US" altLang="zh-CN" dirty="0">
              <a:solidFill>
                <a:srgbClr val="00B050"/>
              </a:solidFill>
              <a:latin typeface="微软雅黑" panose="020B0503020204020204" pitchFamily="34" charset="-122"/>
              <a:ea typeface="微软雅黑" panose="020B0503020204020204" pitchFamily="34" charset="-122"/>
            </a:endParaRPr>
          </a:p>
          <a:p>
            <a:pPr lvl="1">
              <a:lnSpc>
                <a:spcPct val="90000"/>
              </a:lnSpc>
              <a:buFont typeface="Wingdings" panose="05000000000000000000" pitchFamily="2" charset="2"/>
              <a:buNone/>
            </a:pPr>
            <a:r>
              <a:rPr lang="en-US" altLang="zh-CN" dirty="0">
                <a:solidFill>
                  <a:srgbClr val="00B050"/>
                </a:solidFill>
                <a:latin typeface="微软雅黑" panose="020B0503020204020204" pitchFamily="34" charset="-122"/>
                <a:ea typeface="微软雅黑" panose="020B0503020204020204" pitchFamily="34" charset="-122"/>
              </a:rPr>
              <a:t>				void *(*</a:t>
            </a:r>
            <a:r>
              <a:rPr lang="en-US" altLang="zh-CN" dirty="0" err="1">
                <a:solidFill>
                  <a:srgbClr val="00B050"/>
                </a:solidFill>
                <a:latin typeface="微软雅黑" panose="020B0503020204020204" pitchFamily="34" charset="-122"/>
                <a:ea typeface="微软雅黑" panose="020B0503020204020204" pitchFamily="34" charset="-122"/>
              </a:rPr>
              <a:t>start_rtn</a:t>
            </a:r>
            <a:r>
              <a:rPr lang="en-US" altLang="zh-CN" dirty="0">
                <a:solidFill>
                  <a:srgbClr val="00B050"/>
                </a:solidFill>
                <a:latin typeface="微软雅黑" panose="020B0503020204020204" pitchFamily="34" charset="-122"/>
                <a:ea typeface="微软雅黑" panose="020B0503020204020204" pitchFamily="34" charset="-122"/>
              </a:rPr>
              <a:t>)(void *), </a:t>
            </a:r>
            <a:endParaRPr lang="en-US" altLang="zh-CN" dirty="0">
              <a:solidFill>
                <a:srgbClr val="00B050"/>
              </a:solidFill>
              <a:latin typeface="微软雅黑" panose="020B0503020204020204" pitchFamily="34" charset="-122"/>
              <a:ea typeface="微软雅黑" panose="020B0503020204020204" pitchFamily="34" charset="-122"/>
            </a:endParaRPr>
          </a:p>
          <a:p>
            <a:pPr lvl="1">
              <a:lnSpc>
                <a:spcPct val="90000"/>
              </a:lnSpc>
              <a:buFont typeface="Wingdings" panose="05000000000000000000" pitchFamily="2" charset="2"/>
              <a:buNone/>
            </a:pPr>
            <a:r>
              <a:rPr lang="en-US" altLang="zh-CN" dirty="0">
                <a:solidFill>
                  <a:srgbClr val="00B050"/>
                </a:solidFill>
                <a:latin typeface="微软雅黑" panose="020B0503020204020204" pitchFamily="34" charset="-122"/>
                <a:ea typeface="微软雅黑" panose="020B0503020204020204" pitchFamily="34" charset="-122"/>
              </a:rPr>
              <a:t>				void *restrict </a:t>
            </a:r>
            <a:r>
              <a:rPr lang="en-US" altLang="zh-CN" dirty="0" err="1">
                <a:solidFill>
                  <a:srgbClr val="00B050"/>
                </a:solidFill>
                <a:latin typeface="微软雅黑" panose="020B0503020204020204" pitchFamily="34" charset="-122"/>
                <a:ea typeface="微软雅黑" panose="020B0503020204020204" pitchFamily="34" charset="-122"/>
              </a:rPr>
              <a:t>arg</a:t>
            </a:r>
            <a:r>
              <a:rPr lang="en-US" altLang="zh-CN" dirty="0">
                <a:solidFill>
                  <a:srgbClr val="00B050"/>
                </a:solidFill>
                <a:latin typeface="微软雅黑" panose="020B0503020204020204" pitchFamily="34" charset="-122"/>
                <a:ea typeface="微软雅黑" panose="020B0503020204020204" pitchFamily="34" charset="-122"/>
              </a:rPr>
              <a:t>);</a:t>
            </a:r>
            <a:endParaRPr lang="en-US" altLang="zh-CN" dirty="0">
              <a:solidFill>
                <a:srgbClr val="00B050"/>
              </a:solidFill>
              <a:latin typeface="微软雅黑" panose="020B0503020204020204" pitchFamily="34" charset="-122"/>
              <a:ea typeface="微软雅黑" panose="020B0503020204020204" pitchFamily="34" charset="-122"/>
            </a:endParaRPr>
          </a:p>
          <a:p>
            <a:pPr lvl="1">
              <a:lnSpc>
                <a:spcPct val="90000"/>
              </a:lnSpc>
              <a:buFont typeface="Wingdings" panose="05000000000000000000" pitchFamily="2" charset="2"/>
              <a:buChar char="•"/>
            </a:pPr>
            <a:r>
              <a:rPr lang="zh-CN" altLang="en-US" sz="2800" dirty="0">
                <a:latin typeface="微软雅黑" panose="020B0503020204020204" pitchFamily="34" charset="-122"/>
                <a:ea typeface="微软雅黑" panose="020B0503020204020204" pitchFamily="34" charset="-122"/>
              </a:rPr>
              <a:t>头文件：</a:t>
            </a:r>
            <a:r>
              <a:rPr lang="en-US" altLang="zh-CN" sz="2800" dirty="0" err="1">
                <a:latin typeface="微软雅黑" panose="020B0503020204020204" pitchFamily="34" charset="-122"/>
                <a:ea typeface="微软雅黑" panose="020B0503020204020204" pitchFamily="34" charset="-122"/>
              </a:rPr>
              <a:t>pthread.h</a:t>
            </a:r>
            <a:endParaRPr lang="en-US" altLang="zh-CN" sz="2800"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调用</a:t>
            </a:r>
            <a:r>
              <a:rPr lang="en-US" altLang="zh-CN" dirty="0" err="1">
                <a:latin typeface="微软雅黑" panose="020B0503020204020204" pitchFamily="34" charset="-122"/>
                <a:ea typeface="微软雅黑" panose="020B0503020204020204" pitchFamily="34" charset="-122"/>
              </a:rPr>
              <a:t>pthread_create</a:t>
            </a:r>
            <a:r>
              <a:rPr lang="zh-CN" altLang="en-US" dirty="0">
                <a:latin typeface="微软雅黑" panose="020B0503020204020204" pitchFamily="34" charset="-122"/>
                <a:ea typeface="微软雅黑" panose="020B0503020204020204" pitchFamily="34" charset="-122"/>
              </a:rPr>
              <a:t>函数的线程是所创建线程的父线程</a:t>
            </a:r>
            <a:endParaRPr lang="en-US" altLang="zh-CN" dirty="0">
              <a:latin typeface="微软雅黑" panose="020B0503020204020204" pitchFamily="34" charset="-122"/>
              <a:ea typeface="微软雅黑" panose="020B0503020204020204" pitchFamily="34" charset="-122"/>
            </a:endParaRPr>
          </a:p>
        </p:txBody>
      </p:sp>
      <p:sp>
        <p:nvSpPr>
          <p:cNvPr id="29698"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883A8B2-0245-4048-86DD-12F4F0665011}" type="slidenum">
              <a:rPr lang="en-US" altLang="zh-CN" sz="1400" smtClean="0"/>
            </a:fld>
            <a:endParaRPr lang="en-US" altLang="zh-CN" sz="1400"/>
          </a:p>
        </p:txBody>
      </p:sp>
      <p:sp>
        <p:nvSpPr>
          <p:cNvPr id="29699" name="副标题 1"/>
          <p:cNvSpPr>
            <a:spLocks noGrp="1" noChangeArrowheads="1"/>
          </p:cNvSpPr>
          <p:nvPr>
            <p:ph type="subTitle" idx="13"/>
          </p:nvPr>
        </p:nvSpPr>
        <p:spPr>
          <a:xfrm>
            <a:off x="1014413" y="1052513"/>
            <a:ext cx="6400800" cy="542925"/>
          </a:xfrm>
        </p:spPr>
        <p:txBody>
          <a:bodyPr/>
          <a:lstStyle/>
          <a:p>
            <a:r>
              <a:rPr lang="en-US" altLang="zh-CN" sz="2800">
                <a:latin typeface="微软雅黑" panose="020B0503020204020204" pitchFamily="34" charset="-122"/>
                <a:ea typeface="微软雅黑" panose="020B0503020204020204" pitchFamily="34" charset="-122"/>
              </a:rPr>
              <a:t>pthread_create</a:t>
            </a:r>
            <a:r>
              <a:rPr lang="zh-CN" altLang="en-US" sz="2800">
                <a:latin typeface="微软雅黑" panose="020B0503020204020204" pitchFamily="34" charset="-122"/>
                <a:ea typeface="微软雅黑" panose="020B0503020204020204" pitchFamily="34" charset="-122"/>
              </a:rPr>
              <a:t>函数</a:t>
            </a:r>
            <a:endParaRPr lang="zh-CN" altLang="en-US">
              <a:latin typeface="微软雅黑" panose="020B0503020204020204" pitchFamily="34" charset="-122"/>
              <a:ea typeface="微软雅黑" panose="020B0503020204020204" pitchFamily="34" charset="-122"/>
            </a:endParaRPr>
          </a:p>
        </p:txBody>
      </p:sp>
      <p:sp>
        <p:nvSpPr>
          <p:cNvPr id="7" name="标题 1"/>
          <p:cNvSpPr txBox="1">
            <a:spLocks noChangeArrowheads="1"/>
          </p:cNvSpPr>
          <p:nvPr/>
        </p:nvSpPr>
        <p:spPr bwMode="auto">
          <a:xfrm>
            <a:off x="827088" y="80963"/>
            <a:ext cx="8229600" cy="635000"/>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微软雅黑" panose="020B0503020204020204" pitchFamily="34" charset="-122"/>
                <a:ea typeface="微软雅黑" panose="020B0503020204020204" pitchFamily="34" charset="-122"/>
              </a:rPr>
              <a:t>实验</a:t>
            </a:r>
            <a:r>
              <a:rPr lang="en-US" altLang="zh-CN" sz="2400">
                <a:solidFill>
                  <a:schemeClr val="tx2"/>
                </a:solidFill>
                <a:latin typeface="微软雅黑" panose="020B0503020204020204" pitchFamily="34" charset="-122"/>
                <a:ea typeface="微软雅黑" panose="020B0503020204020204" pitchFamily="34" charset="-122"/>
              </a:rPr>
              <a:t>1-</a:t>
            </a:r>
            <a:r>
              <a:rPr lang="zh-CN" altLang="en-US" sz="2400">
                <a:solidFill>
                  <a:schemeClr val="tx2"/>
                </a:solidFill>
                <a:latin typeface="微软雅黑" panose="020B0503020204020204" pitchFamily="34" charset="-122"/>
                <a:ea typeface="微软雅黑" panose="020B0503020204020204" pitchFamily="34" charset="-122"/>
              </a:rPr>
              <a:t>生产者</a:t>
            </a:r>
            <a:r>
              <a:rPr lang="en-US" altLang="zh-CN" sz="2400">
                <a:solidFill>
                  <a:schemeClr val="tx2"/>
                </a:solidFill>
                <a:latin typeface="微软雅黑" panose="020B0503020204020204" pitchFamily="34" charset="-122"/>
                <a:ea typeface="微软雅黑" panose="020B0503020204020204" pitchFamily="34" charset="-122"/>
              </a:rPr>
              <a:t>/</a:t>
            </a:r>
            <a:r>
              <a:rPr lang="zh-CN" altLang="en-US" sz="2400">
                <a:solidFill>
                  <a:schemeClr val="tx2"/>
                </a:solidFill>
                <a:latin typeface="微软雅黑" panose="020B0503020204020204" pitchFamily="34" charset="-122"/>
                <a:ea typeface="微软雅黑" panose="020B0503020204020204" pitchFamily="34" charset="-122"/>
              </a:rPr>
              <a:t>消费者问题的实现</a:t>
            </a:r>
            <a:endParaRPr lang="zh-CN" altLang="en-US" sz="240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3"/>
          <p:cNvSpPr>
            <a:spLocks noGrp="1" noChangeArrowheads="1"/>
          </p:cNvSpPr>
          <p:nvPr>
            <p:ph idx="1"/>
          </p:nvPr>
        </p:nvSpPr>
        <p:spPr>
          <a:xfrm>
            <a:off x="457200" y="1714500"/>
            <a:ext cx="8229600" cy="4411663"/>
          </a:xfrm>
        </p:spPr>
        <p:txBody>
          <a:bodyPr/>
          <a:lstStyle/>
          <a:p>
            <a:pPr lvl="1"/>
            <a:r>
              <a:rPr lang="en-US" altLang="zh-CN" sz="2600" b="1">
                <a:latin typeface="微软雅黑" panose="020B0503020204020204" pitchFamily="34" charset="-122"/>
                <a:ea typeface="微软雅黑" panose="020B0503020204020204" pitchFamily="34" charset="-122"/>
              </a:rPr>
              <a:t>tidp</a:t>
            </a:r>
            <a:r>
              <a:rPr lang="zh-CN" altLang="en-US" sz="2600" b="1">
                <a:latin typeface="微软雅黑" panose="020B0503020204020204" pitchFamily="34" charset="-122"/>
                <a:ea typeface="微软雅黑" panose="020B0503020204020204" pitchFamily="34" charset="-122"/>
              </a:rPr>
              <a:t>：</a:t>
            </a:r>
            <a:r>
              <a:rPr lang="zh-CN" altLang="en-US" sz="2600">
                <a:latin typeface="微软雅黑" panose="020B0503020204020204" pitchFamily="34" charset="-122"/>
                <a:ea typeface="微软雅黑" panose="020B0503020204020204" pitchFamily="34" charset="-122"/>
              </a:rPr>
              <a:t>指向线程</a:t>
            </a:r>
            <a:r>
              <a:rPr lang="en-US" altLang="zh-CN" sz="2600">
                <a:latin typeface="微软雅黑" panose="020B0503020204020204" pitchFamily="34" charset="-122"/>
                <a:ea typeface="微软雅黑" panose="020B0503020204020204" pitchFamily="34" charset="-122"/>
              </a:rPr>
              <a:t>ID</a:t>
            </a:r>
            <a:r>
              <a:rPr lang="zh-CN" altLang="en-US" sz="2600">
                <a:latin typeface="微软雅黑" panose="020B0503020204020204" pitchFamily="34" charset="-122"/>
                <a:ea typeface="微软雅黑" panose="020B0503020204020204" pitchFamily="34" charset="-122"/>
              </a:rPr>
              <a:t>的指针，当函数成功返回时将存储所创建的子线程</a:t>
            </a:r>
            <a:r>
              <a:rPr lang="en-US" altLang="zh-CN" sz="2600">
                <a:latin typeface="微软雅黑" panose="020B0503020204020204" pitchFamily="34" charset="-122"/>
                <a:ea typeface="微软雅黑" panose="020B0503020204020204" pitchFamily="34" charset="-122"/>
              </a:rPr>
              <a:t>ID</a:t>
            </a:r>
            <a:endParaRPr lang="en-US" altLang="zh-CN" sz="2600">
              <a:latin typeface="微软雅黑" panose="020B0503020204020204" pitchFamily="34" charset="-122"/>
              <a:ea typeface="微软雅黑" panose="020B0503020204020204" pitchFamily="34" charset="-122"/>
            </a:endParaRPr>
          </a:p>
          <a:p>
            <a:pPr lvl="1"/>
            <a:r>
              <a:rPr lang="en-US" altLang="zh-CN" sz="2600" b="1">
                <a:latin typeface="微软雅黑" panose="020B0503020204020204" pitchFamily="34" charset="-122"/>
                <a:ea typeface="微软雅黑" panose="020B0503020204020204" pitchFamily="34" charset="-122"/>
              </a:rPr>
              <a:t>attr</a:t>
            </a:r>
            <a:r>
              <a:rPr lang="zh-CN" altLang="en-US" sz="2600" b="1">
                <a:latin typeface="微软雅黑" panose="020B0503020204020204" pitchFamily="34" charset="-122"/>
                <a:ea typeface="微软雅黑" panose="020B0503020204020204" pitchFamily="34" charset="-122"/>
              </a:rPr>
              <a:t>：</a:t>
            </a:r>
            <a:r>
              <a:rPr lang="zh-CN" altLang="en-US" sz="2600">
                <a:latin typeface="微软雅黑" panose="020B0503020204020204" pitchFamily="34" charset="-122"/>
                <a:ea typeface="微软雅黑" panose="020B0503020204020204" pitchFamily="34" charset="-122"/>
              </a:rPr>
              <a:t>用于定制各种不同的线程属性（</a:t>
            </a:r>
            <a:r>
              <a:rPr lang="zh-CN" altLang="en-US" sz="2600" b="1">
                <a:solidFill>
                  <a:srgbClr val="FF0000"/>
                </a:solidFill>
                <a:latin typeface="微软雅黑" panose="020B0503020204020204" pitchFamily="34" charset="-122"/>
                <a:ea typeface="微软雅黑" panose="020B0503020204020204" pitchFamily="34" charset="-122"/>
              </a:rPr>
              <a:t>一般直接传入空指针</a:t>
            </a:r>
            <a:r>
              <a:rPr lang="en-US" altLang="zh-CN" sz="2600" b="1">
                <a:solidFill>
                  <a:srgbClr val="FF0000"/>
                </a:solidFill>
                <a:latin typeface="微软雅黑" panose="020B0503020204020204" pitchFamily="34" charset="-122"/>
                <a:ea typeface="微软雅黑" panose="020B0503020204020204" pitchFamily="34" charset="-122"/>
              </a:rPr>
              <a:t>NULL</a:t>
            </a:r>
            <a:r>
              <a:rPr lang="zh-CN" altLang="en-US" sz="2600" b="1">
                <a:solidFill>
                  <a:srgbClr val="FF0000"/>
                </a:solidFill>
                <a:latin typeface="微软雅黑" panose="020B0503020204020204" pitchFamily="34" charset="-122"/>
                <a:ea typeface="微软雅黑" panose="020B0503020204020204" pitchFamily="34" charset="-122"/>
              </a:rPr>
              <a:t>，采用默认线程属性</a:t>
            </a:r>
            <a:r>
              <a:rPr lang="zh-CN" altLang="en-US" sz="2600">
                <a:latin typeface="微软雅黑" panose="020B0503020204020204" pitchFamily="34" charset="-122"/>
                <a:ea typeface="微软雅黑" panose="020B0503020204020204" pitchFamily="34" charset="-122"/>
              </a:rPr>
              <a:t>）</a:t>
            </a:r>
            <a:endParaRPr lang="zh-CN" altLang="en-US" sz="2600">
              <a:latin typeface="微软雅黑" panose="020B0503020204020204" pitchFamily="34" charset="-122"/>
              <a:ea typeface="微软雅黑" panose="020B0503020204020204" pitchFamily="34" charset="-122"/>
            </a:endParaRPr>
          </a:p>
          <a:p>
            <a:pPr lvl="1"/>
            <a:r>
              <a:rPr lang="en-US" altLang="zh-CN" sz="2600" b="1">
                <a:latin typeface="微软雅黑" panose="020B0503020204020204" pitchFamily="34" charset="-122"/>
                <a:ea typeface="微软雅黑" panose="020B0503020204020204" pitchFamily="34" charset="-122"/>
              </a:rPr>
              <a:t>start_rtn</a:t>
            </a:r>
            <a:r>
              <a:rPr lang="zh-CN" altLang="en-US" sz="2600" b="1">
                <a:latin typeface="微软雅黑" panose="020B0503020204020204" pitchFamily="34" charset="-122"/>
                <a:ea typeface="微软雅黑" panose="020B0503020204020204" pitchFamily="34" charset="-122"/>
              </a:rPr>
              <a:t>：</a:t>
            </a:r>
            <a:r>
              <a:rPr lang="zh-CN" altLang="en-US" sz="2600">
                <a:latin typeface="微软雅黑" panose="020B0503020204020204" pitchFamily="34" charset="-122"/>
                <a:ea typeface="微软雅黑" panose="020B0503020204020204" pitchFamily="34" charset="-122"/>
              </a:rPr>
              <a:t>线程的启动例程函数指针，新创建的线程执行该函数代码</a:t>
            </a:r>
            <a:endParaRPr lang="zh-CN" altLang="en-US" sz="2600">
              <a:latin typeface="微软雅黑" panose="020B0503020204020204" pitchFamily="34" charset="-122"/>
              <a:ea typeface="微软雅黑" panose="020B0503020204020204" pitchFamily="34" charset="-122"/>
            </a:endParaRPr>
          </a:p>
          <a:p>
            <a:pPr lvl="1"/>
            <a:r>
              <a:rPr lang="en-US" altLang="zh-CN" sz="2600" b="1">
                <a:latin typeface="微软雅黑" panose="020B0503020204020204" pitchFamily="34" charset="-122"/>
                <a:ea typeface="微软雅黑" panose="020B0503020204020204" pitchFamily="34" charset="-122"/>
              </a:rPr>
              <a:t>arg</a:t>
            </a:r>
            <a:r>
              <a:rPr lang="zh-CN" altLang="en-US" sz="2600" b="1">
                <a:latin typeface="微软雅黑" panose="020B0503020204020204" pitchFamily="34" charset="-122"/>
                <a:ea typeface="微软雅黑" panose="020B0503020204020204" pitchFamily="34" charset="-122"/>
              </a:rPr>
              <a:t>：</a:t>
            </a:r>
            <a:r>
              <a:rPr lang="zh-CN" altLang="en-US" sz="2600">
                <a:latin typeface="微软雅黑" panose="020B0503020204020204" pitchFamily="34" charset="-122"/>
                <a:ea typeface="微软雅黑" panose="020B0503020204020204" pitchFamily="34" charset="-122"/>
              </a:rPr>
              <a:t>向线程的启动例程函数传递信息的参数</a:t>
            </a:r>
            <a:endParaRPr lang="en-US" altLang="zh-CN" sz="2600">
              <a:latin typeface="微软雅黑" panose="020B0503020204020204" pitchFamily="34" charset="-122"/>
              <a:ea typeface="微软雅黑" panose="020B0503020204020204" pitchFamily="34" charset="-122"/>
            </a:endParaRPr>
          </a:p>
          <a:p>
            <a:r>
              <a:rPr lang="zh-CN" altLang="en-US" sz="2600">
                <a:latin typeface="微软雅黑" panose="020B0503020204020204" pitchFamily="34" charset="-122"/>
                <a:ea typeface="微软雅黑" panose="020B0503020204020204" pitchFamily="34" charset="-122"/>
              </a:rPr>
              <a:t>返回值</a:t>
            </a:r>
            <a:endParaRPr lang="zh-CN" altLang="en-US" sz="2600">
              <a:latin typeface="微软雅黑" panose="020B0503020204020204" pitchFamily="34" charset="-122"/>
              <a:ea typeface="微软雅黑" panose="020B0503020204020204" pitchFamily="34" charset="-122"/>
            </a:endParaRPr>
          </a:p>
          <a:p>
            <a:pPr lvl="1"/>
            <a:r>
              <a:rPr lang="zh-CN" altLang="en-US" sz="2600">
                <a:latin typeface="微软雅黑" panose="020B0503020204020204" pitchFamily="34" charset="-122"/>
                <a:ea typeface="微软雅黑" panose="020B0503020204020204" pitchFamily="34" charset="-122"/>
              </a:rPr>
              <a:t>成功返回</a:t>
            </a:r>
            <a:r>
              <a:rPr lang="en-US" altLang="zh-CN" sz="2600">
                <a:latin typeface="微软雅黑" panose="020B0503020204020204" pitchFamily="34" charset="-122"/>
                <a:ea typeface="微软雅黑" panose="020B0503020204020204" pitchFamily="34" charset="-122"/>
              </a:rPr>
              <a:t>0</a:t>
            </a:r>
            <a:r>
              <a:rPr lang="zh-CN" altLang="en-US" sz="2600">
                <a:latin typeface="微软雅黑" panose="020B0503020204020204" pitchFamily="34" charset="-122"/>
                <a:ea typeface="微软雅黑" panose="020B0503020204020204" pitchFamily="34" charset="-122"/>
              </a:rPr>
              <a:t>，出错时返回各种错误码</a:t>
            </a:r>
            <a:endParaRPr lang="zh-CN" altLang="en-US" sz="2600">
              <a:latin typeface="微软雅黑" panose="020B0503020204020204" pitchFamily="34" charset="-122"/>
              <a:ea typeface="微软雅黑" panose="020B0503020204020204" pitchFamily="34" charset="-122"/>
            </a:endParaRPr>
          </a:p>
        </p:txBody>
      </p:sp>
      <p:sp>
        <p:nvSpPr>
          <p:cNvPr id="30722"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8618BD1-B53A-4865-BEA7-1A382D809EA9}" type="slidenum">
              <a:rPr lang="en-US" altLang="zh-CN" sz="1400" smtClean="0"/>
            </a:fld>
            <a:endParaRPr lang="en-US" altLang="zh-CN" sz="1400"/>
          </a:p>
        </p:txBody>
      </p:sp>
      <p:sp>
        <p:nvSpPr>
          <p:cNvPr id="30723" name="副标题 1"/>
          <p:cNvSpPr>
            <a:spLocks noGrp="1" noChangeArrowheads="1"/>
          </p:cNvSpPr>
          <p:nvPr>
            <p:ph type="subTitle" idx="13"/>
          </p:nvPr>
        </p:nvSpPr>
        <p:spPr>
          <a:xfrm>
            <a:off x="1014413" y="1052513"/>
            <a:ext cx="6400800" cy="542925"/>
          </a:xfrm>
        </p:spPr>
        <p:txBody>
          <a:bodyPr/>
          <a:lstStyle/>
          <a:p>
            <a:r>
              <a:rPr lang="en-US" altLang="zh-CN" sz="2400">
                <a:latin typeface="微软雅黑" panose="020B0503020204020204" pitchFamily="34" charset="-122"/>
                <a:ea typeface="微软雅黑" panose="020B0503020204020204" pitchFamily="34" charset="-122"/>
              </a:rPr>
              <a:t>pthread_create</a:t>
            </a:r>
            <a:r>
              <a:rPr lang="zh-CN" altLang="en-US" sz="2800">
                <a:latin typeface="微软雅黑" panose="020B0503020204020204" pitchFamily="34" charset="-122"/>
                <a:ea typeface="微软雅黑" panose="020B0503020204020204" pitchFamily="34" charset="-122"/>
              </a:rPr>
              <a:t>参数和返回值</a:t>
            </a:r>
            <a:endParaRPr lang="zh-CN" altLang="en-US" sz="280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6" name="标题 1"/>
          <p:cNvSpPr txBox="1">
            <a:spLocks noChangeArrowheads="1"/>
          </p:cNvSpPr>
          <p:nvPr/>
        </p:nvSpPr>
        <p:spPr bwMode="auto">
          <a:xfrm>
            <a:off x="817563" y="77788"/>
            <a:ext cx="8229600" cy="635000"/>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a:solidFill>
                  <a:schemeClr val="tx2"/>
                </a:solidFill>
                <a:latin typeface="微软雅黑" panose="020B0503020204020204" pitchFamily="34" charset="-122"/>
                <a:ea typeface="微软雅黑" panose="020B0503020204020204" pitchFamily="34" charset="-122"/>
              </a:rPr>
              <a:t>实验</a:t>
            </a:r>
            <a:r>
              <a:rPr lang="en-US" altLang="zh-CN" sz="2400">
                <a:solidFill>
                  <a:schemeClr val="tx2"/>
                </a:solidFill>
                <a:latin typeface="微软雅黑" panose="020B0503020204020204" pitchFamily="34" charset="-122"/>
                <a:ea typeface="微软雅黑" panose="020B0503020204020204" pitchFamily="34" charset="-122"/>
              </a:rPr>
              <a:t>1-</a:t>
            </a:r>
            <a:r>
              <a:rPr lang="zh-CN" altLang="en-US" sz="2400">
                <a:solidFill>
                  <a:schemeClr val="tx2"/>
                </a:solidFill>
                <a:latin typeface="微软雅黑" panose="020B0503020204020204" pitchFamily="34" charset="-122"/>
                <a:ea typeface="微软雅黑" panose="020B0503020204020204" pitchFamily="34" charset="-122"/>
              </a:rPr>
              <a:t>生产者</a:t>
            </a:r>
            <a:r>
              <a:rPr lang="en-US" altLang="zh-CN" sz="2400">
                <a:solidFill>
                  <a:schemeClr val="tx2"/>
                </a:solidFill>
                <a:latin typeface="微软雅黑" panose="020B0503020204020204" pitchFamily="34" charset="-122"/>
                <a:ea typeface="微软雅黑" panose="020B0503020204020204" pitchFamily="34" charset="-122"/>
              </a:rPr>
              <a:t>/</a:t>
            </a:r>
            <a:r>
              <a:rPr lang="zh-CN" altLang="en-US" sz="2400">
                <a:solidFill>
                  <a:schemeClr val="tx2"/>
                </a:solidFill>
                <a:latin typeface="微软雅黑" panose="020B0503020204020204" pitchFamily="34" charset="-122"/>
                <a:ea typeface="微软雅黑" panose="020B0503020204020204" pitchFamily="34" charset="-122"/>
              </a:rPr>
              <a:t>消费者问题的实现</a:t>
            </a:r>
            <a:endParaRPr lang="zh-CN" altLang="en-US" sz="240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ph idx="1"/>
          </p:nvPr>
        </p:nvSpPr>
        <p:spPr>
          <a:xfrm>
            <a:off x="457200" y="1714500"/>
            <a:ext cx="8229600" cy="4411663"/>
          </a:xfrm>
        </p:spPr>
        <p:txBody>
          <a:bodyPr>
            <a:normAutofit/>
          </a:bodyPr>
          <a:lstStyle/>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struct mypara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    char str_path[1024];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    char des_path[1024];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struct mypara para;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a:t>
            </a:r>
            <a:r>
              <a:rPr kumimoji="1" lang="zh-CN" altLang="nb-NO" sz="2200">
                <a:latin typeface="微软雅黑" panose="020B0503020204020204" pitchFamily="34" charset="-122"/>
                <a:ea typeface="微软雅黑" panose="020B0503020204020204" pitchFamily="34" charset="-122"/>
              </a:rPr>
              <a:t>创建线程一*</a:t>
            </a:r>
            <a:r>
              <a:rPr kumimoji="1" lang="nb-NO" altLang="zh-CN" sz="2200">
                <a:latin typeface="微软雅黑" panose="020B0503020204020204" pitchFamily="34" charset="-122"/>
                <a:ea typeface="微软雅黑" panose="020B0503020204020204" pitchFamily="34" charset="-122"/>
              </a:rPr>
              <a:t>/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nb-NO" altLang="zh-CN" sz="2200">
                <a:latin typeface="微软雅黑" panose="020B0503020204020204" pitchFamily="34" charset="-122"/>
                <a:ea typeface="微软雅黑" panose="020B0503020204020204" pitchFamily="34" charset="-122"/>
              </a:rPr>
              <a:t>ret=pthread_create(&amp;id,NULL,(void  *) thread1,&amp;(para)); </a:t>
            </a:r>
            <a:endParaRPr kumimoji="1" lang="nb-NO"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en-US" altLang="zh-CN" sz="2200">
                <a:latin typeface="微软雅黑" panose="020B0503020204020204" pitchFamily="34" charset="-122"/>
                <a:ea typeface="微软雅黑" panose="020B0503020204020204" pitchFamily="34" charset="-122"/>
              </a:rPr>
              <a:t>/*</a:t>
            </a:r>
            <a:r>
              <a:rPr kumimoji="1" lang="zh-CN" altLang="en-US" sz="2200">
                <a:latin typeface="微软雅黑" panose="020B0503020204020204" pitchFamily="34" charset="-122"/>
                <a:ea typeface="微软雅黑" panose="020B0503020204020204" pitchFamily="34" charset="-122"/>
              </a:rPr>
              <a:t>等待线程结束*</a:t>
            </a:r>
            <a:r>
              <a:rPr kumimoji="1" lang="en-US" altLang="zh-CN" sz="2200">
                <a:latin typeface="微软雅黑" panose="020B0503020204020204" pitchFamily="34" charset="-122"/>
                <a:ea typeface="微软雅黑" panose="020B0503020204020204" pitchFamily="34" charset="-122"/>
              </a:rPr>
              <a:t>/  </a:t>
            </a:r>
            <a:endParaRPr kumimoji="1" lang="en-US" altLang="zh-CN" sz="2200">
              <a:latin typeface="微软雅黑" panose="020B0503020204020204" pitchFamily="34" charset="-122"/>
              <a:ea typeface="微软雅黑" panose="020B0503020204020204" pitchFamily="34" charset="-122"/>
            </a:endParaRPr>
          </a:p>
          <a:p>
            <a:pPr marL="0" indent="0">
              <a:lnSpc>
                <a:spcPct val="80000"/>
              </a:lnSpc>
              <a:buFontTx/>
              <a:buNone/>
            </a:pPr>
            <a:r>
              <a:rPr kumimoji="1" lang="en-US" altLang="zh-CN" sz="2200">
                <a:latin typeface="微软雅黑" panose="020B0503020204020204" pitchFamily="34" charset="-122"/>
                <a:ea typeface="微软雅黑" panose="020B0503020204020204" pitchFamily="34" charset="-122"/>
              </a:rPr>
              <a:t>pthread_join(id,NULL);</a:t>
            </a:r>
            <a:endParaRPr kumimoji="1" lang="zh-CN" altLang="en-US" sz="2200">
              <a:latin typeface="微软雅黑" panose="020B0503020204020204" pitchFamily="34" charset="-122"/>
              <a:ea typeface="微软雅黑" panose="020B0503020204020204" pitchFamily="34" charset="-122"/>
            </a:endParaRPr>
          </a:p>
        </p:txBody>
      </p:sp>
      <p:sp>
        <p:nvSpPr>
          <p:cNvPr id="31746" name="标题 1"/>
          <p:cNvSpPr>
            <a:spLocks noGrp="1" noChangeArrowheads="1"/>
          </p:cNvSpPr>
          <p:nvPr>
            <p:ph type="subTitle" idx="13"/>
          </p:nvPr>
        </p:nvSpPr>
        <p:spPr>
          <a:xfrm>
            <a:off x="1014413" y="1052513"/>
            <a:ext cx="6400800" cy="542925"/>
          </a:xfrm>
        </p:spPr>
        <p:txBody>
          <a:bodyPr/>
          <a:lstStyle/>
          <a:p>
            <a:r>
              <a:rPr kumimoji="1" lang="en-US" altLang="zh-CN">
                <a:latin typeface="微软雅黑" panose="020B0503020204020204" pitchFamily="34" charset="-122"/>
                <a:ea typeface="微软雅黑" panose="020B0503020204020204" pitchFamily="34" charset="-122"/>
              </a:rPr>
              <a:t>pthread_create</a:t>
            </a:r>
            <a:r>
              <a:rPr kumimoji="1" lang="zh-CN" altLang="en-US">
                <a:latin typeface="微软雅黑" panose="020B0503020204020204" pitchFamily="34" charset="-122"/>
                <a:ea typeface="微软雅黑" panose="020B0503020204020204" pitchFamily="34" charset="-122"/>
              </a:rPr>
              <a:t>传递多个参数</a:t>
            </a:r>
            <a:endParaRPr kumimoji="1" lang="zh-CN" altLang="en-US">
              <a:latin typeface="微软雅黑" panose="020B0503020204020204" pitchFamily="34" charset="-122"/>
              <a:ea typeface="微软雅黑" panose="020B0503020204020204" pitchFamily="34" charset="-122"/>
            </a:endParaRPr>
          </a:p>
        </p:txBody>
      </p:sp>
      <p:sp>
        <p:nvSpPr>
          <p:cNvPr id="31747"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noChangeArrowheads="1"/>
          </p:cNvSpPr>
          <p:nvPr>
            <p:ph idx="1"/>
          </p:nvPr>
        </p:nvSpPr>
        <p:spPr>
          <a:xfrm>
            <a:off x="457200" y="1714500"/>
            <a:ext cx="8229600" cy="4411663"/>
          </a:xfrm>
        </p:spPr>
        <p:txBody>
          <a:bodyPr/>
          <a:lstStyle/>
          <a:p>
            <a:pPr lvl="1">
              <a:lnSpc>
                <a:spcPct val="150000"/>
              </a:lnSpc>
            </a:pPr>
            <a:r>
              <a:rPr lang="zh-CN" altLang="en-US" sz="2800">
                <a:latin typeface="微软雅黑" panose="020B0503020204020204" pitchFamily="34" charset="-122"/>
                <a:ea typeface="微软雅黑" panose="020B0503020204020204" pitchFamily="34" charset="-122"/>
              </a:rPr>
              <a:t>线程从启动例程函数中返回，函数返回值作为线程的退出码</a:t>
            </a:r>
            <a:endParaRPr lang="zh-CN" altLang="en-US" sz="2800">
              <a:latin typeface="微软雅黑" panose="020B0503020204020204" pitchFamily="34" charset="-122"/>
              <a:ea typeface="微软雅黑" panose="020B0503020204020204" pitchFamily="34" charset="-122"/>
            </a:endParaRPr>
          </a:p>
          <a:p>
            <a:pPr lvl="1">
              <a:lnSpc>
                <a:spcPct val="150000"/>
              </a:lnSpc>
            </a:pPr>
            <a:r>
              <a:rPr lang="zh-CN" altLang="en-US" sz="2800">
                <a:latin typeface="微软雅黑" panose="020B0503020204020204" pitchFamily="34" charset="-122"/>
                <a:ea typeface="微软雅黑" panose="020B0503020204020204" pitchFamily="34" charset="-122"/>
              </a:rPr>
              <a:t>线程被同一进程中的其他线程取消</a:t>
            </a:r>
            <a:endParaRPr lang="zh-CN" altLang="en-US" sz="2800">
              <a:latin typeface="微软雅黑" panose="020B0503020204020204" pitchFamily="34" charset="-122"/>
              <a:ea typeface="微软雅黑" panose="020B0503020204020204" pitchFamily="34" charset="-122"/>
            </a:endParaRPr>
          </a:p>
          <a:p>
            <a:pPr lvl="1">
              <a:lnSpc>
                <a:spcPct val="150000"/>
              </a:lnSpc>
            </a:pPr>
            <a:r>
              <a:rPr lang="zh-CN" altLang="en-US" sz="2800">
                <a:latin typeface="微软雅黑" panose="020B0503020204020204" pitchFamily="34" charset="-122"/>
                <a:ea typeface="微软雅黑" panose="020B0503020204020204" pitchFamily="34" charset="-122"/>
              </a:rPr>
              <a:t>线程调用</a:t>
            </a:r>
            <a:r>
              <a:rPr lang="en-US" altLang="zh-CN" sz="2800">
                <a:latin typeface="微软雅黑" panose="020B0503020204020204" pitchFamily="34" charset="-122"/>
                <a:ea typeface="微软雅黑" panose="020B0503020204020204" pitchFamily="34" charset="-122"/>
              </a:rPr>
              <a:t>pthread_exit</a:t>
            </a:r>
            <a:r>
              <a:rPr lang="zh-CN" altLang="en-US" sz="2800">
                <a:latin typeface="微软雅黑" panose="020B0503020204020204" pitchFamily="34" charset="-122"/>
                <a:ea typeface="微软雅黑" panose="020B0503020204020204" pitchFamily="34" charset="-122"/>
              </a:rPr>
              <a:t>函数终止执行</a:t>
            </a:r>
            <a:endParaRPr lang="zh-CN" altLang="en-US" sz="2800">
              <a:latin typeface="微软雅黑" panose="020B0503020204020204" pitchFamily="34" charset="-122"/>
              <a:ea typeface="微软雅黑" panose="020B0503020204020204" pitchFamily="34" charset="-122"/>
            </a:endParaRPr>
          </a:p>
        </p:txBody>
      </p:sp>
      <p:sp>
        <p:nvSpPr>
          <p:cNvPr id="32770"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B49C953-50A5-4E10-A59F-F139B0317FAD}" type="slidenum">
              <a:rPr lang="en-US" altLang="zh-CN" sz="1400" smtClean="0"/>
            </a:fld>
            <a:endParaRPr lang="en-US" altLang="zh-CN" sz="1400"/>
          </a:p>
        </p:txBody>
      </p:sp>
      <p:sp>
        <p:nvSpPr>
          <p:cNvPr id="32771" name="副标题 1"/>
          <p:cNvSpPr>
            <a:spLocks noGrp="1" noChangeArrowheads="1"/>
          </p:cNvSpPr>
          <p:nvPr>
            <p:ph type="subTitle" idx="13"/>
          </p:nvPr>
        </p:nvSpPr>
        <p:spPr>
          <a:xfrm>
            <a:off x="1014413" y="1052513"/>
            <a:ext cx="6400800" cy="542925"/>
          </a:xfrm>
        </p:spPr>
        <p:txBody>
          <a:bodyPr/>
          <a:lstStyle/>
          <a:p>
            <a:r>
              <a:rPr lang="zh-CN" altLang="en-US" sz="2800">
                <a:latin typeface="微软雅黑" panose="020B0503020204020204" pitchFamily="34" charset="-122"/>
                <a:ea typeface="微软雅黑" panose="020B0503020204020204" pitchFamily="34" charset="-122"/>
              </a:rPr>
              <a:t>线程的三种终止方式</a:t>
            </a:r>
            <a:endParaRPr lang="zh-CN" altLang="en-US" sz="2800">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32772"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Grp="1" noChangeArrowheads="1"/>
          </p:cNvSpPr>
          <p:nvPr>
            <p:ph idx="1"/>
          </p:nvPr>
        </p:nvSpPr>
        <p:spPr>
          <a:xfrm>
            <a:off x="457200" y="1714500"/>
            <a:ext cx="8229600" cy="4411663"/>
          </a:xfrm>
        </p:spPr>
        <p:txBody>
          <a:bodyPr/>
          <a:lstStyle/>
          <a:p>
            <a:pPr>
              <a:lnSpc>
                <a:spcPct val="150000"/>
              </a:lnSpc>
            </a:pPr>
            <a:r>
              <a:rPr lang="en-US" altLang="zh-CN">
                <a:latin typeface="微软雅黑" panose="020B0503020204020204" pitchFamily="34" charset="-122"/>
                <a:ea typeface="微软雅黑" panose="020B0503020204020204" pitchFamily="34" charset="-122"/>
              </a:rPr>
              <a:t>pthread_self</a:t>
            </a:r>
            <a:r>
              <a:rPr lang="zh-CN" altLang="en-US">
                <a:latin typeface="微软雅黑" panose="020B0503020204020204" pitchFamily="34" charset="-122"/>
                <a:ea typeface="微软雅黑" panose="020B0503020204020204" pitchFamily="34" charset="-122"/>
              </a:rPr>
              <a:t>函数可以让调用线程获取自己的线程</a:t>
            </a:r>
            <a:r>
              <a:rPr lang="en-US" altLang="zh-CN">
                <a:latin typeface="微软雅黑" panose="020B0503020204020204" pitchFamily="34" charset="-122"/>
                <a:ea typeface="微软雅黑" panose="020B0503020204020204" pitchFamily="34" charset="-122"/>
              </a:rPr>
              <a:t>ID</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函数原型</a:t>
            </a:r>
            <a:endParaRPr lang="zh-CN" altLang="en-US">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None/>
            </a:pPr>
            <a:r>
              <a:rPr lang="zh-CN" altLang="en-US" sz="2800" b="1">
                <a:solidFill>
                  <a:srgbClr val="00B050"/>
                </a:solidFill>
                <a:latin typeface="微软雅黑" panose="020B0503020204020204" pitchFamily="34" charset="-122"/>
                <a:ea typeface="微软雅黑" panose="020B0503020204020204" pitchFamily="34" charset="-122"/>
              </a:rPr>
              <a:t>      </a:t>
            </a:r>
            <a:r>
              <a:rPr lang="en-US" altLang="zh-CN" sz="2800" b="1">
                <a:solidFill>
                  <a:srgbClr val="00B050"/>
                </a:solidFill>
                <a:latin typeface="微软雅黑" panose="020B0503020204020204" pitchFamily="34" charset="-122"/>
                <a:ea typeface="微软雅黑" panose="020B0503020204020204" pitchFamily="34" charset="-122"/>
              </a:rPr>
              <a:t>pthread_t pthread_self();</a:t>
            </a:r>
            <a:endParaRPr lang="en-US" altLang="zh-CN" sz="2800" b="1">
              <a:solidFill>
                <a:srgbClr val="00B05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None/>
            </a:pPr>
            <a:r>
              <a:rPr lang="zh-CN" altLang="en-US" b="1">
                <a:solidFill>
                  <a:srgbClr val="0070C0"/>
                </a:solidFill>
                <a:latin typeface="微软雅黑" panose="020B0503020204020204" pitchFamily="34" charset="-122"/>
                <a:ea typeface="微软雅黑" panose="020B0503020204020204" pitchFamily="34" charset="-122"/>
              </a:rPr>
              <a:t>头文件：</a:t>
            </a:r>
            <a:r>
              <a:rPr lang="en-US" altLang="zh-CN" b="1">
                <a:solidFill>
                  <a:srgbClr val="0070C0"/>
                </a:solidFill>
                <a:latin typeface="微软雅黑" panose="020B0503020204020204" pitchFamily="34" charset="-122"/>
                <a:ea typeface="微软雅黑" panose="020B0503020204020204" pitchFamily="34" charset="-122"/>
              </a:rPr>
              <a:t>pthread.h</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返回调用线程的线程</a:t>
            </a:r>
            <a:r>
              <a:rPr lang="en-US" altLang="zh-CN">
                <a:latin typeface="微软雅黑" panose="020B0503020204020204" pitchFamily="34" charset="-122"/>
                <a:ea typeface="微软雅黑" panose="020B0503020204020204" pitchFamily="34" charset="-122"/>
              </a:rPr>
              <a:t>ID</a:t>
            </a:r>
            <a:endParaRPr lang="en-US" altLang="zh-CN">
              <a:latin typeface="微软雅黑" panose="020B0503020204020204" pitchFamily="34" charset="-122"/>
              <a:ea typeface="微软雅黑" panose="020B0503020204020204" pitchFamily="34" charset="-122"/>
            </a:endParaRPr>
          </a:p>
        </p:txBody>
      </p:sp>
      <p:sp>
        <p:nvSpPr>
          <p:cNvPr id="33794"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3CCE02D-7905-4610-B9FB-24ED50B8D177}" type="slidenum">
              <a:rPr lang="en-US" altLang="zh-CN" sz="1400" smtClean="0"/>
            </a:fld>
            <a:endParaRPr lang="en-US" altLang="zh-CN" sz="1400"/>
          </a:p>
        </p:txBody>
      </p:sp>
      <p:sp>
        <p:nvSpPr>
          <p:cNvPr id="33795" name="副标题 1"/>
          <p:cNvSpPr>
            <a:spLocks noGrp="1" noChangeArrowheads="1"/>
          </p:cNvSpPr>
          <p:nvPr>
            <p:ph type="subTitle" idx="13"/>
          </p:nvPr>
        </p:nvSpPr>
        <p:spPr>
          <a:xfrm>
            <a:off x="1014413" y="1052513"/>
            <a:ext cx="6400800" cy="542925"/>
          </a:xfrm>
        </p:spPr>
        <p:txBody>
          <a:bodyPr/>
          <a:lstStyle/>
          <a:p>
            <a:r>
              <a:rPr lang="en-US" altLang="zh-CN" sz="2800">
                <a:latin typeface="微软雅黑" panose="020B0503020204020204" pitchFamily="34" charset="-122"/>
                <a:ea typeface="微软雅黑" panose="020B0503020204020204" pitchFamily="34" charset="-122"/>
              </a:rPr>
              <a:t>pthread_self</a:t>
            </a:r>
            <a:r>
              <a:rPr lang="zh-CN" altLang="en-US" sz="2800">
                <a:latin typeface="微软雅黑" panose="020B0503020204020204" pitchFamily="34" charset="-122"/>
                <a:ea typeface="微软雅黑" panose="020B0503020204020204" pitchFamily="34" charset="-122"/>
              </a:rPr>
              <a:t>函数</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获取线程</a:t>
            </a:r>
            <a:r>
              <a:rPr lang="en-US" altLang="zh-CN" sz="2800">
                <a:latin typeface="微软雅黑" panose="020B0503020204020204" pitchFamily="34" charset="-122"/>
                <a:ea typeface="微软雅黑" panose="020B0503020204020204" pitchFamily="34" charset="-122"/>
              </a:rPr>
              <a:t>ID</a:t>
            </a:r>
            <a:endParaRPr lang="zh-CN" altLang="en-US">
              <a:latin typeface="微软雅黑" panose="020B0503020204020204" pitchFamily="34" charset="-122"/>
              <a:ea typeface="微软雅黑" panose="020B0503020204020204" pitchFamily="34" charset="-122"/>
            </a:endParaRPr>
          </a:p>
        </p:txBody>
      </p:sp>
      <p:sp>
        <p:nvSpPr>
          <p:cNvPr id="33796"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a:spLocks noGrp="1" noChangeArrowheads="1"/>
          </p:cNvSpPr>
          <p:nvPr>
            <p:ph idx="1"/>
          </p:nvPr>
        </p:nvSpPr>
        <p:spPr>
          <a:xfrm>
            <a:off x="457200" y="1714500"/>
            <a:ext cx="8229600" cy="4411663"/>
          </a:xfrm>
        </p:spPr>
        <p:txBody>
          <a:bodyPr/>
          <a:lstStyle/>
          <a:p>
            <a:pPr>
              <a:lnSpc>
                <a:spcPct val="150000"/>
              </a:lnSpc>
            </a:pPr>
            <a:r>
              <a:rPr lang="zh-CN" altLang="en-US">
                <a:latin typeface="微软雅黑" panose="020B0503020204020204" pitchFamily="34" charset="-122"/>
                <a:ea typeface="微软雅黑" panose="020B0503020204020204" pitchFamily="34" charset="-122"/>
              </a:rPr>
              <a:t>线程终止函数</a:t>
            </a:r>
            <a:endParaRPr lang="zh-CN" altLang="en-US">
              <a:latin typeface="微软雅黑" panose="020B0503020204020204" pitchFamily="34" charset="-122"/>
              <a:ea typeface="微软雅黑" panose="020B0503020204020204" pitchFamily="34" charset="-122"/>
            </a:endParaRPr>
          </a:p>
          <a:p>
            <a:pPr lvl="1" algn="ctr">
              <a:lnSpc>
                <a:spcPct val="150000"/>
              </a:lnSpc>
              <a:buFont typeface="Wingdings" panose="05000000000000000000" pitchFamily="2" charset="2"/>
              <a:buNone/>
            </a:pPr>
            <a:r>
              <a:rPr lang="en-US" altLang="zh-CN" b="1">
                <a:solidFill>
                  <a:srgbClr val="00B050"/>
                </a:solidFill>
                <a:latin typeface="微软雅黑" panose="020B0503020204020204" pitchFamily="34" charset="-122"/>
                <a:ea typeface="微软雅黑" panose="020B0503020204020204" pitchFamily="34" charset="-122"/>
              </a:rPr>
              <a:t>void pthread_exit(void *rval_ptr);</a:t>
            </a:r>
            <a:endParaRPr lang="en-US" altLang="zh-CN" b="1">
              <a:solidFill>
                <a:srgbClr val="00B05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None/>
            </a:pPr>
            <a:r>
              <a:rPr lang="zh-CN" altLang="en-US" b="1">
                <a:solidFill>
                  <a:srgbClr val="0070C0"/>
                </a:solidFill>
                <a:latin typeface="微软雅黑" panose="020B0503020204020204" pitchFamily="34" charset="-122"/>
                <a:ea typeface="微软雅黑" panose="020B0503020204020204" pitchFamily="34" charset="-122"/>
              </a:rPr>
              <a:t>头文件：</a:t>
            </a:r>
            <a:r>
              <a:rPr lang="en-US" altLang="zh-CN" b="1">
                <a:solidFill>
                  <a:srgbClr val="0070C0"/>
                </a:solidFill>
                <a:latin typeface="微软雅黑" panose="020B0503020204020204" pitchFamily="34" charset="-122"/>
                <a:ea typeface="微软雅黑" panose="020B0503020204020204" pitchFamily="34" charset="-122"/>
              </a:rPr>
              <a:t>pthread.h</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参数</a:t>
            </a:r>
            <a:endParaRPr lang="zh-CN" altLang="en-US">
              <a:latin typeface="微软雅黑" panose="020B0503020204020204" pitchFamily="34" charset="-122"/>
              <a:ea typeface="微软雅黑" panose="020B0503020204020204" pitchFamily="34" charset="-122"/>
            </a:endParaRPr>
          </a:p>
          <a:p>
            <a:pPr lvl="1">
              <a:lnSpc>
                <a:spcPct val="150000"/>
              </a:lnSpc>
            </a:pPr>
            <a:r>
              <a:rPr lang="en-US" altLang="zh-CN" b="1">
                <a:latin typeface="微软雅黑" panose="020B0503020204020204" pitchFamily="34" charset="-122"/>
                <a:ea typeface="微软雅黑" panose="020B0503020204020204" pitchFamily="34" charset="-122"/>
              </a:rPr>
              <a:t>rval_ptr</a:t>
            </a:r>
            <a:r>
              <a:rPr lang="zh-CN" altLang="en-US" b="1">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该指针将传递给</a:t>
            </a:r>
            <a:r>
              <a:rPr lang="en-US" altLang="zh-CN">
                <a:latin typeface="微软雅黑" panose="020B0503020204020204" pitchFamily="34" charset="-122"/>
                <a:ea typeface="微软雅黑" panose="020B0503020204020204" pitchFamily="34" charset="-122"/>
              </a:rPr>
              <a:t>pthread_join</a:t>
            </a:r>
            <a:r>
              <a:rPr lang="zh-CN" altLang="en-US">
                <a:latin typeface="微软雅黑" panose="020B0503020204020204" pitchFamily="34" charset="-122"/>
                <a:ea typeface="微软雅黑" panose="020B0503020204020204" pitchFamily="34" charset="-122"/>
              </a:rPr>
              <a:t>函数（与</a:t>
            </a:r>
            <a:r>
              <a:rPr lang="en-US" altLang="zh-CN">
                <a:latin typeface="微软雅黑" panose="020B0503020204020204" pitchFamily="34" charset="-122"/>
                <a:ea typeface="微软雅黑" panose="020B0503020204020204" pitchFamily="34" charset="-122"/>
              </a:rPr>
              <a:t>exit</a:t>
            </a:r>
            <a:r>
              <a:rPr lang="zh-CN" altLang="en-US">
                <a:latin typeface="微软雅黑" panose="020B0503020204020204" pitchFamily="34" charset="-122"/>
                <a:ea typeface="微软雅黑" panose="020B0503020204020204" pitchFamily="34" charset="-122"/>
              </a:rPr>
              <a:t>函数参数用法类似）</a:t>
            </a:r>
            <a:endParaRPr lang="zh-CN" altLang="en-US">
              <a:latin typeface="微软雅黑" panose="020B0503020204020204" pitchFamily="34" charset="-122"/>
              <a:ea typeface="微软雅黑" panose="020B0503020204020204" pitchFamily="34" charset="-122"/>
            </a:endParaRPr>
          </a:p>
        </p:txBody>
      </p:sp>
      <p:sp>
        <p:nvSpPr>
          <p:cNvPr id="34818"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387FFD-AA8E-4AEE-82CA-AF3CDAA8954D}" type="slidenum">
              <a:rPr lang="en-US" altLang="zh-CN" sz="1400" smtClean="0"/>
            </a:fld>
            <a:endParaRPr lang="en-US" altLang="zh-CN" sz="1400"/>
          </a:p>
        </p:txBody>
      </p:sp>
      <p:sp>
        <p:nvSpPr>
          <p:cNvPr id="34819" name="副标题 1"/>
          <p:cNvSpPr>
            <a:spLocks noGrp="1" noChangeArrowheads="1"/>
          </p:cNvSpPr>
          <p:nvPr>
            <p:ph type="subTitle" idx="13"/>
          </p:nvPr>
        </p:nvSpPr>
        <p:spPr>
          <a:xfrm>
            <a:off x="1014413" y="1052513"/>
            <a:ext cx="6400800" cy="542925"/>
          </a:xfrm>
        </p:spPr>
        <p:txBody>
          <a:bodyPr/>
          <a:lstStyle/>
          <a:p>
            <a:r>
              <a:rPr lang="en-US" altLang="zh-CN" sz="2800">
                <a:latin typeface="微软雅黑" panose="020B0503020204020204" pitchFamily="34" charset="-122"/>
                <a:ea typeface="微软雅黑" panose="020B0503020204020204" pitchFamily="34" charset="-122"/>
              </a:rPr>
              <a:t>pthread_exit</a:t>
            </a:r>
            <a:r>
              <a:rPr lang="zh-CN" altLang="en-US" sz="2800">
                <a:latin typeface="微软雅黑" panose="020B0503020204020204" pitchFamily="34" charset="-122"/>
                <a:ea typeface="微软雅黑" panose="020B0503020204020204" pitchFamily="34" charset="-122"/>
              </a:rPr>
              <a:t>函数</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线程终止</a:t>
            </a:r>
            <a:endParaRPr lang="zh-CN" altLang="en-US">
              <a:latin typeface="微软雅黑" panose="020B0503020204020204" pitchFamily="34" charset="-122"/>
              <a:ea typeface="微软雅黑" panose="020B0503020204020204" pitchFamily="34" charset="-122"/>
            </a:endParaRPr>
          </a:p>
        </p:txBody>
      </p:sp>
      <p:sp>
        <p:nvSpPr>
          <p:cNvPr id="34820"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idx="1"/>
          </p:nvPr>
        </p:nvSpPr>
        <p:spPr>
          <a:xfrm>
            <a:off x="457200" y="1714500"/>
            <a:ext cx="8435975" cy="4411663"/>
          </a:xfrm>
        </p:spPr>
        <p:txBody>
          <a:bodyPr/>
          <a:lstStyle/>
          <a:p>
            <a:pPr>
              <a:lnSpc>
                <a:spcPct val="150000"/>
              </a:lnSpc>
              <a:spcBef>
                <a:spcPct val="0"/>
              </a:spcBef>
            </a:pPr>
            <a:r>
              <a:rPr lang="zh-CN" altLang="en-US">
                <a:latin typeface="微软雅黑" panose="020B0503020204020204" pitchFamily="34" charset="-122"/>
                <a:ea typeface="微软雅黑" panose="020B0503020204020204" pitchFamily="34" charset="-122"/>
              </a:rPr>
              <a:t>父线程等待自线程终止函数原型</a:t>
            </a:r>
            <a:endParaRPr lang="zh-CN" altLang="en-US">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None/>
            </a:pPr>
            <a:r>
              <a:rPr lang="en-US" altLang="zh-CN" b="1">
                <a:solidFill>
                  <a:srgbClr val="00B050"/>
                </a:solidFill>
                <a:latin typeface="微软雅黑" panose="020B0503020204020204" pitchFamily="34" charset="-122"/>
                <a:ea typeface="微软雅黑" panose="020B0503020204020204" pitchFamily="34" charset="-122"/>
              </a:rPr>
              <a:t>int pthread_join(pthread_t thread,void **rval_ptr);</a:t>
            </a:r>
            <a:endParaRPr lang="en-US" altLang="zh-CN" b="1">
              <a:solidFill>
                <a:srgbClr val="00B050"/>
              </a:solidFill>
              <a:latin typeface="微软雅黑" panose="020B0503020204020204" pitchFamily="34" charset="-122"/>
              <a:ea typeface="微软雅黑" panose="020B0503020204020204" pitchFamily="34" charset="-122"/>
            </a:endParaRPr>
          </a:p>
          <a:p>
            <a:pPr lvl="1">
              <a:lnSpc>
                <a:spcPct val="150000"/>
              </a:lnSpc>
              <a:spcBef>
                <a:spcPct val="0"/>
              </a:spcBef>
              <a:buFont typeface="Wingdings" panose="05000000000000000000" pitchFamily="2" charset="2"/>
              <a:buNone/>
            </a:pPr>
            <a:r>
              <a:rPr lang="zh-CN" altLang="en-US" b="1">
                <a:solidFill>
                  <a:srgbClr val="0070C0"/>
                </a:solidFill>
                <a:latin typeface="微软雅黑" panose="020B0503020204020204" pitchFamily="34" charset="-122"/>
                <a:ea typeface="微软雅黑" panose="020B0503020204020204" pitchFamily="34" charset="-122"/>
              </a:rPr>
              <a:t>头文件：</a:t>
            </a:r>
            <a:r>
              <a:rPr lang="en-US" altLang="zh-CN" b="1">
                <a:solidFill>
                  <a:srgbClr val="0070C0"/>
                </a:solidFill>
                <a:latin typeface="微软雅黑" panose="020B0503020204020204" pitchFamily="34" charset="-122"/>
                <a:ea typeface="微软雅黑" panose="020B0503020204020204" pitchFamily="34" charset="-122"/>
              </a:rPr>
              <a:t>pthread.h</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50000"/>
              </a:lnSpc>
              <a:spcBef>
                <a:spcPct val="0"/>
              </a:spcBef>
            </a:pPr>
            <a:r>
              <a:rPr lang="zh-CN" altLang="en-US">
                <a:latin typeface="微软雅黑" panose="020B0503020204020204" pitchFamily="34" charset="-122"/>
                <a:ea typeface="微软雅黑" panose="020B0503020204020204" pitchFamily="34" charset="-122"/>
              </a:rPr>
              <a:t>调用该函数的父线程将一直被阻塞，直到指定的子线程终止</a:t>
            </a:r>
            <a:endParaRPr lang="en-US" altLang="zh-CN">
              <a:latin typeface="微软雅黑" panose="020B0503020204020204" pitchFamily="34" charset="-122"/>
              <a:ea typeface="微软雅黑" panose="020B0503020204020204" pitchFamily="34" charset="-122"/>
            </a:endParaRPr>
          </a:p>
          <a:p>
            <a:pPr lvl="1">
              <a:lnSpc>
                <a:spcPct val="150000"/>
              </a:lnSpc>
              <a:spcBef>
                <a:spcPct val="0"/>
              </a:spcBef>
            </a:pPr>
            <a:r>
              <a:rPr lang="zh-CN" altLang="en-US">
                <a:latin typeface="微软雅黑" panose="020B0503020204020204" pitchFamily="34" charset="-122"/>
                <a:ea typeface="微软雅黑" panose="020B0503020204020204" pitchFamily="34" charset="-122"/>
              </a:rPr>
              <a:t>从启动例程函数中返回</a:t>
            </a:r>
            <a:endParaRPr lang="en-US" altLang="zh-CN">
              <a:latin typeface="微软雅黑" panose="020B0503020204020204" pitchFamily="34" charset="-122"/>
              <a:ea typeface="微软雅黑" panose="020B0503020204020204" pitchFamily="34" charset="-122"/>
            </a:endParaRPr>
          </a:p>
          <a:p>
            <a:pPr lvl="1">
              <a:lnSpc>
                <a:spcPct val="150000"/>
              </a:lnSpc>
              <a:spcBef>
                <a:spcPct val="0"/>
              </a:spcBef>
            </a:pPr>
            <a:r>
              <a:rPr lang="zh-CN" altLang="en-US">
                <a:latin typeface="微软雅黑" panose="020B0503020204020204" pitchFamily="34" charset="-122"/>
                <a:ea typeface="微软雅黑" panose="020B0503020204020204" pitchFamily="34" charset="-122"/>
              </a:rPr>
              <a:t>被同一进程中的其他线程取消</a:t>
            </a:r>
            <a:endParaRPr lang="en-US" altLang="zh-CN">
              <a:latin typeface="微软雅黑" panose="020B0503020204020204" pitchFamily="34" charset="-122"/>
              <a:ea typeface="微软雅黑" panose="020B0503020204020204" pitchFamily="34" charset="-122"/>
            </a:endParaRPr>
          </a:p>
          <a:p>
            <a:pPr lvl="1">
              <a:lnSpc>
                <a:spcPct val="150000"/>
              </a:lnSpc>
              <a:spcBef>
                <a:spcPct val="0"/>
              </a:spcBef>
            </a:pPr>
            <a:r>
              <a:rPr lang="zh-CN" altLang="en-US">
                <a:latin typeface="微软雅黑" panose="020B0503020204020204" pitchFamily="34" charset="-122"/>
                <a:ea typeface="微软雅黑" panose="020B0503020204020204" pitchFamily="34" charset="-122"/>
              </a:rPr>
              <a:t>调用</a:t>
            </a:r>
            <a:r>
              <a:rPr lang="en-US" altLang="zh-CN">
                <a:latin typeface="微软雅黑" panose="020B0503020204020204" pitchFamily="34" charset="-122"/>
                <a:ea typeface="微软雅黑" panose="020B0503020204020204" pitchFamily="34" charset="-122"/>
              </a:rPr>
              <a:t>pthread_exit</a:t>
            </a:r>
            <a:r>
              <a:rPr lang="zh-CN" altLang="en-US">
                <a:latin typeface="微软雅黑" panose="020B0503020204020204" pitchFamily="34" charset="-122"/>
                <a:ea typeface="微软雅黑" panose="020B0503020204020204" pitchFamily="34" charset="-122"/>
              </a:rPr>
              <a:t>终止执行</a:t>
            </a:r>
            <a:endParaRPr lang="zh-CN" altLang="en-US">
              <a:latin typeface="微软雅黑" panose="020B0503020204020204" pitchFamily="34" charset="-122"/>
              <a:ea typeface="微软雅黑" panose="020B0503020204020204" pitchFamily="34" charset="-122"/>
            </a:endParaRPr>
          </a:p>
        </p:txBody>
      </p:sp>
      <p:sp>
        <p:nvSpPr>
          <p:cNvPr id="35842"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83F2367-0651-4C14-9986-D51A70A98C79}" type="slidenum">
              <a:rPr lang="en-US" altLang="zh-CN" sz="1400" smtClean="0"/>
            </a:fld>
            <a:endParaRPr lang="en-US" altLang="zh-CN" sz="1400"/>
          </a:p>
        </p:txBody>
      </p:sp>
      <p:sp>
        <p:nvSpPr>
          <p:cNvPr id="35843"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父线程等待子线程终止</a:t>
            </a:r>
            <a:endParaRPr lang="zh-CN" altLang="en-US">
              <a:latin typeface="微软雅黑" panose="020B0503020204020204" pitchFamily="34" charset="-122"/>
              <a:ea typeface="微软雅黑" panose="020B0503020204020204" pitchFamily="34" charset="-122"/>
            </a:endParaRPr>
          </a:p>
        </p:txBody>
      </p:sp>
      <p:sp>
        <p:nvSpPr>
          <p:cNvPr id="35844"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p:cNvSpPr>
            <a:spLocks noGrp="1" noChangeArrowheads="1"/>
          </p:cNvSpPr>
          <p:nvPr>
            <p:ph idx="1"/>
          </p:nvPr>
        </p:nvSpPr>
        <p:spPr>
          <a:xfrm>
            <a:off x="395288" y="1712913"/>
            <a:ext cx="8507412" cy="4411662"/>
          </a:xfrm>
        </p:spPr>
        <p:txBody>
          <a:bodyPr/>
          <a:lstStyle/>
          <a:p>
            <a:pPr>
              <a:lnSpc>
                <a:spcPct val="130000"/>
              </a:lnSpc>
              <a:spcBef>
                <a:spcPct val="0"/>
              </a:spcBef>
            </a:pPr>
            <a:r>
              <a:rPr lang="zh-CN" altLang="en-US">
                <a:latin typeface="微软雅黑" panose="020B0503020204020204" pitchFamily="34" charset="-122"/>
                <a:ea typeface="微软雅黑" panose="020B0503020204020204" pitchFamily="34" charset="-122"/>
              </a:rPr>
              <a:t>参数</a:t>
            </a:r>
            <a:endParaRPr lang="zh-CN" altLang="en-US">
              <a:latin typeface="微软雅黑" panose="020B0503020204020204" pitchFamily="34" charset="-122"/>
              <a:ea typeface="微软雅黑" panose="020B0503020204020204" pitchFamily="34" charset="-122"/>
            </a:endParaRPr>
          </a:p>
          <a:p>
            <a:pPr lvl="1">
              <a:lnSpc>
                <a:spcPct val="130000"/>
              </a:lnSpc>
              <a:spcBef>
                <a:spcPct val="0"/>
              </a:spcBef>
            </a:pPr>
            <a:r>
              <a:rPr lang="en-US" altLang="zh-CN" b="1">
                <a:latin typeface="微软雅黑" panose="020B0503020204020204" pitchFamily="34" charset="-122"/>
                <a:ea typeface="微软雅黑" panose="020B0503020204020204" pitchFamily="34" charset="-122"/>
              </a:rPr>
              <a:t>thread</a:t>
            </a:r>
            <a:r>
              <a:rPr lang="zh-CN" altLang="en-US" b="1">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需要等待的子线程</a:t>
            </a:r>
            <a:r>
              <a:rPr lang="en-US" altLang="zh-CN">
                <a:latin typeface="微软雅黑" panose="020B0503020204020204" pitchFamily="34" charset="-122"/>
                <a:ea typeface="微软雅黑" panose="020B0503020204020204" pitchFamily="34" charset="-122"/>
              </a:rPr>
              <a:t>ID</a:t>
            </a:r>
            <a:endParaRPr lang="en-US" altLang="zh-CN">
              <a:latin typeface="微软雅黑" panose="020B0503020204020204" pitchFamily="34" charset="-122"/>
              <a:ea typeface="微软雅黑" panose="020B0503020204020204" pitchFamily="34" charset="-122"/>
            </a:endParaRPr>
          </a:p>
          <a:p>
            <a:pPr lvl="1">
              <a:lnSpc>
                <a:spcPct val="130000"/>
              </a:lnSpc>
              <a:spcBef>
                <a:spcPct val="0"/>
              </a:spcBef>
            </a:pPr>
            <a:r>
              <a:rPr lang="en-US" altLang="zh-CN" b="1">
                <a:latin typeface="微软雅黑" panose="020B0503020204020204" pitchFamily="34" charset="-122"/>
                <a:ea typeface="微软雅黑" panose="020B0503020204020204" pitchFamily="34" charset="-122"/>
              </a:rPr>
              <a:t>rval_ptr</a:t>
            </a:r>
            <a:r>
              <a:rPr lang="zh-CN" altLang="en-US" b="1">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若不关心线程返回值，可直接将该参数设置为空指针</a:t>
            </a:r>
            <a:r>
              <a:rPr lang="en-US" altLang="zh-CN">
                <a:solidFill>
                  <a:srgbClr val="FF0000"/>
                </a:solidFill>
                <a:latin typeface="微软雅黑" panose="020B0503020204020204" pitchFamily="34" charset="-122"/>
                <a:ea typeface="微软雅黑" panose="020B0503020204020204" pitchFamily="34" charset="-122"/>
              </a:rPr>
              <a:t>NULL</a:t>
            </a:r>
            <a:endParaRPr lang="zh-CN" altLang="en-US">
              <a:latin typeface="微软雅黑" panose="020B0503020204020204" pitchFamily="34" charset="-122"/>
              <a:ea typeface="微软雅黑" panose="020B0503020204020204" pitchFamily="34" charset="-122"/>
            </a:endParaRPr>
          </a:p>
          <a:p>
            <a:pPr lvl="2">
              <a:lnSpc>
                <a:spcPct val="130000"/>
              </a:lnSpc>
              <a:spcBef>
                <a:spcPct val="0"/>
              </a:spcBef>
            </a:pPr>
            <a:r>
              <a:rPr lang="zh-CN" altLang="en-US">
                <a:latin typeface="微软雅黑" panose="020B0503020204020204" pitchFamily="34" charset="-122"/>
                <a:ea typeface="微软雅黑" panose="020B0503020204020204" pitchFamily="34" charset="-122"/>
              </a:rPr>
              <a:t>若线程从启动例程返回，</a:t>
            </a:r>
            <a:r>
              <a:rPr lang="en-US" altLang="zh-CN">
                <a:latin typeface="微软雅黑" panose="020B0503020204020204" pitchFamily="34" charset="-122"/>
                <a:ea typeface="微软雅黑" panose="020B0503020204020204" pitchFamily="34" charset="-122"/>
              </a:rPr>
              <a:t>rval_ptr</a:t>
            </a:r>
            <a:r>
              <a:rPr lang="zh-CN" altLang="en-US">
                <a:latin typeface="微软雅黑" panose="020B0503020204020204" pitchFamily="34" charset="-122"/>
                <a:ea typeface="微软雅黑" panose="020B0503020204020204" pitchFamily="34" charset="-122"/>
              </a:rPr>
              <a:t>将包含</a:t>
            </a:r>
            <a:r>
              <a:rPr lang="zh-CN" altLang="en-US" b="1">
                <a:solidFill>
                  <a:srgbClr val="0070C0"/>
                </a:solidFill>
                <a:latin typeface="微软雅黑" panose="020B0503020204020204" pitchFamily="34" charset="-122"/>
                <a:ea typeface="微软雅黑" panose="020B0503020204020204" pitchFamily="34" charset="-122"/>
              </a:rPr>
              <a:t>返回码</a:t>
            </a:r>
            <a:endParaRPr lang="zh-CN" altLang="en-US" b="1">
              <a:solidFill>
                <a:srgbClr val="0070C0"/>
              </a:solidFill>
              <a:latin typeface="微软雅黑" panose="020B0503020204020204" pitchFamily="34" charset="-122"/>
              <a:ea typeface="微软雅黑" panose="020B0503020204020204" pitchFamily="34" charset="-122"/>
            </a:endParaRPr>
          </a:p>
          <a:p>
            <a:pPr lvl="2">
              <a:lnSpc>
                <a:spcPct val="130000"/>
              </a:lnSpc>
              <a:spcBef>
                <a:spcPct val="0"/>
              </a:spcBef>
            </a:pPr>
            <a:r>
              <a:rPr lang="zh-CN" altLang="en-US">
                <a:latin typeface="微软雅黑" panose="020B0503020204020204" pitchFamily="34" charset="-122"/>
                <a:ea typeface="微软雅黑" panose="020B0503020204020204" pitchFamily="34" charset="-122"/>
              </a:rPr>
              <a:t>若线程被取消，由</a:t>
            </a:r>
            <a:r>
              <a:rPr lang="en-US" altLang="zh-CN">
                <a:latin typeface="微软雅黑" panose="020B0503020204020204" pitchFamily="34" charset="-122"/>
                <a:ea typeface="微软雅黑" panose="020B0503020204020204" pitchFamily="34" charset="-122"/>
              </a:rPr>
              <a:t>rval_ptr</a:t>
            </a:r>
            <a:r>
              <a:rPr lang="zh-CN" altLang="en-US">
                <a:latin typeface="微软雅黑" panose="020B0503020204020204" pitchFamily="34" charset="-122"/>
                <a:ea typeface="微软雅黑" panose="020B0503020204020204" pitchFamily="34" charset="-122"/>
              </a:rPr>
              <a:t>指定的内存单元就置为</a:t>
            </a:r>
            <a:r>
              <a:rPr lang="en-US" altLang="zh-CN" b="1">
                <a:solidFill>
                  <a:srgbClr val="0070C0"/>
                </a:solidFill>
                <a:latin typeface="微软雅黑" panose="020B0503020204020204" pitchFamily="34" charset="-122"/>
                <a:ea typeface="微软雅黑" panose="020B0503020204020204" pitchFamily="34" charset="-122"/>
              </a:rPr>
              <a:t>PTHREAD_CANCELED</a:t>
            </a:r>
            <a:endParaRPr lang="en-US" altLang="zh-CN" b="1">
              <a:solidFill>
                <a:srgbClr val="0070C0"/>
              </a:solidFill>
              <a:latin typeface="微软雅黑" panose="020B0503020204020204" pitchFamily="34" charset="-122"/>
              <a:ea typeface="微软雅黑" panose="020B0503020204020204" pitchFamily="34" charset="-122"/>
            </a:endParaRPr>
          </a:p>
          <a:p>
            <a:pPr lvl="2">
              <a:lnSpc>
                <a:spcPct val="130000"/>
              </a:lnSpc>
              <a:spcBef>
                <a:spcPct val="0"/>
              </a:spcBef>
            </a:pPr>
            <a:r>
              <a:rPr lang="zh-CN" altLang="en-US">
                <a:latin typeface="微软雅黑" panose="020B0503020204020204" pitchFamily="34" charset="-122"/>
                <a:ea typeface="微软雅黑" panose="020B0503020204020204" pitchFamily="34" charset="-122"/>
              </a:rPr>
              <a:t>若线程由于</a:t>
            </a:r>
            <a:r>
              <a:rPr lang="en-US" altLang="zh-CN">
                <a:latin typeface="微软雅黑" panose="020B0503020204020204" pitchFamily="34" charset="-122"/>
                <a:ea typeface="微软雅黑" panose="020B0503020204020204" pitchFamily="34" charset="-122"/>
              </a:rPr>
              <a:t>pthread_exit</a:t>
            </a:r>
            <a:r>
              <a:rPr lang="zh-CN" altLang="en-US">
                <a:latin typeface="微软雅黑" panose="020B0503020204020204" pitchFamily="34" charset="-122"/>
                <a:ea typeface="微软雅黑" panose="020B0503020204020204" pitchFamily="34" charset="-122"/>
              </a:rPr>
              <a:t>终止，</a:t>
            </a:r>
            <a:r>
              <a:rPr lang="en-US" altLang="zh-CN" b="1">
                <a:solidFill>
                  <a:srgbClr val="0070C0"/>
                </a:solidFill>
                <a:latin typeface="微软雅黑" panose="020B0503020204020204" pitchFamily="34" charset="-122"/>
                <a:ea typeface="微软雅黑" panose="020B0503020204020204" pitchFamily="34" charset="-122"/>
              </a:rPr>
              <a:t>rval_ptr</a:t>
            </a:r>
            <a:r>
              <a:rPr lang="zh-CN" altLang="en-US" b="1">
                <a:solidFill>
                  <a:srgbClr val="0070C0"/>
                </a:solidFill>
                <a:latin typeface="微软雅黑" panose="020B0503020204020204" pitchFamily="34" charset="-122"/>
                <a:ea typeface="微软雅黑" panose="020B0503020204020204" pitchFamily="34" charset="-122"/>
              </a:rPr>
              <a:t>即</a:t>
            </a:r>
            <a:r>
              <a:rPr lang="en-US" altLang="zh-CN" b="1">
                <a:solidFill>
                  <a:srgbClr val="0070C0"/>
                </a:solidFill>
                <a:latin typeface="微软雅黑" panose="020B0503020204020204" pitchFamily="34" charset="-122"/>
                <a:ea typeface="微软雅黑" panose="020B0503020204020204" pitchFamily="34" charset="-122"/>
              </a:rPr>
              <a:t>pthread_exit</a:t>
            </a:r>
            <a:r>
              <a:rPr lang="zh-CN" altLang="en-US" b="1">
                <a:solidFill>
                  <a:srgbClr val="0070C0"/>
                </a:solidFill>
                <a:latin typeface="微软雅黑" panose="020B0503020204020204" pitchFamily="34" charset="-122"/>
                <a:ea typeface="微软雅黑" panose="020B0503020204020204" pitchFamily="34" charset="-122"/>
              </a:rPr>
              <a:t>的参数</a:t>
            </a:r>
            <a:endParaRPr lang="en-US" altLang="zh-CN" b="1">
              <a:solidFill>
                <a:srgbClr val="0070C0"/>
              </a:solidFill>
              <a:latin typeface="微软雅黑" panose="020B0503020204020204" pitchFamily="34" charset="-122"/>
              <a:ea typeface="微软雅黑" panose="020B0503020204020204" pitchFamily="34" charset="-122"/>
            </a:endParaRPr>
          </a:p>
          <a:p>
            <a:pPr>
              <a:lnSpc>
                <a:spcPct val="130000"/>
              </a:lnSpc>
              <a:spcBef>
                <a:spcPct val="0"/>
              </a:spcBef>
            </a:pPr>
            <a:r>
              <a:rPr lang="zh-CN" altLang="en-US">
                <a:latin typeface="微软雅黑" panose="020B0503020204020204" pitchFamily="34" charset="-122"/>
                <a:ea typeface="微软雅黑" panose="020B0503020204020204" pitchFamily="34" charset="-122"/>
              </a:rPr>
              <a:t>返回值</a:t>
            </a:r>
            <a:endParaRPr lang="en-US" altLang="zh-CN">
              <a:latin typeface="微软雅黑" panose="020B0503020204020204" pitchFamily="34" charset="-122"/>
              <a:ea typeface="微软雅黑" panose="020B0503020204020204" pitchFamily="34" charset="-122"/>
            </a:endParaRPr>
          </a:p>
          <a:p>
            <a:pPr lvl="1">
              <a:lnSpc>
                <a:spcPct val="130000"/>
              </a:lnSpc>
              <a:spcBef>
                <a:spcPct val="0"/>
              </a:spcBef>
            </a:pPr>
            <a:r>
              <a:rPr lang="zh-CN" altLang="en-US">
                <a:latin typeface="微软雅黑" panose="020B0503020204020204" pitchFamily="34" charset="-122"/>
                <a:ea typeface="微软雅黑" panose="020B0503020204020204" pitchFamily="34" charset="-122"/>
              </a:rPr>
              <a:t>成功返回</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，否则返回错误编号</a:t>
            </a:r>
            <a:endParaRPr lang="zh-CN" altLang="en-US">
              <a:latin typeface="微软雅黑" panose="020B0503020204020204" pitchFamily="34" charset="-122"/>
              <a:ea typeface="微软雅黑" panose="020B0503020204020204" pitchFamily="34" charset="-122"/>
            </a:endParaRPr>
          </a:p>
          <a:p>
            <a:pPr lvl="1">
              <a:lnSpc>
                <a:spcPct val="130000"/>
              </a:lnSpc>
              <a:spcBef>
                <a:spcPct val="0"/>
              </a:spcBef>
            </a:pPr>
            <a:endParaRPr lang="en-US" altLang="zh-CN">
              <a:latin typeface="微软雅黑" panose="020B0503020204020204" pitchFamily="34" charset="-122"/>
              <a:ea typeface="微软雅黑" panose="020B0503020204020204" pitchFamily="34" charset="-122"/>
            </a:endParaRPr>
          </a:p>
        </p:txBody>
      </p:sp>
      <p:sp>
        <p:nvSpPr>
          <p:cNvPr id="36866"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EAB0225-DDA5-4C86-8DA7-7BE241999C54}" type="slidenum">
              <a:rPr lang="en-US" altLang="zh-CN" sz="1400" smtClean="0"/>
            </a:fld>
            <a:endParaRPr lang="en-US" altLang="zh-CN" sz="1400"/>
          </a:p>
        </p:txBody>
      </p:sp>
      <p:sp>
        <p:nvSpPr>
          <p:cNvPr id="36867" name="副标题 1"/>
          <p:cNvSpPr>
            <a:spLocks noGrp="1" noChangeArrowheads="1"/>
          </p:cNvSpPr>
          <p:nvPr>
            <p:ph type="subTitle" idx="13"/>
          </p:nvPr>
        </p:nvSpPr>
        <p:spPr>
          <a:xfrm>
            <a:off x="1014413" y="1052513"/>
            <a:ext cx="6400800" cy="542925"/>
          </a:xfrm>
        </p:spPr>
        <p:txBody>
          <a:bodyPr/>
          <a:lstStyle/>
          <a:p>
            <a:r>
              <a:rPr lang="en-US" altLang="zh-CN">
                <a:latin typeface="微软雅黑" panose="020B0503020204020204" pitchFamily="34" charset="-122"/>
                <a:ea typeface="微软雅黑" panose="020B0503020204020204" pitchFamily="34" charset="-122"/>
              </a:rPr>
              <a:t>pthread_join</a:t>
            </a:r>
            <a:r>
              <a:rPr lang="zh-CN" altLang="en-US">
                <a:latin typeface="微软雅黑" panose="020B0503020204020204" pitchFamily="34" charset="-122"/>
                <a:ea typeface="微软雅黑" panose="020B0503020204020204" pitchFamily="34" charset="-122"/>
              </a:rPr>
              <a:t>函数</a:t>
            </a:r>
            <a:endParaRPr lang="zh-CN" altLang="en-US">
              <a:latin typeface="微软雅黑" panose="020B0503020204020204" pitchFamily="34" charset="-122"/>
              <a:ea typeface="微软雅黑" panose="020B0503020204020204" pitchFamily="34" charset="-122"/>
            </a:endParaRPr>
          </a:p>
        </p:txBody>
      </p:sp>
      <p:sp>
        <p:nvSpPr>
          <p:cNvPr id="36868" name="文本框 6"/>
          <p:cNvSpPr txBox="1">
            <a:spLocks noChangeArrowheads="1"/>
          </p:cNvSpPr>
          <p:nvPr/>
        </p:nvSpPr>
        <p:spPr bwMode="auto">
          <a:xfrm>
            <a:off x="1487488" y="1712913"/>
            <a:ext cx="69215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a:lnSpc>
                <a:spcPct val="150000"/>
              </a:lnSpc>
              <a:spcBef>
                <a:spcPct val="0"/>
              </a:spcBef>
              <a:buFont typeface="Wingdings" panose="05000000000000000000" pitchFamily="2" charset="2"/>
              <a:buNone/>
            </a:pPr>
            <a:r>
              <a:rPr lang="en-US" altLang="zh-CN" sz="2000" b="1">
                <a:solidFill>
                  <a:srgbClr val="00B050"/>
                </a:solidFill>
              </a:rPr>
              <a:t>int pthread_join(pthread_t thread,void **rval_ptr);</a:t>
            </a:r>
            <a:endParaRPr lang="en-US" altLang="zh-CN" sz="2000" b="1">
              <a:solidFill>
                <a:srgbClr val="00B050"/>
              </a:solidFill>
            </a:endParaRPr>
          </a:p>
        </p:txBody>
      </p:sp>
      <p:sp>
        <p:nvSpPr>
          <p:cNvPr id="36869"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p:cNvSpPr>
            <a:spLocks noGrp="1" noChangeArrowheads="1"/>
          </p:cNvSpPr>
          <p:nvPr>
            <p:ph idx="1"/>
          </p:nvPr>
        </p:nvSpPr>
        <p:spPr>
          <a:xfrm>
            <a:off x="179388" y="1833563"/>
            <a:ext cx="8883650" cy="4411662"/>
          </a:xfrm>
          <a:ln w="19050">
            <a:solidFill>
              <a:srgbClr val="C00000"/>
            </a:solidFill>
          </a:ln>
        </p:spPr>
        <p:txBody>
          <a:bodyPr/>
          <a:lstStyle/>
          <a:p>
            <a:pPr>
              <a:spcBef>
                <a:spcPts val="0"/>
              </a:spcBef>
              <a:buFont typeface="Wingdings" panose="05000000000000000000" pitchFamily="2" charset="2"/>
              <a:buNone/>
              <a:defRPr/>
            </a:pPr>
            <a:r>
              <a:rPr lang="en-US" altLang="zh-CN" sz="2400" dirty="0"/>
              <a:t>void *</a:t>
            </a:r>
            <a:r>
              <a:rPr lang="en-US" altLang="zh-CN" sz="2400" dirty="0" err="1"/>
              <a:t>childthread</a:t>
            </a:r>
            <a:r>
              <a:rPr lang="en-US" altLang="zh-CN" sz="2400" dirty="0"/>
              <a:t>(void){</a:t>
            </a:r>
            <a:endParaRPr lang="en-US" altLang="zh-CN" sz="2400" dirty="0"/>
          </a:p>
          <a:p>
            <a:pPr lvl="1">
              <a:spcBef>
                <a:spcPts val="0"/>
              </a:spcBef>
              <a:buFont typeface="Wingdings" panose="05000000000000000000" pitchFamily="2" charset="2"/>
              <a:buNone/>
              <a:defRPr/>
            </a:pPr>
            <a:r>
              <a:rPr lang="en-US" altLang="zh-CN" sz="2000" dirty="0"/>
              <a:t>int </a:t>
            </a:r>
            <a:r>
              <a:rPr lang="en-US" altLang="zh-CN" sz="2000" dirty="0" err="1"/>
              <a:t>i</a:t>
            </a:r>
            <a:r>
              <a:rPr lang="en-US" altLang="zh-CN" sz="2000" dirty="0"/>
              <a:t>;</a:t>
            </a:r>
            <a:endParaRPr lang="en-US" altLang="zh-CN" sz="2000" dirty="0"/>
          </a:p>
          <a:p>
            <a:pPr lvl="1">
              <a:spcBef>
                <a:spcPts val="0"/>
              </a:spcBef>
              <a:buFont typeface="Wingdings" panose="05000000000000000000" pitchFamily="2" charset="2"/>
              <a:buNone/>
              <a:defRPr/>
            </a:pPr>
            <a:r>
              <a:rPr lang="en-US" altLang="zh-CN" sz="2000" dirty="0"/>
              <a:t>for(</a:t>
            </a:r>
            <a:r>
              <a:rPr lang="en-US" altLang="zh-CN" sz="2000" dirty="0" err="1"/>
              <a:t>i</a:t>
            </a:r>
            <a:r>
              <a:rPr lang="en-US" altLang="zh-CN" sz="2000" dirty="0"/>
              <a:t>=0;i&lt;10;i++){</a:t>
            </a:r>
            <a:endParaRPr lang="en-US" altLang="zh-CN" sz="2000" dirty="0"/>
          </a:p>
          <a:p>
            <a:pPr lvl="1">
              <a:spcBef>
                <a:spcPts val="0"/>
              </a:spcBef>
              <a:buFont typeface="Wingdings" panose="05000000000000000000" pitchFamily="2" charset="2"/>
              <a:buNone/>
              <a:defRPr/>
            </a:pPr>
            <a:r>
              <a:rPr lang="en-US" altLang="zh-CN" sz="2000" dirty="0"/>
              <a:t>	</a:t>
            </a:r>
            <a:r>
              <a:rPr lang="en-US" altLang="zh-CN" sz="2000" dirty="0" err="1"/>
              <a:t>printf</a:t>
            </a:r>
            <a:r>
              <a:rPr lang="en-US" altLang="zh-CN" sz="2000" dirty="0"/>
              <a:t>(“</a:t>
            </a:r>
            <a:r>
              <a:rPr lang="en-US" altLang="zh-CN" sz="2000" dirty="0" err="1"/>
              <a:t>childthread</a:t>
            </a:r>
            <a:r>
              <a:rPr lang="en-US" altLang="zh-CN" sz="2000" dirty="0"/>
              <a:t> message\n”);</a:t>
            </a:r>
            <a:endParaRPr lang="en-US" altLang="zh-CN" sz="2000" dirty="0"/>
          </a:p>
          <a:p>
            <a:pPr lvl="1">
              <a:spcBef>
                <a:spcPts val="0"/>
              </a:spcBef>
              <a:buFont typeface="Wingdings" panose="05000000000000000000" pitchFamily="2" charset="2"/>
              <a:buNone/>
              <a:defRPr/>
            </a:pPr>
            <a:r>
              <a:rPr lang="en-US" altLang="zh-CN" sz="2000" dirty="0"/>
              <a:t>	</a:t>
            </a:r>
            <a:r>
              <a:rPr lang="en-US" altLang="zh-CN" sz="2000" dirty="0">
                <a:cs typeface="+mn-cs"/>
              </a:rPr>
              <a:t>sleep(100);}</a:t>
            </a:r>
            <a:r>
              <a:rPr lang="en-US" altLang="zh-CN" sz="2800" dirty="0"/>
              <a:t>}</a:t>
            </a:r>
            <a:endParaRPr lang="en-US" altLang="zh-CN" sz="2800" dirty="0"/>
          </a:p>
          <a:p>
            <a:pPr>
              <a:spcBef>
                <a:spcPts val="0"/>
              </a:spcBef>
              <a:buFont typeface="Wingdings" panose="05000000000000000000" pitchFamily="2" charset="2"/>
              <a:buNone/>
              <a:defRPr/>
            </a:pPr>
            <a:r>
              <a:rPr lang="en-US" altLang="zh-CN" sz="2400" dirty="0"/>
              <a:t>int main(){</a:t>
            </a:r>
            <a:endParaRPr lang="en-US" altLang="zh-CN" sz="2400" dirty="0"/>
          </a:p>
          <a:p>
            <a:pPr>
              <a:spcBef>
                <a:spcPts val="0"/>
              </a:spcBef>
              <a:buFont typeface="Wingdings" panose="05000000000000000000" pitchFamily="2" charset="2"/>
              <a:buNone/>
              <a:defRPr/>
            </a:pPr>
            <a:r>
              <a:rPr lang="en-US" altLang="zh-CN" sz="2400" dirty="0"/>
              <a:t>	</a:t>
            </a:r>
            <a:r>
              <a:rPr lang="en-US" altLang="zh-CN" sz="2400" dirty="0" err="1">
                <a:ea typeface="宋体" panose="02010600030101010101" pitchFamily="2" charset="-122"/>
              </a:rPr>
              <a:t>pthread_t</a:t>
            </a:r>
            <a:r>
              <a:rPr lang="en-US" altLang="zh-CN" sz="2400" dirty="0">
                <a:ea typeface="宋体" panose="02010600030101010101" pitchFamily="2" charset="-122"/>
              </a:rPr>
              <a:t> </a:t>
            </a:r>
            <a:r>
              <a:rPr lang="en-US" altLang="zh-CN" sz="2400" dirty="0" err="1">
                <a:ea typeface="宋体" panose="02010600030101010101" pitchFamily="2" charset="-122"/>
              </a:rPr>
              <a:t>tid</a:t>
            </a:r>
            <a:r>
              <a:rPr lang="en-US" altLang="zh-CN" sz="2400" dirty="0">
                <a:ea typeface="宋体" panose="02010600030101010101" pitchFamily="2" charset="-122"/>
              </a:rPr>
              <a:t>;</a:t>
            </a:r>
            <a:endParaRPr lang="en-US" altLang="zh-CN" sz="2400" dirty="0">
              <a:ea typeface="宋体" panose="02010600030101010101" pitchFamily="2" charset="-122"/>
            </a:endParaRPr>
          </a:p>
          <a:p>
            <a:pPr>
              <a:spcBef>
                <a:spcPts val="0"/>
              </a:spcBef>
              <a:buFont typeface="Wingdings" panose="05000000000000000000" pitchFamily="2" charset="2"/>
              <a:buNone/>
              <a:defRPr/>
            </a:pPr>
            <a:r>
              <a:rPr lang="en-US" altLang="zh-CN" sz="2400" dirty="0">
                <a:ea typeface="宋体" panose="02010600030101010101" pitchFamily="2" charset="-122"/>
              </a:rPr>
              <a:t>	</a:t>
            </a:r>
            <a:r>
              <a:rPr lang="en-US" altLang="zh-CN" sz="2400" dirty="0" err="1"/>
              <a:t>printf</a:t>
            </a:r>
            <a:r>
              <a:rPr lang="en-US" altLang="zh-CN" sz="2400" dirty="0"/>
              <a:t>(“create </a:t>
            </a:r>
            <a:r>
              <a:rPr lang="en-US" altLang="zh-CN" sz="2400" dirty="0" err="1"/>
              <a:t>childthread</a:t>
            </a:r>
            <a:r>
              <a:rPr lang="en-US" altLang="zh-CN" sz="2400" dirty="0"/>
              <a:t>\n”); </a:t>
            </a:r>
            <a:endParaRPr lang="en-US" altLang="zh-CN" sz="2400" dirty="0"/>
          </a:p>
          <a:p>
            <a:pPr>
              <a:spcBef>
                <a:spcPts val="0"/>
              </a:spcBef>
              <a:buFont typeface="Wingdings" panose="05000000000000000000" pitchFamily="2" charset="2"/>
              <a:buNone/>
              <a:defRPr/>
            </a:pPr>
            <a:r>
              <a:rPr lang="en-US" altLang="zh-CN" sz="2400" dirty="0">
                <a:ea typeface="宋体" panose="02010600030101010101" pitchFamily="2" charset="-122"/>
              </a:rPr>
              <a:t>    </a:t>
            </a:r>
            <a:r>
              <a:rPr lang="en-US" altLang="zh-CN" sz="2400" b="1" dirty="0" err="1">
                <a:solidFill>
                  <a:srgbClr val="C00000"/>
                </a:solidFill>
                <a:ea typeface="宋体" panose="02010600030101010101" pitchFamily="2" charset="-122"/>
              </a:rPr>
              <a:t>pthread_create</a:t>
            </a:r>
            <a:r>
              <a:rPr lang="en-US" altLang="zh-CN" sz="2400" b="1" dirty="0">
                <a:solidFill>
                  <a:srgbClr val="C00000"/>
                </a:solidFill>
                <a:ea typeface="宋体" panose="02010600030101010101" pitchFamily="2" charset="-122"/>
              </a:rPr>
              <a:t>(&amp;</a:t>
            </a:r>
            <a:r>
              <a:rPr lang="en-US" altLang="zh-CN" sz="2400" b="1" dirty="0" err="1">
                <a:solidFill>
                  <a:srgbClr val="C00000"/>
                </a:solidFill>
                <a:ea typeface="宋体" panose="02010600030101010101" pitchFamily="2" charset="-122"/>
              </a:rPr>
              <a:t>tid,NULL</a:t>
            </a:r>
            <a:r>
              <a:rPr lang="en-US" altLang="zh-CN" sz="2400" b="1" dirty="0">
                <a:solidFill>
                  <a:srgbClr val="C00000"/>
                </a:solidFill>
                <a:ea typeface="宋体" panose="02010600030101010101" pitchFamily="2" charset="-122"/>
              </a:rPr>
              <a:t>,(void *) </a:t>
            </a:r>
            <a:r>
              <a:rPr lang="en-US" altLang="zh-CN" sz="2400" b="1" dirty="0" err="1">
                <a:solidFill>
                  <a:srgbClr val="C00000"/>
                </a:solidFill>
                <a:ea typeface="宋体" panose="02010600030101010101" pitchFamily="2" charset="-122"/>
              </a:rPr>
              <a:t>childthread,NULL</a:t>
            </a:r>
            <a:r>
              <a:rPr lang="en-US" altLang="zh-CN" sz="2400" b="1" dirty="0">
                <a:solidFill>
                  <a:srgbClr val="C00000"/>
                </a:solidFill>
                <a:ea typeface="宋体" panose="02010600030101010101" pitchFamily="2" charset="-122"/>
              </a:rPr>
              <a:t>);</a:t>
            </a:r>
            <a:endParaRPr lang="en-US" altLang="zh-CN" sz="2400" b="1" dirty="0">
              <a:solidFill>
                <a:srgbClr val="C00000"/>
              </a:solidFill>
              <a:ea typeface="宋体" panose="02010600030101010101" pitchFamily="2" charset="-122"/>
            </a:endParaRPr>
          </a:p>
          <a:p>
            <a:pPr>
              <a:spcBef>
                <a:spcPts val="0"/>
              </a:spcBef>
              <a:buFont typeface="Wingdings" panose="05000000000000000000" pitchFamily="2" charset="2"/>
              <a:buNone/>
              <a:defRPr/>
            </a:pPr>
            <a:r>
              <a:rPr lang="en-US" altLang="zh-CN" sz="2400" dirty="0">
                <a:ea typeface="宋体" panose="02010600030101010101" pitchFamily="2" charset="-122"/>
              </a:rPr>
              <a:t>	</a:t>
            </a:r>
            <a:r>
              <a:rPr lang="en-US" altLang="zh-CN" sz="2400" b="1" dirty="0" err="1">
                <a:solidFill>
                  <a:srgbClr val="C00000"/>
                </a:solidFill>
                <a:ea typeface="宋体" panose="02010600030101010101" pitchFamily="2" charset="-122"/>
              </a:rPr>
              <a:t>pthread_join</a:t>
            </a:r>
            <a:r>
              <a:rPr lang="en-US" altLang="zh-CN" sz="2400" b="1" dirty="0">
                <a:solidFill>
                  <a:srgbClr val="C00000"/>
                </a:solidFill>
                <a:ea typeface="宋体" panose="02010600030101010101" pitchFamily="2" charset="-122"/>
              </a:rPr>
              <a:t>(</a:t>
            </a:r>
            <a:r>
              <a:rPr lang="en-US" altLang="zh-CN" sz="2400" b="1" dirty="0" err="1">
                <a:solidFill>
                  <a:srgbClr val="C00000"/>
                </a:solidFill>
                <a:ea typeface="宋体" panose="02010600030101010101" pitchFamily="2" charset="-122"/>
              </a:rPr>
              <a:t>tid,NULL</a:t>
            </a:r>
            <a:r>
              <a:rPr lang="en-US" altLang="zh-CN" sz="2400" b="1" dirty="0">
                <a:solidFill>
                  <a:srgbClr val="C00000"/>
                </a:solidFill>
                <a:ea typeface="宋体" panose="02010600030101010101" pitchFamily="2" charset="-122"/>
              </a:rPr>
              <a:t>);</a:t>
            </a:r>
            <a:endParaRPr lang="en-US" altLang="zh-CN" sz="2400" b="1" dirty="0">
              <a:solidFill>
                <a:srgbClr val="C00000"/>
              </a:solidFill>
              <a:ea typeface="宋体" panose="02010600030101010101" pitchFamily="2" charset="-122"/>
            </a:endParaRPr>
          </a:p>
          <a:p>
            <a:pPr>
              <a:spcBef>
                <a:spcPts val="0"/>
              </a:spcBef>
              <a:buFont typeface="Wingdings" panose="05000000000000000000" pitchFamily="2" charset="2"/>
              <a:buNone/>
              <a:defRPr/>
            </a:pPr>
            <a:r>
              <a:rPr lang="en-US" altLang="zh-CN" sz="2400" dirty="0">
                <a:ea typeface="宋体" panose="02010600030101010101" pitchFamily="2" charset="-122"/>
              </a:rPr>
              <a:t>	</a:t>
            </a:r>
            <a:r>
              <a:rPr lang="en-US" altLang="zh-CN" sz="2400" dirty="0" err="1"/>
              <a:t>printf</a:t>
            </a:r>
            <a:r>
              <a:rPr lang="en-US" altLang="zh-CN" sz="2400" dirty="0"/>
              <a:t>(“</a:t>
            </a:r>
            <a:r>
              <a:rPr lang="en-US" altLang="zh-CN" sz="2400" dirty="0" err="1"/>
              <a:t>childthread</a:t>
            </a:r>
            <a:r>
              <a:rPr lang="en-US" altLang="zh-CN" sz="2400" dirty="0"/>
              <a:t> exit\n”); }</a:t>
            </a:r>
            <a:endParaRPr lang="zh-CN" altLang="en-US" sz="2400" dirty="0"/>
          </a:p>
        </p:txBody>
      </p:sp>
      <p:sp>
        <p:nvSpPr>
          <p:cNvPr id="37890"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6E3EAE-20EE-4F71-AEAF-99DFC9C05CBE}" type="slidenum">
              <a:rPr lang="en-US" altLang="zh-CN" sz="1400" smtClean="0"/>
            </a:fld>
            <a:endParaRPr lang="en-US" altLang="zh-CN" sz="1400"/>
          </a:p>
        </p:txBody>
      </p:sp>
      <p:sp>
        <p:nvSpPr>
          <p:cNvPr id="37891" name="副标题 1"/>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创建并等待子线程代码示例</a:t>
            </a:r>
            <a:endParaRPr lang="zh-CN" altLang="en-US">
              <a:latin typeface="微软雅黑" panose="020B0503020204020204" pitchFamily="34" charset="-122"/>
              <a:ea typeface="微软雅黑" panose="020B0503020204020204" pitchFamily="34" charset="-122"/>
            </a:endParaRPr>
          </a:p>
        </p:txBody>
      </p:sp>
      <p:sp>
        <p:nvSpPr>
          <p:cNvPr id="37892"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Grp="1" noChangeArrowheads="1"/>
          </p:cNvSpPr>
          <p:nvPr>
            <p:ph idx="1"/>
          </p:nvPr>
        </p:nvSpPr>
        <p:spPr>
          <a:xfrm>
            <a:off x="446088" y="1714500"/>
            <a:ext cx="5349875" cy="4411663"/>
          </a:xfrm>
        </p:spPr>
        <p:txBody>
          <a:bodyPr/>
          <a:lstStyle/>
          <a:p>
            <a:pPr eaLnBrk="1" hangingPunct="1">
              <a:lnSpc>
                <a:spcPct val="130000"/>
              </a:lnSpc>
              <a:spcBef>
                <a:spcPct val="0"/>
              </a:spcBef>
            </a:pPr>
            <a:r>
              <a:rPr lang="zh-CN" altLang="zh-CN" sz="2400">
                <a:latin typeface="微软雅黑" panose="020B0503020204020204" pitchFamily="34" charset="-122"/>
                <a:ea typeface="微软雅黑" panose="020B0503020204020204" pitchFamily="34" charset="-122"/>
              </a:rPr>
              <a:t>确保同一时间里只有一个线程访问</a:t>
            </a:r>
            <a:r>
              <a:rPr lang="zh-CN" altLang="en-US" sz="2400">
                <a:latin typeface="微软雅黑" panose="020B0503020204020204" pitchFamily="34" charset="-122"/>
                <a:ea typeface="微软雅黑" panose="020B0503020204020204" pitchFamily="34" charset="-122"/>
              </a:rPr>
              <a:t>共享资源或临界区域</a:t>
            </a:r>
            <a:endParaRPr lang="zh-CN" altLang="zh-CN" sz="2400">
              <a:latin typeface="微软雅黑" panose="020B0503020204020204" pitchFamily="34" charset="-122"/>
              <a:ea typeface="微软雅黑" panose="020B0503020204020204" pitchFamily="34" charset="-122"/>
            </a:endParaRPr>
          </a:p>
          <a:p>
            <a:pPr eaLnBrk="1" hangingPunct="1">
              <a:lnSpc>
                <a:spcPct val="130000"/>
              </a:lnSpc>
              <a:spcBef>
                <a:spcPct val="0"/>
              </a:spcBef>
            </a:pPr>
            <a:r>
              <a:rPr lang="zh-CN" altLang="zh-CN" sz="2400">
                <a:latin typeface="微软雅黑" panose="020B0503020204020204" pitchFamily="34" charset="-122"/>
                <a:ea typeface="微软雅黑" panose="020B0503020204020204" pitchFamily="34" charset="-122"/>
              </a:rPr>
              <a:t>互斥量</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mutex</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本质上是一把锁</a:t>
            </a:r>
            <a:endParaRPr lang="zh-CN" altLang="zh-CN" sz="2400">
              <a:latin typeface="微软雅黑" panose="020B0503020204020204" pitchFamily="34" charset="-122"/>
              <a:ea typeface="微软雅黑" panose="020B0503020204020204" pitchFamily="34" charset="-122"/>
            </a:endParaRPr>
          </a:p>
          <a:p>
            <a:pPr lvl="1" eaLnBrk="1" hangingPunct="1">
              <a:lnSpc>
                <a:spcPct val="130000"/>
              </a:lnSpc>
              <a:spcBef>
                <a:spcPct val="0"/>
              </a:spcBef>
            </a:pPr>
            <a:r>
              <a:rPr lang="zh-CN" altLang="zh-CN">
                <a:latin typeface="微软雅黑" panose="020B0503020204020204" pitchFamily="34" charset="-122"/>
                <a:ea typeface="微软雅黑" panose="020B0503020204020204" pitchFamily="34" charset="-122"/>
              </a:rPr>
              <a:t>在访问共享</a:t>
            </a:r>
            <a:r>
              <a:rPr lang="zh-CN" altLang="en-US">
                <a:latin typeface="微软雅黑" panose="020B0503020204020204" pitchFamily="34" charset="-122"/>
                <a:ea typeface="微软雅黑" panose="020B0503020204020204" pitchFamily="34" charset="-122"/>
              </a:rPr>
              <a:t>资源后临界区域</a:t>
            </a:r>
            <a:r>
              <a:rPr lang="zh-CN" altLang="zh-CN">
                <a:latin typeface="微软雅黑" panose="020B0503020204020204" pitchFamily="34" charset="-122"/>
                <a:ea typeface="微软雅黑" panose="020B0503020204020204" pitchFamily="34" charset="-122"/>
              </a:rPr>
              <a:t>前，</a:t>
            </a:r>
            <a:r>
              <a:rPr lang="zh-CN" altLang="zh-CN" b="1">
                <a:solidFill>
                  <a:srgbClr val="C00000"/>
                </a:solidFill>
                <a:latin typeface="微软雅黑" panose="020B0503020204020204" pitchFamily="34" charset="-122"/>
                <a:ea typeface="微软雅黑" panose="020B0503020204020204" pitchFamily="34" charset="-122"/>
              </a:rPr>
              <a:t>对互斥量进行加锁</a:t>
            </a:r>
            <a:endParaRPr lang="zh-CN" altLang="zh-CN" b="1">
              <a:solidFill>
                <a:srgbClr val="C00000"/>
              </a:solidFill>
              <a:latin typeface="微软雅黑" panose="020B0503020204020204" pitchFamily="34" charset="-122"/>
              <a:ea typeface="微软雅黑" panose="020B0503020204020204" pitchFamily="34" charset="-122"/>
            </a:endParaRPr>
          </a:p>
          <a:p>
            <a:pPr lvl="1" eaLnBrk="1" hangingPunct="1">
              <a:lnSpc>
                <a:spcPct val="130000"/>
              </a:lnSpc>
              <a:spcBef>
                <a:spcPct val="0"/>
              </a:spcBef>
            </a:pPr>
            <a:r>
              <a:rPr lang="zh-CN" altLang="zh-CN">
                <a:latin typeface="微软雅黑" panose="020B0503020204020204" pitchFamily="34" charset="-122"/>
                <a:ea typeface="微软雅黑" panose="020B0503020204020204" pitchFamily="34" charset="-122"/>
              </a:rPr>
              <a:t>在访问完成后</a:t>
            </a:r>
            <a:r>
              <a:rPr lang="zh-CN" altLang="zh-CN" b="1">
                <a:solidFill>
                  <a:srgbClr val="C00000"/>
                </a:solidFill>
                <a:latin typeface="微软雅黑" panose="020B0503020204020204" pitchFamily="34" charset="-122"/>
                <a:ea typeface="微软雅黑" panose="020B0503020204020204" pitchFamily="34" charset="-122"/>
              </a:rPr>
              <a:t>释放互斥量上的锁</a:t>
            </a:r>
            <a:endParaRPr lang="zh-CN" altLang="zh-CN" b="1">
              <a:solidFill>
                <a:srgbClr val="C00000"/>
              </a:solidFill>
              <a:latin typeface="微软雅黑" panose="020B0503020204020204" pitchFamily="34" charset="-122"/>
              <a:ea typeface="微软雅黑" panose="020B0503020204020204" pitchFamily="34" charset="-122"/>
            </a:endParaRPr>
          </a:p>
          <a:p>
            <a:pPr lvl="1" eaLnBrk="1" hangingPunct="1">
              <a:lnSpc>
                <a:spcPct val="130000"/>
              </a:lnSpc>
              <a:spcBef>
                <a:spcPct val="0"/>
              </a:spcBef>
            </a:pPr>
            <a:r>
              <a:rPr lang="zh-CN" altLang="zh-CN">
                <a:latin typeface="微软雅黑" panose="020B0503020204020204" pitchFamily="34" charset="-122"/>
                <a:ea typeface="微软雅黑" panose="020B0503020204020204" pitchFamily="34" charset="-122"/>
              </a:rPr>
              <a:t>对互斥量进行加锁后，任何其他试图再次对互斥量加锁的线程将会被阻塞，直到锁被释放</a:t>
            </a:r>
            <a:endParaRPr lang="zh-CN" altLang="zh-CN">
              <a:latin typeface="微软雅黑" panose="020B0503020204020204" pitchFamily="34" charset="-122"/>
              <a:ea typeface="微软雅黑" panose="020B0503020204020204" pitchFamily="34" charset="-122"/>
            </a:endParaRPr>
          </a:p>
        </p:txBody>
      </p:sp>
      <p:sp>
        <p:nvSpPr>
          <p:cNvPr id="38914"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9F7B3D3-C123-45D2-93F7-5BB438D39D3F}" type="datetime2">
              <a:rPr lang="zh-CN" altLang="en-US" sz="1400" smtClean="0"/>
            </a:fld>
            <a:endParaRPr lang="zh-CN" altLang="zh-CN" sz="1400"/>
          </a:p>
        </p:txBody>
      </p:sp>
      <p:sp>
        <p:nvSpPr>
          <p:cNvPr id="38915"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355F92-0790-4177-8358-9F573879371F}" type="slidenum">
              <a:rPr lang="zh-CN" altLang="zh-CN" sz="1400" smtClean="0"/>
            </a:fld>
            <a:endParaRPr lang="zh-CN" altLang="zh-CN" sz="1400"/>
          </a:p>
        </p:txBody>
      </p:sp>
      <p:sp>
        <p:nvSpPr>
          <p:cNvPr id="38916"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a:t>
            </a:r>
            <a:endParaRPr lang="zh-CN" altLang="en-US">
              <a:latin typeface="微软雅黑" panose="020B0503020204020204" pitchFamily="34" charset="-122"/>
              <a:ea typeface="微软雅黑" panose="020B0503020204020204" pitchFamily="34" charset="-122"/>
            </a:endParaRPr>
          </a:p>
        </p:txBody>
      </p:sp>
      <p:pic>
        <p:nvPicPr>
          <p:cNvPr id="38917"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51500" y="1881188"/>
            <a:ext cx="324167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noChangeArrowheads="1"/>
          </p:cNvSpPr>
          <p:nvPr>
            <p:ph idx="1"/>
          </p:nvPr>
        </p:nvSpPr>
        <p:spPr>
          <a:xfrm>
            <a:off x="457200" y="1714500"/>
            <a:ext cx="8605838" cy="4411663"/>
          </a:xfrm>
        </p:spPr>
        <p:txBody>
          <a:bodyPr/>
          <a:lstStyle/>
          <a:p>
            <a:pPr eaLnBrk="1" hangingPunct="1"/>
            <a:r>
              <a:rPr lang="zh-CN" altLang="en-US">
                <a:latin typeface="微软雅黑" panose="020B0503020204020204" pitchFamily="34" charset="-122"/>
                <a:ea typeface="微软雅黑" panose="020B0503020204020204" pitchFamily="34" charset="-122"/>
              </a:rPr>
              <a:t>静态初始化</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sz="2300" b="1">
                <a:solidFill>
                  <a:srgbClr val="00B050"/>
                </a:solidFill>
                <a:latin typeface="微软雅黑" panose="020B0503020204020204" pitchFamily="34" charset="-122"/>
                <a:ea typeface="微软雅黑" panose="020B0503020204020204" pitchFamily="34" charset="-122"/>
              </a:rPr>
              <a:t>pthread_mutex_t mlock = PTHREAD_MUTEX_INITIALIZER</a:t>
            </a:r>
            <a:endParaRPr lang="en-US" altLang="zh-CN" sz="2300" b="1">
              <a:solidFill>
                <a:srgbClr val="00B050"/>
              </a:solidFill>
              <a:latin typeface="微软雅黑" panose="020B0503020204020204" pitchFamily="34" charset="-122"/>
              <a:ea typeface="微软雅黑" panose="020B0503020204020204" pitchFamily="34" charset="-122"/>
            </a:endParaRPr>
          </a:p>
          <a:p>
            <a:pPr lvl="1" eaLnBrk="1" hangingPunct="1">
              <a:lnSpc>
                <a:spcPct val="90000"/>
              </a:lnSpc>
              <a:buFont typeface="Wingdings" panose="05000000000000000000" pitchFamily="2" charset="2"/>
              <a:buNone/>
            </a:pPr>
            <a:endParaRPr lang="zh-CN" altLang="zh-CN">
              <a:latin typeface="微软雅黑" panose="020B0503020204020204" pitchFamily="34" charset="-122"/>
              <a:ea typeface="微软雅黑" panose="020B0503020204020204" pitchFamily="34" charset="-122"/>
            </a:endParaRPr>
          </a:p>
        </p:txBody>
      </p:sp>
      <p:sp>
        <p:nvSpPr>
          <p:cNvPr id="39938"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E03A998-D0DE-4445-A01B-4CECA2CE5DD1}" type="datetime2">
              <a:rPr lang="zh-CN" altLang="en-US" sz="1400" smtClean="0"/>
            </a:fld>
            <a:endParaRPr lang="zh-CN" altLang="zh-CN" sz="1400"/>
          </a:p>
        </p:txBody>
      </p:sp>
      <p:sp>
        <p:nvSpPr>
          <p:cNvPr id="39939"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AC1A263-C155-4098-B086-A9DA6545E543}" type="slidenum">
              <a:rPr lang="zh-CN" altLang="zh-CN" sz="1400" smtClean="0"/>
            </a:fld>
            <a:endParaRPr lang="zh-CN" altLang="zh-CN" sz="1400"/>
          </a:p>
        </p:txBody>
      </p:sp>
      <p:sp>
        <p:nvSpPr>
          <p:cNvPr id="39940"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互斥量的初始化</a:t>
            </a:r>
            <a:endParaRPr lang="zh-CN" altLang="en-US">
              <a:latin typeface="微软雅黑" panose="020B0503020204020204" pitchFamily="34" charset="-122"/>
              <a:ea typeface="微软雅黑" panose="020B0503020204020204" pitchFamily="34" charset="-122"/>
            </a:endParaRPr>
          </a:p>
        </p:txBody>
      </p:sp>
      <p:sp>
        <p:nvSpPr>
          <p:cNvPr id="39941"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noChangeArrowheads="1"/>
          </p:cNvSpPr>
          <p:nvPr>
            <p:ph idx="1"/>
          </p:nvPr>
        </p:nvSpPr>
        <p:spPr>
          <a:xfrm>
            <a:off x="457200" y="1714500"/>
            <a:ext cx="8229600" cy="4411663"/>
          </a:xfrm>
        </p:spPr>
        <p:txBody>
          <a:bodyPr/>
          <a:lstStyle/>
          <a:p>
            <a:pPr eaLnBrk="1" hangingPunct="1"/>
            <a:r>
              <a:rPr lang="zh-CN" altLang="en-US">
                <a:latin typeface="微软雅黑" panose="020B0503020204020204" pitchFamily="34" charset="-122"/>
                <a:ea typeface="微软雅黑" panose="020B0503020204020204" pitchFamily="34" charset="-122"/>
              </a:rPr>
              <a:t>动态初始化</a:t>
            </a:r>
            <a:endParaRPr lang="zh-CN" altLang="zh-CN">
              <a:latin typeface="微软雅黑" panose="020B0503020204020204" pitchFamily="34" charset="-122"/>
              <a:ea typeface="微软雅黑" panose="020B0503020204020204" pitchFamily="34" charset="-122"/>
            </a:endParaRPr>
          </a:p>
          <a:p>
            <a:pPr lvl="1" eaLnBrk="1" hangingPunct="1">
              <a:lnSpc>
                <a:spcPct val="90000"/>
              </a:lnSpc>
            </a:pPr>
            <a:r>
              <a:rPr lang="zh-CN" altLang="zh-CN">
                <a:latin typeface="微软雅黑" panose="020B0503020204020204" pitchFamily="34" charset="-122"/>
                <a:ea typeface="微软雅黑" panose="020B0503020204020204" pitchFamily="34" charset="-122"/>
              </a:rPr>
              <a:t>函数原型</a:t>
            </a:r>
            <a:r>
              <a:rPr lang="zh-CN" altLang="en-US">
                <a:latin typeface="微软雅黑" panose="020B0503020204020204" pitchFamily="34" charset="-122"/>
                <a:ea typeface="微软雅黑" panose="020B0503020204020204" pitchFamily="34" charset="-122"/>
              </a:rPr>
              <a:t>（</a:t>
            </a:r>
            <a:r>
              <a:rPr lang="zh-CN" altLang="zh-CN">
                <a:latin typeface="微软雅黑" panose="020B0503020204020204" pitchFamily="34" charset="-122"/>
                <a:ea typeface="微软雅黑" panose="020B0503020204020204" pitchFamily="34" charset="-122"/>
              </a:rPr>
              <a:t>pthread.h</a:t>
            </a:r>
            <a:r>
              <a:rPr lang="zh-CN" altLang="en-US">
                <a:latin typeface="微软雅黑" panose="020B0503020204020204" pitchFamily="34" charset="-122"/>
                <a:ea typeface="微软雅黑" panose="020B0503020204020204" pitchFamily="34" charset="-122"/>
              </a:rPr>
              <a:t>）</a:t>
            </a:r>
            <a:endParaRPr lang="zh-CN" altLang="zh-CN">
              <a:latin typeface="微软雅黑" panose="020B0503020204020204" pitchFamily="34" charset="-122"/>
              <a:ea typeface="微软雅黑" panose="020B0503020204020204" pitchFamily="34" charset="-122"/>
            </a:endParaRPr>
          </a:p>
          <a:p>
            <a:pPr lvl="2" eaLnBrk="1" hangingPunct="1">
              <a:buFont typeface="Wingdings" panose="05000000000000000000" pitchFamily="2" charset="2"/>
              <a:buNone/>
            </a:pPr>
            <a:r>
              <a:rPr lang="zh-CN" altLang="zh-CN" sz="2400" b="1">
                <a:solidFill>
                  <a:srgbClr val="00B050"/>
                </a:solidFill>
                <a:latin typeface="微软雅黑" panose="020B0503020204020204" pitchFamily="34" charset="-122"/>
                <a:ea typeface="微软雅黑" panose="020B0503020204020204" pitchFamily="34" charset="-122"/>
              </a:rPr>
              <a:t>int pthread_mutex_init(pthread_mutex_t *mutex,const pthread_mutexattr_t *attr);</a:t>
            </a:r>
            <a:endParaRPr lang="zh-CN" altLang="zh-CN" sz="2400" b="1">
              <a:solidFill>
                <a:srgbClr val="00B050"/>
              </a:solidFill>
              <a:latin typeface="微软雅黑" panose="020B0503020204020204" pitchFamily="34" charset="-122"/>
              <a:ea typeface="微软雅黑" panose="020B0503020204020204" pitchFamily="34" charset="-122"/>
            </a:endParaRPr>
          </a:p>
          <a:p>
            <a:pPr lvl="1" eaLnBrk="1" hangingPunct="1">
              <a:lnSpc>
                <a:spcPct val="90000"/>
              </a:lnSpc>
            </a:pPr>
            <a:r>
              <a:rPr lang="zh-CN" altLang="zh-CN">
                <a:latin typeface="微软雅黑" panose="020B0503020204020204" pitchFamily="34" charset="-122"/>
                <a:ea typeface="微软雅黑" panose="020B0503020204020204" pitchFamily="34" charset="-122"/>
              </a:rPr>
              <a:t>参数与返回值</a:t>
            </a:r>
            <a:endParaRPr lang="zh-CN" altLang="zh-CN">
              <a:latin typeface="微软雅黑" panose="020B0503020204020204" pitchFamily="34" charset="-122"/>
              <a:ea typeface="微软雅黑" panose="020B0503020204020204" pitchFamily="34" charset="-122"/>
            </a:endParaRPr>
          </a:p>
          <a:p>
            <a:pPr lvl="2" eaLnBrk="1" hangingPunct="1"/>
            <a:r>
              <a:rPr lang="zh-CN" altLang="zh-CN" sz="2400" b="1">
                <a:latin typeface="微软雅黑" panose="020B0503020204020204" pitchFamily="34" charset="-122"/>
                <a:ea typeface="微软雅黑" panose="020B0503020204020204" pitchFamily="34" charset="-122"/>
              </a:rPr>
              <a:t>mutex：</a:t>
            </a:r>
            <a:r>
              <a:rPr lang="zh-CN" altLang="zh-CN" sz="2400">
                <a:latin typeface="微软雅黑" panose="020B0503020204020204" pitchFamily="34" charset="-122"/>
                <a:ea typeface="微软雅黑" panose="020B0503020204020204" pitchFamily="34" charset="-122"/>
              </a:rPr>
              <a:t>即互斥量，类型是pthread_mutex_t</a:t>
            </a:r>
            <a:endParaRPr lang="zh-CN" altLang="zh-CN" sz="2400">
              <a:latin typeface="微软雅黑" panose="020B0503020204020204" pitchFamily="34" charset="-122"/>
              <a:ea typeface="微软雅黑" panose="020B0503020204020204" pitchFamily="34" charset="-122"/>
            </a:endParaRPr>
          </a:p>
          <a:p>
            <a:pPr lvl="2" eaLnBrk="1" hangingPunct="1">
              <a:buFont typeface="Wingdings" panose="05000000000000000000" pitchFamily="2" charset="2"/>
              <a:buNone/>
            </a:pPr>
            <a:r>
              <a:rPr lang="zh-CN" altLang="zh-CN" sz="2400">
                <a:latin typeface="微软雅黑" panose="020B0503020204020204" pitchFamily="34" charset="-122"/>
                <a:ea typeface="微软雅黑" panose="020B0503020204020204" pitchFamily="34" charset="-122"/>
              </a:rPr>
              <a:t>			注意：mutex必须指向有效的内存区域</a:t>
            </a:r>
            <a:endParaRPr lang="en-US" altLang="zh-CN" sz="2400">
              <a:latin typeface="微软雅黑" panose="020B0503020204020204" pitchFamily="34" charset="-122"/>
              <a:ea typeface="微软雅黑" panose="020B0503020204020204" pitchFamily="34" charset="-122"/>
            </a:endParaRPr>
          </a:p>
          <a:p>
            <a:pPr lvl="2" eaLnBrk="1" hangingPunct="1"/>
            <a:r>
              <a:rPr lang="zh-CN" altLang="zh-CN" sz="2400" b="1">
                <a:latin typeface="微软雅黑" panose="020B0503020204020204" pitchFamily="34" charset="-122"/>
                <a:ea typeface="微软雅黑" panose="020B0503020204020204" pitchFamily="34" charset="-122"/>
              </a:rPr>
              <a:t>attr：</a:t>
            </a:r>
            <a:r>
              <a:rPr lang="zh-CN" altLang="zh-CN" sz="2400">
                <a:latin typeface="微软雅黑" panose="020B0503020204020204" pitchFamily="34" charset="-122"/>
                <a:ea typeface="微软雅黑" panose="020B0503020204020204" pitchFamily="34" charset="-122"/>
              </a:rPr>
              <a:t>设置互斥量的属性，通常可采用默认属性，即可将attr设为NULL。</a:t>
            </a:r>
            <a:endParaRPr lang="zh-CN" altLang="zh-CN" sz="2400">
              <a:latin typeface="微软雅黑" panose="020B0503020204020204" pitchFamily="34" charset="-122"/>
              <a:ea typeface="微软雅黑" panose="020B0503020204020204" pitchFamily="34" charset="-122"/>
            </a:endParaRPr>
          </a:p>
          <a:p>
            <a:pPr lvl="2" eaLnBrk="1" hangingPunct="1"/>
            <a:r>
              <a:rPr lang="zh-CN" altLang="zh-CN" sz="2400">
                <a:latin typeface="微软雅黑" panose="020B0503020204020204" pitchFamily="34" charset="-122"/>
                <a:ea typeface="微软雅黑" panose="020B0503020204020204" pitchFamily="34" charset="-122"/>
              </a:rPr>
              <a:t>成功返回0，出错返回错误码</a:t>
            </a:r>
            <a:endParaRPr lang="zh-CN" altLang="zh-CN" sz="2400">
              <a:latin typeface="微软雅黑" panose="020B0503020204020204" pitchFamily="34" charset="-122"/>
              <a:ea typeface="微软雅黑" panose="020B0503020204020204" pitchFamily="34" charset="-122"/>
            </a:endParaRPr>
          </a:p>
          <a:p>
            <a:pPr lvl="1" eaLnBrk="1" hangingPunct="1">
              <a:lnSpc>
                <a:spcPct val="90000"/>
              </a:lnSpc>
              <a:buFont typeface="Wingdings" panose="05000000000000000000" pitchFamily="2" charset="2"/>
              <a:buNone/>
            </a:pPr>
            <a:endParaRPr lang="zh-CN" altLang="zh-CN" sz="2000">
              <a:latin typeface="微软雅黑" panose="020B0503020204020204" pitchFamily="34" charset="-122"/>
              <a:ea typeface="微软雅黑" panose="020B0503020204020204" pitchFamily="34" charset="-122"/>
            </a:endParaRPr>
          </a:p>
        </p:txBody>
      </p:sp>
      <p:sp>
        <p:nvSpPr>
          <p:cNvPr id="40962"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33BE2C9-3252-40CD-90A5-C20C981F3622}" type="datetime2">
              <a:rPr lang="zh-CN" altLang="en-US" sz="1400" smtClean="0"/>
            </a:fld>
            <a:endParaRPr lang="zh-CN" altLang="zh-CN" sz="1400"/>
          </a:p>
        </p:txBody>
      </p:sp>
      <p:sp>
        <p:nvSpPr>
          <p:cNvPr id="40963"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1F6F626-6F6C-48A8-A32D-1D572D6E4C0E}" type="slidenum">
              <a:rPr lang="zh-CN" altLang="zh-CN" sz="1400" smtClean="0"/>
            </a:fld>
            <a:endParaRPr lang="zh-CN" altLang="zh-CN" sz="1400"/>
          </a:p>
        </p:txBody>
      </p:sp>
      <p:sp>
        <p:nvSpPr>
          <p:cNvPr id="40964"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互斥量的初始化</a:t>
            </a:r>
            <a:endParaRPr lang="zh-CN" altLang="en-US">
              <a:latin typeface="微软雅黑" panose="020B0503020204020204" pitchFamily="34" charset="-122"/>
              <a:ea typeface="微软雅黑" panose="020B0503020204020204" pitchFamily="34" charset="-122"/>
            </a:endParaRPr>
          </a:p>
        </p:txBody>
      </p:sp>
      <p:sp>
        <p:nvSpPr>
          <p:cNvPr id="40965"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noChangeArrowheads="1"/>
          </p:cNvSpPr>
          <p:nvPr>
            <p:ph idx="1"/>
          </p:nvPr>
        </p:nvSpPr>
        <p:spPr>
          <a:xfrm>
            <a:off x="457200" y="1714500"/>
            <a:ext cx="8605838" cy="4411663"/>
          </a:xfrm>
        </p:spPr>
        <p:txBody>
          <a:bodyPr/>
          <a:lstStyle/>
          <a:p>
            <a:pPr eaLnBrk="1" hangingPunct="1">
              <a:lnSpc>
                <a:spcPct val="130000"/>
              </a:lnSpc>
            </a:pPr>
            <a:r>
              <a:rPr lang="zh-CN" altLang="zh-CN" sz="2400">
                <a:latin typeface="微软雅黑" panose="020B0503020204020204" pitchFamily="34" charset="-122"/>
                <a:ea typeface="微软雅黑" panose="020B0503020204020204" pitchFamily="34" charset="-122"/>
              </a:rPr>
              <a:t>互斥量在使用完毕后，必须要对互斥量进行销毁，以释放资源</a:t>
            </a:r>
            <a:endParaRPr lang="zh-CN" altLang="zh-CN" sz="2400">
              <a:latin typeface="微软雅黑" panose="020B0503020204020204" pitchFamily="34" charset="-122"/>
              <a:ea typeface="微软雅黑" panose="020B0503020204020204" pitchFamily="34" charset="-122"/>
            </a:endParaRPr>
          </a:p>
          <a:p>
            <a:pPr eaLnBrk="1" hangingPunct="1">
              <a:lnSpc>
                <a:spcPct val="130000"/>
              </a:lnSpc>
            </a:pPr>
            <a:r>
              <a:rPr lang="zh-CN" altLang="zh-CN" sz="2400">
                <a:latin typeface="微软雅黑" panose="020B0503020204020204" pitchFamily="34" charset="-122"/>
                <a:ea typeface="微软雅黑" panose="020B0503020204020204" pitchFamily="34" charset="-122"/>
              </a:rPr>
              <a:t>函数原型</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pthread.h</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lnSpc>
                <a:spcPct val="130000"/>
              </a:lnSpc>
              <a:buFont typeface="Wingdings" panose="05000000000000000000" pitchFamily="2" charset="2"/>
              <a:buNone/>
            </a:pPr>
            <a:r>
              <a:rPr lang="zh-CN" altLang="zh-CN" sz="2400" b="1">
                <a:solidFill>
                  <a:srgbClr val="00B050"/>
                </a:solidFill>
                <a:latin typeface="微软雅黑" panose="020B0503020204020204" pitchFamily="34" charset="-122"/>
                <a:ea typeface="微软雅黑" panose="020B0503020204020204" pitchFamily="34" charset="-122"/>
              </a:rPr>
              <a:t>int pthread_mutex_destroy(pthread_mutex_t *mutex);</a:t>
            </a:r>
            <a:endParaRPr lang="zh-CN" altLang="zh-CN" sz="2400" b="1">
              <a:solidFill>
                <a:srgbClr val="00B050"/>
              </a:solidFill>
              <a:latin typeface="微软雅黑" panose="020B0503020204020204" pitchFamily="34" charset="-122"/>
              <a:ea typeface="微软雅黑" panose="020B0503020204020204" pitchFamily="34" charset="-122"/>
            </a:endParaRPr>
          </a:p>
          <a:p>
            <a:pPr eaLnBrk="1" hangingPunct="1">
              <a:lnSpc>
                <a:spcPct val="130000"/>
              </a:lnSpc>
            </a:pPr>
            <a:r>
              <a:rPr lang="zh-CN" altLang="zh-CN" sz="2400">
                <a:latin typeface="微软雅黑" panose="020B0503020204020204" pitchFamily="34" charset="-122"/>
                <a:ea typeface="微软雅黑" panose="020B0503020204020204" pitchFamily="34" charset="-122"/>
              </a:rPr>
              <a:t>参数与返回值</a:t>
            </a:r>
            <a:endParaRPr lang="zh-CN" altLang="zh-CN" sz="2400">
              <a:latin typeface="微软雅黑" panose="020B0503020204020204" pitchFamily="34" charset="-122"/>
              <a:ea typeface="微软雅黑" panose="020B0503020204020204" pitchFamily="34" charset="-122"/>
            </a:endParaRPr>
          </a:p>
          <a:p>
            <a:pPr lvl="1" eaLnBrk="1" hangingPunct="1">
              <a:lnSpc>
                <a:spcPct val="130000"/>
              </a:lnSpc>
            </a:pPr>
            <a:r>
              <a:rPr lang="zh-CN" altLang="zh-CN">
                <a:latin typeface="微软雅黑" panose="020B0503020204020204" pitchFamily="34" charset="-122"/>
                <a:ea typeface="微软雅黑" panose="020B0503020204020204" pitchFamily="34" charset="-122"/>
              </a:rPr>
              <a:t>mutex：即互斥量</a:t>
            </a:r>
            <a:endParaRPr lang="zh-CN" altLang="zh-CN">
              <a:latin typeface="微软雅黑" panose="020B0503020204020204" pitchFamily="34" charset="-122"/>
              <a:ea typeface="微软雅黑" panose="020B0503020204020204" pitchFamily="34" charset="-122"/>
            </a:endParaRPr>
          </a:p>
          <a:p>
            <a:pPr lvl="1" eaLnBrk="1" hangingPunct="1">
              <a:lnSpc>
                <a:spcPct val="130000"/>
              </a:lnSpc>
            </a:pPr>
            <a:r>
              <a:rPr lang="zh-CN" altLang="zh-CN">
                <a:latin typeface="微软雅黑" panose="020B0503020204020204" pitchFamily="34" charset="-122"/>
                <a:ea typeface="微软雅黑" panose="020B0503020204020204" pitchFamily="34" charset="-122"/>
              </a:rPr>
              <a:t>成功返回0，出错返回错误码</a:t>
            </a:r>
            <a:endParaRPr lang="zh-CN" altLang="zh-CN">
              <a:latin typeface="微软雅黑" panose="020B0503020204020204" pitchFamily="34" charset="-122"/>
              <a:ea typeface="微软雅黑" panose="020B0503020204020204" pitchFamily="34" charset="-122"/>
            </a:endParaRPr>
          </a:p>
        </p:txBody>
      </p:sp>
      <p:sp>
        <p:nvSpPr>
          <p:cNvPr id="41986"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999B1A6-356E-489C-AEE2-59A65D026996}" type="datetime2">
              <a:rPr lang="zh-CN" altLang="en-US" sz="1400" smtClean="0"/>
            </a:fld>
            <a:endParaRPr lang="zh-CN" altLang="zh-CN" sz="1400"/>
          </a:p>
        </p:txBody>
      </p:sp>
      <p:sp>
        <p:nvSpPr>
          <p:cNvPr id="41987"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5B26344-CD04-429F-97F8-A568655DC87D}" type="slidenum">
              <a:rPr lang="zh-CN" altLang="zh-CN" sz="1400" smtClean="0"/>
            </a:fld>
            <a:endParaRPr lang="zh-CN" altLang="zh-CN" sz="1400"/>
          </a:p>
        </p:txBody>
      </p:sp>
      <p:sp>
        <p:nvSpPr>
          <p:cNvPr id="41988"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互斥量的销毁</a:t>
            </a:r>
            <a:endParaRPr lang="zh-CN" altLang="en-US">
              <a:latin typeface="微软雅黑" panose="020B0503020204020204" pitchFamily="34" charset="-122"/>
              <a:ea typeface="微软雅黑" panose="020B0503020204020204" pitchFamily="34" charset="-122"/>
            </a:endParaRPr>
          </a:p>
        </p:txBody>
      </p:sp>
      <p:sp>
        <p:nvSpPr>
          <p:cNvPr id="41989"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714500"/>
            <a:ext cx="8229600" cy="4411663"/>
          </a:xfrm>
        </p:spPr>
        <p:txBody>
          <a:bodyPr/>
          <a:lstStyle/>
          <a:p>
            <a:pPr marL="0" indent="0">
              <a:lnSpc>
                <a:spcPct val="130000"/>
              </a:lnSpc>
              <a:buFontTx/>
              <a:buNone/>
            </a:pPr>
            <a:r>
              <a:rPr lang="zh-CN" altLang="en-US" sz="2600">
                <a:latin typeface="微软雅黑" panose="020B0503020204020204" pitchFamily="34" charset="-122"/>
                <a:ea typeface="微软雅黑" panose="020B0503020204020204" pitchFamily="34" charset="-122"/>
              </a:rPr>
              <a:t>在销毁互斥量的过程中需要注意几个问题：</a:t>
            </a:r>
            <a:endParaRPr lang="zh-CN" altLang="en-US" sz="2600">
              <a:latin typeface="微软雅黑" panose="020B0503020204020204" pitchFamily="34" charset="-122"/>
              <a:ea typeface="微软雅黑" panose="020B0503020204020204" pitchFamily="34" charset="-122"/>
            </a:endParaRPr>
          </a:p>
          <a:p>
            <a:pPr marL="0" indent="0">
              <a:lnSpc>
                <a:spcPct val="130000"/>
              </a:lnSpc>
              <a:buFont typeface="宋体" panose="02010600030101010101" pitchFamily="2" charset="-122"/>
              <a:buAutoNum type="circleNumDbPlain"/>
            </a:pPr>
            <a:r>
              <a:rPr lang="zh-CN" altLang="en-US" sz="2600">
                <a:latin typeface="微软雅黑" panose="020B0503020204020204" pitchFamily="34" charset="-122"/>
                <a:ea typeface="微软雅黑" panose="020B0503020204020204" pitchFamily="34" charset="-122"/>
              </a:rPr>
              <a:t>使用</a:t>
            </a:r>
            <a:r>
              <a:rPr lang="en-US" altLang="zh-CN" sz="2600">
                <a:latin typeface="微软雅黑" panose="020B0503020204020204" pitchFamily="34" charset="-122"/>
                <a:ea typeface="微软雅黑" panose="020B0503020204020204" pitchFamily="34" charset="-122"/>
              </a:rPr>
              <a:t>PTHREAD_ MUTEX_ INITIALIZER</a:t>
            </a:r>
            <a:r>
              <a:rPr lang="zh-CN" altLang="en-US" sz="2600">
                <a:latin typeface="微软雅黑" panose="020B0503020204020204" pitchFamily="34" charset="-122"/>
                <a:ea typeface="微软雅黑" panose="020B0503020204020204" pitchFamily="34" charset="-122"/>
              </a:rPr>
              <a:t>初始化的互斥量不需要销毁 （即静态分配）</a:t>
            </a:r>
            <a:endParaRPr lang="en-US" altLang="zh-CN" sz="2600">
              <a:latin typeface="微软雅黑" panose="020B0503020204020204" pitchFamily="34" charset="-122"/>
              <a:ea typeface="微软雅黑" panose="020B0503020204020204" pitchFamily="34" charset="-122"/>
            </a:endParaRPr>
          </a:p>
          <a:p>
            <a:pPr marL="0" indent="0">
              <a:lnSpc>
                <a:spcPct val="130000"/>
              </a:lnSpc>
              <a:buFont typeface="宋体" panose="02010600030101010101" pitchFamily="2" charset="-122"/>
              <a:buAutoNum type="circleNumDbPlain"/>
            </a:pPr>
            <a:r>
              <a:rPr lang="zh-CN" altLang="en-US" sz="2600">
                <a:latin typeface="微软雅黑" panose="020B0503020204020204" pitchFamily="34" charset="-122"/>
                <a:ea typeface="微软雅黑" panose="020B0503020204020204" pitchFamily="34" charset="-122"/>
              </a:rPr>
              <a:t>不要销毁一个已经加锁的互斥量</a:t>
            </a:r>
            <a:endParaRPr lang="en-US" altLang="zh-CN" sz="2600">
              <a:latin typeface="微软雅黑" panose="020B0503020204020204" pitchFamily="34" charset="-122"/>
              <a:ea typeface="微软雅黑" panose="020B0503020204020204" pitchFamily="34" charset="-122"/>
            </a:endParaRPr>
          </a:p>
          <a:p>
            <a:pPr marL="0" indent="0">
              <a:lnSpc>
                <a:spcPct val="130000"/>
              </a:lnSpc>
              <a:buFont typeface="宋体" panose="02010600030101010101" pitchFamily="2" charset="-122"/>
              <a:buAutoNum type="circleNumDbPlain"/>
            </a:pPr>
            <a:r>
              <a:rPr lang="zh-CN" altLang="en-US" sz="2600">
                <a:latin typeface="微软雅黑" panose="020B0503020204020204" pitchFamily="34" charset="-122"/>
                <a:ea typeface="微软雅黑" panose="020B0503020204020204" pitchFamily="34" charset="-122"/>
              </a:rPr>
              <a:t>已经销毁的互斥量，要确保后面不会有线程再尝试加锁</a:t>
            </a:r>
            <a:endParaRPr lang="zh-CN" altLang="en-US" sz="2600">
              <a:latin typeface="微软雅黑" panose="020B0503020204020204" pitchFamily="34" charset="-122"/>
              <a:ea typeface="微软雅黑" panose="020B0503020204020204" pitchFamily="34" charset="-122"/>
            </a:endParaRPr>
          </a:p>
          <a:p>
            <a:pPr marL="0" indent="0">
              <a:lnSpc>
                <a:spcPct val="130000"/>
              </a:lnSpc>
            </a:pPr>
            <a:endParaRPr kumimoji="1" lang="zh-CN" altLang="en-US" sz="2600">
              <a:latin typeface="微软雅黑" panose="020B0503020204020204" pitchFamily="34" charset="-122"/>
              <a:ea typeface="微软雅黑" panose="020B0503020204020204" pitchFamily="34" charset="-122"/>
            </a:endParaRPr>
          </a:p>
        </p:txBody>
      </p:sp>
      <p:sp>
        <p:nvSpPr>
          <p:cNvPr id="44034" name="副标题 3"/>
          <p:cNvSpPr>
            <a:spLocks noGrp="1" noChangeArrowheads="1"/>
          </p:cNvSpPr>
          <p:nvPr>
            <p:ph type="subTitle" idx="13"/>
          </p:nvPr>
        </p:nvSpPr>
        <p:spPr>
          <a:xfrm>
            <a:off x="1014413" y="1052513"/>
            <a:ext cx="6400800" cy="542925"/>
          </a:xfrm>
        </p:spPr>
        <p:txBody>
          <a:bodyPr/>
          <a:lstStyle/>
          <a:p>
            <a:r>
              <a:rPr kumimoji="1" lang="zh-CN" altLang="en-US">
                <a:latin typeface="微软雅黑" panose="020B0503020204020204" pitchFamily="34" charset="-122"/>
                <a:ea typeface="微软雅黑" panose="020B0503020204020204" pitchFamily="34" charset="-122"/>
              </a:rPr>
              <a:t>互斥量的销毁</a:t>
            </a:r>
            <a:endParaRPr kumimoji="1" lang="zh-CN" altLang="en-US">
              <a:latin typeface="微软雅黑" panose="020B0503020204020204" pitchFamily="34" charset="-122"/>
              <a:ea typeface="微软雅黑" panose="020B0503020204020204" pitchFamily="34" charset="-122"/>
            </a:endParaRPr>
          </a:p>
        </p:txBody>
      </p:sp>
      <p:sp>
        <p:nvSpPr>
          <p:cNvPr id="44035"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noChangeArrowheads="1"/>
          </p:cNvSpPr>
          <p:nvPr>
            <p:ph idx="1"/>
          </p:nvPr>
        </p:nvSpPr>
        <p:spPr>
          <a:xfrm>
            <a:off x="201613" y="1595438"/>
            <a:ext cx="8740775" cy="4411662"/>
          </a:xfrm>
        </p:spPr>
        <p:txBody>
          <a:bodyPr/>
          <a:lstStyle/>
          <a:p>
            <a:pPr eaLnBrk="1" hangingPunct="1">
              <a:lnSpc>
                <a:spcPct val="150000"/>
              </a:lnSpc>
            </a:pPr>
            <a:r>
              <a:rPr lang="zh-CN" altLang="zh-CN" sz="2400">
                <a:latin typeface="微软雅黑" panose="020B0503020204020204" pitchFamily="34" charset="-122"/>
                <a:ea typeface="微软雅黑" panose="020B0503020204020204" pitchFamily="34" charset="-122"/>
              </a:rPr>
              <a:t>在对共享资源访问之前和访问之后，需要对互斥量进行加锁和解锁操作</a:t>
            </a:r>
            <a:endParaRPr lang="en-US" altLang="zh-CN" sz="2400">
              <a:latin typeface="微软雅黑" panose="020B0503020204020204" pitchFamily="34" charset="-122"/>
              <a:ea typeface="微软雅黑" panose="020B0503020204020204" pitchFamily="34" charset="-122"/>
            </a:endParaRPr>
          </a:p>
          <a:p>
            <a:pPr eaLnBrk="1" hangingPunct="1">
              <a:lnSpc>
                <a:spcPct val="150000"/>
              </a:lnSpc>
            </a:pPr>
            <a:r>
              <a:rPr lang="zh-CN" altLang="zh-CN" sz="2400">
                <a:latin typeface="微软雅黑" panose="020B0503020204020204" pitchFamily="34" charset="-122"/>
                <a:ea typeface="微软雅黑" panose="020B0503020204020204" pitchFamily="34" charset="-122"/>
              </a:rPr>
              <a:t>函数原型</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pthread.h</a:t>
            </a:r>
            <a:r>
              <a:rPr lang="zh-CN" altLang="en-US" sz="2400">
                <a:latin typeface="微软雅黑" panose="020B0503020204020204" pitchFamily="34" charset="-122"/>
                <a:ea typeface="微软雅黑" panose="020B0503020204020204" pitchFamily="34" charset="-122"/>
              </a:rPr>
              <a:t>）</a:t>
            </a:r>
            <a:endParaRPr lang="zh-CN" altLang="zh-CN" sz="2400">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None/>
            </a:pPr>
            <a:r>
              <a:rPr lang="zh-CN" altLang="zh-CN" b="1">
                <a:solidFill>
                  <a:srgbClr val="00B050"/>
                </a:solidFill>
                <a:latin typeface="微软雅黑" panose="020B0503020204020204" pitchFamily="34" charset="-122"/>
                <a:ea typeface="微软雅黑" panose="020B0503020204020204" pitchFamily="34" charset="-122"/>
              </a:rPr>
              <a:t>int pthread_mutex_lock(pthread_mutex_t *mutex);</a:t>
            </a:r>
            <a:endParaRPr lang="zh-CN" altLang="zh-CN" b="1">
              <a:solidFill>
                <a:srgbClr val="00B050"/>
              </a:solidFill>
              <a:latin typeface="微软雅黑" panose="020B0503020204020204" pitchFamily="34" charset="-122"/>
              <a:ea typeface="微软雅黑" panose="020B0503020204020204" pitchFamily="34" charset="-122"/>
            </a:endParaRPr>
          </a:p>
          <a:p>
            <a:pPr lvl="1" eaLnBrk="1" hangingPunct="1">
              <a:lnSpc>
                <a:spcPct val="150000"/>
              </a:lnSpc>
              <a:buFont typeface="Wingdings" panose="05000000000000000000" pitchFamily="2" charset="2"/>
              <a:buNone/>
            </a:pPr>
            <a:r>
              <a:rPr lang="en-US" altLang="zh-CN" b="1">
                <a:solidFill>
                  <a:srgbClr val="00B050"/>
                </a:solidFill>
                <a:latin typeface="微软雅黑" panose="020B0503020204020204" pitchFamily="34" charset="-122"/>
                <a:ea typeface="微软雅黑" panose="020B0503020204020204" pitchFamily="34" charset="-122"/>
              </a:rPr>
              <a:t>i</a:t>
            </a:r>
            <a:r>
              <a:rPr lang="zh-CN" altLang="zh-CN" b="1">
                <a:solidFill>
                  <a:srgbClr val="00B050"/>
                </a:solidFill>
                <a:latin typeface="微软雅黑" panose="020B0503020204020204" pitchFamily="34" charset="-122"/>
                <a:ea typeface="微软雅黑" panose="020B0503020204020204" pitchFamily="34" charset="-122"/>
              </a:rPr>
              <a:t>nt pthread_mutex_unlock(pthread_mutex_t *mutex);</a:t>
            </a:r>
            <a:endParaRPr lang="en-US" altLang="zh-CN" b="1">
              <a:solidFill>
                <a:srgbClr val="00B050"/>
              </a:solidFill>
              <a:latin typeface="微软雅黑" panose="020B0503020204020204" pitchFamily="34" charset="-122"/>
              <a:ea typeface="微软雅黑" panose="020B0503020204020204" pitchFamily="34" charset="-122"/>
            </a:endParaRPr>
          </a:p>
          <a:p>
            <a:pPr eaLnBrk="1" hangingPunct="1">
              <a:lnSpc>
                <a:spcPct val="150000"/>
              </a:lnSpc>
            </a:pPr>
            <a:r>
              <a:rPr lang="zh-CN" altLang="zh-CN" sz="2400">
                <a:latin typeface="微软雅黑" panose="020B0503020204020204" pitchFamily="34" charset="-122"/>
                <a:ea typeface="微软雅黑" panose="020B0503020204020204" pitchFamily="34" charset="-122"/>
              </a:rPr>
              <a:t>当</a:t>
            </a:r>
            <a:r>
              <a:rPr lang="zh-CN" altLang="en-US" sz="2400">
                <a:latin typeface="微软雅黑" panose="020B0503020204020204" pitchFamily="34" charset="-122"/>
                <a:ea typeface="微软雅黑" panose="020B0503020204020204" pitchFamily="34" charset="-122"/>
              </a:rPr>
              <a:t>调用</a:t>
            </a:r>
            <a:r>
              <a:rPr lang="zh-CN" altLang="zh-CN" sz="2400">
                <a:latin typeface="微软雅黑" panose="020B0503020204020204" pitchFamily="34" charset="-122"/>
                <a:ea typeface="微软雅黑" panose="020B0503020204020204" pitchFamily="34" charset="-122"/>
              </a:rPr>
              <a:t>pthread_mutex_lock时，若</a:t>
            </a:r>
            <a:r>
              <a:rPr lang="zh-CN" altLang="en-US" sz="2400">
                <a:latin typeface="微软雅黑" panose="020B0503020204020204" pitchFamily="34" charset="-122"/>
                <a:ea typeface="微软雅黑" panose="020B0503020204020204" pitchFamily="34" charset="-122"/>
              </a:rPr>
              <a:t>互斥量</a:t>
            </a:r>
            <a:r>
              <a:rPr lang="zh-CN" altLang="zh-CN" sz="2400">
                <a:latin typeface="微软雅黑" panose="020B0503020204020204" pitchFamily="34" charset="-122"/>
                <a:ea typeface="微软雅黑" panose="020B0503020204020204" pitchFamily="34" charset="-122"/>
              </a:rPr>
              <a:t>已被加锁，则调用线程将被阻塞</a:t>
            </a:r>
            <a:endParaRPr lang="zh-CN" altLang="zh-CN" sz="2400">
              <a:latin typeface="微软雅黑" panose="020B0503020204020204" pitchFamily="34" charset="-122"/>
              <a:ea typeface="微软雅黑" panose="020B0503020204020204" pitchFamily="34" charset="-122"/>
            </a:endParaRPr>
          </a:p>
        </p:txBody>
      </p:sp>
      <p:sp>
        <p:nvSpPr>
          <p:cNvPr id="45058"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9F8CB87-D6B6-495F-BD43-52D6C20153C6}" type="datetime2">
              <a:rPr lang="zh-CN" altLang="en-US" sz="1400" smtClean="0"/>
            </a:fld>
            <a:endParaRPr lang="zh-CN" altLang="zh-CN" sz="1400"/>
          </a:p>
        </p:txBody>
      </p:sp>
      <p:sp>
        <p:nvSpPr>
          <p:cNvPr id="45059"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5BA4F1B-B4FD-4064-A4F8-546817EA5E43}" type="slidenum">
              <a:rPr lang="zh-CN" altLang="zh-CN" sz="1400" smtClean="0"/>
            </a:fld>
            <a:endParaRPr lang="zh-CN" altLang="zh-CN" sz="1400"/>
          </a:p>
        </p:txBody>
      </p:sp>
      <p:sp>
        <p:nvSpPr>
          <p:cNvPr id="45060"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互斥量的加锁和解锁操作</a:t>
            </a:r>
            <a:endParaRPr lang="zh-CN" altLang="en-US">
              <a:latin typeface="微软雅黑" panose="020B0503020204020204" pitchFamily="34" charset="-122"/>
              <a:ea typeface="微软雅黑" panose="020B0503020204020204" pitchFamily="34" charset="-122"/>
            </a:endParaRPr>
          </a:p>
        </p:txBody>
      </p:sp>
      <p:sp>
        <p:nvSpPr>
          <p:cNvPr id="45061"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noChangeArrowheads="1"/>
          </p:cNvSpPr>
          <p:nvPr>
            <p:ph idx="1"/>
          </p:nvPr>
        </p:nvSpPr>
        <p:spPr>
          <a:xfrm>
            <a:off x="457200" y="1714500"/>
            <a:ext cx="8605838" cy="4411663"/>
          </a:xfrm>
        </p:spPr>
        <p:txBody>
          <a:bodyPr/>
          <a:lstStyle/>
          <a:p>
            <a:pPr eaLnBrk="1" hangingPunct="1">
              <a:lnSpc>
                <a:spcPct val="150000"/>
              </a:lnSpc>
            </a:pPr>
            <a:r>
              <a:rPr lang="zh-CN" altLang="zh-CN" sz="2400">
                <a:latin typeface="微软雅黑" panose="020B0503020204020204" pitchFamily="34" charset="-122"/>
                <a:ea typeface="微软雅黑" panose="020B0503020204020204" pitchFamily="34" charset="-122"/>
              </a:rPr>
              <a:t>函数原型</a:t>
            </a:r>
            <a:r>
              <a:rPr lang="zh-CN" altLang="en-US" sz="2400">
                <a:latin typeface="微软雅黑" panose="020B0503020204020204" pitchFamily="34" charset="-122"/>
                <a:ea typeface="微软雅黑" panose="020B0503020204020204" pitchFamily="34" charset="-122"/>
              </a:rPr>
              <a:t>（</a:t>
            </a:r>
            <a:r>
              <a:rPr lang="zh-CN" altLang="zh-CN" sz="2400">
                <a:latin typeface="微软雅黑" panose="020B0503020204020204" pitchFamily="34" charset="-122"/>
                <a:ea typeface="微软雅黑" panose="020B0503020204020204" pitchFamily="34" charset="-122"/>
              </a:rPr>
              <a:t>pthread.h</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None/>
            </a:pPr>
            <a:r>
              <a:rPr lang="zh-CN" altLang="zh-CN" sz="2400" b="1">
                <a:solidFill>
                  <a:srgbClr val="00B050"/>
                </a:solidFill>
                <a:latin typeface="微软雅黑" panose="020B0503020204020204" pitchFamily="34" charset="-122"/>
                <a:ea typeface="微软雅黑" panose="020B0503020204020204" pitchFamily="34" charset="-122"/>
              </a:rPr>
              <a:t>int pthread_mutex_trylock(pthread_mutex_t *mutex);</a:t>
            </a:r>
            <a:endParaRPr lang="zh-CN" altLang="zh-CN" sz="2400" b="1">
              <a:solidFill>
                <a:srgbClr val="00B050"/>
              </a:solidFill>
              <a:latin typeface="微软雅黑" panose="020B0503020204020204" pitchFamily="34" charset="-122"/>
              <a:ea typeface="微软雅黑" panose="020B0503020204020204" pitchFamily="34" charset="-122"/>
            </a:endParaRPr>
          </a:p>
          <a:p>
            <a:pPr eaLnBrk="1" hangingPunct="1">
              <a:lnSpc>
                <a:spcPct val="150000"/>
              </a:lnSpc>
            </a:pPr>
            <a:r>
              <a:rPr lang="zh-CN" altLang="zh-CN" sz="2400">
                <a:latin typeface="微软雅黑" panose="020B0503020204020204" pitchFamily="34" charset="-122"/>
                <a:ea typeface="微软雅黑" panose="020B0503020204020204" pitchFamily="34" charset="-122"/>
              </a:rPr>
              <a:t>调用该函数时，若互斥量未加锁，则锁住该互斥量，返回0；若互斥量已加锁，则函数直接返回失败</a:t>
            </a:r>
            <a:r>
              <a:rPr lang="zh-CN" altLang="en-US" sz="2400">
                <a:latin typeface="微软雅黑" panose="020B0503020204020204" pitchFamily="34" charset="-122"/>
                <a:ea typeface="微软雅黑" panose="020B0503020204020204" pitchFamily="34" charset="-122"/>
              </a:rPr>
              <a:t>（不会阻塞调用线程）</a:t>
            </a:r>
            <a:endParaRPr lang="zh-CN" altLang="zh-CN" sz="2400">
              <a:latin typeface="微软雅黑" panose="020B0503020204020204" pitchFamily="34" charset="-122"/>
              <a:ea typeface="微软雅黑" panose="020B0503020204020204" pitchFamily="34" charset="-122"/>
            </a:endParaRPr>
          </a:p>
        </p:txBody>
      </p:sp>
      <p:sp>
        <p:nvSpPr>
          <p:cNvPr id="46082"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1A2583E-FD7B-499B-8175-FDDA970DAE6F}" type="datetime2">
              <a:rPr lang="zh-CN" altLang="en-US" sz="1400" smtClean="0"/>
            </a:fld>
            <a:endParaRPr lang="zh-CN" altLang="zh-CN" sz="1400"/>
          </a:p>
        </p:txBody>
      </p:sp>
      <p:sp>
        <p:nvSpPr>
          <p:cNvPr id="46083"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14D5356-AF09-40FE-BC51-612BEDA7D37B}" type="slidenum">
              <a:rPr lang="zh-CN" altLang="zh-CN" sz="1400" smtClean="0"/>
            </a:fld>
            <a:endParaRPr lang="zh-CN" altLang="zh-CN" sz="1400"/>
          </a:p>
        </p:txBody>
      </p:sp>
      <p:sp>
        <p:nvSpPr>
          <p:cNvPr id="46084"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尝试</a:t>
            </a:r>
            <a:r>
              <a:rPr lang="zh-CN" altLang="en-US">
                <a:latin typeface="微软雅黑" panose="020B0503020204020204" pitchFamily="34" charset="-122"/>
                <a:ea typeface="微软雅黑" panose="020B0503020204020204" pitchFamily="34" charset="-122"/>
              </a:rPr>
              <a:t>加锁</a:t>
            </a:r>
            <a:endParaRPr lang="zh-CN" altLang="en-US">
              <a:latin typeface="微软雅黑" panose="020B0503020204020204" pitchFamily="34" charset="-122"/>
              <a:ea typeface="微软雅黑" panose="020B0503020204020204" pitchFamily="34" charset="-122"/>
            </a:endParaRPr>
          </a:p>
        </p:txBody>
      </p:sp>
      <p:sp>
        <p:nvSpPr>
          <p:cNvPr id="46085"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p:cNvSpPr>
            <a:spLocks noGrp="1" noChangeArrowheads="1"/>
          </p:cNvSpPr>
          <p:nvPr>
            <p:ph idx="1"/>
          </p:nvPr>
        </p:nvSpPr>
        <p:spPr>
          <a:xfrm>
            <a:off x="457200" y="1714500"/>
            <a:ext cx="8229600" cy="4411663"/>
          </a:xfrm>
        </p:spPr>
        <p:txBody>
          <a:bodyPr/>
          <a:lstStyle/>
          <a:p>
            <a:pPr marL="457200" indent="-457200" eaLnBrk="1" hangingPunct="1">
              <a:lnSpc>
                <a:spcPct val="150000"/>
              </a:lnSpc>
              <a:buFont typeface="宋体" panose="02010600030101010101" pitchFamily="2" charset="-122"/>
              <a:buAutoNum type="circleNumDbPlain"/>
            </a:pPr>
            <a:r>
              <a:rPr lang="zh-CN" altLang="zh-CN" sz="2400">
                <a:latin typeface="微软雅黑" panose="020B0503020204020204" pitchFamily="34" charset="-122"/>
                <a:ea typeface="微软雅黑" panose="020B0503020204020204" pitchFamily="34" charset="-122"/>
              </a:rPr>
              <a:t>定义一个互斥量</a:t>
            </a:r>
            <a:r>
              <a:rPr lang="zh-CN" altLang="en-US" sz="2400">
                <a:latin typeface="微软雅黑" panose="020B0503020204020204" pitchFamily="34" charset="-122"/>
                <a:ea typeface="微软雅黑" panose="020B0503020204020204" pitchFamily="34" charset="-122"/>
              </a:rPr>
              <a:t>变量</a:t>
            </a:r>
            <a:endParaRPr lang="en-US" altLang="zh-CN" sz="2400">
              <a:latin typeface="微软雅黑" panose="020B0503020204020204" pitchFamily="34" charset="-122"/>
              <a:ea typeface="微软雅黑" panose="020B0503020204020204" pitchFamily="34" charset="-122"/>
            </a:endParaRPr>
          </a:p>
          <a:p>
            <a:pPr marL="457200" indent="-457200" eaLnBrk="1" hangingPunct="1">
              <a:lnSpc>
                <a:spcPct val="150000"/>
              </a:lnSpc>
              <a:buFont typeface="宋体" panose="02010600030101010101" pitchFamily="2" charset="-122"/>
              <a:buAutoNum type="circleNumDbPlain"/>
            </a:pPr>
            <a:r>
              <a:rPr lang="zh-CN" altLang="zh-CN" sz="2400">
                <a:latin typeface="微软雅黑" panose="020B0503020204020204" pitchFamily="34" charset="-122"/>
                <a:ea typeface="微软雅黑" panose="020B0503020204020204" pitchFamily="34" charset="-122"/>
              </a:rPr>
              <a:t>调用pthread_mutex_init初始化互斥量</a:t>
            </a:r>
            <a:endParaRPr lang="zh-CN" altLang="zh-CN" sz="2400">
              <a:latin typeface="微软雅黑" panose="020B0503020204020204" pitchFamily="34" charset="-122"/>
              <a:ea typeface="微软雅黑" panose="020B0503020204020204" pitchFamily="34" charset="-122"/>
            </a:endParaRPr>
          </a:p>
          <a:p>
            <a:pPr marL="457200" indent="-457200" eaLnBrk="1" hangingPunct="1">
              <a:lnSpc>
                <a:spcPct val="150000"/>
              </a:lnSpc>
              <a:buFont typeface="宋体" panose="02010600030101010101" pitchFamily="2" charset="-122"/>
              <a:buAutoNum type="circleNumDbPlain"/>
            </a:pPr>
            <a:r>
              <a:rPr lang="zh-CN" altLang="zh-CN" sz="2400">
                <a:latin typeface="微软雅黑" panose="020B0503020204020204" pitchFamily="34" charset="-122"/>
                <a:ea typeface="微软雅黑" panose="020B0503020204020204" pitchFamily="34" charset="-122"/>
              </a:rPr>
              <a:t>调用pthread_mutex_lock或者pthread_mutex_trylock对互斥量进行加锁操作</a:t>
            </a:r>
            <a:endParaRPr lang="zh-CN" altLang="zh-CN" sz="2400">
              <a:latin typeface="微软雅黑" panose="020B0503020204020204" pitchFamily="34" charset="-122"/>
              <a:ea typeface="微软雅黑" panose="020B0503020204020204" pitchFamily="34" charset="-122"/>
            </a:endParaRPr>
          </a:p>
          <a:p>
            <a:pPr marL="457200" indent="-457200" eaLnBrk="1" hangingPunct="1">
              <a:lnSpc>
                <a:spcPct val="150000"/>
              </a:lnSpc>
              <a:buFont typeface="宋体" panose="02010600030101010101" pitchFamily="2" charset="-122"/>
              <a:buAutoNum type="circleNumDbPlain"/>
            </a:pPr>
            <a:r>
              <a:rPr lang="zh-CN" altLang="zh-CN" sz="2400">
                <a:latin typeface="微软雅黑" panose="020B0503020204020204" pitchFamily="34" charset="-122"/>
                <a:ea typeface="微软雅黑" panose="020B0503020204020204" pitchFamily="34" charset="-122"/>
              </a:rPr>
              <a:t>调用pthread_mutex_unlock对互斥量解锁</a:t>
            </a:r>
            <a:endParaRPr lang="zh-CN" altLang="zh-CN" sz="2400">
              <a:latin typeface="微软雅黑" panose="020B0503020204020204" pitchFamily="34" charset="-122"/>
              <a:ea typeface="微软雅黑" panose="020B0503020204020204" pitchFamily="34" charset="-122"/>
            </a:endParaRPr>
          </a:p>
          <a:p>
            <a:pPr marL="457200" indent="-457200" eaLnBrk="1" hangingPunct="1">
              <a:lnSpc>
                <a:spcPct val="150000"/>
              </a:lnSpc>
              <a:buFont typeface="宋体" panose="02010600030101010101" pitchFamily="2" charset="-122"/>
              <a:buAutoNum type="circleNumDbPlain"/>
            </a:pPr>
            <a:r>
              <a:rPr lang="zh-CN" altLang="zh-CN" sz="2400">
                <a:latin typeface="微软雅黑" panose="020B0503020204020204" pitchFamily="34" charset="-122"/>
                <a:ea typeface="微软雅黑" panose="020B0503020204020204" pitchFamily="34" charset="-122"/>
              </a:rPr>
              <a:t>调用pthread_mutex_destroy销毁互斥量</a:t>
            </a:r>
            <a:endParaRPr lang="zh-CN" altLang="zh-CN" sz="2400">
              <a:latin typeface="微软雅黑" panose="020B0503020204020204" pitchFamily="34" charset="-122"/>
              <a:ea typeface="微软雅黑" panose="020B0503020204020204" pitchFamily="34" charset="-122"/>
            </a:endParaRPr>
          </a:p>
        </p:txBody>
      </p:sp>
      <p:sp>
        <p:nvSpPr>
          <p:cNvPr id="47106" name="日期占位符 3"/>
          <p:cNvSpPr>
            <a:spLocks noGrp="1"/>
          </p:cNvSpPr>
          <p:nvPr>
            <p:ph type="dt"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26B922-3940-4C9F-925E-69BDCF4BBB7C}" type="datetime2">
              <a:rPr lang="zh-CN" altLang="en-US" sz="1400" smtClean="0"/>
            </a:fld>
            <a:endParaRPr lang="zh-CN" altLang="zh-CN" sz="1400"/>
          </a:p>
        </p:txBody>
      </p:sp>
      <p:sp>
        <p:nvSpPr>
          <p:cNvPr id="47107" name="灯片编号占位符 5"/>
          <p:cNvSpPr>
            <a:spLocks noGrp="1"/>
          </p:cNvSpPr>
          <p:nvPr>
            <p:ph type="sldNum" sz="quarter" idx="16"/>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D0DA2C5-8AFC-4FD4-B156-211C20C2D625}" type="slidenum">
              <a:rPr lang="zh-CN" altLang="zh-CN" sz="1400" smtClean="0"/>
            </a:fld>
            <a:endParaRPr lang="zh-CN" altLang="zh-CN" sz="1400"/>
          </a:p>
        </p:txBody>
      </p:sp>
      <p:sp>
        <p:nvSpPr>
          <p:cNvPr id="47108" name="副标题 1"/>
          <p:cNvSpPr>
            <a:spLocks noGrp="1" noChangeArrowheads="1"/>
          </p:cNvSpPr>
          <p:nvPr>
            <p:ph type="subTitle" idx="13"/>
          </p:nvPr>
        </p:nvSpPr>
        <p:spPr>
          <a:xfrm>
            <a:off x="1014413" y="1052513"/>
            <a:ext cx="6400800" cy="542925"/>
          </a:xfrm>
        </p:spPr>
        <p:txBody>
          <a:bodyPr/>
          <a:lstStyle/>
          <a:p>
            <a:r>
              <a:rPr lang="zh-CN" altLang="zh-CN">
                <a:latin typeface="微软雅黑" panose="020B0503020204020204" pitchFamily="34" charset="-122"/>
                <a:ea typeface="微软雅黑" panose="020B0503020204020204" pitchFamily="34" charset="-122"/>
              </a:rPr>
              <a:t>互斥量的操作顺序</a:t>
            </a:r>
            <a:endParaRPr lang="zh-CN" altLang="en-US">
              <a:latin typeface="微软雅黑" panose="020B0503020204020204" pitchFamily="34" charset="-122"/>
              <a:ea typeface="微软雅黑" panose="020B0503020204020204" pitchFamily="34" charset="-122"/>
            </a:endParaRPr>
          </a:p>
        </p:txBody>
      </p:sp>
      <p:sp>
        <p:nvSpPr>
          <p:cNvPr id="47109"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pthread_mutex_t mutex;</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pthread_mutex_init(&amp;mutex, NULL);</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pthread_mutex_lock(&amp;mutex);</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//do something</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pthread_mutex_unlock(&amp;mutex);</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pthread_mutex_destroy(&amp;mutex);</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p:txBody>
      </p:sp>
      <p:sp>
        <p:nvSpPr>
          <p:cNvPr id="48130" name="副标题 3"/>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示例</a:t>
            </a:r>
            <a:endParaRPr lang="zh-CN" altLang="en-US">
              <a:latin typeface="微软雅黑" panose="020B0503020204020204" pitchFamily="34" charset="-122"/>
              <a:ea typeface="微软雅黑" panose="020B0503020204020204" pitchFamily="34" charset="-122"/>
            </a:endParaRPr>
          </a:p>
        </p:txBody>
      </p:sp>
      <p:sp>
        <p:nvSpPr>
          <p:cNvPr id="48131"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#include&lt;semaphore.h&gt;</a:t>
            </a:r>
            <a:endParaRPr lang="en-US" altLang="zh-CN" sz="2400"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信号量数据类型：</a:t>
            </a:r>
            <a:r>
              <a:rPr lang="en-US" altLang="zh-CN" sz="2400" dirty="0" err="1">
                <a:latin typeface="微软雅黑" panose="020B0503020204020204" pitchFamily="34" charset="-122"/>
                <a:ea typeface="微软雅黑" panose="020B0503020204020204" pitchFamily="34" charset="-122"/>
              </a:rPr>
              <a:t>sem_t</a:t>
            </a:r>
            <a:endParaRPr lang="en-US" altLang="zh-CN"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主要函数：</a:t>
            </a:r>
            <a:endParaRPr lang="zh-CN" altLang="en-US" sz="2400" dirty="0">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a:pPr>
            <a:r>
              <a:rPr lang="en-US" altLang="zh-CN" sz="2400" b="1" dirty="0" err="1">
                <a:solidFill>
                  <a:srgbClr val="00B050"/>
                </a:solidFill>
                <a:latin typeface="微软雅黑" panose="020B0503020204020204" pitchFamily="34" charset="-122"/>
                <a:ea typeface="微软雅黑" panose="020B0503020204020204" pitchFamily="34" charset="-122"/>
              </a:rPr>
              <a:t>sem_init</a:t>
            </a:r>
            <a:r>
              <a:rPr lang="en-US" altLang="zh-CN" sz="2400" b="1" dirty="0">
                <a:solidFill>
                  <a:srgbClr val="00B050"/>
                </a:solidFill>
                <a:latin typeface="微软雅黑" panose="020B0503020204020204" pitchFamily="34" charset="-122"/>
                <a:ea typeface="微软雅黑" panose="020B0503020204020204" pitchFamily="34" charset="-122"/>
              </a:rPr>
              <a:t>(</a:t>
            </a:r>
            <a:r>
              <a:rPr lang="en-US" altLang="zh-CN" sz="2400" b="1" dirty="0" err="1">
                <a:solidFill>
                  <a:srgbClr val="00B050"/>
                </a:solidFill>
                <a:latin typeface="微软雅黑" panose="020B0503020204020204" pitchFamily="34" charset="-122"/>
                <a:ea typeface="微软雅黑" panose="020B0503020204020204" pitchFamily="34" charset="-122"/>
              </a:rPr>
              <a:t>sem_t</a:t>
            </a:r>
            <a:r>
              <a:rPr lang="en-US" altLang="zh-CN" sz="2400" b="1" dirty="0">
                <a:solidFill>
                  <a:srgbClr val="00B050"/>
                </a:solidFill>
                <a:latin typeface="微软雅黑" panose="020B0503020204020204" pitchFamily="34" charset="-122"/>
                <a:ea typeface="微软雅黑" panose="020B0503020204020204" pitchFamily="34" charset="-122"/>
              </a:rPr>
              <a:t> *</a:t>
            </a:r>
            <a:r>
              <a:rPr lang="en-US" altLang="zh-CN" sz="2400" b="1" dirty="0" err="1">
                <a:solidFill>
                  <a:srgbClr val="00B050"/>
                </a:solidFill>
                <a:latin typeface="微软雅黑" panose="020B0503020204020204" pitchFamily="34" charset="-122"/>
                <a:ea typeface="微软雅黑" panose="020B0503020204020204" pitchFamily="34" charset="-122"/>
              </a:rPr>
              <a:t>sem</a:t>
            </a:r>
            <a:r>
              <a:rPr lang="en-US" altLang="zh-CN" sz="2400" b="1" dirty="0">
                <a:solidFill>
                  <a:srgbClr val="00B050"/>
                </a:solidFill>
                <a:latin typeface="微软雅黑" panose="020B0503020204020204" pitchFamily="34" charset="-122"/>
                <a:ea typeface="微软雅黑" panose="020B0503020204020204" pitchFamily="34" charset="-122"/>
              </a:rPr>
              <a:t>, int </a:t>
            </a:r>
            <a:r>
              <a:rPr lang="en-US" altLang="zh-CN" sz="2400" b="1" dirty="0" err="1">
                <a:solidFill>
                  <a:srgbClr val="00B050"/>
                </a:solidFill>
                <a:latin typeface="微软雅黑" panose="020B0503020204020204" pitchFamily="34" charset="-122"/>
                <a:ea typeface="微软雅黑" panose="020B0503020204020204" pitchFamily="34" charset="-122"/>
              </a:rPr>
              <a:t>pshared</a:t>
            </a:r>
            <a:r>
              <a:rPr lang="en-US" altLang="zh-CN" sz="2400" b="1" dirty="0">
                <a:solidFill>
                  <a:srgbClr val="00B050"/>
                </a:solidFill>
                <a:latin typeface="微软雅黑" panose="020B0503020204020204" pitchFamily="34" charset="-122"/>
                <a:ea typeface="微软雅黑" panose="020B0503020204020204" pitchFamily="34" charset="-122"/>
              </a:rPr>
              <a:t>, unsigned int value);//</a:t>
            </a:r>
            <a:r>
              <a:rPr lang="zh-CN" altLang="en-US" sz="2400" b="1" dirty="0">
                <a:latin typeface="微软雅黑" panose="020B0503020204020204" pitchFamily="34" charset="-122"/>
                <a:ea typeface="微软雅黑" panose="020B0503020204020204" pitchFamily="34" charset="-122"/>
              </a:rPr>
              <a:t>初始化一个无名信号量</a:t>
            </a:r>
            <a:endParaRPr lang="en-US" altLang="zh-CN" sz="2400" b="1" dirty="0">
              <a:latin typeface="微软雅黑" panose="020B0503020204020204" pitchFamily="34" charset="-122"/>
              <a:ea typeface="微软雅黑" panose="020B0503020204020204" pitchFamily="34" charset="-122"/>
            </a:endParaRPr>
          </a:p>
          <a:p>
            <a:pPr marL="0" indent="0" eaLnBrk="1" hangingPunct="1">
              <a:buNone/>
            </a:pPr>
            <a:r>
              <a:rPr lang="en-US" altLang="zh-CN" sz="1600" b="1" dirty="0" err="1">
                <a:solidFill>
                  <a:srgbClr val="00B050"/>
                </a:solidFill>
                <a:latin typeface="微软雅黑" panose="020B0503020204020204" pitchFamily="34" charset="-122"/>
                <a:ea typeface="微软雅黑" panose="020B0503020204020204" pitchFamily="34" charset="-122"/>
              </a:rPr>
              <a:t>pshared</a:t>
            </a:r>
            <a:r>
              <a:rPr lang="en-US" altLang="zh-CN" sz="1600" b="1" dirty="0">
                <a:solidFill>
                  <a:srgbClr val="00B050"/>
                </a:solidFill>
                <a:latin typeface="微软雅黑" panose="020B0503020204020204" pitchFamily="34" charset="-122"/>
                <a:ea typeface="微软雅黑" panose="020B0503020204020204" pitchFamily="34" charset="-122"/>
              </a:rPr>
              <a:t> </a:t>
            </a:r>
            <a:r>
              <a:rPr lang="zh-CN" altLang="en-US" sz="1600" b="1" dirty="0">
                <a:solidFill>
                  <a:srgbClr val="00B050"/>
                </a:solidFill>
                <a:latin typeface="微软雅黑" panose="020B0503020204020204" pitchFamily="34" charset="-122"/>
                <a:ea typeface="微软雅黑" panose="020B0503020204020204" pitchFamily="34" charset="-122"/>
              </a:rPr>
              <a:t>：</a:t>
            </a:r>
            <a:r>
              <a:rPr lang="zh-CN" altLang="en-US" sz="1600" b="0" i="0" dirty="0">
                <a:solidFill>
                  <a:srgbClr val="333333"/>
                </a:solidFill>
                <a:effectLst/>
                <a:latin typeface="Helvetica Neue"/>
              </a:rPr>
              <a:t>如果 </a:t>
            </a:r>
            <a:r>
              <a:rPr lang="en-US" altLang="zh-CN" sz="1600" b="0" i="0" dirty="0" err="1">
                <a:solidFill>
                  <a:srgbClr val="333333"/>
                </a:solidFill>
                <a:effectLst/>
                <a:latin typeface="Helvetica Neue"/>
              </a:rPr>
              <a:t>pshared</a:t>
            </a:r>
            <a:r>
              <a:rPr lang="en-US" altLang="zh-CN" sz="1600" b="0" i="0" dirty="0">
                <a:solidFill>
                  <a:srgbClr val="333333"/>
                </a:solidFill>
                <a:effectLst/>
                <a:latin typeface="Helvetica Neue"/>
              </a:rPr>
              <a:t> </a:t>
            </a:r>
            <a:r>
              <a:rPr lang="zh-CN" altLang="en-US" sz="1600" b="0" i="0" dirty="0">
                <a:solidFill>
                  <a:srgbClr val="333333"/>
                </a:solidFill>
                <a:effectLst/>
                <a:latin typeface="Helvetica Neue"/>
              </a:rPr>
              <a:t>的值为 </a:t>
            </a:r>
            <a:r>
              <a:rPr lang="en-US" altLang="zh-CN" sz="1600" b="0" i="0" dirty="0">
                <a:solidFill>
                  <a:srgbClr val="333333"/>
                </a:solidFill>
                <a:effectLst/>
                <a:latin typeface="Helvetica Neue"/>
              </a:rPr>
              <a:t>0</a:t>
            </a:r>
            <a:r>
              <a:rPr lang="zh-CN" altLang="en-US" sz="1600" b="0" i="0" dirty="0">
                <a:solidFill>
                  <a:srgbClr val="333333"/>
                </a:solidFill>
                <a:effectLst/>
                <a:latin typeface="Helvetica Neue"/>
              </a:rPr>
              <a:t>，那么信号量将被进程内的线程共享，并且应该放置在这个进程的所有线程都可见的地址上</a:t>
            </a:r>
            <a:endParaRPr lang="en-US" altLang="zh-CN" sz="1600" b="0" i="0" dirty="0">
              <a:solidFill>
                <a:srgbClr val="333333"/>
              </a:solidFill>
              <a:effectLst/>
              <a:latin typeface="Helvetica Neue"/>
            </a:endParaRPr>
          </a:p>
          <a:p>
            <a:pPr marL="0" indent="0" eaLnBrk="1" hangingPunct="1">
              <a:buNone/>
            </a:pPr>
            <a:r>
              <a:rPr lang="en-US" altLang="zh-CN" sz="1600" b="1" i="0" dirty="0">
                <a:solidFill>
                  <a:srgbClr val="00B050"/>
                </a:solidFill>
                <a:effectLst/>
                <a:latin typeface="Helvetica Neue"/>
              </a:rPr>
              <a:t>Value</a:t>
            </a:r>
            <a:r>
              <a:rPr lang="zh-CN" altLang="en-US" sz="1600" b="1" i="0" dirty="0">
                <a:solidFill>
                  <a:srgbClr val="00B050"/>
                </a:solidFill>
                <a:effectLst/>
                <a:latin typeface="Helvetica Neue"/>
              </a:rPr>
              <a:t>：</a:t>
            </a:r>
            <a:r>
              <a:rPr lang="zh-CN" altLang="en-US" sz="1600" b="0" i="0" dirty="0">
                <a:solidFill>
                  <a:srgbClr val="333333"/>
                </a:solidFill>
                <a:effectLst/>
                <a:latin typeface="Helvetica Neue"/>
              </a:rPr>
              <a:t>指定信号量值的大小</a:t>
            </a:r>
            <a:endParaRPr lang="en-US" altLang="zh-CN" sz="2400" b="1" dirty="0">
              <a:latin typeface="微软雅黑" panose="020B0503020204020204" pitchFamily="34" charset="-122"/>
              <a:ea typeface="微软雅黑" panose="020B0503020204020204" pitchFamily="34" charset="-122"/>
            </a:endParaRPr>
          </a:p>
          <a:p>
            <a:pPr eaLnBrk="1" hangingPunct="1">
              <a:buFont typeface="宋体" panose="02010600030101010101" pitchFamily="2" charset="-122"/>
              <a:buAutoNum type="circleNumDbPlain" startAt="2"/>
            </a:pPr>
            <a:r>
              <a:rPr lang="en-US" altLang="zh-CN" sz="2400" b="1" dirty="0" err="1">
                <a:solidFill>
                  <a:srgbClr val="00B050"/>
                </a:solidFill>
                <a:latin typeface="微软雅黑" panose="020B0503020204020204" pitchFamily="34" charset="-122"/>
                <a:ea typeface="微软雅黑" panose="020B0503020204020204" pitchFamily="34" charset="-122"/>
              </a:rPr>
              <a:t>sem_destroy</a:t>
            </a:r>
            <a:r>
              <a:rPr lang="en-US" altLang="zh-CN" sz="2400" b="1" dirty="0">
                <a:solidFill>
                  <a:srgbClr val="00B050"/>
                </a:solidFill>
                <a:latin typeface="微软雅黑" panose="020B0503020204020204" pitchFamily="34" charset="-122"/>
                <a:ea typeface="微软雅黑" panose="020B0503020204020204" pitchFamily="34" charset="-122"/>
              </a:rPr>
              <a:t>(</a:t>
            </a:r>
            <a:r>
              <a:rPr lang="en-US" altLang="zh-CN" sz="2400" b="1" dirty="0" err="1">
                <a:solidFill>
                  <a:srgbClr val="00B050"/>
                </a:solidFill>
                <a:latin typeface="微软雅黑" panose="020B0503020204020204" pitchFamily="34" charset="-122"/>
                <a:ea typeface="微软雅黑" panose="020B0503020204020204" pitchFamily="34" charset="-122"/>
              </a:rPr>
              <a:t>sem_t</a:t>
            </a:r>
            <a:r>
              <a:rPr lang="en-US" altLang="zh-CN" sz="2400" b="1" dirty="0">
                <a:solidFill>
                  <a:srgbClr val="00B050"/>
                </a:solidFill>
                <a:latin typeface="微软雅黑" panose="020B0503020204020204" pitchFamily="34" charset="-122"/>
                <a:ea typeface="微软雅黑" panose="020B0503020204020204" pitchFamily="34" charset="-122"/>
              </a:rPr>
              <a:t> *</a:t>
            </a:r>
            <a:r>
              <a:rPr lang="en-US" altLang="zh-CN" sz="2400" b="1" dirty="0" err="1">
                <a:solidFill>
                  <a:srgbClr val="00B050"/>
                </a:solidFill>
                <a:latin typeface="微软雅黑" panose="020B0503020204020204" pitchFamily="34" charset="-122"/>
                <a:ea typeface="微软雅黑" panose="020B0503020204020204" pitchFamily="34" charset="-122"/>
              </a:rPr>
              <a:t>sem</a:t>
            </a:r>
            <a:r>
              <a:rPr lang="en-US" altLang="zh-CN" sz="2400" b="1" dirty="0">
                <a:solidFill>
                  <a:srgbClr val="00B050"/>
                </a:solidFill>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销毁一个无名信号量</a:t>
            </a:r>
            <a:endParaRPr lang="zh-CN" altLang="en-US" sz="2400" b="1" dirty="0">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返回值：成功返回 0；错误返回 -1，并设置errno </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49154" name="副标题 3"/>
          <p:cNvSpPr>
            <a:spLocks noGrp="1" noChangeArrowheads="1"/>
          </p:cNvSpPr>
          <p:nvPr>
            <p:ph type="subTitle" idx="13"/>
          </p:nvPr>
        </p:nvSpPr>
        <p:spPr>
          <a:xfrm>
            <a:off x="1014413" y="1052513"/>
            <a:ext cx="6400800" cy="542925"/>
          </a:xfrm>
        </p:spPr>
        <p:txBody>
          <a:bodyPr/>
          <a:lstStyle/>
          <a:p>
            <a:r>
              <a:rPr lang="en-US" altLang="zh-CN">
                <a:latin typeface="微软雅黑" panose="020B0503020204020204" pitchFamily="34" charset="-122"/>
                <a:ea typeface="微软雅黑" panose="020B0503020204020204" pitchFamily="34" charset="-122"/>
              </a:rPr>
              <a:t>POSIX</a:t>
            </a:r>
            <a:r>
              <a:rPr lang="zh-CN" altLang="en-US">
                <a:latin typeface="微软雅黑" panose="020B0503020204020204" pitchFamily="34" charset="-122"/>
                <a:ea typeface="微软雅黑" panose="020B0503020204020204" pitchFamily="34" charset="-122"/>
              </a:rPr>
              <a:t>信号量</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49155"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内容占位符 2"/>
          <p:cNvSpPr>
            <a:spLocks noGrp="1" noChangeArrowheads="1"/>
          </p:cNvSpPr>
          <p:nvPr>
            <p:ph idx="1"/>
          </p:nvPr>
        </p:nvSpPr>
        <p:spPr>
          <a:xfrm>
            <a:off x="457200" y="1714500"/>
            <a:ext cx="8229600" cy="4411663"/>
          </a:xfrm>
        </p:spPr>
        <p:txBody>
          <a:bodyPr/>
          <a:lstStyle/>
          <a:p>
            <a:pPr marL="457200" indent="-457200" eaLnBrk="1" hangingPunct="1">
              <a:buFont typeface="宋体" panose="02010600030101010101" pitchFamily="2" charset="-122"/>
              <a:buAutoNum type="circleNumDbPlain" startAt="3"/>
            </a:pPr>
            <a:r>
              <a:rPr lang="en-US" altLang="zh-CN" sz="2400" b="1">
                <a:solidFill>
                  <a:srgbClr val="00B050"/>
                </a:solidFill>
                <a:latin typeface="微软雅黑" panose="020B0503020204020204" pitchFamily="34" charset="-122"/>
                <a:ea typeface="微软雅黑" panose="020B0503020204020204" pitchFamily="34" charset="-122"/>
              </a:rPr>
              <a:t>sem_post(sem_t *sem);//</a:t>
            </a:r>
            <a:r>
              <a:rPr lang="zh-CN" altLang="en-US" sz="2400">
                <a:latin typeface="微软雅黑" panose="020B0503020204020204" pitchFamily="34" charset="-122"/>
                <a:ea typeface="微软雅黑" panose="020B0503020204020204" pitchFamily="34" charset="-122"/>
              </a:rPr>
              <a:t>信号量值加</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。若有线程阻塞于信号量</a:t>
            </a:r>
            <a:r>
              <a:rPr lang="en-US" altLang="zh-CN" sz="2400">
                <a:latin typeface="微软雅黑" panose="020B0503020204020204" pitchFamily="34" charset="-122"/>
                <a:ea typeface="微软雅黑" panose="020B0503020204020204" pitchFamily="34" charset="-122"/>
              </a:rPr>
              <a:t>sem</a:t>
            </a:r>
            <a:r>
              <a:rPr lang="zh-CN" altLang="en-US" sz="2400">
                <a:latin typeface="微软雅黑" panose="020B0503020204020204" pitchFamily="34" charset="-122"/>
                <a:ea typeface="微软雅黑" panose="020B0503020204020204" pitchFamily="34" charset="-122"/>
              </a:rPr>
              <a:t>，则调度器会唤醒对应阻塞队列中的某一个线程。</a:t>
            </a:r>
            <a:endParaRPr lang="en-US" altLang="zh-CN" sz="2400">
              <a:latin typeface="微软雅黑" panose="020B0503020204020204" pitchFamily="34" charset="-122"/>
              <a:ea typeface="微软雅黑" panose="020B0503020204020204" pitchFamily="34" charset="-122"/>
            </a:endParaRPr>
          </a:p>
          <a:p>
            <a:pPr marL="457200" indent="-457200" eaLnBrk="1" hangingPunct="1">
              <a:buFont typeface="宋体" panose="02010600030101010101" pitchFamily="2" charset="-122"/>
              <a:buAutoNum type="circleNumDbPlain" startAt="3"/>
            </a:pPr>
            <a:r>
              <a:rPr lang="en-US" altLang="zh-CN" sz="2400" b="1">
                <a:solidFill>
                  <a:srgbClr val="00B050"/>
                </a:solidFill>
                <a:latin typeface="微软雅黑" panose="020B0503020204020204" pitchFamily="34" charset="-122"/>
                <a:ea typeface="微软雅黑" panose="020B0503020204020204" pitchFamily="34" charset="-122"/>
              </a:rPr>
              <a:t>sem_wait(sem_t *sem);//</a:t>
            </a:r>
            <a:r>
              <a:rPr lang="zh-CN" altLang="en-US" sz="2400">
                <a:latin typeface="微软雅黑" panose="020B0503020204020204" pitchFamily="34" charset="-122"/>
                <a:ea typeface="微软雅黑" panose="020B0503020204020204" pitchFamily="34" charset="-122"/>
              </a:rPr>
              <a:t>若</a:t>
            </a:r>
            <a:r>
              <a:rPr lang="en-US" altLang="zh-CN" sz="2400">
                <a:latin typeface="微软雅黑" panose="020B0503020204020204" pitchFamily="34" charset="-122"/>
                <a:ea typeface="微软雅黑" panose="020B0503020204020204" pitchFamily="34" charset="-122"/>
              </a:rPr>
              <a:t>sem</a:t>
            </a:r>
            <a:r>
              <a:rPr lang="zh-CN" altLang="en-US" sz="2400">
                <a:latin typeface="微软雅黑" panose="020B0503020204020204" pitchFamily="34" charset="-122"/>
                <a:ea typeface="微软雅黑" panose="020B0503020204020204" pitchFamily="34" charset="-122"/>
              </a:rPr>
              <a:t>小于</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，则线程阻塞于信号量</a:t>
            </a:r>
            <a:r>
              <a:rPr lang="en-US" altLang="zh-CN" sz="2400">
                <a:latin typeface="微软雅黑" panose="020B0503020204020204" pitchFamily="34" charset="-122"/>
                <a:ea typeface="微软雅黑" panose="020B0503020204020204" pitchFamily="34" charset="-122"/>
              </a:rPr>
              <a:t>sem</a:t>
            </a:r>
            <a:r>
              <a:rPr lang="zh-CN" altLang="en-US" sz="2400">
                <a:latin typeface="微软雅黑" panose="020B0503020204020204" pitchFamily="34" charset="-122"/>
                <a:ea typeface="微软雅黑" panose="020B0503020204020204" pitchFamily="34" charset="-122"/>
              </a:rPr>
              <a:t>，直到</a:t>
            </a:r>
            <a:r>
              <a:rPr lang="en-US" altLang="zh-CN" sz="2400">
                <a:latin typeface="微软雅黑" panose="020B0503020204020204" pitchFamily="34" charset="-122"/>
                <a:ea typeface="微软雅黑" panose="020B0503020204020204" pitchFamily="34" charset="-122"/>
              </a:rPr>
              <a:t>sem</a:t>
            </a:r>
            <a:r>
              <a:rPr lang="zh-CN" altLang="en-US" sz="2400">
                <a:latin typeface="微软雅黑" panose="020B0503020204020204" pitchFamily="34" charset="-122"/>
                <a:ea typeface="微软雅黑" panose="020B0503020204020204" pitchFamily="34" charset="-122"/>
              </a:rPr>
              <a:t>大于</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。否则信号量值减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457200" indent="-457200" eaLnBrk="1" hangingPunct="1">
              <a:buFont typeface="宋体" panose="02010600030101010101" pitchFamily="2" charset="-122"/>
              <a:buAutoNum type="circleNumDbPlain" startAt="3"/>
            </a:pPr>
            <a:r>
              <a:rPr lang="en-US" altLang="zh-CN" sz="2400" b="1">
                <a:solidFill>
                  <a:srgbClr val="00B050"/>
                </a:solidFill>
                <a:latin typeface="微软雅黑" panose="020B0503020204020204" pitchFamily="34" charset="-122"/>
                <a:ea typeface="微软雅黑" panose="020B0503020204020204" pitchFamily="34" charset="-122"/>
              </a:rPr>
              <a:t>sem_trywait(sem_t *sem);//</a:t>
            </a:r>
            <a:r>
              <a:rPr lang="zh-CN" altLang="en-US" sz="2400">
                <a:latin typeface="微软雅黑" panose="020B0503020204020204" pitchFamily="34" charset="-122"/>
                <a:ea typeface="微软雅黑" panose="020B0503020204020204" pitchFamily="34" charset="-122"/>
              </a:rPr>
              <a:t>功能同</a:t>
            </a:r>
            <a:r>
              <a:rPr lang="en-US" altLang="zh-CN" sz="2400">
                <a:latin typeface="微软雅黑" panose="020B0503020204020204" pitchFamily="34" charset="-122"/>
                <a:ea typeface="微软雅黑" panose="020B0503020204020204" pitchFamily="34" charset="-122"/>
              </a:rPr>
              <a:t>sem_wait()</a:t>
            </a:r>
            <a:r>
              <a:rPr lang="zh-CN" altLang="en-US" sz="2400">
                <a:latin typeface="微软雅黑" panose="020B0503020204020204" pitchFamily="34" charset="-122"/>
                <a:ea typeface="微软雅黑" panose="020B0503020204020204" pitchFamily="34" charset="-122"/>
              </a:rPr>
              <a:t>，但此函数不阻塞，若</a:t>
            </a:r>
            <a:r>
              <a:rPr lang="en-US" altLang="zh-CN" sz="2400">
                <a:latin typeface="微软雅黑" panose="020B0503020204020204" pitchFamily="34" charset="-122"/>
                <a:ea typeface="微软雅黑" panose="020B0503020204020204" pitchFamily="34" charset="-122"/>
              </a:rPr>
              <a:t>sem</a:t>
            </a:r>
            <a:r>
              <a:rPr lang="zh-CN" altLang="en-US" sz="2400">
                <a:latin typeface="微软雅黑" panose="020B0503020204020204" pitchFamily="34" charset="-122"/>
                <a:ea typeface="微软雅黑" panose="020B0503020204020204" pitchFamily="34" charset="-122"/>
              </a:rPr>
              <a:t>小于</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，直接返回。</a:t>
            </a:r>
            <a:endParaRPr lang="zh-CN" altLang="en-US" sz="2400">
              <a:latin typeface="微软雅黑" panose="020B0503020204020204" pitchFamily="34" charset="-122"/>
              <a:ea typeface="微软雅黑" panose="020B0503020204020204" pitchFamily="34" charset="-122"/>
            </a:endParaRPr>
          </a:p>
          <a:p>
            <a:pPr marL="457200" indent="-457200" eaLnBrk="1" hangingPunct="1">
              <a:buFont typeface="Wingdings" panose="05000000000000000000" pitchFamily="2" charset="2"/>
              <a:buNone/>
            </a:pPr>
            <a:endParaRPr lang="en-US" altLang="zh-CN" sz="2400">
              <a:latin typeface="微软雅黑" panose="020B0503020204020204" pitchFamily="34" charset="-122"/>
              <a:ea typeface="微软雅黑" panose="020B0503020204020204" pitchFamily="34" charset="-122"/>
            </a:endParaRPr>
          </a:p>
          <a:p>
            <a:pPr marL="457200" indent="-457200" eaLnBrk="1" hangingPunct="1">
              <a:buFont typeface="Wingdings" panose="05000000000000000000" pitchFamily="2" charset="2"/>
              <a:buNone/>
            </a:pPr>
            <a:r>
              <a:rPr lang="zh-CN" altLang="en-US" sz="2400">
                <a:latin typeface="微软雅黑" panose="020B0503020204020204" pitchFamily="34" charset="-122"/>
                <a:ea typeface="微软雅黑" panose="020B0503020204020204" pitchFamily="34" charset="-122"/>
              </a:rPr>
              <a:t>返回值：成功返回0，错误返回-1，并设置errno 。</a:t>
            </a:r>
            <a:endParaRPr lang="zh-CN" altLang="en-US" sz="2400">
              <a:latin typeface="微软雅黑" panose="020B0503020204020204" pitchFamily="34" charset="-122"/>
              <a:ea typeface="微软雅黑" panose="020B0503020204020204" pitchFamily="34" charset="-122"/>
            </a:endParaRPr>
          </a:p>
        </p:txBody>
      </p:sp>
      <p:sp>
        <p:nvSpPr>
          <p:cNvPr id="50178" name="副标题 3"/>
          <p:cNvSpPr>
            <a:spLocks noGrp="1" noChangeArrowheads="1"/>
          </p:cNvSpPr>
          <p:nvPr>
            <p:ph type="subTitle" idx="13"/>
          </p:nvPr>
        </p:nvSpPr>
        <p:spPr>
          <a:xfrm>
            <a:off x="1014413" y="1052513"/>
            <a:ext cx="6400800" cy="542925"/>
          </a:xfrm>
        </p:spPr>
        <p:txBody>
          <a:bodyPr/>
          <a:lstStyle/>
          <a:p>
            <a:r>
              <a:rPr lang="en-US" altLang="zh-CN">
                <a:latin typeface="微软雅黑" panose="020B0503020204020204" pitchFamily="34" charset="-122"/>
                <a:ea typeface="微软雅黑" panose="020B0503020204020204" pitchFamily="34" charset="-122"/>
              </a:rPr>
              <a:t>POSIX</a:t>
            </a:r>
            <a:r>
              <a:rPr lang="zh-CN" altLang="en-US">
                <a:latin typeface="微软雅黑" panose="020B0503020204020204" pitchFamily="34" charset="-122"/>
                <a:ea typeface="微软雅黑" panose="020B0503020204020204" pitchFamily="34" charset="-122"/>
              </a:rPr>
              <a:t>信号量</a:t>
            </a:r>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50179"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内容占位符 2"/>
          <p:cNvSpPr>
            <a:spLocks noGrp="1" noChangeArrowheads="1"/>
          </p:cNvSpPr>
          <p:nvPr>
            <p:ph idx="1"/>
          </p:nvPr>
        </p:nvSpPr>
        <p:spPr>
          <a:xfrm>
            <a:off x="457200" y="1714500"/>
            <a:ext cx="8229600" cy="4411663"/>
          </a:xfrm>
        </p:spPr>
        <p:txBody>
          <a:bodyPr/>
          <a:lstStyle/>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sem_t sem;</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sem_init(&amp;sem, 0, 1);//</a:t>
            </a:r>
            <a:r>
              <a:rPr lang="zh-CN" altLang="en-US">
                <a:latin typeface="微软雅黑" panose="020B0503020204020204" pitchFamily="34" charset="-122"/>
                <a:ea typeface="微软雅黑" panose="020B0503020204020204" pitchFamily="34" charset="-122"/>
              </a:rPr>
              <a:t>初始化一个值为</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的信号量</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sem_wait(&amp;sem);//</a:t>
            </a:r>
            <a:r>
              <a:rPr lang="zh-CN" altLang="en-US">
                <a:latin typeface="微软雅黑" panose="020B0503020204020204" pitchFamily="34" charset="-122"/>
                <a:ea typeface="微软雅黑" panose="020B0503020204020204" pitchFamily="34" charset="-122"/>
              </a:rPr>
              <a:t>获取信号量</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//do somthing</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sem_post(&amp;sem);//</a:t>
            </a:r>
            <a:r>
              <a:rPr lang="zh-CN" altLang="en-US">
                <a:latin typeface="微软雅黑" panose="020B0503020204020204" pitchFamily="34" charset="-122"/>
                <a:ea typeface="微软雅黑" panose="020B0503020204020204" pitchFamily="34" charset="-122"/>
              </a:rPr>
              <a:t>释放信号量</a:t>
            </a:r>
            <a:endParaRPr lang="en-US" altLang="zh-CN">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None/>
            </a:pPr>
            <a:r>
              <a:rPr lang="en-US" altLang="zh-CN">
                <a:latin typeface="微软雅黑" panose="020B0503020204020204" pitchFamily="34" charset="-122"/>
                <a:ea typeface="微软雅黑" panose="020B0503020204020204" pitchFamily="34" charset="-122"/>
              </a:rPr>
              <a:t>sem_destroy(&amp;sem);//</a:t>
            </a:r>
            <a:r>
              <a:rPr lang="zh-CN" altLang="en-US">
                <a:latin typeface="微软雅黑" panose="020B0503020204020204" pitchFamily="34" charset="-122"/>
                <a:ea typeface="微软雅黑" panose="020B0503020204020204" pitchFamily="34" charset="-122"/>
              </a:rPr>
              <a:t>销毁一个无名信号量</a:t>
            </a:r>
            <a:endParaRPr lang="zh-CN" altLang="en-US">
              <a:latin typeface="微软雅黑" panose="020B0503020204020204" pitchFamily="34" charset="-122"/>
              <a:ea typeface="微软雅黑" panose="020B0503020204020204" pitchFamily="34" charset="-122"/>
            </a:endParaRPr>
          </a:p>
        </p:txBody>
      </p:sp>
      <p:sp>
        <p:nvSpPr>
          <p:cNvPr id="51202" name="副标题 3"/>
          <p:cNvSpPr>
            <a:spLocks noGrp="1" noChangeArrowheads="1"/>
          </p:cNvSpPr>
          <p:nvPr>
            <p:ph type="subTitle" idx="13"/>
          </p:nvPr>
        </p:nvSpPr>
        <p:spPr>
          <a:xfrm>
            <a:off x="1014413" y="1052513"/>
            <a:ext cx="6400800" cy="542925"/>
          </a:xfrm>
        </p:spPr>
        <p:txBody>
          <a:bodyPr/>
          <a:lstStyle/>
          <a:p>
            <a:r>
              <a:rPr lang="en-US" altLang="zh-CN">
                <a:latin typeface="微软雅黑" panose="020B0503020204020204" pitchFamily="34" charset="-122"/>
                <a:ea typeface="微软雅黑" panose="020B0503020204020204" pitchFamily="34" charset="-122"/>
              </a:rPr>
              <a:t>POSIX</a:t>
            </a:r>
            <a:r>
              <a:rPr lang="zh-CN" altLang="en-US">
                <a:latin typeface="微软雅黑" panose="020B0503020204020204" pitchFamily="34" charset="-122"/>
                <a:ea typeface="微软雅黑" panose="020B0503020204020204" pitchFamily="34" charset="-122"/>
              </a:rPr>
              <a:t>信号量</a:t>
            </a:r>
            <a:r>
              <a:rPr lang="en-US" altLang="zh-CN">
                <a:latin typeface="微软雅黑" panose="020B0503020204020204" pitchFamily="34" charset="-122"/>
                <a:ea typeface="微软雅黑" panose="020B0503020204020204" pitchFamily="34" charset="-122"/>
              </a:rPr>
              <a:t>示例</a:t>
            </a:r>
            <a:endParaRPr lang="en-US" altLang="zh-CN">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51203"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714500"/>
            <a:ext cx="8605838" cy="4411663"/>
          </a:xfrm>
        </p:spPr>
        <p:txBody>
          <a:bodyPr/>
          <a:lstStyle/>
          <a:p>
            <a:r>
              <a:rPr lang="en-US" altLang="zh-CN" sz="2400">
                <a:latin typeface="微软雅黑" panose="020B0503020204020204" pitchFamily="34" charset="-122"/>
                <a:ea typeface="微软雅黑" panose="020B0503020204020204" pitchFamily="34" charset="-122"/>
              </a:rPr>
              <a:t>Linux</a:t>
            </a:r>
            <a:r>
              <a:rPr lang="zh-CN" altLang="en-US" sz="2400">
                <a:latin typeface="微软雅黑" panose="020B0503020204020204" pitchFamily="34" charset="-122"/>
                <a:ea typeface="微软雅黑" panose="020B0503020204020204" pitchFamily="34" charset="-122"/>
              </a:rPr>
              <a:t>中系统调用的错误都存储于 </a:t>
            </a:r>
            <a:r>
              <a:rPr lang="en-US" altLang="zh-CN" sz="2400">
                <a:latin typeface="微软雅黑" panose="020B0503020204020204" pitchFamily="34" charset="-122"/>
                <a:ea typeface="微软雅黑" panose="020B0503020204020204" pitchFamily="34" charset="-122"/>
              </a:rPr>
              <a:t>errno</a:t>
            </a:r>
            <a:r>
              <a:rPr lang="zh-CN" altLang="en-US" sz="2400">
                <a:latin typeface="微软雅黑" panose="020B0503020204020204" pitchFamily="34" charset="-122"/>
                <a:ea typeface="微软雅黑" panose="020B0503020204020204" pitchFamily="34" charset="-122"/>
              </a:rPr>
              <a:t>中，</a:t>
            </a:r>
            <a:r>
              <a:rPr lang="en-US" altLang="zh-CN" sz="2400">
                <a:latin typeface="微软雅黑" panose="020B0503020204020204" pitchFamily="34" charset="-122"/>
                <a:ea typeface="微软雅黑" panose="020B0503020204020204" pitchFamily="34" charset="-122"/>
              </a:rPr>
              <a:t>errno</a:t>
            </a:r>
            <a:r>
              <a:rPr lang="zh-CN" altLang="en-US" sz="2400">
                <a:latin typeface="微软雅黑" panose="020B0503020204020204" pitchFamily="34" charset="-122"/>
                <a:ea typeface="微软雅黑" panose="020B0503020204020204" pitchFamily="34" charset="-122"/>
              </a:rPr>
              <a:t>由操作系统维护，存储就近发生的错误，即下一次的错误码会覆盖掉上一次的错误。</a:t>
            </a:r>
            <a:endParaRPr lang="zh-CN" altLang="en-US" sz="2400">
              <a:latin typeface="微软雅黑" panose="020B0503020204020204" pitchFamily="34" charset="-122"/>
              <a:ea typeface="微软雅黑" panose="020B0503020204020204" pitchFamily="34" charset="-122"/>
            </a:endParaRPr>
          </a:p>
          <a:p>
            <a:pPr>
              <a:buFontTx/>
              <a:buNone/>
            </a:pPr>
            <a:r>
              <a:rPr lang="en-US" altLang="zh-CN" sz="2400" i="1">
                <a:solidFill>
                  <a:srgbClr val="C00000"/>
                </a:solidFill>
                <a:latin typeface="微软雅黑" panose="020B0503020204020204" pitchFamily="34" charset="-122"/>
                <a:ea typeface="微软雅黑" panose="020B0503020204020204" pitchFamily="34" charset="-122"/>
              </a:rPr>
              <a:t>PS: </a:t>
            </a:r>
            <a:r>
              <a:rPr lang="zh-CN" altLang="en-US" sz="2400" i="1">
                <a:solidFill>
                  <a:srgbClr val="C00000"/>
                </a:solidFill>
                <a:latin typeface="微软雅黑" panose="020B0503020204020204" pitchFamily="34" charset="-122"/>
                <a:ea typeface="微软雅黑" panose="020B0503020204020204" pitchFamily="34" charset="-122"/>
              </a:rPr>
              <a:t>只有当系统调用或者调用</a:t>
            </a:r>
            <a:r>
              <a:rPr lang="en-US" altLang="zh-CN" sz="2400" i="1">
                <a:solidFill>
                  <a:srgbClr val="C00000"/>
                </a:solidFill>
                <a:latin typeface="微软雅黑" panose="020B0503020204020204" pitchFamily="34" charset="-122"/>
                <a:ea typeface="微软雅黑" panose="020B0503020204020204" pitchFamily="34" charset="-122"/>
              </a:rPr>
              <a:t>lib</a:t>
            </a:r>
            <a:r>
              <a:rPr lang="zh-CN" altLang="en-US" sz="2400" i="1">
                <a:solidFill>
                  <a:srgbClr val="C00000"/>
                </a:solidFill>
                <a:latin typeface="微软雅黑" panose="020B0503020204020204" pitchFamily="34" charset="-122"/>
                <a:ea typeface="微软雅黑" panose="020B0503020204020204" pitchFamily="34" charset="-122"/>
              </a:rPr>
              <a:t>函数时出错，才会置位</a:t>
            </a:r>
            <a:r>
              <a:rPr lang="en-US" altLang="zh-CN" sz="2400" i="1">
                <a:solidFill>
                  <a:srgbClr val="C00000"/>
                </a:solidFill>
                <a:latin typeface="微软雅黑" panose="020B0503020204020204" pitchFamily="34" charset="-122"/>
                <a:ea typeface="微软雅黑" panose="020B0503020204020204" pitchFamily="34" charset="-122"/>
              </a:rPr>
              <a:t>errno</a:t>
            </a:r>
            <a:r>
              <a:rPr lang="zh-CN" altLang="en-US" sz="2400" i="1">
                <a:solidFill>
                  <a:srgbClr val="C00000"/>
                </a:solidFill>
                <a:latin typeface="微软雅黑" panose="020B0503020204020204" pitchFamily="34" charset="-122"/>
                <a:ea typeface="微软雅黑" panose="020B0503020204020204" pitchFamily="34" charset="-122"/>
              </a:rPr>
              <a:t>！</a:t>
            </a:r>
            <a:endParaRPr lang="en-US" altLang="zh-CN" sz="2400">
              <a:solidFill>
                <a:srgbClr val="C00000"/>
              </a:solidFill>
              <a:latin typeface="微软雅黑" panose="020B0503020204020204" pitchFamily="34" charset="-122"/>
              <a:ea typeface="微软雅黑" panose="020B0503020204020204" pitchFamily="34" charset="-122"/>
            </a:endParaRPr>
          </a:p>
        </p:txBody>
      </p:sp>
      <p:sp>
        <p:nvSpPr>
          <p:cNvPr id="52226" name="副标题 3"/>
          <p:cNvSpPr>
            <a:spLocks noGrp="1" noChangeArrowheads="1"/>
          </p:cNvSpPr>
          <p:nvPr>
            <p:ph type="subTitle" idx="13"/>
          </p:nvPr>
        </p:nvSpPr>
        <p:spPr>
          <a:xfrm>
            <a:off x="1014413" y="1052513"/>
            <a:ext cx="6400800" cy="542925"/>
          </a:xfrm>
        </p:spPr>
        <p:txBody>
          <a:bodyPr/>
          <a:lstStyle/>
          <a:p>
            <a:r>
              <a:rPr lang="zh-CN" altLang="en-US">
                <a:latin typeface="微软雅黑" panose="020B0503020204020204" pitchFamily="34" charset="-122"/>
                <a:ea typeface="微软雅黑" panose="020B0503020204020204" pitchFamily="34" charset="-122"/>
              </a:rPr>
              <a:t>错误码 </a:t>
            </a:r>
            <a:r>
              <a:rPr lang="en-US" altLang="zh-CN">
                <a:latin typeface="微软雅黑" panose="020B0503020204020204" pitchFamily="34" charset="-122"/>
                <a:ea typeface="微软雅黑" panose="020B0503020204020204" pitchFamily="34" charset="-122"/>
              </a:rPr>
              <a:t>/ errno</a:t>
            </a:r>
            <a:endParaRPr lang="en-US" altLang="zh-CN">
              <a:latin typeface="微软雅黑" panose="020B0503020204020204" pitchFamily="34" charset="-122"/>
              <a:ea typeface="微软雅黑" panose="020B0503020204020204" pitchFamily="34" charset="-122"/>
            </a:endParaRPr>
          </a:p>
        </p:txBody>
      </p:sp>
      <p:sp>
        <p:nvSpPr>
          <p:cNvPr id="52227" name="文本框 5"/>
          <p:cNvSpPr txBox="1">
            <a:spLocks noChangeArrowheads="1"/>
          </p:cNvSpPr>
          <p:nvPr/>
        </p:nvSpPr>
        <p:spPr bwMode="auto">
          <a:xfrm>
            <a:off x="833438" y="3454400"/>
            <a:ext cx="6907212" cy="3046413"/>
          </a:xfrm>
          <a:prstGeom prst="rect">
            <a:avLst/>
          </a:prstGeom>
          <a:noFill/>
          <a:ln w="19050">
            <a:solidFill>
              <a:srgbClr val="C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a:t>#include &lt;stdio.h&gt; </a:t>
            </a:r>
            <a:endParaRPr lang="en-US" altLang="zh-CN" sz="2400"/>
          </a:p>
          <a:p>
            <a:pPr>
              <a:spcBef>
                <a:spcPct val="0"/>
              </a:spcBef>
              <a:buFontTx/>
              <a:buNone/>
            </a:pPr>
            <a:r>
              <a:rPr lang="en-US" altLang="zh-CN" sz="2400"/>
              <a:t>#include &lt;string.h&gt; </a:t>
            </a:r>
            <a:endParaRPr lang="en-US" altLang="zh-CN" sz="2400"/>
          </a:p>
          <a:p>
            <a:pPr>
              <a:spcBef>
                <a:spcPct val="0"/>
              </a:spcBef>
              <a:buFontTx/>
              <a:buNone/>
            </a:pPr>
            <a:r>
              <a:rPr lang="en-US" altLang="zh-CN" sz="2400"/>
              <a:t>//#include &lt;errno.h&gt; </a:t>
            </a:r>
            <a:endParaRPr lang="en-US" altLang="zh-CN" sz="2400"/>
          </a:p>
          <a:p>
            <a:pPr>
              <a:spcBef>
                <a:spcPct val="0"/>
              </a:spcBef>
              <a:buFontTx/>
              <a:buNone/>
            </a:pPr>
            <a:r>
              <a:rPr lang="en-US" altLang="zh-CN" sz="2400"/>
              <a:t>int main() </a:t>
            </a:r>
            <a:endParaRPr lang="en-US" altLang="zh-CN" sz="2400"/>
          </a:p>
          <a:p>
            <a:pPr>
              <a:spcBef>
                <a:spcPct val="0"/>
              </a:spcBef>
              <a:buFontTx/>
              <a:buNone/>
            </a:pPr>
            <a:r>
              <a:rPr lang="en-US" altLang="zh-CN" sz="2400"/>
              <a:t>{ int tmp = 0; </a:t>
            </a:r>
            <a:endParaRPr lang="en-US" altLang="zh-CN" sz="2400"/>
          </a:p>
          <a:p>
            <a:pPr>
              <a:spcBef>
                <a:spcPct val="0"/>
              </a:spcBef>
              <a:buFontTx/>
              <a:buNone/>
            </a:pPr>
            <a:r>
              <a:rPr lang="en-US" altLang="zh-CN" sz="2400"/>
              <a:t>for(tmp = 0; tmp &lt;=256; tmp++) { printf("errno:%2d\t%s\n",tmp,strerror(tmp)); } </a:t>
            </a:r>
            <a:endParaRPr lang="en-US" altLang="zh-CN" sz="2400"/>
          </a:p>
          <a:p>
            <a:pPr>
              <a:spcBef>
                <a:spcPct val="0"/>
              </a:spcBef>
              <a:buFontTx/>
              <a:buNone/>
            </a:pPr>
            <a:r>
              <a:rPr lang="en-US" altLang="zh-CN" sz="2400"/>
              <a:t>return 0; }</a:t>
            </a:r>
            <a:endParaRPr kumimoji="1" lang="zh-CN" altLang="en-US" sz="2400"/>
          </a:p>
        </p:txBody>
      </p:sp>
      <p:sp>
        <p:nvSpPr>
          <p:cNvPr id="52228" name="标题 1"/>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实验</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生产者/消费者问题的实现</a:t>
            </a:r>
            <a:endParaRPr lang="zh-CN" altLang="en-US"/>
          </a:p>
        </p:txBody>
      </p:sp>
    </p:spTree>
  </p:cSld>
  <p:clrMapOvr>
    <a:masterClrMapping/>
  </p:clrMapOvr>
</p:sld>
</file>

<file path=ppt/tags/tag1.xml><?xml version="1.0" encoding="utf-8"?>
<p:tagLst xmlns:p="http://schemas.openxmlformats.org/presentationml/2006/main">
  <p:tag name="commondata" val="eyJoZGlkIjoiMDMwYjU1OWM0ZWYxZjQ5YjM2Njg4NmE5NzU3NmFhYWE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5880</Words>
  <Application>WPS 演示</Application>
  <PresentationFormat>全屏显示(4:3)</PresentationFormat>
  <Paragraphs>444</Paragraphs>
  <Slides>36</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Arial</vt:lpstr>
      <vt:lpstr>宋体</vt:lpstr>
      <vt:lpstr>Wingdings</vt:lpstr>
      <vt:lpstr>微软雅黑</vt:lpstr>
      <vt:lpstr>Calibri</vt:lpstr>
      <vt:lpstr>等线</vt:lpstr>
      <vt:lpstr>Arial Unicode MS</vt:lpstr>
      <vt:lpstr>Helvetica Neue</vt:lpstr>
      <vt:lpstr>-apple-system</vt:lpstr>
      <vt:lpstr>Segoe Print</vt:lpstr>
      <vt:lpstr>Consolas</vt:lpstr>
      <vt:lpstr>Times New Roman</vt:lpstr>
      <vt:lpstr>默认设计模板</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实验1-哲学家就餐问题的实现</vt:lpstr>
      <vt:lpstr>实验2-生产者/消费者问题的实现</vt:lpstr>
      <vt:lpstr>PowerPoint 演示文稿</vt:lpstr>
      <vt:lpstr>PowerPoint 演示文稿</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lpstr>实验2-生产者/消费者问题的实现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实验一、哲学家就餐问题的实现</dc:title>
  <dc:creator>l-fay</dc:creator>
  <cp:lastModifiedBy>han</cp:lastModifiedBy>
  <cp:revision>178</cp:revision>
  <dcterms:created xsi:type="dcterms:W3CDTF">2015-04-21T06:51:00Z</dcterms:created>
  <dcterms:modified xsi:type="dcterms:W3CDTF">2024-04-23T13:03:07Z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753F8D2539404B55A24BE0F6D274B72C_13</vt:lpwstr>
  </property>
</Properties>
</file>